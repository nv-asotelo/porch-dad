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5a0f33aa7b7b4c1e" /><Relationship Type="http://schemas.openxmlformats.org/officeDocument/2006/relationships/extended-properties" Target="/docProps/app.xml" Id="Reb14213465e8448c" /><Relationship Type="http://schemas.openxmlformats.org/officeDocument/2006/relationships/officeDocument" Target="/ppt/presentation.xml" Id="Ra3641195a45e4bb5" /></Relationships>
</file>

<file path=ppt/presentation.xml><?xml version="1.0" encoding="utf-8"?>
<p:presentation xmlns:p="http://schemas.openxmlformats.org/presentationml/2006/main">
  <p:sldMasterIdLst>
    <p:sldMasterId xmlns:r="http://schemas.openxmlformats.org/officeDocument/2006/relationships" id="2147483648" r:id="R484ccc238cf14a8f"/>
  </p:sldMasterIdLst>
  <p:notesMasterIdLst>
    <p:notesMasterId xmlns:r="http://schemas.openxmlformats.org/officeDocument/2006/relationships" r:id="Rddc691c25bb64a9d"/>
  </p:notesMasterIdLst>
  <p:sldIdLst>
    <p:sldId xmlns:r="http://schemas.openxmlformats.org/officeDocument/2006/relationships" id="256" r:id="R3217e20d75004259"/>
    <p:sldId xmlns:r="http://schemas.openxmlformats.org/officeDocument/2006/relationships" id="257" r:id="Rca1835db67814d58"/>
    <p:sldId xmlns:r="http://schemas.openxmlformats.org/officeDocument/2006/relationships" id="258" r:id="R44a307abbfc2482b"/>
    <p:sldId xmlns:r="http://schemas.openxmlformats.org/officeDocument/2006/relationships" id="259" r:id="Rec5d0531c2e540c2"/>
    <p:sldId xmlns:r="http://schemas.openxmlformats.org/officeDocument/2006/relationships" id="260" r:id="R0ebadd00957c4dcc"/>
    <p:sldId xmlns:r="http://schemas.openxmlformats.org/officeDocument/2006/relationships" id="261" r:id="R4f7646ba1efd4557"/>
    <p:sldId xmlns:r="http://schemas.openxmlformats.org/officeDocument/2006/relationships" id="262" r:id="R1ef006b1b93348dd"/>
    <p:sldId xmlns:r="http://schemas.openxmlformats.org/officeDocument/2006/relationships" id="263" r:id="R15ba39b4d9a74f23"/>
    <p:sldId xmlns:r="http://schemas.openxmlformats.org/officeDocument/2006/relationships" id="264" r:id="Re005686bc84f407b"/>
    <p:sldId xmlns:r="http://schemas.openxmlformats.org/officeDocument/2006/relationships" id="265" r:id="R291eac423a1f4bff"/>
    <p:sldId xmlns:r="http://schemas.openxmlformats.org/officeDocument/2006/relationships" id="266" r:id="R782709452b814b0c"/>
    <p:sldId xmlns:r="http://schemas.openxmlformats.org/officeDocument/2006/relationships" id="267" r:id="R2c050c482a0343a5"/>
    <p:sldId xmlns:r="http://schemas.openxmlformats.org/officeDocument/2006/relationships" id="268" r:id="R3466c6a3b709459e"/>
    <p:sldId xmlns:r="http://schemas.openxmlformats.org/officeDocument/2006/relationships" id="269" r:id="Rdc08596e4fe34255"/>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645ce32431324bc5" /><Relationship Type="http://schemas.openxmlformats.org/officeDocument/2006/relationships/slideMaster" Target="/ppt/slideMasters/slideMaster1.xml" Id="R484ccc238cf14a8f" /><Relationship Type="http://schemas.openxmlformats.org/officeDocument/2006/relationships/notesMaster" Target="/ppt/notesMasters/notesMaster1.xml" Id="Rddc691c25bb64a9d" /><Relationship Type="http://schemas.openxmlformats.org/officeDocument/2006/relationships/presProps" Target="/ppt/presProps.xml" Id="R3698d94e9c6b49ce" /><Relationship Type="http://schemas.openxmlformats.org/officeDocument/2006/relationships/tableStyles" Target="/ppt/tableStyles.xml" Id="R904c0c32476e45a6" /><Relationship Type="http://schemas.openxmlformats.org/officeDocument/2006/relationships/slide" Target="/ppt/slides/slide1.xml" Id="R3217e20d75004259" /><Relationship Type="http://schemas.openxmlformats.org/officeDocument/2006/relationships/slide" Target="/ppt/slides/slide2.xml" Id="Rca1835db67814d58" /><Relationship Type="http://schemas.openxmlformats.org/officeDocument/2006/relationships/slide" Target="/ppt/slides/slide3.xml" Id="R44a307abbfc2482b" /><Relationship Type="http://schemas.openxmlformats.org/officeDocument/2006/relationships/slide" Target="/ppt/slides/slide4.xml" Id="Rec5d0531c2e540c2" /><Relationship Type="http://schemas.openxmlformats.org/officeDocument/2006/relationships/slide" Target="/ppt/slides/slide5.xml" Id="R0ebadd00957c4dcc" /><Relationship Type="http://schemas.openxmlformats.org/officeDocument/2006/relationships/slide" Target="/ppt/slides/slide6.xml" Id="R4f7646ba1efd4557" /><Relationship Type="http://schemas.openxmlformats.org/officeDocument/2006/relationships/slide" Target="/ppt/slides/slide7.xml" Id="R1ef006b1b93348dd" /><Relationship Type="http://schemas.openxmlformats.org/officeDocument/2006/relationships/slide" Target="/ppt/slides/slide8.xml" Id="R15ba39b4d9a74f23" /><Relationship Type="http://schemas.openxmlformats.org/officeDocument/2006/relationships/slide" Target="/ppt/slides/slide9.xml" Id="Re005686bc84f407b" /><Relationship Type="http://schemas.openxmlformats.org/officeDocument/2006/relationships/slide" Target="/ppt/slides/slide10.xml" Id="R291eac423a1f4bff" /><Relationship Type="http://schemas.openxmlformats.org/officeDocument/2006/relationships/slide" Target="/ppt/slides/slide11.xml" Id="R782709452b814b0c" /><Relationship Type="http://schemas.openxmlformats.org/officeDocument/2006/relationships/slide" Target="/ppt/slides/slide12.xml" Id="R2c050c482a0343a5" /><Relationship Type="http://schemas.openxmlformats.org/officeDocument/2006/relationships/slide" Target="/ppt/slides/slide13.xml" Id="R3466c6a3b709459e" /><Relationship Type="http://schemas.openxmlformats.org/officeDocument/2006/relationships/slide" Target="/ppt/slides/slide14.xml" Id="Rdc08596e4fe34255"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c2e3f10e714046a6"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939d4562931248c2" /><Relationship Type="http://schemas.openxmlformats.org/officeDocument/2006/relationships/notesMaster" Target="/ppt/notesMasters/notesMaster1.xml" Id="Rd60d7907f283436c" /></Relationships>
</file>

<file path=ppt/notesSlides/_rels/notesSlide2.xml.rels>&#65279;<?xml version="1.0" encoding="utf-8"?><Relationships xmlns="http://schemas.openxmlformats.org/package/2006/relationships"><Relationship Type="http://schemas.openxmlformats.org/officeDocument/2006/relationships/slide" Target="/ppt/slides/slide2.xml" Id="Redcde6e53f724c7d" /><Relationship Type="http://schemas.openxmlformats.org/officeDocument/2006/relationships/notesMaster" Target="/ppt/notesMasters/notesMaster1.xml" Id="Re3c1ffa227c249ca" /></Relationships>
</file>

<file path=ppt/notesSlides/_rels/notesSlide3.xml.rels>&#65279;<?xml version="1.0" encoding="utf-8"?><Relationships xmlns="http://schemas.openxmlformats.org/package/2006/relationships"><Relationship Type="http://schemas.openxmlformats.org/officeDocument/2006/relationships/slide" Target="/ppt/slides/slide3.xml" Id="R12a05a43a44045fa" /><Relationship Type="http://schemas.openxmlformats.org/officeDocument/2006/relationships/notesMaster" Target="/ppt/notesMasters/notesMaster1.xml" Id="R8d42096f645645f6" /></Relationships>
</file>

<file path=ppt/notesSlides/_rels/notesSlide4.xml.rels>&#65279;<?xml version="1.0" encoding="utf-8"?><Relationships xmlns="http://schemas.openxmlformats.org/package/2006/relationships"><Relationship Type="http://schemas.openxmlformats.org/officeDocument/2006/relationships/slide" Target="/ppt/slides/slide4.xml" Id="Rdc17c05b7d5f4dc1" /><Relationship Type="http://schemas.openxmlformats.org/officeDocument/2006/relationships/notesMaster" Target="/ppt/notesMasters/notesMaster1.xml" Id="R444f1a0ab07a4fb8" /></Relationships>
</file>

<file path=ppt/notesSlides/_rels/notesSlide5.xml.rels>&#65279;<?xml version="1.0" encoding="utf-8"?><Relationships xmlns="http://schemas.openxmlformats.org/package/2006/relationships"><Relationship Type="http://schemas.openxmlformats.org/officeDocument/2006/relationships/slide" Target="/ppt/slides/slide5.xml" Id="R1b53fe8260cc4d85" /><Relationship Type="http://schemas.openxmlformats.org/officeDocument/2006/relationships/notesMaster" Target="/ppt/notesMasters/notesMaster1.xml" Id="R4332dfafafd34543" /></Relationships>
</file>

<file path=ppt/notesSlides/_rels/notesSlide6.xml.rels>&#65279;<?xml version="1.0" encoding="utf-8"?><Relationships xmlns="http://schemas.openxmlformats.org/package/2006/relationships"><Relationship Type="http://schemas.openxmlformats.org/officeDocument/2006/relationships/slide" Target="/ppt/slides/slide6.xml" Id="Ra8319cefd4c04d76" /><Relationship Type="http://schemas.openxmlformats.org/officeDocument/2006/relationships/notesMaster" Target="/ppt/notesMasters/notesMaster1.xml" Id="R46c15789440e4d02" /></Relationships>
</file>

<file path=ppt/notesSlides/_rels/notesSlide7.xml.rels>&#65279;<?xml version="1.0" encoding="utf-8"?><Relationships xmlns="http://schemas.openxmlformats.org/package/2006/relationships"><Relationship Type="http://schemas.openxmlformats.org/officeDocument/2006/relationships/slide" Target="/ppt/slides/slide7.xml" Id="Rd3eed67ecacc4d5e" /><Relationship Type="http://schemas.openxmlformats.org/officeDocument/2006/relationships/notesMaster" Target="/ppt/notesMasters/notesMaster1.xml" Id="Rc4014a143a394b42" /></Relationships>
</file>

<file path=ppt/notesSlides/_rels/notesSlide8.xml.rels>&#65279;<?xml version="1.0" encoding="utf-8"?><Relationships xmlns="http://schemas.openxmlformats.org/package/2006/relationships"><Relationship Type="http://schemas.openxmlformats.org/officeDocument/2006/relationships/slide" Target="/ppt/slides/slide8.xml" Id="Rc5ceee3bd8194b08" /><Relationship Type="http://schemas.openxmlformats.org/officeDocument/2006/relationships/notesMaster" Target="/ppt/notesMasters/notesMaster1.xml" Id="R81497d4c01d942d7" /></Relationships>
</file>

<file path=ppt/notesSlides/_rels/notesSlide9.xml.rels>&#65279;<?xml version="1.0" encoding="utf-8"?><Relationships xmlns="http://schemas.openxmlformats.org/package/2006/relationships"><Relationship Type="http://schemas.openxmlformats.org/officeDocument/2006/relationships/slide" Target="/ppt/slides/slide9.xml" Id="R3b028e1a067b4e24" /><Relationship Type="http://schemas.openxmlformats.org/officeDocument/2006/relationships/notesMaster" Target="/ppt/notesMasters/notesMaster1.xml" Id="R3088eb9c9662478c"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06850900e15b41cd" /><Relationship Type="http://schemas.openxmlformats.org/officeDocument/2006/relationships/notesMaster" Target="/ppt/notesMasters/notesMaster1.xml" Id="R84d705edcf6c46a8"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a8d3238195e64a36" /><Relationship Type="http://schemas.openxmlformats.org/officeDocument/2006/relationships/notesMaster" Target="/ppt/notesMasters/notesMaster1.xml" Id="R1c5dee72f1ca4838"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8f3dd7a102d1401d" /><Relationship Type="http://schemas.openxmlformats.org/officeDocument/2006/relationships/notesMaster" Target="/ppt/notesMasters/notesMaster1.xml" Id="Rcabcd07eaeaa4ec2"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49b6a584166646d3" /><Relationship Type="http://schemas.openxmlformats.org/officeDocument/2006/relationships/notesMaster" Target="/ppt/notesMasters/notesMaster1.xml" Id="Rcfb4240404404a60"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5f1be38de53a4eca" /><Relationship Type="http://schemas.openxmlformats.org/officeDocument/2006/relationships/notesMaster" Target="/ppt/notesMasters/notesMaster1.xml" Id="Rd72bcad427ea47a8"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Opening: Can we make useful camera understanding run locally on an 8 GB Orin Nano? These are two different engineering campaigns, not a normalized race. The first campaign is represented by its supplied report and a frozen public-source review. The current campaign was built independently from public NVIDIA components and user steering. The final device serves a working streaming application. No simultaneous DeepStream/Home Assistant cohosting test is claimed.</a:t>
            </a:r>
          </a:p>
          <a:p xmlns:a="http://schemas.openxmlformats.org/drawingml/2006/main">
            <a:r>
              <a:t>Sources: research/two-hackathon-steering.md; research/oneshot-writeup-review.md; research/two-hackathon-branch-comparison.md; https://github.com/nv-asotelo/porch-dad/blob/935ea4887e19038e93be2bcbe19a5ecbe4777ec5/cosmos3-edge-orin/results/runtime-controls/deployment.json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Both campaigns target local camera understanding in shared 8 GB memory. The first report prioritizes resident serving, broad text INT4 and upstream Live VLM WebUI. The current task begins with official USB-C JetPack installation and develops its own streaming application and native server measurement. The user initially prohibited personal/internal code reuse; the one-shot branch was reviewed only later with explicit permission. First-campaign architecture is source-audited, not newly executed. More headroom could help other applications, but concurrent service capacity was not measured.</a:t>
            </a:r>
          </a:p>
          <a:p xmlns:a="http://schemas.openxmlformats.org/drawingml/2006/main">
            <a:r>
              <a:t/>
            </a:r>
          </a:p>
          <a:p xmlns:a="http://schemas.openxmlformats.org/drawingml/2006/main">
            <a:r>
              <a:t>Sources:</a:t>
            </a:r>
          </a:p>
          <a:p xmlns:a="http://schemas.openxmlformats.org/drawingml/2006/main">
            <a:r>
              <a:t>research/two-hackathon-branch-comparison.md</a:t>
            </a:r>
          </a:p>
          <a:p xmlns:a="http://schemas.openxmlformats.org/drawingml/2006/main">
            <a:r>
              <a:t>research/oneshot-writeup-review.md</a:t>
            </a:r>
          </a:p>
          <a:p xmlns:a="http://schemas.openxmlformats.org/drawingml/2006/main">
            <a:r>
              <a:t>https://github.com/nv-asotelo/porch-dad/tree/1375886c6941caa6f43688e5945c036a584399fe</a:t>
            </a:r>
          </a:p>
          <a:p xmlns:a="http://schemas.openxmlformats.org/drawingml/2006/main">
            <a:r>
              <a:t>https://github.com/nv-asotelo/porch-dad/blob/935ea4887e19038e93be2bcbe19a5ecbe4777ec5/cosmos3-edge-orin/THIRD_PARTY_NOTICES.md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this screenshot to explain the timer, not to rank engines. The final user screenshot displays server TTFT 197 ms and browser first text 312 ms. The 115 ms gap contains excluded preparation and delivery/scheduling and is not a Wi-Fi-only measurement. Server TTFT starts after JPEG decode/preparation/admission and includes native work plus detokenization and Python consumer scheduling until first nonempty text. It is not a CUDA event. Native whole-answer latency is 632 ms; average 785 ms over 13 timed requests. The input differs from the synthetic controlled TTFT test. Shared RAM is 4.94/7.37 GiB including OS/apps, not dedicated VRAM. The screenshot is supplied by the user and embedded unaltered.</a:t>
            </a:r>
          </a:p>
          <a:p xmlns:a="http://schemas.openxmlformats.org/drawingml/2006/main">
            <a:r>
              <a:t/>
            </a:r>
          </a:p>
          <a:p xmlns:a="http://schemas.openxmlformats.org/drawingml/2006/main">
            <a:r>
              <a:t>Sources:</a:t>
            </a:r>
          </a:p>
          <a:p xmlns:a="http://schemas.openxmlformats.org/drawingml/2006/main">
            <a:r>
              <a:t>output/two-hackathons-evidence/manifest.json</a:t>
            </a:r>
          </a:p>
          <a:p xmlns:a="http://schemas.openxmlformats.org/drawingml/2006/main">
            <a:r>
              <a:t>https://github.com/nv-asotelo/porch-dad/blob/935ea4887e19038e93be2bcbe19a5ecbe4777ec5/cosmos3-edge-orin/scripts/cosmos_runtime.py</a:t>
            </a:r>
          </a:p>
          <a:p xmlns:a="http://schemas.openxmlformats.org/drawingml/2006/main">
            <a:r>
              <a:t>https://github.com/nv-asotelo/porch-dad/blob/935ea4887e19038e93be2bcbe19a5ecbe4777ec5/cosmos3-edge-orin/results/ui-runtime-controls-browser.json</a:t>
            </a:r>
          </a:p>
          <a:p xmlns:a="http://schemas.openxmlformats.org/drawingml/2006/main">
            <a:r>
              <a:t>research/two-hackathon-steering.md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first demo used agent-chosen lightweight camera settings, 64 output tokens and greedy decoding. The user asked to match Live VLM WebUI: upstream sample prompt, output cap 512, 1280×720 capture and 30-frame cadence, then to make that preset default. The user also directed HTTPS/Orin hosting, resource graphs, prompt choices, manual inference, live toggle and caption placement. Later, the user explicitly requested image cap 320, static clocks, 256 MiB encoder cache and top-p .95. Those were intermediate settings, superseded after the user reported slower behavior and asked for original lightweight defaults and then the original engine. FP16 was temporarily restored; after a further user request, matched measurement preceded switching back to INT4 MLP. These interventions are part of the result, not evidence of a fully autonomous single attempt.</a:t>
            </a:r>
          </a:p>
          <a:p xmlns:a="http://schemas.openxmlformats.org/drawingml/2006/main">
            <a:r>
              <a:t/>
            </a:r>
          </a:p>
          <a:p xmlns:a="http://schemas.openxmlformats.org/drawingml/2006/main">
            <a:r>
              <a:t>Sources:</a:t>
            </a:r>
          </a:p>
          <a:p xmlns:a="http://schemas.openxmlformats.org/drawingml/2006/main">
            <a:r>
              <a:t>research/two-hackathon-steering.md</a:t>
            </a:r>
          </a:p>
          <a:p xmlns:a="http://schemas.openxmlformats.org/drawingml/2006/main">
            <a:r>
              <a:t>https://github.com/nv-asotelo/porch-dad/blob/935ea4887e19038e93be2bcbe19a5ecbe4777ec5/cosmos3-edge-orin/deployment/selected-config.json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controlled comparison follows the user request to measure the original engine while it was loaded, then measure MLP. Five warmups and 30 measured serial requests per engine used the same 512×512 synthetic JPEG and shape/color left/right prompt. Image cap 512 produced 256 actual visual tokens. Output cap 64, temperature 0, top-p 1, cache 0, text reuse disabled, stock 25 W and dynamic clocks match. Original FP16 median server TTFT is 249.50099 ms, p95 250.5663975; MLP is 239.318147 ms, p95 240.71571125. The observed median difference is 10.182843 ms, 4.0813%, on this fixture only. Runs are sequential, not randomized. One additional logged request started during MLP, none during FP16; shared scheduling and clocks can still vary. It is not a statistically generalized model claim or a cross-hackathon comparison.</a:t>
            </a:r>
          </a:p>
          <a:p xmlns:a="http://schemas.openxmlformats.org/drawingml/2006/main">
            <a:r>
              <a:t/>
            </a:r>
          </a:p>
          <a:p xmlns:a="http://schemas.openxmlformats.org/drawingml/2006/main">
            <a:r>
              <a:t>Sources:</a:t>
            </a:r>
          </a:p>
          <a:p xmlns:a="http://schemas.openxmlformats.org/drawingml/2006/main">
            <a:r>
              <a:t>https://github.com/nv-asotelo/porch-dad/blob/935ea4887e19038e93be2bcbe19a5ecbe4777ec5/cosmos3-edge-orin/results/runtime-controls/ttft-comparison.json</a:t>
            </a:r>
          </a:p>
          <a:p xmlns:a="http://schemas.openxmlformats.org/drawingml/2006/main">
            <a:r>
              <a:t>https://github.com/nv-asotelo/porch-dad/blob/935ea4887e19038e93be2bcbe19a5ecbe4777ec5/cosmos3-edge-orin/results/runtime-controls/ttft-fp16/receipt.json</a:t>
            </a:r>
          </a:p>
          <a:p xmlns:a="http://schemas.openxmlformats.org/drawingml/2006/main">
            <a:r>
              <a:t>https://github.com/nv-asotelo/porch-dad/blob/935ea4887e19038e93be2bcbe19a5ecbe4777ec5/cosmos3-edge-orin/results/runtime-controls/ttft-mlp/receipt.json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first campaign results here are reported by the user-supplied Sept 13–14 HTML, not rebenchmarked in this task. Resident serving plus CUDA graphs and power changes reduced reported cold per-request wall time from 13.91 to 2.07 seconds; that bundled change is not a pure model speedup. Broader text INT4 is reported at 76 output tokens/s versus 22.5 and process RSS 3.70 versus 6.02 GB. Its later 253 ms median is complete HTTP response at median 14 output tokens in a repeated-JPEG harness, where encoder cache reuse was not excluded. Current 239.3 ms is server first text and cannot be divided into 253 to create a speed ratio. Its separate live fit, 200 + 13.49×output tokens, describes 2818 reported rows without committed raw rows; not the same cohort. Dense text quality worsened at image budget 320. The 22.5× headline against a cold-start baseline is intentionally not used as a model-performance claim.</a:t>
            </a:r>
          </a:p>
          <a:p xmlns:a="http://schemas.openxmlformats.org/drawingml/2006/main">
            <a:r>
              <a:t/>
            </a:r>
          </a:p>
          <a:p xmlns:a="http://schemas.openxmlformats.org/drawingml/2006/main">
            <a:r>
              <a:t>Sources:</a:t>
            </a:r>
          </a:p>
          <a:p xmlns:a="http://schemas.openxmlformats.org/drawingml/2006/main">
            <a:r>
              <a:t>research/oneshot-writeup-review.md</a:t>
            </a:r>
          </a:p>
          <a:p xmlns:a="http://schemas.openxmlformats.org/drawingml/2006/main">
            <a:r>
              <a:t>research/two-hackathon-branch-comparison.md</a:t>
            </a:r>
          </a:p>
          <a:p xmlns:a="http://schemas.openxmlformats.org/drawingml/2006/main">
            <a:r>
              <a:t>output/two-hackathons-evidence/manifest.json</a:t>
            </a:r>
          </a:p>
          <a:p xmlns:a="http://schemas.openxmlformats.org/drawingml/2006/main">
            <a:r>
              <a:t>https://github.com/nv-asotelo/porch-dad/tree/1375886c6941caa6f43688e5945c036a584399fe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original search protected FP16 reference behavior. Broad RTN alternatives failed the diagnostic quality gate. A later FP16 sampler trial improved full-answer latency by 0.48%, below the 10% stopping threshold, so it was rejected and the runtime restored. The user subsequently chose MLP-only INT4 as a new baseline, accepting a known color limitation. Its compact-profile trial reduced aggregate whole-answer median by 1.19% and sampled peak shared RAM by 163.45 MiB. Crucially it FAILED the ORIGINAL frozen acceptance rule. AFTER measurement, the agent reinterpreted the 10% threshold as governing continued search rather than retaining a useful smaller candidate. The search stopped and that smaller candidate remained deployed. The unchanged failed comparison and policy-clarification.json preserve this post-measurement correction. This is not a predeclared acceptance pass. Diagnostic 18/19 facts is a small fixed test, not general accuracy. A later mixed-budget token sweep was interrupted by user steering; no completed fixed/marginal fit is claimed.</a:t>
            </a:r>
          </a:p>
          <a:p xmlns:a="http://schemas.openxmlformats.org/drawingml/2006/main">
            <a:r>
              <a:t/>
            </a:r>
          </a:p>
          <a:p xmlns:a="http://schemas.openxmlformats.org/drawingml/2006/main">
            <a:r>
              <a:t>Sources:</a:t>
            </a:r>
          </a:p>
          <a:p xmlns:a="http://schemas.openxmlformats.org/drawingml/2006/main">
            <a:r>
              <a:t>https://github.com/nv-asotelo/porch-dad/blob/935ea4887e19038e93be2bcbe19a5ecbe4777ec5/cosmos3-edge-orin/research/latency10-follow-up.md</a:t>
            </a:r>
          </a:p>
          <a:p xmlns:a="http://schemas.openxmlformats.org/drawingml/2006/main">
            <a:r>
              <a:t>https://github.com/nv-asotelo/porch-dad/blob/935ea4887e19038e93be2bcbe19a5ecbe4777ec5/cosmos3-edge-orin/research/mlp-goal.md</a:t>
            </a:r>
          </a:p>
          <a:p xmlns:a="http://schemas.openxmlformats.org/drawingml/2006/main">
            <a:r>
              <a:t>https://github.com/nv-asotelo/porch-dad/blob/935ea4887e19038e93be2bcbe19a5ecbe4777ec5/cosmos3-edge-orin/results/mlp-goal/policy-clarification.json</a:t>
            </a:r>
          </a:p>
          <a:p xmlns:a="http://schemas.openxmlformats.org/drawingml/2006/main">
            <a:r>
              <a:t>https://github.com/nv-asotelo/porch-dad/blob/935ea4887e19038e93be2bcbe19a5ecbe4777ec5/cosmos3-edge-orin/results/runtime-controls/token-sweep/interrupted-summary.json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practical result is a working Orin-hosted camera app with streamed captions, manual/live controls, resource histories, explicit advanced controls, request logs and server timing. NVIDIA provides the pretrained Cosmos3-Edge model, JetPack and TensorRT-Edge-LLM. Live VLM WebUI supplies the workflow reference and prompt text. Task-authored work is integration, original streaming UI, bounded runtime controls, logging, quantization adaptation and scoped GEMV launch tuning; it does not claim invention of the underlying model, quantization method or kernel. To rank the two branches fairly, the next experiment would need a shared quality set and identical power/input/cache/timing contract. This deck does not authorize further optimization or start that experiment. Demo is local HTTPS; existing local certificate may need trust. Public source and exact evidence accompany the presentation.</a:t>
            </a:r>
          </a:p>
          <a:p xmlns:a="http://schemas.openxmlformats.org/drawingml/2006/main">
            <a:r>
              <a:t/>
            </a:r>
          </a:p>
          <a:p xmlns:a="http://schemas.openxmlformats.org/drawingml/2006/main">
            <a:r>
              <a:t>Sources:</a:t>
            </a:r>
          </a:p>
          <a:p xmlns:a="http://schemas.openxmlformats.org/drawingml/2006/main">
            <a:r>
              <a:t>https://github.com/nv-asotelo/porch-dad/blob/935ea4887e19038e93be2bcbe19a5ecbe4777ec5/cosmos3-edge-orin/THIRD_PARTY_NOTICES.md</a:t>
            </a:r>
          </a:p>
          <a:p xmlns:a="http://schemas.openxmlformats.org/drawingml/2006/main">
            <a:r>
              <a:t>https://github.com/nv-asotelo/porch-dad/blob/935ea4887e19038e93be2bcbe19a5ecbe4777ec5/cosmos3-edge-orin/research/contribution-ledger.md</a:t>
            </a:r>
          </a:p>
          <a:p xmlns:a="http://schemas.openxmlformats.org/drawingml/2006/main">
            <a:r>
              <a:t>https://github.com/nv-asotelo/porch-dad/blob/935ea4887e19038e93be2bcbe19a5ecbe4777ec5/cosmos3-edge-orin/results/runtime-controls/deployment.json</a:t>
            </a:r>
          </a:p>
          <a:p xmlns:a="http://schemas.openxmlformats.org/drawingml/2006/main">
            <a:r>
              <a:t>https://github.com/NVIDIA/TensorRT-Edge-LLM</a:t>
            </a:r>
          </a:p>
          <a:p xmlns:a="http://schemas.openxmlformats.org/drawingml/2006/main">
            <a:r>
              <a:t>https://github.com/NVIDIA-AI-IOT/live-vlm-webui</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table is a source/config comparison, not a reexecution of the first branch. Frozen first branch 1375886 uses 169 eligible linears including attention/MLP/head, stock V2 INT4, group 128 and RTN with per-group MSE clipping. Current uses 56 MLP linears, symmetric RTN group 128 and V1 with a scoped N4 GEMV launch change. Both retain FP16 components. First source native default encoder cache is 256 MiB, but the historical executed cache state is not independently proven. First config input/KV 1536/2048; current 1024/1664. Source audit notes recipe gaps, not demonstrated failures. See linked technical report for full reproducibility detail.</a:t>
            </a:r>
          </a:p>
          <a:p xmlns:a="http://schemas.openxmlformats.org/drawingml/2006/main">
            <a:r>
              <a:t/>
            </a:r>
          </a:p>
          <a:p xmlns:a="http://schemas.openxmlformats.org/drawingml/2006/main">
            <a:r>
              <a:t>Sources:</a:t>
            </a:r>
          </a:p>
          <a:p xmlns:a="http://schemas.openxmlformats.org/drawingml/2006/main">
            <a:r>
              <a:t>research/two-hackathon-branch-comparison.md</a:t>
            </a:r>
          </a:p>
          <a:p xmlns:a="http://schemas.openxmlformats.org/drawingml/2006/main">
            <a:r>
              <a:t>results/two-hackathon-branch-comparison.json</a:t>
            </a:r>
          </a:p>
          <a:p xmlns:a="http://schemas.openxmlformats.org/drawingml/2006/main">
            <a:r>
              <a:t>https://github.com/nv-asotelo/porch-dad/tree/1375886c6941caa6f43688e5945c036a584399fe</a:t>
            </a:r>
          </a:p>
          <a:p xmlns:a="http://schemas.openxmlformats.org/drawingml/2006/main">
            <a:r>
              <a:t>https://github.com/nv-asotelo/porch-dad/blob/935ea4887e19038e93be2bcbe19a5ecbe4777ec5/cosmos3-edge-orin/deployment/selected-config.json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an abbreviated timeline, not a claim that each row was one user message or a count of all interventions. User reported the recovery jumper state and later confirmed its absence, assisted USB/connectivity/SSH, and offered an isolated auxiliary GPU that did no task work. Records do not establish who removed the jumper or when. The task used official USB recovery flashing with a task-owned Mac bridge. User repeatedly corrected assumptions, requested freezes and set quality/performance priorities. The first campaign separately reports resident-runtime repair, top-k correction, cache/contention checks and INT4 validation, but supplies no original dialogue or labor accounting. The post-measurement MLP policy change was agent clarification, not a newly invented user instruction.</a:t>
            </a:r>
          </a:p>
          <a:p xmlns:a="http://schemas.openxmlformats.org/drawingml/2006/main">
            <a:r>
              <a:t/>
            </a:r>
          </a:p>
          <a:p xmlns:a="http://schemas.openxmlformats.org/drawingml/2006/main">
            <a:r>
              <a:t>Sources:</a:t>
            </a:r>
          </a:p>
          <a:p xmlns:a="http://schemas.openxmlformats.org/drawingml/2006/main">
            <a:r>
              <a:t>research/two-hackathon-steering.md</a:t>
            </a:r>
          </a:p>
          <a:p xmlns:a="http://schemas.openxmlformats.org/drawingml/2006/main">
            <a:r>
              <a:t>https://github.com/nv-asotelo/porch-dad/blob/935ea4887e19038e93be2bcbe19a5ecbe4777ec5/cosmos3-edge-orin/research/first-version-journey.md</a:t>
            </a:r>
          </a:p>
          <a:p xmlns:a="http://schemas.openxmlformats.org/drawingml/2006/main">
            <a:r>
              <a:t>https://github.com/nv-asotelo/porch-dad/blob/935ea4887e19038e93be2bcbe19a5ecbe4777ec5/cosmos3-edge-orin/results/mlp-goal/policy-clarification.json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two other screenshots are embedded unaltered. The first file was labeled INT4 MLP engine Astra Settings and shows native latency 686, average 708, count 8, shared RAM 4.92/7.37 GiB. The second user filename says BF16 original first version, while engine artifacts establish FP16; it shows previous completed native latency 1436, average 1307, count 53, shared RAM 6.39/7.37 GiB with a caption in flight. All three supplied screenshots show Lightweight, 640×480 at 15 FPS and sent 512×384. Advanced settings are outside the visible screenshot so filenames cannot establish image cap/cache/clocks. Changing inputs, token lengths, counts and snapshot times prevent a controlled speed or memory ratio. Shared RAM includes the OS/apps and overlaps process RSS.</a:t>
            </a:r>
          </a:p>
          <a:p xmlns:a="http://schemas.openxmlformats.org/drawingml/2006/main">
            <a:r>
              <a:t/>
            </a:r>
          </a:p>
          <a:p xmlns:a="http://schemas.openxmlformats.org/drawingml/2006/main">
            <a:r>
              <a:t>Sources:</a:t>
            </a:r>
          </a:p>
          <a:p xmlns:a="http://schemas.openxmlformats.org/drawingml/2006/main">
            <a:r>
              <a:t>output/two-hackathons-evidence/manifest.json</a:t>
            </a:r>
          </a:p>
          <a:p xmlns:a="http://schemas.openxmlformats.org/drawingml/2006/main">
            <a:r>
              <a:t>research/two-hackathon-steering.md</a:t>
            </a:r>
          </a:p>
          <a:p xmlns:a="http://schemas.openxmlformats.org/drawingml/2006/main">
            <a:r>
              <a:t>https://github.com/nv-asotelo/porch-dad/blob/935ea4887e19038e93be2bcbe19a5ecbe4777ec5/cosmos3-edge-orin/results/runtime-controls/deployment.json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Primary server TTFT begins immediately before native inference after JPEG decode, preparation and admission and ends at first nonempty text observed by the Python consumer. It includes detokenization and consumer scheduling. Native whole-answer timing wraps native execution. Browser JPEG encoding, server JPEG decoding, queue/lock wait and network are excluded from these primary timers. Loopback HTTP starts earlier and includes service preparation and local delivery; browser timing is broader still. Historical first-demo FP16 HTTP p50 265.54 ms is close to the current FP16 267.67 but must not be compared as the same boundary to native 239.32. Whole-answer medians have 37 versus 31 output tokens, so a 44% model speedup claim would be invalid. One extra logged MLP request and an 849.36 ms HTTP maximum are disclosed; causal attribution is not proven. The interrupted length sweep preserved 110 measured client responses plus 12 warmups and 111 measured native rows because one in-flight completion arrived after stop. No fixed-ms or marginal-ms/token fit is published.</a:t>
            </a:r>
          </a:p>
          <a:p xmlns:a="http://schemas.openxmlformats.org/drawingml/2006/main">
            <a:r>
              <a:t/>
            </a:r>
          </a:p>
          <a:p xmlns:a="http://schemas.openxmlformats.org/drawingml/2006/main">
            <a:r>
              <a:t>Sources:</a:t>
            </a:r>
          </a:p>
          <a:p xmlns:a="http://schemas.openxmlformats.org/drawingml/2006/main">
            <a:r>
              <a:t>https://github.com/nv-asotelo/porch-dad/blob/935ea4887e19038e93be2bcbe19a5ecbe4777ec5/cosmos3-edge-orin/results/runtime-controls/ttft-comparison.json</a:t>
            </a:r>
          </a:p>
          <a:p xmlns:a="http://schemas.openxmlformats.org/drawingml/2006/main">
            <a:r>
              <a:t>https://github.com/nv-asotelo/porch-dad/blob/935ea4887e19038e93be2bcbe19a5ecbe4777ec5/cosmos3-edge-orin/results/runtime-controls/ttft-mlp/other-requests.jsonl</a:t>
            </a:r>
          </a:p>
          <a:p xmlns:a="http://schemas.openxmlformats.org/drawingml/2006/main">
            <a:r>
              <a:t>https://github.com/nv-asotelo/porch-dad/blob/935ea4887e19038e93be2bcbe19a5ecbe4777ec5/cosmos3-edge-orin/results/runtime-controls/token-sweep/interrupted-summary.json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final deployment restores the very first lightweight camera and original concise-scene prompt: Describe the visible scene in one concise sentence. Focus on objects and actions. Camera ideal 640×480, ideal 15/max30 FPS, transmitted longest side512, JPEG .8, minimum one second interval, temperature0, top-p1, output cap64, image cap512, encoder cache0, static clocks false at stock25W. The earlier user-requested Live VLM preset remains selectable; switching capture presets preserves edited prompt/output fields, so explicitly select Scene Description and output512 to match the upstream reference. Advanced image options320/512/Custom remain. Intermediate 320/.95/static1/256MiB acceptance had17 successful and4 invalid tests, with 1280×720 actual visual tokens299/480/364 for caps320/512/384. Both tested budgets recognized three objects but invented intent, so no accuracy parity. Final controls are verified against deployment and browser receipts. Changing input budget/top-p resets timing samples; cache/clocks are load-time settings shown read-only.</a:t>
            </a:r>
          </a:p>
          <a:p xmlns:a="http://schemas.openxmlformats.org/drawingml/2006/main">
            <a:r>
              <a:t/>
            </a:r>
          </a:p>
          <a:p xmlns:a="http://schemas.openxmlformats.org/drawingml/2006/main">
            <a:r>
              <a:t>Sources:</a:t>
            </a:r>
          </a:p>
          <a:p xmlns:a="http://schemas.openxmlformats.org/drawingml/2006/main">
            <a:r>
              <a:t>https://github.com/nv-asotelo/porch-dad/blob/935ea4887e19038e93be2bcbe19a5ecbe4777ec5/cosmos3-edge-orin/deployment/selected-config.json</a:t>
            </a:r>
          </a:p>
          <a:p xmlns:a="http://schemas.openxmlformats.org/drawingml/2006/main">
            <a:r>
              <a:t>https://github.com/nv-asotelo/porch-dad/blob/935ea4887e19038e93be2bcbe19a5ecbe4777ec5/cosmos3-edge-orin/results/runtime-controls/deployment.json</a:t>
            </a:r>
          </a:p>
          <a:p xmlns:a="http://schemas.openxmlformats.org/drawingml/2006/main">
            <a:r>
              <a:t>https://github.com/nv-asotelo/porch-dad/blob/935ea4887e19038e93be2bcbe19a5ecbe4777ec5/cosmos3-edge-orin/results/ui-runtime-controls-browser.json</a:t>
            </a:r>
          </a:p>
          <a:p xmlns:a="http://schemas.openxmlformats.org/drawingml/2006/main">
            <a:r>
              <a:t>https://github.com/nv-asotelo/porch-dad/blob/935ea4887e19038e93be2bcbe19a5ecbe4777ec5/cosmos3-edge-orin/results/runtime-controls/validation-routes-fixed.json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NVIDIA provides pretrained Cosmos3-Edge under the model card OpenMDW-1.1 terms, TensorRT-Edge-LLM under Apache-2.0, and JetPack/CUDA/TensorRT under their respective terms. Live VLM WebUI is Apache-2.0; public contributors include tokk-nv and chitoku. Its workflow and prompt text inform this task, not reused UI code. Underlying INT4 GEMV retains NVIDIA and MIT HAN Lab notices; task changes include scoped N4 launch tiling, not invention of that kernel or RTN quantization. The first campaign supplied a resident shim, quantizer/runbook and report. Frozen commit metadata records Alex Sotelo and Claude Opus 5 coauthor attribution, not a measured division of labor. Current source public commit935ea488... includes the nested cosmos3-edge-orin subtree. First source is frozen1375886... and was inspected only with user authorization, not executed or reused. Technical write-ups record exact timing receipts, hashes, source paths and reproduction gaps. No internal communications, repositories or assets were used.</a:t>
            </a:r>
          </a:p>
          <a:p xmlns:a="http://schemas.openxmlformats.org/drawingml/2006/main">
            <a:r>
              <a:t/>
            </a:r>
          </a:p>
          <a:p xmlns:a="http://schemas.openxmlformats.org/drawingml/2006/main">
            <a:r>
              <a:t>Sources:</a:t>
            </a:r>
          </a:p>
          <a:p xmlns:a="http://schemas.openxmlformats.org/drawingml/2006/main">
            <a:r>
              <a:t>https://huggingface.co/nvidia/Cosmos3-Edge</a:t>
            </a:r>
          </a:p>
          <a:p xmlns:a="http://schemas.openxmlformats.org/drawingml/2006/main">
            <a:r>
              <a:t>https://github.com/NVIDIA/TensorRT-Edge-LLM</a:t>
            </a:r>
          </a:p>
          <a:p xmlns:a="http://schemas.openxmlformats.org/drawingml/2006/main">
            <a:r>
              <a:t>https://github.com/NVIDIA-AI-IOT/live-vlm-webui</a:t>
            </a:r>
          </a:p>
          <a:p xmlns:a="http://schemas.openxmlformats.org/drawingml/2006/main">
            <a:r>
              <a:t>https://github.com/nv-asotelo/porch-dad/blob/935ea4887e19038e93be2bcbe19a5ecbe4777ec5/cosmos3-edge-orin/THIRD_PARTY_NOTICES.md</a:t>
            </a:r>
          </a:p>
          <a:p xmlns:a="http://schemas.openxmlformats.org/drawingml/2006/main">
            <a:r>
              <a:t>https://github.com/nv-asotelo/porch-dad/blob/935ea4887e19038e93be2bcbe19a5ecbe4777ec5/cosmos3-edge-orin/research/contribution-ledger.md</a:t>
            </a:r>
          </a:p>
          <a:p xmlns:a="http://schemas.openxmlformats.org/drawingml/2006/main">
            <a:r>
              <a:t>research/oneshot-writeup-review.md</a:t>
            </a:r>
          </a:p>
          <a:p xmlns:a="http://schemas.openxmlformats.org/drawingml/2006/main">
            <a:r>
              <a:t>research/two-hackathon-branch-comparison.md</a:t>
            </a:r>
          </a:p>
          <a:p xmlns:a="http://schemas.openxmlformats.org/drawingml/2006/main">
            <a:r>
              <a:t>https://github.com/nv-asotelo/porch-dad/tree/1375886c6941caa6f43688e5945c036a584399fe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bdba5d71244643b7"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91590469b87b4deb" /><Relationship Type="http://schemas.openxmlformats.org/officeDocument/2006/relationships/slideLayout" Target="/ppt/slideLayouts/slideLayout1.xml" Id="R3f0362002b6040d4"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3f0362002b6040d4"/>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29244869244747d2" /><Relationship Type="http://schemas.openxmlformats.org/officeDocument/2006/relationships/notesSlide" Target="/ppt/notesSlides/notesSlide1.xml" Id="R40d01b4d431e4def"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579b89b2d64c4064" /><Relationship Type="http://schemas.openxmlformats.org/officeDocument/2006/relationships/notesSlide" Target="/ppt/notesSlides/notesSlide2.xml" Id="R4aa068332c234ab2"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f52b1bdbe7a14cb3" /><Relationship Type="http://schemas.openxmlformats.org/officeDocument/2006/relationships/image" Target="/ppt/media/image.png" Id="Rc770ceea34d742fd" /><Relationship Type="http://schemas.openxmlformats.org/officeDocument/2006/relationships/notesSlide" Target="/ppt/notesSlides/notesSlide3.xml" Id="R4e62a3f1cd2542ba"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01878c1940774ca2" /><Relationship Type="http://schemas.openxmlformats.org/officeDocument/2006/relationships/notesSlide" Target="/ppt/notesSlides/notesSlide4.xml" Id="R8b597fde42dd4aea"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1d88abe2d0d04541" /><Relationship Type="http://schemas.openxmlformats.org/officeDocument/2006/relationships/notesSlide" Target="/ppt/notesSlides/notesSlide5.xml" Id="Rf810527787cd41e1"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fb1b40a1e4d14d65" /><Relationship Type="http://schemas.openxmlformats.org/officeDocument/2006/relationships/notesSlide" Target="/ppt/notesSlides/notesSlide6.xml" Id="R0b2d351288a24a0d"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de3ca54728ff4565" /><Relationship Type="http://schemas.openxmlformats.org/officeDocument/2006/relationships/notesSlide" Target="/ppt/notesSlides/notesSlide7.xml" Id="Ra638113bcf6c4422"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4058d8370ab148d0" /><Relationship Type="http://schemas.openxmlformats.org/officeDocument/2006/relationships/notesSlide" Target="/ppt/notesSlides/notesSlide8.xml" Id="R81e7ba1f5c784761"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c1bad4796d6b4194" /><Relationship Type="http://schemas.openxmlformats.org/officeDocument/2006/relationships/notesSlide" Target="/ppt/notesSlides/notesSlide9.xml" Id="R2c3f726d345044bd"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f9618f98042b423c" /><Relationship Type="http://schemas.openxmlformats.org/officeDocument/2006/relationships/notesSlide" Target="/ppt/notesSlides/notesSlide10.xml" Id="R23381cca91af4ffa"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5b478a1f8991494b" /><Relationship Type="http://schemas.openxmlformats.org/officeDocument/2006/relationships/image" Target="/ppt/media/image2.png" Id="Ra2e00afa2923451c" /><Relationship Type="http://schemas.openxmlformats.org/officeDocument/2006/relationships/image" Target="/ppt/media/image3.png" Id="R447bbff2d772448b" /><Relationship Type="http://schemas.openxmlformats.org/officeDocument/2006/relationships/notesSlide" Target="/ppt/notesSlides/notesSlide11.xml" Id="R4bd1e98af31b4337"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5f93d1330b0c41a8" /><Relationship Type="http://schemas.openxmlformats.org/officeDocument/2006/relationships/notesSlide" Target="/ppt/notesSlides/notesSlide12.xml" Id="R2d496b99d8dc4dff"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4061519d442c4bb5" /><Relationship Type="http://schemas.openxmlformats.org/officeDocument/2006/relationships/notesSlide" Target="/ppt/notesSlides/notesSlide13.xml" Id="Rb512d5a89a964bcf"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48da7c42d4fd4e09" /><Relationship Type="http://schemas.openxmlformats.org/officeDocument/2006/relationships/notesSlide" Target="/ppt/notesSlides/notesSlide14.xml" Id="R74efbc0f658e4128"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0051BD67-19C0-4DB8-BD9C-EC8DEA6CDAF8}"/>
              </a:ext>
            </a:extLst>
          </p:cNvPr>
          <p:cNvSpPr>
            <a:spLocks xmlns:a="http://schemas.openxmlformats.org/drawingml/2006/main" noGrp="1"/>
          </p:cNvSpPr>
          <p:nvPr/>
        </p:nvSpPr>
        <p:spPr>
          <a:xfrm xmlns:a="http://schemas.openxmlformats.org/drawingml/2006/main">
            <a:off x="685800" y="1066800"/>
            <a:ext cx="10477500" cy="1857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4950" b="1">
                <a:solidFill>
                  <a:srgbClr val="183542"/>
                </a:solidFill>
                <a:latin typeface="Helvetica Neue"/>
                <a:ea typeface="Helvetica Neue"/>
                <a:cs typeface="Helvetica Neue"/>
              </a:defRPr>
            </a:pPr>
            <a:r>
              <a:rPr sz="4950" b="1">
                <a:solidFill>
                  <a:srgbClr val="183542"/>
                </a:solidFill>
                <a:latin typeface="Helvetica Neue"/>
                <a:ea typeface="Helvetica Neue"/>
                <a:cs typeface="Helvetica Neue"/>
              </a:rPr>
              <a:t>Two hackathons,</a:t>
            </a:r>
          </a:p>
          <a:p xmlns:a="http://schemas.openxmlformats.org/drawingml/2006/main">
            <a:pPr>
              <a:defRPr sz="4950" b="1">
                <a:solidFill>
                  <a:srgbClr val="183542"/>
                </a:solidFill>
                <a:latin typeface="Helvetica Neue"/>
                <a:ea typeface="Helvetica Neue"/>
                <a:cs typeface="Helvetica Neue"/>
              </a:defRPr>
            </a:pPr>
            <a:r>
              <a:rPr sz="4950" b="1">
                <a:solidFill>
                  <a:srgbClr val="183542"/>
                </a:solidFill>
                <a:latin typeface="Helvetica Neue"/>
                <a:ea typeface="Helvetica Neue"/>
                <a:cs typeface="Helvetica Neue"/>
              </a:rPr>
              <a:t>one local vision demo</a:t>
            </a:r>
          </a:p>
        </p:txBody>
      </p:sp>
      <p:sp>
        <p:nvSpPr>
          <p:cNvPr id="2" name="">
            <a:extLst xmlns:a="http://schemas.openxmlformats.org/drawingml/2006/main">
              <a:ext uri="{FF2B5EF4-FFF2-40B4-BE49-F238E27FC236}">
                <a16:creationId xmlns:a16="http://schemas.microsoft.com/office/drawing/2014/main" id="{550B0E6E-9617-4120-BD5D-C46D3F7385DF}"/>
              </a:ext>
            </a:extLst>
          </p:cNvPr>
          <p:cNvSpPr>
            <a:spLocks xmlns:a="http://schemas.openxmlformats.org/drawingml/2006/main" noGrp="1"/>
          </p:cNvSpPr>
          <p:nvPr/>
        </p:nvSpPr>
        <p:spPr>
          <a:xfrm xmlns:a="http://schemas.openxmlformats.org/drawingml/2006/main">
            <a:off x="723900" y="3371850"/>
            <a:ext cx="10668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400" b="1">
                <a:solidFill>
                  <a:srgbClr val="146875"/>
                </a:solidFill>
                <a:latin typeface="Helvetica Neue"/>
                <a:ea typeface="Helvetica Neue"/>
                <a:cs typeface="Helvetica Neue"/>
              </a:defRPr>
            </a:pPr>
            <a:r>
              <a:rPr sz="2400" b="1">
                <a:solidFill>
                  <a:srgbClr val="146875"/>
                </a:solidFill>
                <a:latin typeface="Helvetica Neue"/>
                <a:ea typeface="Helvetica Neue"/>
                <a:cs typeface="Helvetica Neue"/>
              </a:rPr>
              <a:t>Cosmos3-Edge on an 8 GB Jetson Orin Nano</a:t>
            </a:r>
          </a:p>
        </p:txBody>
      </p:sp>
      <p:sp>
        <p:nvSpPr>
          <p:cNvPr id="3" name="">
            <a:extLst xmlns:a="http://schemas.openxmlformats.org/drawingml/2006/main">
              <a:ext uri="{FF2B5EF4-FFF2-40B4-BE49-F238E27FC236}">
                <a16:creationId xmlns:a16="http://schemas.microsoft.com/office/drawing/2014/main" id="{9C2838B9-50C4-47BD-B73D-99DC42EA3C31}"/>
              </a:ext>
            </a:extLst>
          </p:cNvPr>
          <p:cNvSpPr>
            <a:spLocks xmlns:a="http://schemas.openxmlformats.org/drawingml/2006/main" noGrp="1"/>
          </p:cNvSpPr>
          <p:nvPr/>
        </p:nvSpPr>
        <p:spPr>
          <a:xfrm xmlns:a="http://schemas.openxmlformats.org/drawingml/2006/main">
            <a:off x="723900" y="4191000"/>
            <a:ext cx="96678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175" b="0">
                <a:solidFill>
                  <a:srgbClr val="566773"/>
                </a:solidFill>
                <a:latin typeface="Helvetica Neue"/>
                <a:ea typeface="Helvetica Neue"/>
                <a:cs typeface="Helvetica Neue"/>
              </a:defRPr>
            </a:pPr>
            <a:r>
              <a:rPr sz="2175" b="0">
                <a:solidFill>
                  <a:srgbClr val="566773"/>
                </a:solidFill>
                <a:latin typeface="Helvetica Neue"/>
                <a:ea typeface="Helvetica Neue"/>
                <a:cs typeface="Helvetica Neue"/>
              </a:rPr>
              <a:t>What worked, what the user changed, and what the numbers actually measure</a:t>
            </a:r>
          </a:p>
        </p:txBody>
      </p:sp>
      <p:sp>
        <p:nvSpPr>
          <p:cNvPr id="4" name="">
            <a:extLst xmlns:a="http://schemas.openxmlformats.org/drawingml/2006/main">
              <a:ext uri="{FF2B5EF4-FFF2-40B4-BE49-F238E27FC236}">
                <a16:creationId xmlns:a16="http://schemas.microsoft.com/office/drawing/2014/main" id="{E39BA92B-75E2-4D18-9BF7-F1E98919C0CA}"/>
              </a:ext>
            </a:extLst>
          </p:cNvPr>
          <p:cNvSpPr>
            <a:spLocks xmlns:a="http://schemas.openxmlformats.org/drawingml/2006/main" noGrp="1"/>
          </p:cNvSpPr>
          <p:nvPr/>
        </p:nvSpPr>
        <p:spPr>
          <a:xfrm xmlns:a="http://schemas.openxmlformats.org/drawingml/2006/main">
            <a:off x="723900" y="598170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500" b="0">
                <a:solidFill>
                  <a:srgbClr val="566773"/>
                </a:solidFill>
                <a:latin typeface="Helvetica Neue"/>
                <a:ea typeface="Helvetica Neue"/>
                <a:cs typeface="Helvetica Neue"/>
              </a:defRPr>
            </a:pPr>
            <a:r>
              <a:rPr sz="1500" b="0">
                <a:solidFill>
                  <a:srgbClr val="566773"/>
                </a:solidFill>
                <a:latin typeface="Helvetica Neue"/>
                <a:ea typeface="Helvetica Neue"/>
                <a:cs typeface="Helvetica Neue"/>
              </a:rPr>
              <a:t>21 September 2026 · 8-slide talk with evidence appendix</a:t>
            </a:r>
          </a:p>
        </p:txBody>
      </p:sp>
    </p:spTree>
    <p:extLst>
      <p:ext uri="{BB962C8B-B14F-4D97-AF65-F5344CB8AC3E}">
        <p14:creationId xmlns:p14="http://schemas.microsoft.com/office/powerpoint/2010/main" val="801956426"/>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790CF3FF-AF32-4209-B0AB-5C0F1DB0D44C}"/>
              </a:ext>
            </a:extLst>
          </p:cNvPr>
          <p:cNvSpPr>
            <a:spLocks xmlns:a="http://schemas.openxmlformats.org/drawingml/2006/main" noGrp="1"/>
          </p:cNvSpPr>
          <p:nvPr/>
        </p:nvSpPr>
        <p:spPr>
          <a:xfrm xmlns:a="http://schemas.openxmlformats.org/drawingml/2006/main">
            <a:off x="685800" y="428625"/>
            <a:ext cx="108204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300" b="1">
                <a:solidFill>
                  <a:srgbClr val="183542"/>
                </a:solidFill>
                <a:latin typeface="Helvetica Neue"/>
                <a:ea typeface="Helvetica Neue"/>
                <a:cs typeface="Helvetica Neue"/>
              </a:defRPr>
            </a:pPr>
            <a:r>
              <a:rPr sz="3300" b="1">
                <a:solidFill>
                  <a:srgbClr val="183542"/>
                </a:solidFill>
                <a:latin typeface="Helvetica Neue"/>
                <a:ea typeface="Helvetica Neue"/>
                <a:cs typeface="Helvetica Neue"/>
              </a:rPr>
              <a:t>Two routes to useful edge vision</a:t>
            </a:r>
          </a:p>
        </p:txBody>
      </p:sp>
      <p:sp>
        <p:nvSpPr>
          <p:cNvPr id="2" name="">
            <a:extLst xmlns:a="http://schemas.openxmlformats.org/drawingml/2006/main">
              <a:ext uri="{FF2B5EF4-FFF2-40B4-BE49-F238E27FC236}">
                <a16:creationId xmlns:a16="http://schemas.microsoft.com/office/drawing/2014/main" id="{CED96A1A-9C24-4435-B7C9-459CED3A233F}"/>
              </a:ext>
            </a:extLst>
          </p:cNvPr>
          <p:cNvSpPr>
            <a:spLocks xmlns:a="http://schemas.openxmlformats.org/drawingml/2006/main" noGrp="1"/>
          </p:cNvSpPr>
          <p:nvPr/>
        </p:nvSpPr>
        <p:spPr>
          <a:xfrm xmlns:a="http://schemas.openxmlformats.org/drawingml/2006/main">
            <a:off x="685800" y="6429375"/>
            <a:ext cx="1000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275" b="0">
                <a:solidFill>
                  <a:srgbClr val="566773"/>
                </a:solidFill>
                <a:latin typeface="Helvetica Neue"/>
                <a:ea typeface="Helvetica Neue"/>
                <a:cs typeface="Helvetica Neue"/>
              </a:defRPr>
            </a:pPr>
            <a:r>
              <a:rPr sz="1275" b="0">
                <a:solidFill>
                  <a:srgbClr val="566773"/>
                </a:solidFill>
                <a:latin typeface="Helvetica Neue"/>
                <a:ea typeface="Helvetica Neue"/>
                <a:cs typeface="Helvetica Neue"/>
              </a:rPr>
              <a:t>Two hackathons · Cosmos3-Edge on Orin Nano</a:t>
            </a:r>
          </a:p>
        </p:txBody>
      </p:sp>
      <p:sp>
        <p:nvSpPr>
          <p:cNvPr id="3" name="">
            <a:extLst xmlns:a="http://schemas.openxmlformats.org/drawingml/2006/main">
              <a:ext uri="{FF2B5EF4-FFF2-40B4-BE49-F238E27FC236}">
                <a16:creationId xmlns:a16="http://schemas.microsoft.com/office/drawing/2014/main" id="{76D1C6A7-EB92-4E70-9AEF-E0BC2479EF64}"/>
              </a:ext>
            </a:extLst>
          </p:cNvPr>
          <p:cNvSpPr>
            <a:spLocks xmlns:a="http://schemas.openxmlformats.org/drawingml/2006/main" noGrp="1"/>
          </p:cNvSpPr>
          <p:nvPr/>
        </p:nvSpPr>
        <p:spPr>
          <a:xfrm xmlns:a="http://schemas.openxmlformats.org/drawingml/2006/main">
            <a:off x="11049000" y="6429375"/>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275" b="0">
                <a:solidFill>
                  <a:srgbClr val="566773"/>
                </a:solidFill>
                <a:latin typeface="Helvetica Neue"/>
                <a:ea typeface="Helvetica Neue"/>
                <a:cs typeface="Helvetica Neue"/>
              </a:defRPr>
            </a:pPr>
            <a:r>
              <a:rPr sz="1275" b="0">
                <a:solidFill>
                  <a:srgbClr val="566773"/>
                </a:solidFill>
                <a:latin typeface="Helvetica Neue"/>
                <a:ea typeface="Helvetica Neue"/>
                <a:cs typeface="Helvetica Neue"/>
              </a:rPr>
              <a:t>02</a:t>
            </a:r>
          </a:p>
        </p:txBody>
      </p:sp>
      <p:sp>
        <p:nvSpPr>
          <p:cNvPr id="4" name="">
            <a:extLst xmlns:a="http://schemas.openxmlformats.org/drawingml/2006/main">
              <a:ext uri="{FF2B5EF4-FFF2-40B4-BE49-F238E27FC236}">
                <a16:creationId xmlns:a16="http://schemas.microsoft.com/office/drawing/2014/main" id="{2097D303-493D-4439-96BF-5B22327898D4}"/>
              </a:ext>
            </a:extLst>
          </p:cNvPr>
          <p:cNvSpPr>
            <a:spLocks xmlns:a="http://schemas.openxmlformats.org/drawingml/2006/main" noGrp="1"/>
          </p:cNvSpPr>
          <p:nvPr/>
        </p:nvSpPr>
        <p:spPr>
          <a:xfrm xmlns:a="http://schemas.openxmlformats.org/drawingml/2006/main">
            <a:off x="685800" y="1362075"/>
            <a:ext cx="108204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175" b="1">
                <a:solidFill>
                  <a:srgbClr val="146875"/>
                </a:solidFill>
                <a:latin typeface="Helvetica Neue"/>
                <a:ea typeface="Helvetica Neue"/>
                <a:cs typeface="Helvetica Neue"/>
              </a:defRPr>
            </a:pPr>
            <a:r>
              <a:rPr sz="2175" b="1">
                <a:solidFill>
                  <a:srgbClr val="146875"/>
                </a:solidFill>
                <a:latin typeface="Helvetica Neue"/>
                <a:ea typeface="Helvetica Neue"/>
                <a:cs typeface="Helvetica Neue"/>
              </a:rPr>
              <a:t>A local camera app within a small shared-memory budget</a:t>
            </a:r>
          </a:p>
        </p:txBody>
      </p:sp>
      <p:graphicFrame>
        <p:nvGraphicFramePr>
          <p:cNvPr id="11" name=""/>
          <p:cNvGraphicFramePr/>
          <p:nvPr/>
        </p:nvGraphicFramePr>
        <p:xfrm>
          <a:off xmlns:a="http://schemas.openxmlformats.org/drawingml/2006/main" x="685800" y="2076450"/>
          <a:ext xmlns:a="http://schemas.openxmlformats.org/drawingml/2006/main" cx="10820400" cy="3333750"/>
        </p:xfrm>
        <a:graphic xmlns:a="http://schemas.openxmlformats.org/drawingml/2006/main">
          <a:graphicData uri="http://schemas.openxmlformats.org/drawingml/2006/table">
            <a:tbl>
              <a:tblPr firstRow="1" bandRow="0"/>
              <a:tblGrid>
                <a:gridCol w="2571750"/>
                <a:gridCol w="3933825"/>
                <a:gridCol w="4314825"/>
              </a:tblGrid>
              <a:tr h="666750">
                <a:tc>
                  <a:txBody>
                    <a:bodyPr/>
                    <a:lstStyle/>
                    <a:p>
                      <a:r>
                        <a:rPr sz="1800" b="1">
                          <a:solidFill>
                            <a:srgbClr val="183542"/>
                          </a:solidFill>
                          <a:latin typeface="Helvetica Neue"/>
                          <a:ea typeface="Helvetica Neue"/>
                          <a:cs typeface="Helvetica Neue"/>
                        </a:rPr>
                        <a:t>Design choice</a:t>
                      </a:r>
                    </a:p>
                  </a:txBody>
                  <a:tcPr marL="133350" marR="133350" marT="85725" marB="85725" anchor="ctr">
                    <a:solidFill>
                      <a:srgbClr val="E8F0F1"/>
                    </a:solidFill>
                  </a:tcPr>
                </a:tc>
                <a:tc>
                  <a:txBody>
                    <a:bodyPr/>
                    <a:lstStyle/>
                    <a:p>
                      <a:r>
                        <a:rPr sz="1800" b="1">
                          <a:solidFill>
                            <a:srgbClr val="183542"/>
                          </a:solidFill>
                          <a:latin typeface="Helvetica Neue"/>
                          <a:ea typeface="Helvetica Neue"/>
                          <a:cs typeface="Helvetica Neue"/>
                        </a:rPr>
                        <a:t>First campaign</a:t>
                      </a:r>
                    </a:p>
                  </a:txBody>
                  <a:tcPr marL="133350" marR="133350" marT="85725" marB="85725" anchor="ctr">
                    <a:solidFill>
                      <a:srgbClr val="E8F0F1"/>
                    </a:solidFill>
                  </a:tcPr>
                </a:tc>
                <a:tc>
                  <a:txBody>
                    <a:bodyPr/>
                    <a:lstStyle/>
                    <a:p>
                      <a:r>
                        <a:rPr sz="1800" b="1">
                          <a:solidFill>
                            <a:srgbClr val="183542"/>
                          </a:solidFill>
                          <a:latin typeface="Helvetica Neue"/>
                          <a:ea typeface="Helvetica Neue"/>
                          <a:cs typeface="Helvetica Neue"/>
                        </a:rPr>
                        <a:t>Current independent task</a:t>
                      </a:r>
                    </a:p>
                  </a:txBody>
                  <a:tcPr marL="133350" marR="133350" marT="85725" marB="85725" anchor="ctr">
                    <a:solidFill>
                      <a:srgbClr val="E8F0F1"/>
                    </a:solidFill>
                  </a:tcPr>
                </a:tc>
              </a:tr>
              <a:tr h="666750">
                <a:tc>
                  <a:txBody>
                    <a:bodyPr/>
                    <a:lstStyle/>
                    <a:p>
                      <a:r>
                        <a:rPr sz="1800">
                          <a:solidFill>
                            <a:srgbClr val="183542"/>
                          </a:solidFill>
                          <a:latin typeface="Helvetica Neue"/>
                          <a:ea typeface="Helvetica Neue"/>
                          <a:cs typeface="Helvetica Neue"/>
                        </a:rPr>
                        <a:t>INT4 scope</a:t>
                      </a:r>
                    </a:p>
                  </a:txBody>
                  <a:tcPr marL="133350" marR="133350" marT="85725" marB="85725" anchor="ctr">
                    <a:solidFill>
                      <a:srgbClr val="FFFFFF"/>
                    </a:solidFill>
                  </a:tcPr>
                </a:tc>
                <a:tc>
                  <a:txBody>
                    <a:bodyPr/>
                    <a:lstStyle/>
                    <a:p>
                      <a:r>
                        <a:rPr sz="1800">
                          <a:solidFill>
                            <a:srgbClr val="183542"/>
                          </a:solidFill>
                          <a:latin typeface="Helvetica Neue"/>
                          <a:ea typeface="Helvetica Neue"/>
                          <a:cs typeface="Helvetica Neue"/>
                        </a:rPr>
                        <a:t>169 text-layer linears</a:t>
                      </a:r>
                    </a:p>
                  </a:txBody>
                  <a:tcPr marL="133350" marR="133350" marT="85725" marB="85725" anchor="ctr">
                    <a:solidFill>
                      <a:srgbClr val="FFFFFF"/>
                    </a:solidFill>
                  </a:tcPr>
                </a:tc>
                <a:tc>
                  <a:txBody>
                    <a:bodyPr/>
                    <a:lstStyle/>
                    <a:p>
                      <a:r>
                        <a:rPr sz="1800">
                          <a:solidFill>
                            <a:srgbClr val="183542"/>
                          </a:solidFill>
                          <a:latin typeface="Helvetica Neue"/>
                          <a:ea typeface="Helvetica Neue"/>
                          <a:cs typeface="Helvetica Neue"/>
                        </a:rPr>
                        <a:t>56 MLP linears</a:t>
                      </a:r>
                    </a:p>
                  </a:txBody>
                  <a:tcPr marL="133350" marR="133350" marT="85725" marB="85725" anchor="ctr">
                    <a:solidFill>
                      <a:srgbClr val="FFFFFF"/>
                    </a:solidFill>
                  </a:tcPr>
                </a:tc>
              </a:tr>
              <a:tr h="666750">
                <a:tc>
                  <a:txBody>
                    <a:bodyPr/>
                    <a:lstStyle/>
                    <a:p>
                      <a:r>
                        <a:rPr sz="1800">
                          <a:solidFill>
                            <a:srgbClr val="183542"/>
                          </a:solidFill>
                          <a:latin typeface="Helvetica Neue"/>
                          <a:ea typeface="Helvetica Neue"/>
                          <a:cs typeface="Helvetica Neue"/>
                        </a:rPr>
                        <a:t>Power policy</a:t>
                      </a:r>
                    </a:p>
                  </a:txBody>
                  <a:tcPr marL="133350" marR="133350" marT="85725" marB="85725" anchor="ctr">
                    <a:solidFill>
                      <a:srgbClr val="FFFFFF"/>
                    </a:solidFill>
                  </a:tcPr>
                </a:tc>
                <a:tc>
                  <a:txBody>
                    <a:bodyPr/>
                    <a:lstStyle/>
                    <a:p>
                      <a:r>
                        <a:rPr sz="1800">
                          <a:solidFill>
                            <a:srgbClr val="183542"/>
                          </a:solidFill>
                          <a:latin typeface="Helvetica Neue"/>
                          <a:ea typeface="Helvetica Neue"/>
                          <a:cs typeface="Helvetica Neue"/>
                        </a:rPr>
                        <a:t>MAXN_SUPER, fixed clocks</a:t>
                      </a:r>
                    </a:p>
                  </a:txBody>
                  <a:tcPr marL="133350" marR="133350" marT="85725" marB="85725" anchor="ctr">
                    <a:solidFill>
                      <a:srgbClr val="FFFFFF"/>
                    </a:solidFill>
                  </a:tcPr>
                </a:tc>
                <a:tc>
                  <a:txBody>
                    <a:bodyPr/>
                    <a:lstStyle/>
                    <a:p>
                      <a:r>
                        <a:rPr sz="1800">
                          <a:solidFill>
                            <a:srgbClr val="183542"/>
                          </a:solidFill>
                          <a:latin typeface="Helvetica Neue"/>
                          <a:ea typeface="Helvetica Neue"/>
                          <a:cs typeface="Helvetica Neue"/>
                        </a:rPr>
                        <a:t>Stock 25 W, dynamic clocks</a:t>
                      </a:r>
                    </a:p>
                  </a:txBody>
                  <a:tcPr marL="133350" marR="133350" marT="85725" marB="85725" anchor="ctr">
                    <a:solidFill>
                      <a:srgbClr val="FFFFFF"/>
                    </a:solidFill>
                  </a:tcPr>
                </a:tc>
              </a:tr>
              <a:tr h="666750">
                <a:tc>
                  <a:txBody>
                    <a:bodyPr/>
                    <a:lstStyle/>
                    <a:p>
                      <a:r>
                        <a:rPr sz="1800">
                          <a:solidFill>
                            <a:srgbClr val="183542"/>
                          </a:solidFill>
                          <a:latin typeface="Helvetica Neue"/>
                          <a:ea typeface="Helvetica Neue"/>
                          <a:cs typeface="Helvetica Neue"/>
                        </a:rPr>
                        <a:t>Application</a:t>
                      </a:r>
                    </a:p>
                  </a:txBody>
                  <a:tcPr marL="133350" marR="133350" marT="85725" marB="85725" anchor="ctr">
                    <a:solidFill>
                      <a:srgbClr val="FFFFFF"/>
                    </a:solidFill>
                  </a:tcPr>
                </a:tc>
                <a:tc>
                  <a:txBody>
                    <a:bodyPr/>
                    <a:lstStyle/>
                    <a:p>
                      <a:r>
                        <a:rPr sz="1800">
                          <a:solidFill>
                            <a:srgbClr val="183542"/>
                          </a:solidFill>
                          <a:latin typeface="Helvetica Neue"/>
                          <a:ea typeface="Helvetica Neue"/>
                          <a:cs typeface="Helvetica Neue"/>
                        </a:rPr>
                        <a:t>Live VLM WebUI + JSON shim</a:t>
                      </a:r>
                    </a:p>
                  </a:txBody>
                  <a:tcPr marL="133350" marR="133350" marT="85725" marB="85725" anchor="ctr">
                    <a:solidFill>
                      <a:srgbClr val="FFFFFF"/>
                    </a:solidFill>
                  </a:tcPr>
                </a:tc>
                <a:tc>
                  <a:txBody>
                    <a:bodyPr/>
                    <a:lstStyle/>
                    <a:p>
                      <a:r>
                        <a:rPr sz="1800">
                          <a:solidFill>
                            <a:srgbClr val="183542"/>
                          </a:solidFill>
                          <a:latin typeface="Helvetica Neue"/>
                          <a:ea typeface="Helvetica Neue"/>
                          <a:cs typeface="Helvetica Neue"/>
                        </a:rPr>
                        <a:t>Original UI + streamed text</a:t>
                      </a:r>
                    </a:p>
                  </a:txBody>
                  <a:tcPr marL="133350" marR="133350" marT="85725" marB="85725" anchor="ctr">
                    <a:solidFill>
                      <a:srgbClr val="FFFFFF"/>
                    </a:solidFill>
                  </a:tcPr>
                </a:tc>
              </a:tr>
              <a:tr h="666750">
                <a:tc>
                  <a:txBody>
                    <a:bodyPr/>
                    <a:lstStyle/>
                    <a:p>
                      <a:r>
                        <a:rPr sz="1800">
                          <a:solidFill>
                            <a:srgbClr val="183542"/>
                          </a:solidFill>
                          <a:latin typeface="Helvetica Neue"/>
                          <a:ea typeface="Helvetica Neue"/>
                          <a:cs typeface="Helvetica Neue"/>
                        </a:rPr>
                        <a:t>Engineering focus</a:t>
                      </a:r>
                    </a:p>
                  </a:txBody>
                  <a:tcPr marL="133350" marR="133350" marT="85725" marB="85725" anchor="ctr">
                    <a:solidFill>
                      <a:srgbClr val="FFFFFF"/>
                    </a:solidFill>
                  </a:tcPr>
                </a:tc>
                <a:tc>
                  <a:txBody>
                    <a:bodyPr/>
                    <a:lstStyle/>
                    <a:p>
                      <a:r>
                        <a:rPr sz="1800">
                          <a:solidFill>
                            <a:srgbClr val="183542"/>
                          </a:solidFill>
                          <a:latin typeface="Helvetica Neue"/>
                          <a:ea typeface="Helvetica Neue"/>
                          <a:cs typeface="Helvetica Neue"/>
                        </a:rPr>
                        <a:t>Resident runtime, broad quantization</a:t>
                      </a:r>
                    </a:p>
                  </a:txBody>
                  <a:tcPr marL="133350" marR="133350" marT="85725" marB="85725" anchor="ctr">
                    <a:solidFill>
                      <a:srgbClr val="FFFFFF"/>
                    </a:solidFill>
                  </a:tcPr>
                </a:tc>
                <a:tc>
                  <a:txBody>
                    <a:bodyPr/>
                    <a:lstStyle/>
                    <a:p>
                      <a:r>
                        <a:rPr sz="1800">
                          <a:solidFill>
                            <a:srgbClr val="183542"/>
                          </a:solidFill>
                          <a:latin typeface="Helvetica Neue"/>
                          <a:ea typeface="Helvetica Neue"/>
                          <a:cs typeface="Helvetica Neue"/>
                        </a:rPr>
                        <a:t>Bring-up, streaming, audited timing</a:t>
                      </a:r>
                    </a:p>
                  </a:txBody>
                  <a:tcPr marL="133350" marR="133350" marT="85725" marB="85725" anchor="ctr">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87ECD3E0-A498-493F-87F1-C78FC12D4551}"/>
              </a:ext>
            </a:extLst>
          </p:cNvPr>
          <p:cNvSpPr>
            <a:spLocks xmlns:a="http://schemas.openxmlformats.org/drawingml/2006/main" noGrp="1"/>
          </p:cNvSpPr>
          <p:nvPr/>
        </p:nvSpPr>
        <p:spPr>
          <a:xfrm xmlns:a="http://schemas.openxmlformats.org/drawingml/2006/main">
            <a:off x="685800" y="5924550"/>
            <a:ext cx="10820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875" b="0">
                <a:solidFill>
                  <a:srgbClr val="566773"/>
                </a:solidFill>
                <a:latin typeface="Helvetica Neue"/>
                <a:ea typeface="Helvetica Neue"/>
                <a:cs typeface="Helvetica Neue"/>
              </a:defRPr>
            </a:pPr>
            <a:r>
              <a:rPr sz="1875" b="0">
                <a:solidFill>
                  <a:srgbClr val="566773"/>
                </a:solidFill>
                <a:latin typeface="Helvetica Neue"/>
                <a:ea typeface="Helvetica Neue"/>
                <a:cs typeface="Helvetica Neue"/>
              </a:rPr>
              <a:t>Different precision, power and serving choices require different performance claims.</a:t>
            </a:r>
          </a:p>
        </p:txBody>
      </p:sp>
    </p:spTree>
    <p:extLst>
      <p:ext uri="{BB962C8B-B14F-4D97-AF65-F5344CB8AC3E}">
        <p14:creationId xmlns:p14="http://schemas.microsoft.com/office/powerpoint/2010/main" val="1666911546"/>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EB75C716-BC8A-4074-88B9-89357F34756E}"/>
              </a:ext>
            </a:extLst>
          </p:cNvPr>
          <p:cNvSpPr>
            <a:spLocks xmlns:a="http://schemas.openxmlformats.org/drawingml/2006/main" noGrp="1"/>
          </p:cNvSpPr>
          <p:nvPr/>
        </p:nvSpPr>
        <p:spPr>
          <a:xfrm xmlns:a="http://schemas.openxmlformats.org/drawingml/2006/main">
            <a:off x="685800" y="428625"/>
            <a:ext cx="108204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300" b="1">
                <a:solidFill>
                  <a:srgbClr val="183542"/>
                </a:solidFill>
                <a:latin typeface="Helvetica Neue"/>
                <a:ea typeface="Helvetica Neue"/>
                <a:cs typeface="Helvetica Neue"/>
              </a:defRPr>
            </a:pPr>
            <a:r>
              <a:rPr sz="3300" b="1">
                <a:solidFill>
                  <a:srgbClr val="183542"/>
                </a:solidFill>
                <a:latin typeface="Helvetica Neue"/>
                <a:ea typeface="Helvetica Neue"/>
                <a:cs typeface="Helvetica Neue"/>
              </a:rPr>
              <a:t>One frame, two timing boundaries</a:t>
            </a:r>
          </a:p>
        </p:txBody>
      </p:sp>
      <p:sp>
        <p:nvSpPr>
          <p:cNvPr id="2" name="">
            <a:extLst xmlns:a="http://schemas.openxmlformats.org/drawingml/2006/main">
              <a:ext uri="{FF2B5EF4-FFF2-40B4-BE49-F238E27FC236}">
                <a16:creationId xmlns:a16="http://schemas.microsoft.com/office/drawing/2014/main" id="{FA7EF46C-3F4F-4AB4-8B15-F60E43DE5DFE}"/>
              </a:ext>
            </a:extLst>
          </p:cNvPr>
          <p:cNvSpPr>
            <a:spLocks xmlns:a="http://schemas.openxmlformats.org/drawingml/2006/main" noGrp="1"/>
          </p:cNvSpPr>
          <p:nvPr/>
        </p:nvSpPr>
        <p:spPr>
          <a:xfrm xmlns:a="http://schemas.openxmlformats.org/drawingml/2006/main">
            <a:off x="685800" y="6429375"/>
            <a:ext cx="1000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275" b="0">
                <a:solidFill>
                  <a:srgbClr val="566773"/>
                </a:solidFill>
                <a:latin typeface="Helvetica Neue"/>
                <a:ea typeface="Helvetica Neue"/>
                <a:cs typeface="Helvetica Neue"/>
              </a:defRPr>
            </a:pPr>
            <a:r>
              <a:rPr sz="1275" b="0">
                <a:solidFill>
                  <a:srgbClr val="566773"/>
                </a:solidFill>
                <a:latin typeface="Helvetica Neue"/>
                <a:ea typeface="Helvetica Neue"/>
                <a:cs typeface="Helvetica Neue"/>
              </a:rPr>
              <a:t>Two hackathons · Cosmos3-Edge on Orin Nano</a:t>
            </a:r>
          </a:p>
        </p:txBody>
      </p:sp>
      <p:sp>
        <p:nvSpPr>
          <p:cNvPr id="3" name="">
            <a:extLst xmlns:a="http://schemas.openxmlformats.org/drawingml/2006/main">
              <a:ext uri="{FF2B5EF4-FFF2-40B4-BE49-F238E27FC236}">
                <a16:creationId xmlns:a16="http://schemas.microsoft.com/office/drawing/2014/main" id="{242F76CA-0F1B-4388-9B08-692A4CECE875}"/>
              </a:ext>
            </a:extLst>
          </p:cNvPr>
          <p:cNvSpPr>
            <a:spLocks xmlns:a="http://schemas.openxmlformats.org/drawingml/2006/main" noGrp="1"/>
          </p:cNvSpPr>
          <p:nvPr/>
        </p:nvSpPr>
        <p:spPr>
          <a:xfrm xmlns:a="http://schemas.openxmlformats.org/drawingml/2006/main">
            <a:off x="11049000" y="6429375"/>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275" b="0">
                <a:solidFill>
                  <a:srgbClr val="566773"/>
                </a:solidFill>
                <a:latin typeface="Helvetica Neue"/>
                <a:ea typeface="Helvetica Neue"/>
                <a:cs typeface="Helvetica Neue"/>
              </a:defRPr>
            </a:pPr>
            <a:r>
              <a:rPr sz="1275" b="0">
                <a:solidFill>
                  <a:srgbClr val="566773"/>
                </a:solidFill>
                <a:latin typeface="Helvetica Neue"/>
                <a:ea typeface="Helvetica Neue"/>
                <a:cs typeface="Helvetica Neue"/>
              </a:rPr>
              <a:t>03</a:t>
            </a:r>
          </a:p>
        </p:txBody>
      </p:sp>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c770ceea34d742fd"/>
          <a:stretch xmlns:a="http://schemas.openxmlformats.org/drawingml/2006/main"/>
        </p:blipFill>
        <p:spPr>
          <a:xfrm xmlns:a="http://schemas.openxmlformats.org/drawingml/2006/main">
            <a:off x="1225978" y="1314450"/>
            <a:ext cx="5958618" cy="4714875"/>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C28BB35F-62CE-4360-8D38-7973DE9DC68E}"/>
              </a:ext>
            </a:extLst>
          </p:cNvPr>
          <p:cNvSpPr>
            <a:spLocks xmlns:a="http://schemas.openxmlformats.org/drawingml/2006/main" noGrp="1"/>
          </p:cNvSpPr>
          <p:nvPr/>
        </p:nvSpPr>
        <p:spPr>
          <a:xfrm xmlns:a="http://schemas.openxmlformats.org/drawingml/2006/main">
            <a:off x="8239125" y="1657350"/>
            <a:ext cx="3333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4350" b="1">
                <a:solidFill>
                  <a:srgbClr val="146875"/>
                </a:solidFill>
                <a:latin typeface="Helvetica Neue"/>
                <a:ea typeface="Helvetica Neue"/>
                <a:cs typeface="Helvetica Neue"/>
              </a:defRPr>
            </a:pPr>
            <a:r>
              <a:rPr sz="4350" b="1">
                <a:solidFill>
                  <a:srgbClr val="146875"/>
                </a:solidFill>
                <a:latin typeface="Helvetica Neue"/>
                <a:ea typeface="Helvetica Neue"/>
                <a:cs typeface="Helvetica Neue"/>
              </a:rPr>
              <a:t>197 ms</a:t>
            </a:r>
          </a:p>
        </p:txBody>
      </p:sp>
      <p:sp>
        <p:nvSpPr>
          <p:cNvPr id="6" name="">
            <a:extLst xmlns:a="http://schemas.openxmlformats.org/drawingml/2006/main">
              <a:ext uri="{FF2B5EF4-FFF2-40B4-BE49-F238E27FC236}">
                <a16:creationId xmlns:a16="http://schemas.microsoft.com/office/drawing/2014/main" id="{9134561D-1F28-48C0-837F-9B8C51E8AB06}"/>
              </a:ext>
            </a:extLst>
          </p:cNvPr>
          <p:cNvSpPr>
            <a:spLocks xmlns:a="http://schemas.openxmlformats.org/drawingml/2006/main" noGrp="1"/>
          </p:cNvSpPr>
          <p:nvPr/>
        </p:nvSpPr>
        <p:spPr>
          <a:xfrm xmlns:a="http://schemas.openxmlformats.org/drawingml/2006/main">
            <a:off x="8267700" y="2419350"/>
            <a:ext cx="3095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025" b="1">
                <a:solidFill>
                  <a:srgbClr val="183542"/>
                </a:solidFill>
                <a:latin typeface="Helvetica Neue"/>
                <a:ea typeface="Helvetica Neue"/>
                <a:cs typeface="Helvetica Neue"/>
              </a:defRPr>
            </a:pPr>
            <a:r>
              <a:rPr sz="2025" b="1">
                <a:solidFill>
                  <a:srgbClr val="183542"/>
                </a:solidFill>
                <a:latin typeface="Helvetica Neue"/>
                <a:ea typeface="Helvetica Neue"/>
                <a:cs typeface="Helvetica Neue"/>
              </a:rPr>
              <a:t>Server first text</a:t>
            </a:r>
          </a:p>
        </p:txBody>
      </p:sp>
      <p:sp>
        <p:nvSpPr>
          <p:cNvPr id="7" name="">
            <a:extLst xmlns:a="http://schemas.openxmlformats.org/drawingml/2006/main">
              <a:ext uri="{FF2B5EF4-FFF2-40B4-BE49-F238E27FC236}">
                <a16:creationId xmlns:a16="http://schemas.microsoft.com/office/drawing/2014/main" id="{5FC12547-FFA5-4A1E-BE52-6AA6396722B2}"/>
              </a:ext>
            </a:extLst>
          </p:cNvPr>
          <p:cNvSpPr>
            <a:spLocks xmlns:a="http://schemas.openxmlformats.org/drawingml/2006/main" noGrp="1"/>
          </p:cNvSpPr>
          <p:nvPr/>
        </p:nvSpPr>
        <p:spPr>
          <a:xfrm xmlns:a="http://schemas.openxmlformats.org/drawingml/2006/main">
            <a:off x="8239125" y="3286125"/>
            <a:ext cx="3333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4350" b="1">
                <a:solidFill>
                  <a:srgbClr val="183542"/>
                </a:solidFill>
                <a:latin typeface="Helvetica Neue"/>
                <a:ea typeface="Helvetica Neue"/>
                <a:cs typeface="Helvetica Neue"/>
              </a:defRPr>
            </a:pPr>
            <a:r>
              <a:rPr sz="4350" b="1">
                <a:solidFill>
                  <a:srgbClr val="183542"/>
                </a:solidFill>
                <a:latin typeface="Helvetica Neue"/>
                <a:ea typeface="Helvetica Neue"/>
                <a:cs typeface="Helvetica Neue"/>
              </a:rPr>
              <a:t>312 ms</a:t>
            </a:r>
          </a:p>
        </p:txBody>
      </p:sp>
      <p:sp>
        <p:nvSpPr>
          <p:cNvPr id="8" name="">
            <a:extLst xmlns:a="http://schemas.openxmlformats.org/drawingml/2006/main">
              <a:ext uri="{FF2B5EF4-FFF2-40B4-BE49-F238E27FC236}">
                <a16:creationId xmlns:a16="http://schemas.microsoft.com/office/drawing/2014/main" id="{EAA76B3D-B949-4D0D-AEE3-3F7211C4FD8F}"/>
              </a:ext>
            </a:extLst>
          </p:cNvPr>
          <p:cNvSpPr>
            <a:spLocks xmlns:a="http://schemas.openxmlformats.org/drawingml/2006/main" noGrp="1"/>
          </p:cNvSpPr>
          <p:nvPr/>
        </p:nvSpPr>
        <p:spPr>
          <a:xfrm xmlns:a="http://schemas.openxmlformats.org/drawingml/2006/main">
            <a:off x="8267700" y="4038600"/>
            <a:ext cx="3095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025" b="1">
                <a:solidFill>
                  <a:srgbClr val="183542"/>
                </a:solidFill>
                <a:latin typeface="Helvetica Neue"/>
                <a:ea typeface="Helvetica Neue"/>
                <a:cs typeface="Helvetica Neue"/>
              </a:defRPr>
            </a:pPr>
            <a:r>
              <a:rPr sz="2025" b="1">
                <a:solidFill>
                  <a:srgbClr val="183542"/>
                </a:solidFill>
                <a:latin typeface="Helvetica Neue"/>
                <a:ea typeface="Helvetica Neue"/>
                <a:cs typeface="Helvetica Neue"/>
              </a:rPr>
              <a:t>Browser first text</a:t>
            </a:r>
          </a:p>
        </p:txBody>
      </p:sp>
      <p:sp>
        <p:nvSpPr>
          <p:cNvPr id="9" name="">
            <a:extLst xmlns:a="http://schemas.openxmlformats.org/drawingml/2006/main">
              <a:ext uri="{FF2B5EF4-FFF2-40B4-BE49-F238E27FC236}">
                <a16:creationId xmlns:a16="http://schemas.microsoft.com/office/drawing/2014/main" id="{015FCBB2-3800-43C8-8AF8-A5EC8ACCD9ED}"/>
              </a:ext>
            </a:extLst>
          </p:cNvPr>
          <p:cNvSpPr>
            <a:spLocks xmlns:a="http://schemas.openxmlformats.org/drawingml/2006/main" noGrp="1"/>
          </p:cNvSpPr>
          <p:nvPr/>
        </p:nvSpPr>
        <p:spPr>
          <a:xfrm xmlns:a="http://schemas.openxmlformats.org/drawingml/2006/main">
            <a:off x="8258175" y="4962525"/>
            <a:ext cx="3133725"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800" b="0">
                <a:solidFill>
                  <a:srgbClr val="566773"/>
                </a:solidFill>
                <a:latin typeface="Helvetica Neue"/>
                <a:ea typeface="Helvetica Neue"/>
                <a:cs typeface="Helvetica Neue"/>
              </a:defRPr>
            </a:pPr>
            <a:r>
              <a:rPr sz="1800" b="0">
                <a:solidFill>
                  <a:srgbClr val="566773"/>
                </a:solidFill>
                <a:latin typeface="Helvetica Neue"/>
                <a:ea typeface="Helvetica Neue"/>
                <a:cs typeface="Helvetica Neue"/>
              </a:rPr>
              <a:t>One displayed observation.</a:t>
            </a:r>
          </a:p>
          <a:p xmlns:a="http://schemas.openxmlformats.org/drawingml/2006/main">
            <a:pPr>
              <a:defRPr sz="1800" b="0">
                <a:solidFill>
                  <a:srgbClr val="566773"/>
                </a:solidFill>
                <a:latin typeface="Helvetica Neue"/>
                <a:ea typeface="Helvetica Neue"/>
                <a:cs typeface="Helvetica Neue"/>
              </a:defRPr>
            </a:pPr>
            <a:r>
              <a:rPr sz="1800" b="0">
                <a:solidFill>
                  <a:srgbClr val="566773"/>
                </a:solidFill>
                <a:latin typeface="Helvetica Neue"/>
                <a:ea typeface="Helvetica Neue"/>
                <a:cs typeface="Helvetica Neue"/>
              </a:rPr>
              <a:t>The gap is not a Wi-Fi test.</a:t>
            </a:r>
          </a:p>
        </p:txBody>
      </p:sp>
    </p:spTree>
    <p:extLst>
      <p:ext uri="{BB962C8B-B14F-4D97-AF65-F5344CB8AC3E}">
        <p14:creationId xmlns:p14="http://schemas.microsoft.com/office/powerpoint/2010/main" val="1835524675"/>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AA14B9B1-F081-4E50-9927-B3BC3CB945F3}"/>
              </a:ext>
            </a:extLst>
          </p:cNvPr>
          <p:cNvSpPr>
            <a:spLocks xmlns:a="http://schemas.openxmlformats.org/drawingml/2006/main" noGrp="1"/>
          </p:cNvSpPr>
          <p:nvPr/>
        </p:nvSpPr>
        <p:spPr>
          <a:xfrm xmlns:a="http://schemas.openxmlformats.org/drawingml/2006/main">
            <a:off x="685800" y="428625"/>
            <a:ext cx="108204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300" b="1">
                <a:solidFill>
                  <a:srgbClr val="183542"/>
                </a:solidFill>
                <a:latin typeface="Helvetica Neue"/>
                <a:ea typeface="Helvetica Neue"/>
                <a:cs typeface="Helvetica Neue"/>
              </a:defRPr>
            </a:pPr>
            <a:r>
              <a:rPr sz="3300" b="1">
                <a:solidFill>
                  <a:srgbClr val="183542"/>
                </a:solidFill>
                <a:latin typeface="Helvetica Neue"/>
                <a:ea typeface="Helvetica Neue"/>
                <a:cs typeface="Helvetica Neue"/>
              </a:rPr>
              <a:t>Human steering changed the defaults</a:t>
            </a:r>
          </a:p>
        </p:txBody>
      </p:sp>
      <p:sp>
        <p:nvSpPr>
          <p:cNvPr id="2" name="">
            <a:extLst xmlns:a="http://schemas.openxmlformats.org/drawingml/2006/main">
              <a:ext uri="{FF2B5EF4-FFF2-40B4-BE49-F238E27FC236}">
                <a16:creationId xmlns:a16="http://schemas.microsoft.com/office/drawing/2014/main" id="{E3E88B59-35DC-4F1D-8DCB-C449D1EE12F0}"/>
              </a:ext>
            </a:extLst>
          </p:cNvPr>
          <p:cNvSpPr>
            <a:spLocks xmlns:a="http://schemas.openxmlformats.org/drawingml/2006/main" noGrp="1"/>
          </p:cNvSpPr>
          <p:nvPr/>
        </p:nvSpPr>
        <p:spPr>
          <a:xfrm xmlns:a="http://schemas.openxmlformats.org/drawingml/2006/main">
            <a:off x="685800" y="6429375"/>
            <a:ext cx="1000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275" b="0">
                <a:solidFill>
                  <a:srgbClr val="566773"/>
                </a:solidFill>
                <a:latin typeface="Helvetica Neue"/>
                <a:ea typeface="Helvetica Neue"/>
                <a:cs typeface="Helvetica Neue"/>
              </a:defRPr>
            </a:pPr>
            <a:r>
              <a:rPr sz="1275" b="0">
                <a:solidFill>
                  <a:srgbClr val="566773"/>
                </a:solidFill>
                <a:latin typeface="Helvetica Neue"/>
                <a:ea typeface="Helvetica Neue"/>
                <a:cs typeface="Helvetica Neue"/>
              </a:rPr>
              <a:t>Two hackathons · Cosmos3-Edge on Orin Nano</a:t>
            </a:r>
          </a:p>
        </p:txBody>
      </p:sp>
      <p:sp>
        <p:nvSpPr>
          <p:cNvPr id="3" name="">
            <a:extLst xmlns:a="http://schemas.openxmlformats.org/drawingml/2006/main">
              <a:ext uri="{FF2B5EF4-FFF2-40B4-BE49-F238E27FC236}">
                <a16:creationId xmlns:a16="http://schemas.microsoft.com/office/drawing/2014/main" id="{072A4A2F-186E-44BA-BE1B-BD1AD172F9D1}"/>
              </a:ext>
            </a:extLst>
          </p:cNvPr>
          <p:cNvSpPr>
            <a:spLocks xmlns:a="http://schemas.openxmlformats.org/drawingml/2006/main" noGrp="1"/>
          </p:cNvSpPr>
          <p:nvPr/>
        </p:nvSpPr>
        <p:spPr>
          <a:xfrm xmlns:a="http://schemas.openxmlformats.org/drawingml/2006/main">
            <a:off x="11049000" y="6429375"/>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275" b="0">
                <a:solidFill>
                  <a:srgbClr val="566773"/>
                </a:solidFill>
                <a:latin typeface="Helvetica Neue"/>
                <a:ea typeface="Helvetica Neue"/>
                <a:cs typeface="Helvetica Neue"/>
              </a:defRPr>
            </a:pPr>
            <a:r>
              <a:rPr sz="1275" b="0">
                <a:solidFill>
                  <a:srgbClr val="566773"/>
                </a:solidFill>
                <a:latin typeface="Helvetica Neue"/>
                <a:ea typeface="Helvetica Neue"/>
                <a:cs typeface="Helvetica Neue"/>
              </a:rPr>
              <a:t>04</a:t>
            </a:r>
          </a:p>
        </p:txBody>
      </p:sp>
      <p:graphicFrame>
        <p:nvGraphicFramePr>
          <p:cNvPr id="9" name=""/>
          <p:cNvGraphicFramePr/>
          <p:nvPr/>
        </p:nvGraphicFramePr>
        <p:xfrm>
          <a:off xmlns:a="http://schemas.openxmlformats.org/drawingml/2006/main" x="685800" y="1562100"/>
          <a:ext xmlns:a="http://schemas.openxmlformats.org/drawingml/2006/main" cx="10820400" cy="3943350"/>
        </p:xfrm>
        <a:graphic xmlns:a="http://schemas.openxmlformats.org/drawingml/2006/main">
          <a:graphicData uri="http://schemas.openxmlformats.org/drawingml/2006/table">
            <a:tbl>
              <a:tblPr firstRow="1" bandRow="0"/>
              <a:tblGrid>
                <a:gridCol w="3857625"/>
                <a:gridCol w="6962775"/>
              </a:tblGrid>
              <a:tr h="657225">
                <a:tc>
                  <a:txBody>
                    <a:bodyPr/>
                    <a:lstStyle/>
                    <a:p>
                      <a:r>
                        <a:rPr sz="1800" b="1">
                          <a:solidFill>
                            <a:srgbClr val="183542"/>
                          </a:solidFill>
                          <a:latin typeface="Helvetica Neue"/>
                          <a:ea typeface="Helvetica Neue"/>
                          <a:cs typeface="Helvetica Neue"/>
                        </a:rPr>
                        <a:t>Human request</a:t>
                      </a:r>
                    </a:p>
                  </a:txBody>
                  <a:tcPr marL="133350" marR="133350" marT="85725" marB="85725" anchor="ctr">
                    <a:solidFill>
                      <a:srgbClr val="E8F0F1"/>
                    </a:solidFill>
                  </a:tcPr>
                </a:tc>
                <a:tc>
                  <a:txBody>
                    <a:bodyPr/>
                    <a:lstStyle/>
                    <a:p>
                      <a:r>
                        <a:rPr sz="1800" b="1">
                          <a:solidFill>
                            <a:srgbClr val="183542"/>
                          </a:solidFill>
                          <a:latin typeface="Helvetica Neue"/>
                          <a:ea typeface="Helvetica Neue"/>
                          <a:cs typeface="Helvetica Neue"/>
                        </a:rPr>
                        <a:t>What changed</a:t>
                      </a:r>
                    </a:p>
                  </a:txBody>
                  <a:tcPr marL="133350" marR="133350" marT="85725" marB="85725" anchor="ctr">
                    <a:solidFill>
                      <a:srgbClr val="E8F0F1"/>
                    </a:solidFill>
                  </a:tcPr>
                </a:tc>
              </a:tr>
              <a:tr h="657225">
                <a:tc>
                  <a:txBody>
                    <a:bodyPr/>
                    <a:lstStyle/>
                    <a:p>
                      <a:r>
                        <a:rPr sz="1800">
                          <a:solidFill>
                            <a:srgbClr val="183542"/>
                          </a:solidFill>
                          <a:latin typeface="Helvetica Neue"/>
                          <a:ea typeface="Helvetica Neue"/>
                          <a:cs typeface="Helvetica Neue"/>
                        </a:rPr>
                        <a:t>“Compare fairly” to Live VLM</a:t>
                      </a:r>
                    </a:p>
                  </a:txBody>
                  <a:tcPr marL="133350" marR="133350" marT="85725" marB="85725" anchor="ctr">
                    <a:solidFill>
                      <a:srgbClr val="FFFFFF"/>
                    </a:solidFill>
                  </a:tcPr>
                </a:tc>
                <a:tc>
                  <a:txBody>
                    <a:bodyPr/>
                    <a:lstStyle/>
                    <a:p>
                      <a:r>
                        <a:rPr sz="1800">
                          <a:solidFill>
                            <a:srgbClr val="183542"/>
                          </a:solidFill>
                          <a:latin typeface="Helvetica Neue"/>
                          <a:ea typeface="Helvetica Neue"/>
                          <a:cs typeface="Helvetica Neue"/>
                        </a:rPr>
                        <a:t>Prompt, output ceiling and capture preset aligned</a:t>
                      </a:r>
                    </a:p>
                  </a:txBody>
                  <a:tcPr marL="133350" marR="133350" marT="85725" marB="85725" anchor="ctr">
                    <a:solidFill>
                      <a:srgbClr val="FFFFFF"/>
                    </a:solidFill>
                  </a:tcPr>
                </a:tc>
              </a:tr>
              <a:tr h="657225">
                <a:tc>
                  <a:txBody>
                    <a:bodyPr/>
                    <a:lstStyle/>
                    <a:p>
                      <a:r>
                        <a:rPr sz="1800">
                          <a:solidFill>
                            <a:srgbClr val="183542"/>
                          </a:solidFill>
                          <a:latin typeface="Helvetica Neue"/>
                          <a:ea typeface="Helvetica Neue"/>
                          <a:cs typeface="Helvetica Neue"/>
                        </a:rPr>
                        <a:t>Separate image and answer limits</a:t>
                      </a:r>
                    </a:p>
                  </a:txBody>
                  <a:tcPr marL="133350" marR="133350" marT="85725" marB="85725" anchor="ctr">
                    <a:solidFill>
                      <a:srgbClr val="FFFFFF"/>
                    </a:solidFill>
                  </a:tcPr>
                </a:tc>
                <a:tc>
                  <a:txBody>
                    <a:bodyPr/>
                    <a:lstStyle/>
                    <a:p>
                      <a:r>
                        <a:rPr sz="1800">
                          <a:solidFill>
                            <a:srgbClr val="183542"/>
                          </a:solidFill>
                          <a:latin typeface="Helvetica Neue"/>
                          <a:ea typeface="Helvetica Neue"/>
                          <a:cs typeface="Helvetica Neue"/>
                        </a:rPr>
                        <a:t>Input budget 320 / 512 / Custom; output cap separate</a:t>
                      </a:r>
                    </a:p>
                  </a:txBody>
                  <a:tcPr marL="133350" marR="133350" marT="85725" marB="85725" anchor="ctr">
                    <a:solidFill>
                      <a:srgbClr val="FFFFFF"/>
                    </a:solidFill>
                  </a:tcPr>
                </a:tc>
              </a:tr>
              <a:tr h="657225">
                <a:tc>
                  <a:txBody>
                    <a:bodyPr/>
                    <a:lstStyle/>
                    <a:p>
                      <a:r>
                        <a:rPr sz="1800">
                          <a:solidFill>
                            <a:srgbClr val="183542"/>
                          </a:solidFill>
                          <a:latin typeface="Helvetica Neue"/>
                          <a:ea typeface="Helvetica Neue"/>
                          <a:cs typeface="Helvetica Neue"/>
                        </a:rPr>
                        <a:t>Remove JPEG and network time</a:t>
                      </a:r>
                    </a:p>
                  </a:txBody>
                  <a:tcPr marL="133350" marR="133350" marT="85725" marB="85725" anchor="ctr">
                    <a:solidFill>
                      <a:srgbClr val="FFFFFF"/>
                    </a:solidFill>
                  </a:tcPr>
                </a:tc>
                <a:tc>
                  <a:txBody>
                    <a:bodyPr/>
                    <a:lstStyle/>
                    <a:p>
                      <a:r>
                        <a:rPr sz="1800">
                          <a:solidFill>
                            <a:srgbClr val="183542"/>
                          </a:solidFill>
                          <a:latin typeface="Helvetica Neue"/>
                          <a:ea typeface="Helvetica Neue"/>
                          <a:cs typeface="Helvetica Neue"/>
                        </a:rPr>
                        <a:t>Native server timers; browser diagnostics retained</a:t>
                      </a:r>
                    </a:p>
                  </a:txBody>
                  <a:tcPr marL="133350" marR="133350" marT="85725" marB="85725" anchor="ctr">
                    <a:solidFill>
                      <a:srgbClr val="FFFFFF"/>
                    </a:solidFill>
                  </a:tcPr>
                </a:tc>
              </a:tr>
              <a:tr h="657225">
                <a:tc>
                  <a:txBody>
                    <a:bodyPr/>
                    <a:lstStyle/>
                    <a:p>
                      <a:r>
                        <a:rPr sz="1800">
                          <a:solidFill>
                            <a:srgbClr val="183542"/>
                          </a:solidFill>
                          <a:latin typeface="Helvetica Neue"/>
                          <a:ea typeface="Helvetica Neue"/>
                          <a:cs typeface="Helvetica Neue"/>
                        </a:rPr>
                        <a:t>Restore the first demo</a:t>
                      </a:r>
                    </a:p>
                  </a:txBody>
                  <a:tcPr marL="133350" marR="133350" marT="85725" marB="85725" anchor="ctr">
                    <a:solidFill>
                      <a:srgbClr val="FFFFFF"/>
                    </a:solidFill>
                  </a:tcPr>
                </a:tc>
                <a:tc>
                  <a:txBody>
                    <a:bodyPr/>
                    <a:lstStyle/>
                    <a:p>
                      <a:r>
                        <a:rPr sz="1800">
                          <a:solidFill>
                            <a:srgbClr val="183542"/>
                          </a:solidFill>
                          <a:latin typeface="Helvetica Neue"/>
                          <a:ea typeface="Helvetica Neue"/>
                          <a:cs typeface="Helvetica Neue"/>
                        </a:rPr>
                        <a:t>Original lightweight controls; temporary FP16 engine</a:t>
                      </a:r>
                    </a:p>
                  </a:txBody>
                  <a:tcPr marL="133350" marR="133350" marT="85725" marB="85725" anchor="ctr">
                    <a:solidFill>
                      <a:srgbClr val="FFFFFF"/>
                    </a:solidFill>
                  </a:tcPr>
                </a:tc>
              </a:tr>
              <a:tr h="657225">
                <a:tc>
                  <a:txBody>
                    <a:bodyPr/>
                    <a:lstStyle/>
                    <a:p>
                      <a:r>
                        <a:rPr sz="1800">
                          <a:solidFill>
                            <a:srgbClr val="183542"/>
                          </a:solidFill>
                          <a:latin typeface="Helvetica Neue"/>
                          <a:ea typeface="Helvetica Neue"/>
                          <a:cs typeface="Helvetica Neue"/>
                        </a:rPr>
                        <a:t>Measure before switching back</a:t>
                      </a:r>
                    </a:p>
                  </a:txBody>
                  <a:tcPr marL="133350" marR="133350" marT="85725" marB="85725" anchor="ctr">
                    <a:solidFill>
                      <a:srgbClr val="FFFFFF"/>
                    </a:solidFill>
                  </a:tcPr>
                </a:tc>
                <a:tc>
                  <a:txBody>
                    <a:bodyPr/>
                    <a:lstStyle/>
                    <a:p>
                      <a:r>
                        <a:rPr sz="1800">
                          <a:solidFill>
                            <a:srgbClr val="183542"/>
                          </a:solidFill>
                          <a:latin typeface="Helvetica Neue"/>
                          <a:ea typeface="Helvetica Neue"/>
                          <a:cs typeface="Helvetica Neue"/>
                        </a:rPr>
                        <a:t>Matched TTFT test, then final MLP INT4 deployment</a:t>
                      </a:r>
                    </a:p>
                  </a:txBody>
                  <a:tcPr marL="133350" marR="133350" marT="85725" marB="85725" anchor="ctr">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B9D5D999-1A33-47A5-99E7-92671A0AC7D2}"/>
              </a:ext>
            </a:extLst>
          </p:cNvPr>
          <p:cNvSpPr>
            <a:spLocks xmlns:a="http://schemas.openxmlformats.org/drawingml/2006/main" noGrp="1"/>
          </p:cNvSpPr>
          <p:nvPr/>
        </p:nvSpPr>
        <p:spPr>
          <a:xfrm xmlns:a="http://schemas.openxmlformats.org/drawingml/2006/main">
            <a:off x="685800" y="5743575"/>
            <a:ext cx="108204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875" b="1">
                <a:solidFill>
                  <a:srgbClr val="146875"/>
                </a:solidFill>
                <a:latin typeface="Helvetica Neue"/>
                <a:ea typeface="Helvetica Neue"/>
                <a:cs typeface="Helvetica Neue"/>
              </a:defRPr>
            </a:pPr>
            <a:r>
              <a:rPr sz="1875" b="1">
                <a:solidFill>
                  <a:srgbClr val="146875"/>
                </a:solidFill>
                <a:latin typeface="Helvetica Neue"/>
                <a:ea typeface="Helvetica Neue"/>
                <a:cs typeface="Helvetica Neue"/>
              </a:rPr>
              <a:t>Final: MLP INT4 with the first demo’s lightweight controls. Exact settings are in the appendix.</a:t>
            </a:r>
          </a:p>
        </p:txBody>
      </p:sp>
    </p:spTree>
    <p:extLst>
      <p:ext uri="{BB962C8B-B14F-4D97-AF65-F5344CB8AC3E}">
        <p14:creationId xmlns:p14="http://schemas.microsoft.com/office/powerpoint/2010/main" val="473557283"/>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C2B74DE4-EE8F-4965-8F40-40CA234F1F94}"/>
              </a:ext>
            </a:extLst>
          </p:cNvPr>
          <p:cNvSpPr>
            <a:spLocks xmlns:a="http://schemas.openxmlformats.org/drawingml/2006/main" noGrp="1"/>
          </p:cNvSpPr>
          <p:nvPr/>
        </p:nvSpPr>
        <p:spPr>
          <a:xfrm xmlns:a="http://schemas.openxmlformats.org/drawingml/2006/main">
            <a:off x="685800" y="428625"/>
            <a:ext cx="108204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300" b="1">
                <a:solidFill>
                  <a:srgbClr val="183542"/>
                </a:solidFill>
                <a:latin typeface="Helvetica Neue"/>
                <a:ea typeface="Helvetica Neue"/>
                <a:cs typeface="Helvetica Neue"/>
              </a:defRPr>
            </a:pPr>
            <a:r>
              <a:rPr sz="3300" b="1">
                <a:solidFill>
                  <a:srgbClr val="183542"/>
                </a:solidFill>
                <a:latin typeface="Helvetica Neue"/>
                <a:ea typeface="Helvetica Neue"/>
                <a:cs typeface="Helvetica Neue"/>
              </a:rPr>
              <a:t>Matched time to first text</a:t>
            </a:r>
          </a:p>
        </p:txBody>
      </p:sp>
      <p:sp>
        <p:nvSpPr>
          <p:cNvPr id="2" name="">
            <a:extLst xmlns:a="http://schemas.openxmlformats.org/drawingml/2006/main">
              <a:ext uri="{FF2B5EF4-FFF2-40B4-BE49-F238E27FC236}">
                <a16:creationId xmlns:a16="http://schemas.microsoft.com/office/drawing/2014/main" id="{A7265632-3A28-42BD-A499-5C8AF6698870}"/>
              </a:ext>
            </a:extLst>
          </p:cNvPr>
          <p:cNvSpPr>
            <a:spLocks xmlns:a="http://schemas.openxmlformats.org/drawingml/2006/main" noGrp="1"/>
          </p:cNvSpPr>
          <p:nvPr/>
        </p:nvSpPr>
        <p:spPr>
          <a:xfrm xmlns:a="http://schemas.openxmlformats.org/drawingml/2006/main">
            <a:off x="685800" y="6429375"/>
            <a:ext cx="1000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275" b="0">
                <a:solidFill>
                  <a:srgbClr val="566773"/>
                </a:solidFill>
                <a:latin typeface="Helvetica Neue"/>
                <a:ea typeface="Helvetica Neue"/>
                <a:cs typeface="Helvetica Neue"/>
              </a:defRPr>
            </a:pPr>
            <a:r>
              <a:rPr sz="1275" b="0">
                <a:solidFill>
                  <a:srgbClr val="566773"/>
                </a:solidFill>
                <a:latin typeface="Helvetica Neue"/>
                <a:ea typeface="Helvetica Neue"/>
                <a:cs typeface="Helvetica Neue"/>
              </a:rPr>
              <a:t>Two hackathons · Cosmos3-Edge on Orin Nano</a:t>
            </a:r>
          </a:p>
        </p:txBody>
      </p:sp>
      <p:sp>
        <p:nvSpPr>
          <p:cNvPr id="3" name="">
            <a:extLst xmlns:a="http://schemas.openxmlformats.org/drawingml/2006/main">
              <a:ext uri="{FF2B5EF4-FFF2-40B4-BE49-F238E27FC236}">
                <a16:creationId xmlns:a16="http://schemas.microsoft.com/office/drawing/2014/main" id="{1BC52FA4-BB3D-403C-861B-7EDD522701D8}"/>
              </a:ext>
            </a:extLst>
          </p:cNvPr>
          <p:cNvSpPr>
            <a:spLocks xmlns:a="http://schemas.openxmlformats.org/drawingml/2006/main" noGrp="1"/>
          </p:cNvSpPr>
          <p:nvPr/>
        </p:nvSpPr>
        <p:spPr>
          <a:xfrm xmlns:a="http://schemas.openxmlformats.org/drawingml/2006/main">
            <a:off x="11049000" y="6429375"/>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275" b="0">
                <a:solidFill>
                  <a:srgbClr val="566773"/>
                </a:solidFill>
                <a:latin typeface="Helvetica Neue"/>
                <a:ea typeface="Helvetica Neue"/>
                <a:cs typeface="Helvetica Neue"/>
              </a:defRPr>
            </a:pPr>
            <a:r>
              <a:rPr sz="1275" b="0">
                <a:solidFill>
                  <a:srgbClr val="566773"/>
                </a:solidFill>
                <a:latin typeface="Helvetica Neue"/>
                <a:ea typeface="Helvetica Neue"/>
                <a:cs typeface="Helvetica Neue"/>
              </a:rPr>
              <a:t>05</a:t>
            </a:r>
          </a:p>
        </p:txBody>
      </p:sp>
      <p:sp>
        <p:nvSpPr>
          <p:cNvPr id="4" name="">
            <a:extLst xmlns:a="http://schemas.openxmlformats.org/drawingml/2006/main">
              <a:ext uri="{FF2B5EF4-FFF2-40B4-BE49-F238E27FC236}">
                <a16:creationId xmlns:a16="http://schemas.microsoft.com/office/drawing/2014/main" id="{2FAB0B87-1C54-4512-8511-D1A0C5EB26C4}"/>
              </a:ext>
            </a:extLst>
          </p:cNvPr>
          <p:cNvSpPr>
            <a:spLocks xmlns:a="http://schemas.openxmlformats.org/drawingml/2006/main" noGrp="1"/>
          </p:cNvSpPr>
          <p:nvPr/>
        </p:nvSpPr>
        <p:spPr>
          <a:xfrm xmlns:a="http://schemas.openxmlformats.org/drawingml/2006/main">
            <a:off x="685800" y="1381125"/>
            <a:ext cx="108204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175" b="1">
                <a:solidFill>
                  <a:srgbClr val="146875"/>
                </a:solidFill>
                <a:latin typeface="Helvetica Neue"/>
                <a:ea typeface="Helvetica Neue"/>
                <a:cs typeface="Helvetica Neue"/>
              </a:defRPr>
            </a:pPr>
            <a:r>
              <a:rPr sz="2175" b="1">
                <a:solidFill>
                  <a:srgbClr val="146875"/>
                </a:solidFill>
                <a:latin typeface="Helvetica Neue"/>
                <a:ea typeface="Helvetica Neue"/>
                <a:cs typeface="Helvetica Neue"/>
              </a:rPr>
              <a:t>Same image and prompt. Same controls. Native server boundary.</a:t>
            </a:r>
          </a:p>
        </p:txBody>
      </p:sp>
      <p:graphicFrame>
        <p:nvGraphicFramePr>
          <p:cNvPr id="12" name=""/>
          <p:cNvGraphicFramePr/>
          <p:nvPr/>
        </p:nvGraphicFramePr>
        <p:xfrm>
          <a:off xmlns:a="http://schemas.openxmlformats.org/drawingml/2006/main" x="685800" y="2181225"/>
          <a:ext xmlns:a="http://schemas.openxmlformats.org/drawingml/2006/main" cx="10820400" cy="2266950"/>
        </p:xfrm>
        <a:graphic xmlns:a="http://schemas.openxmlformats.org/drawingml/2006/main">
          <a:graphicData uri="http://schemas.openxmlformats.org/drawingml/2006/table">
            <a:tbl>
              <a:tblPr firstRow="1" bandRow="0"/>
              <a:tblGrid>
                <a:gridCol w="3619500"/>
                <a:gridCol w="2571750"/>
                <a:gridCol w="2571750"/>
                <a:gridCol w="2057400"/>
              </a:tblGrid>
              <a:tr h="755650">
                <a:tc>
                  <a:txBody>
                    <a:bodyPr/>
                    <a:lstStyle/>
                    <a:p>
                      <a:r>
                        <a:rPr sz="2250" b="1">
                          <a:solidFill>
                            <a:srgbClr val="183542"/>
                          </a:solidFill>
                          <a:latin typeface="Helvetica Neue"/>
                          <a:ea typeface="Helvetica Neue"/>
                          <a:cs typeface="Helvetica Neue"/>
                        </a:rPr>
                        <a:t>Engine</a:t>
                      </a:r>
                    </a:p>
                  </a:txBody>
                  <a:tcPr marL="133350" marR="133350" marT="85725" marB="85725" anchor="ctr">
                    <a:solidFill>
                      <a:srgbClr val="E8F0F1"/>
                    </a:solidFill>
                  </a:tcPr>
                </a:tc>
                <a:tc>
                  <a:txBody>
                    <a:bodyPr/>
                    <a:lstStyle/>
                    <a:p>
                      <a:r>
                        <a:rPr sz="2250" b="1">
                          <a:solidFill>
                            <a:srgbClr val="183542"/>
                          </a:solidFill>
                          <a:latin typeface="Helvetica Neue"/>
                          <a:ea typeface="Helvetica Neue"/>
                          <a:cs typeface="Helvetica Neue"/>
                        </a:rPr>
                        <a:t>Median</a:t>
                      </a:r>
                    </a:p>
                  </a:txBody>
                  <a:tcPr marL="133350" marR="133350" marT="85725" marB="85725" anchor="ctr">
                    <a:solidFill>
                      <a:srgbClr val="E8F0F1"/>
                    </a:solidFill>
                  </a:tcPr>
                </a:tc>
                <a:tc>
                  <a:txBody>
                    <a:bodyPr/>
                    <a:lstStyle/>
                    <a:p>
                      <a:r>
                        <a:rPr sz="2250" b="1">
                          <a:solidFill>
                            <a:srgbClr val="183542"/>
                          </a:solidFill>
                          <a:latin typeface="Helvetica Neue"/>
                          <a:ea typeface="Helvetica Neue"/>
                          <a:cs typeface="Helvetica Neue"/>
                        </a:rPr>
                        <a:t>p95</a:t>
                      </a:r>
                    </a:p>
                  </a:txBody>
                  <a:tcPr marL="133350" marR="133350" marT="85725" marB="85725" anchor="ctr">
                    <a:solidFill>
                      <a:srgbClr val="E8F0F1"/>
                    </a:solidFill>
                  </a:tcPr>
                </a:tc>
                <a:tc>
                  <a:txBody>
                    <a:bodyPr/>
                    <a:lstStyle/>
                    <a:p>
                      <a:r>
                        <a:rPr sz="2250" b="1">
                          <a:solidFill>
                            <a:srgbClr val="183542"/>
                          </a:solidFill>
                          <a:latin typeface="Helvetica Neue"/>
                          <a:ea typeface="Helvetica Neue"/>
                          <a:cs typeface="Helvetica Neue"/>
                        </a:rPr>
                        <a:t>Measured</a:t>
                      </a:r>
                    </a:p>
                  </a:txBody>
                  <a:tcPr marL="133350" marR="133350" marT="85725" marB="85725" anchor="ctr">
                    <a:solidFill>
                      <a:srgbClr val="E8F0F1"/>
                    </a:solidFill>
                  </a:tcPr>
                </a:tc>
              </a:tr>
              <a:tr h="755650">
                <a:tc>
                  <a:txBody>
                    <a:bodyPr/>
                    <a:lstStyle/>
                    <a:p>
                      <a:r>
                        <a:rPr sz="2250">
                          <a:solidFill>
                            <a:srgbClr val="183542"/>
                          </a:solidFill>
                          <a:latin typeface="Helvetica Neue"/>
                          <a:ea typeface="Helvetica Neue"/>
                          <a:cs typeface="Helvetica Neue"/>
                        </a:rPr>
                        <a:t>Original FP16</a:t>
                      </a:r>
                    </a:p>
                  </a:txBody>
                  <a:tcPr marL="133350" marR="133350" marT="85725" marB="85725" anchor="ctr">
                    <a:solidFill>
                      <a:srgbClr val="FFFFFF"/>
                    </a:solidFill>
                  </a:tcPr>
                </a:tc>
                <a:tc>
                  <a:txBody>
                    <a:bodyPr/>
                    <a:lstStyle/>
                    <a:p>
                      <a:r>
                        <a:rPr sz="2250">
                          <a:solidFill>
                            <a:srgbClr val="183542"/>
                          </a:solidFill>
                          <a:latin typeface="Helvetica Neue"/>
                          <a:ea typeface="Helvetica Neue"/>
                          <a:cs typeface="Helvetica Neue"/>
                        </a:rPr>
                        <a:t>249.5 ms</a:t>
                      </a:r>
                    </a:p>
                  </a:txBody>
                  <a:tcPr marL="133350" marR="133350" marT="85725" marB="85725" anchor="ctr">
                    <a:solidFill>
                      <a:srgbClr val="FFFFFF"/>
                    </a:solidFill>
                  </a:tcPr>
                </a:tc>
                <a:tc>
                  <a:txBody>
                    <a:bodyPr/>
                    <a:lstStyle/>
                    <a:p>
                      <a:r>
                        <a:rPr sz="2250">
                          <a:solidFill>
                            <a:srgbClr val="183542"/>
                          </a:solidFill>
                          <a:latin typeface="Helvetica Neue"/>
                          <a:ea typeface="Helvetica Neue"/>
                          <a:cs typeface="Helvetica Neue"/>
                        </a:rPr>
                        <a:t>250.6 ms</a:t>
                      </a:r>
                    </a:p>
                  </a:txBody>
                  <a:tcPr marL="133350" marR="133350" marT="85725" marB="85725" anchor="ctr">
                    <a:solidFill>
                      <a:srgbClr val="FFFFFF"/>
                    </a:solidFill>
                  </a:tcPr>
                </a:tc>
                <a:tc>
                  <a:txBody>
                    <a:bodyPr/>
                    <a:lstStyle/>
                    <a:p>
                      <a:r>
                        <a:rPr sz="2250">
                          <a:solidFill>
                            <a:srgbClr val="183542"/>
                          </a:solidFill>
                          <a:latin typeface="Helvetica Neue"/>
                          <a:ea typeface="Helvetica Neue"/>
                          <a:cs typeface="Helvetica Neue"/>
                        </a:rPr>
                        <a:t>30</a:t>
                      </a:r>
                    </a:p>
                  </a:txBody>
                  <a:tcPr marL="133350" marR="133350" marT="85725" marB="85725" anchor="ctr">
                    <a:solidFill>
                      <a:srgbClr val="FFFFFF"/>
                    </a:solidFill>
                  </a:tcPr>
                </a:tc>
              </a:tr>
              <a:tr h="755650">
                <a:tc>
                  <a:txBody>
                    <a:bodyPr/>
                    <a:lstStyle/>
                    <a:p>
                      <a:r>
                        <a:rPr sz="2250">
                          <a:solidFill>
                            <a:srgbClr val="183542"/>
                          </a:solidFill>
                          <a:latin typeface="Helvetica Neue"/>
                          <a:ea typeface="Helvetica Neue"/>
                          <a:cs typeface="Helvetica Neue"/>
                        </a:rPr>
                        <a:t>MLP INT4</a:t>
                      </a:r>
                    </a:p>
                  </a:txBody>
                  <a:tcPr marL="133350" marR="133350" marT="85725" marB="85725" anchor="ctr">
                    <a:solidFill>
                      <a:srgbClr val="FFFFFF"/>
                    </a:solidFill>
                  </a:tcPr>
                </a:tc>
                <a:tc>
                  <a:txBody>
                    <a:bodyPr/>
                    <a:lstStyle/>
                    <a:p>
                      <a:r>
                        <a:rPr sz="2250">
                          <a:solidFill>
                            <a:srgbClr val="183542"/>
                          </a:solidFill>
                          <a:latin typeface="Helvetica Neue"/>
                          <a:ea typeface="Helvetica Neue"/>
                          <a:cs typeface="Helvetica Neue"/>
                        </a:rPr>
                        <a:t>239.3 ms</a:t>
                      </a:r>
                    </a:p>
                  </a:txBody>
                  <a:tcPr marL="133350" marR="133350" marT="85725" marB="85725" anchor="ctr">
                    <a:solidFill>
                      <a:srgbClr val="FFFFFF"/>
                    </a:solidFill>
                  </a:tcPr>
                </a:tc>
                <a:tc>
                  <a:txBody>
                    <a:bodyPr/>
                    <a:lstStyle/>
                    <a:p>
                      <a:r>
                        <a:rPr sz="2250">
                          <a:solidFill>
                            <a:srgbClr val="183542"/>
                          </a:solidFill>
                          <a:latin typeface="Helvetica Neue"/>
                          <a:ea typeface="Helvetica Neue"/>
                          <a:cs typeface="Helvetica Neue"/>
                        </a:rPr>
                        <a:t>240.7 ms</a:t>
                      </a:r>
                    </a:p>
                  </a:txBody>
                  <a:tcPr marL="133350" marR="133350" marT="85725" marB="85725" anchor="ctr">
                    <a:solidFill>
                      <a:srgbClr val="FFFFFF"/>
                    </a:solidFill>
                  </a:tcPr>
                </a:tc>
                <a:tc>
                  <a:txBody>
                    <a:bodyPr/>
                    <a:lstStyle/>
                    <a:p>
                      <a:r>
                        <a:rPr sz="2250">
                          <a:solidFill>
                            <a:srgbClr val="183542"/>
                          </a:solidFill>
                          <a:latin typeface="Helvetica Neue"/>
                          <a:ea typeface="Helvetica Neue"/>
                          <a:cs typeface="Helvetica Neue"/>
                        </a:rPr>
                        <a:t>30</a:t>
                      </a:r>
                    </a:p>
                  </a:txBody>
                  <a:tcPr marL="133350" marR="133350" marT="85725" marB="85725" anchor="ctr">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EEA9196B-2DE4-486B-8E30-784827386FE8}"/>
              </a:ext>
            </a:extLst>
          </p:cNvPr>
          <p:cNvSpPr>
            <a:spLocks xmlns:a="http://schemas.openxmlformats.org/drawingml/2006/main" noGrp="1"/>
          </p:cNvSpPr>
          <p:nvPr/>
        </p:nvSpPr>
        <p:spPr>
          <a:xfrm xmlns:a="http://schemas.openxmlformats.org/drawingml/2006/main">
            <a:off x="685800" y="4829175"/>
            <a:ext cx="108204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550" b="1">
                <a:solidFill>
                  <a:srgbClr val="146875"/>
                </a:solidFill>
                <a:latin typeface="Helvetica Neue"/>
                <a:ea typeface="Helvetica Neue"/>
                <a:cs typeface="Helvetica Neue"/>
              </a:defRPr>
            </a:pPr>
            <a:r>
              <a:rPr sz="2550" b="1">
                <a:solidFill>
                  <a:srgbClr val="146875"/>
                </a:solidFill>
                <a:latin typeface="Helvetica Neue"/>
                <a:ea typeface="Helvetica Neue"/>
                <a:cs typeface="Helvetica Neue"/>
              </a:rPr>
              <a:t>10.2 ms lower median for MLP on this fixture</a:t>
            </a:r>
          </a:p>
        </p:txBody>
      </p:sp>
      <p:sp>
        <p:nvSpPr>
          <p:cNvPr id="7" name="">
            <a:extLst xmlns:a="http://schemas.openxmlformats.org/drawingml/2006/main">
              <a:ext uri="{FF2B5EF4-FFF2-40B4-BE49-F238E27FC236}">
                <a16:creationId xmlns:a16="http://schemas.microsoft.com/office/drawing/2014/main" id="{724D90AF-6AAD-45E8-BD0F-8F4BDBC65C6E}"/>
              </a:ext>
            </a:extLst>
          </p:cNvPr>
          <p:cNvSpPr>
            <a:spLocks xmlns:a="http://schemas.openxmlformats.org/drawingml/2006/main" noGrp="1"/>
          </p:cNvSpPr>
          <p:nvPr/>
        </p:nvSpPr>
        <p:spPr>
          <a:xfrm xmlns:a="http://schemas.openxmlformats.org/drawingml/2006/main">
            <a:off x="685800" y="5638800"/>
            <a:ext cx="108204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725" b="0">
                <a:solidFill>
                  <a:srgbClr val="566773"/>
                </a:solidFill>
                <a:latin typeface="Helvetica Neue"/>
                <a:ea typeface="Helvetica Neue"/>
                <a:cs typeface="Helvetica Neue"/>
              </a:defRPr>
            </a:pPr>
            <a:r>
              <a:rPr sz="1725" b="0">
                <a:solidFill>
                  <a:srgbClr val="566773"/>
                </a:solidFill>
                <a:latin typeface="Helvetica Neue"/>
                <a:ea typeface="Helvetica Neue"/>
                <a:cs typeface="Helvetica Neue"/>
              </a:rPr>
              <a:t>Five warmups each · 256 visual tokens · cache off · 25 W / dynamic clocks</a:t>
            </a:r>
          </a:p>
          <a:p xmlns:a="http://schemas.openxmlformats.org/drawingml/2006/main">
            <a:pPr>
              <a:defRPr sz="1725" b="0">
                <a:solidFill>
                  <a:srgbClr val="566773"/>
                </a:solidFill>
                <a:latin typeface="Helvetica Neue"/>
                <a:ea typeface="Helvetica Neue"/>
                <a:cs typeface="Helvetica Neue"/>
              </a:defRPr>
            </a:pPr>
            <a:r>
              <a:rPr sz="1725" b="0">
                <a:solidFill>
                  <a:srgbClr val="566773"/>
                </a:solidFill>
                <a:latin typeface="Helvetica Neue"/>
                <a:ea typeface="Helvetica Neue"/>
                <a:cs typeface="Helvetica Neue"/>
              </a:rPr>
              <a:t>Sequential runs. One additional logged request started during the MLP run.</a:t>
            </a:r>
          </a:p>
        </p:txBody>
      </p:sp>
    </p:spTree>
    <p:extLst>
      <p:ext uri="{BB962C8B-B14F-4D97-AF65-F5344CB8AC3E}">
        <p14:creationId xmlns:p14="http://schemas.microsoft.com/office/powerpoint/2010/main" val="1741035308"/>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6C926E48-9E83-4EB9-B70A-2197D9BC059A}"/>
              </a:ext>
            </a:extLst>
          </p:cNvPr>
          <p:cNvSpPr>
            <a:spLocks xmlns:a="http://schemas.openxmlformats.org/drawingml/2006/main" noGrp="1"/>
          </p:cNvSpPr>
          <p:nvPr/>
        </p:nvSpPr>
        <p:spPr>
          <a:xfrm xmlns:a="http://schemas.openxmlformats.org/drawingml/2006/main">
            <a:off x="685800" y="428625"/>
            <a:ext cx="108204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300" b="1">
                <a:solidFill>
                  <a:srgbClr val="183542"/>
                </a:solidFill>
                <a:latin typeface="Helvetica Neue"/>
                <a:ea typeface="Helvetica Neue"/>
                <a:cs typeface="Helvetica Neue"/>
              </a:defRPr>
            </a:pPr>
            <a:r>
              <a:rPr sz="3300" b="1">
                <a:solidFill>
                  <a:srgbClr val="183542"/>
                </a:solidFill>
                <a:latin typeface="Helvetica Neue"/>
                <a:ea typeface="Helvetica Neue"/>
                <a:cs typeface="Helvetica Neue"/>
              </a:rPr>
              <a:t>Historical gains use different workloads</a:t>
            </a:r>
          </a:p>
        </p:txBody>
      </p:sp>
      <p:sp>
        <p:nvSpPr>
          <p:cNvPr id="2" name="">
            <a:extLst xmlns:a="http://schemas.openxmlformats.org/drawingml/2006/main">
              <a:ext uri="{FF2B5EF4-FFF2-40B4-BE49-F238E27FC236}">
                <a16:creationId xmlns:a16="http://schemas.microsoft.com/office/drawing/2014/main" id="{7B6FD928-AE34-445D-9937-658F984FBCAB}"/>
              </a:ext>
            </a:extLst>
          </p:cNvPr>
          <p:cNvSpPr>
            <a:spLocks xmlns:a="http://schemas.openxmlformats.org/drawingml/2006/main" noGrp="1"/>
          </p:cNvSpPr>
          <p:nvPr/>
        </p:nvSpPr>
        <p:spPr>
          <a:xfrm xmlns:a="http://schemas.openxmlformats.org/drawingml/2006/main">
            <a:off x="685800" y="6429375"/>
            <a:ext cx="1000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275" b="0">
                <a:solidFill>
                  <a:srgbClr val="566773"/>
                </a:solidFill>
                <a:latin typeface="Helvetica Neue"/>
                <a:ea typeface="Helvetica Neue"/>
                <a:cs typeface="Helvetica Neue"/>
              </a:defRPr>
            </a:pPr>
            <a:r>
              <a:rPr sz="1275" b="0">
                <a:solidFill>
                  <a:srgbClr val="566773"/>
                </a:solidFill>
                <a:latin typeface="Helvetica Neue"/>
                <a:ea typeface="Helvetica Neue"/>
                <a:cs typeface="Helvetica Neue"/>
              </a:rPr>
              <a:t>Two hackathons · Cosmos3-Edge on Orin Nano</a:t>
            </a:r>
          </a:p>
        </p:txBody>
      </p:sp>
      <p:sp>
        <p:nvSpPr>
          <p:cNvPr id="3" name="">
            <a:extLst xmlns:a="http://schemas.openxmlformats.org/drawingml/2006/main">
              <a:ext uri="{FF2B5EF4-FFF2-40B4-BE49-F238E27FC236}">
                <a16:creationId xmlns:a16="http://schemas.microsoft.com/office/drawing/2014/main" id="{C088D056-5B3C-40AB-BB6B-8510E5269FDA}"/>
              </a:ext>
            </a:extLst>
          </p:cNvPr>
          <p:cNvSpPr>
            <a:spLocks xmlns:a="http://schemas.openxmlformats.org/drawingml/2006/main" noGrp="1"/>
          </p:cNvSpPr>
          <p:nvPr/>
        </p:nvSpPr>
        <p:spPr>
          <a:xfrm xmlns:a="http://schemas.openxmlformats.org/drawingml/2006/main">
            <a:off x="11049000" y="6429375"/>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275" b="0">
                <a:solidFill>
                  <a:srgbClr val="566773"/>
                </a:solidFill>
                <a:latin typeface="Helvetica Neue"/>
                <a:ea typeface="Helvetica Neue"/>
                <a:cs typeface="Helvetica Neue"/>
              </a:defRPr>
            </a:pPr>
            <a:r>
              <a:rPr sz="1275" b="0">
                <a:solidFill>
                  <a:srgbClr val="566773"/>
                </a:solidFill>
                <a:latin typeface="Helvetica Neue"/>
                <a:ea typeface="Helvetica Neue"/>
                <a:cs typeface="Helvetica Neue"/>
              </a:rPr>
              <a:t>06</a:t>
            </a:r>
          </a:p>
        </p:txBody>
      </p:sp>
      <p:sp>
        <p:nvSpPr>
          <p:cNvPr id="4" name="">
            <a:extLst xmlns:a="http://schemas.openxmlformats.org/drawingml/2006/main">
              <a:ext uri="{FF2B5EF4-FFF2-40B4-BE49-F238E27FC236}">
                <a16:creationId xmlns:a16="http://schemas.microsoft.com/office/drawing/2014/main" id="{AB8317DA-EC25-4B4B-8D5F-00E8C04F11D8}"/>
              </a:ext>
            </a:extLst>
          </p:cNvPr>
          <p:cNvSpPr>
            <a:spLocks xmlns:a="http://schemas.openxmlformats.org/drawingml/2006/main" noGrp="1"/>
          </p:cNvSpPr>
          <p:nvPr/>
        </p:nvSpPr>
        <p:spPr>
          <a:xfrm xmlns:a="http://schemas.openxmlformats.org/drawingml/2006/main">
            <a:off x="685800" y="1381125"/>
            <a:ext cx="108204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100" b="1">
                <a:solidFill>
                  <a:srgbClr val="146875"/>
                </a:solidFill>
                <a:latin typeface="Helvetica Neue"/>
                <a:ea typeface="Helvetica Neue"/>
                <a:cs typeface="Helvetica Neue"/>
              </a:defRPr>
            </a:pPr>
            <a:r>
              <a:rPr sz="2100" b="1">
                <a:solidFill>
                  <a:srgbClr val="146875"/>
                </a:solidFill>
                <a:latin typeface="Helvetica Neue"/>
                <a:ea typeface="Helvetica Neue"/>
                <a:cs typeface="Helvetica Neue"/>
              </a:rPr>
              <a:t>First campaign, as reported in the supplied write-up</a:t>
            </a:r>
          </a:p>
        </p:txBody>
      </p:sp>
      <p:graphicFrame>
        <p:nvGraphicFramePr>
          <p:cNvPr id="12" name=""/>
          <p:cNvGraphicFramePr/>
          <p:nvPr/>
        </p:nvGraphicFramePr>
        <p:xfrm>
          <a:off xmlns:a="http://schemas.openxmlformats.org/drawingml/2006/main" x="685800" y="2028825"/>
          <a:ext xmlns:a="http://schemas.openxmlformats.org/drawingml/2006/main" cx="10820400" cy="2743200"/>
        </p:xfrm>
        <a:graphic xmlns:a="http://schemas.openxmlformats.org/drawingml/2006/main">
          <a:graphicData uri="http://schemas.openxmlformats.org/drawingml/2006/table">
            <a:tbl>
              <a:tblPr firstRow="1" bandRow="0"/>
              <a:tblGrid>
                <a:gridCol w="2905125"/>
                <a:gridCol w="2952750"/>
                <a:gridCol w="4962525"/>
              </a:tblGrid>
              <a:tr h="685800">
                <a:tc>
                  <a:txBody>
                    <a:bodyPr/>
                    <a:lstStyle/>
                    <a:p>
                      <a:r>
                        <a:rPr sz="1875" b="1">
                          <a:solidFill>
                            <a:srgbClr val="183542"/>
                          </a:solidFill>
                          <a:latin typeface="Helvetica Neue"/>
                          <a:ea typeface="Helvetica Neue"/>
                          <a:cs typeface="Helvetica Neue"/>
                        </a:rPr>
                        <a:t>Reported change</a:t>
                      </a:r>
                    </a:p>
                  </a:txBody>
                  <a:tcPr marL="133350" marR="133350" marT="85725" marB="85725" anchor="ctr">
                    <a:solidFill>
                      <a:srgbClr val="E8F0F1"/>
                    </a:solidFill>
                  </a:tcPr>
                </a:tc>
                <a:tc>
                  <a:txBody>
                    <a:bodyPr/>
                    <a:lstStyle/>
                    <a:p>
                      <a:r>
                        <a:rPr sz="1875" b="1">
                          <a:solidFill>
                            <a:srgbClr val="183542"/>
                          </a:solidFill>
                          <a:latin typeface="Helvetica Neue"/>
                          <a:ea typeface="Helvetica Neue"/>
                          <a:cs typeface="Helvetica Neue"/>
                        </a:rPr>
                        <a:t>Result</a:t>
                      </a:r>
                    </a:p>
                  </a:txBody>
                  <a:tcPr marL="133350" marR="133350" marT="85725" marB="85725" anchor="ctr">
                    <a:solidFill>
                      <a:srgbClr val="E8F0F1"/>
                    </a:solidFill>
                  </a:tcPr>
                </a:tc>
                <a:tc>
                  <a:txBody>
                    <a:bodyPr/>
                    <a:lstStyle/>
                    <a:p>
                      <a:r>
                        <a:rPr sz="1875" b="1">
                          <a:solidFill>
                            <a:srgbClr val="183542"/>
                          </a:solidFill>
                          <a:latin typeface="Helvetica Neue"/>
                          <a:ea typeface="Helvetica Neue"/>
                          <a:cs typeface="Helvetica Neue"/>
                        </a:rPr>
                        <a:t>What it measures</a:t>
                      </a:r>
                    </a:p>
                  </a:txBody>
                  <a:tcPr marL="133350" marR="133350" marT="85725" marB="85725" anchor="ctr">
                    <a:solidFill>
                      <a:srgbClr val="E8F0F1"/>
                    </a:solidFill>
                  </a:tcPr>
                </a:tc>
              </a:tr>
              <a:tr h="685800">
                <a:tc>
                  <a:txBody>
                    <a:bodyPr/>
                    <a:lstStyle/>
                    <a:p>
                      <a:r>
                        <a:rPr sz="1875">
                          <a:solidFill>
                            <a:srgbClr val="183542"/>
                          </a:solidFill>
                          <a:latin typeface="Helvetica Neue"/>
                          <a:ea typeface="Helvetica Neue"/>
                          <a:cs typeface="Helvetica Neue"/>
                        </a:rPr>
                        <a:t>Decode rate</a:t>
                      </a:r>
                    </a:p>
                  </a:txBody>
                  <a:tcPr marL="133350" marR="133350" marT="85725" marB="85725" anchor="ctr">
                    <a:solidFill>
                      <a:srgbClr val="FFFFFF"/>
                    </a:solidFill>
                  </a:tcPr>
                </a:tc>
                <a:tc>
                  <a:txBody>
                    <a:bodyPr/>
                    <a:lstStyle/>
                    <a:p>
                      <a:r>
                        <a:rPr sz="1875">
                          <a:solidFill>
                            <a:srgbClr val="183542"/>
                          </a:solidFill>
                          <a:latin typeface="Helvetica Neue"/>
                          <a:ea typeface="Helvetica Neue"/>
                          <a:cs typeface="Helvetica Neue"/>
                        </a:rPr>
                        <a:t>22.5 → 76 tokens/s</a:t>
                      </a:r>
                    </a:p>
                  </a:txBody>
                  <a:tcPr marL="133350" marR="133350" marT="85725" marB="85725" anchor="ctr">
                    <a:solidFill>
                      <a:srgbClr val="FFFFFF"/>
                    </a:solidFill>
                  </a:tcPr>
                </a:tc>
                <a:tc>
                  <a:txBody>
                    <a:bodyPr/>
                    <a:lstStyle/>
                    <a:p>
                      <a:r>
                        <a:rPr sz="1875">
                          <a:solidFill>
                            <a:srgbClr val="183542"/>
                          </a:solidFill>
                          <a:latin typeface="Helvetica Neue"/>
                          <a:ea typeface="Helvetica Neue"/>
                          <a:cs typeface="Helvetica Neue"/>
                        </a:rPr>
                        <a:t>Generated-token throughput</a:t>
                      </a:r>
                    </a:p>
                  </a:txBody>
                  <a:tcPr marL="133350" marR="133350" marT="85725" marB="85725" anchor="ctr">
                    <a:solidFill>
                      <a:srgbClr val="FFFFFF"/>
                    </a:solidFill>
                  </a:tcPr>
                </a:tc>
              </a:tr>
              <a:tr h="685800">
                <a:tc>
                  <a:txBody>
                    <a:bodyPr/>
                    <a:lstStyle/>
                    <a:p>
                      <a:r>
                        <a:rPr sz="1875">
                          <a:solidFill>
                            <a:srgbClr val="183542"/>
                          </a:solidFill>
                          <a:latin typeface="Helvetica Neue"/>
                          <a:ea typeface="Helvetica Neue"/>
                          <a:cs typeface="Helvetica Neue"/>
                        </a:rPr>
                        <a:t>Process memory</a:t>
                      </a:r>
                    </a:p>
                  </a:txBody>
                  <a:tcPr marL="133350" marR="133350" marT="85725" marB="85725" anchor="ctr">
                    <a:solidFill>
                      <a:srgbClr val="FFFFFF"/>
                    </a:solidFill>
                  </a:tcPr>
                </a:tc>
                <a:tc>
                  <a:txBody>
                    <a:bodyPr/>
                    <a:lstStyle/>
                    <a:p>
                      <a:r>
                        <a:rPr sz="1875">
                          <a:solidFill>
                            <a:srgbClr val="183542"/>
                          </a:solidFill>
                          <a:latin typeface="Helvetica Neue"/>
                          <a:ea typeface="Helvetica Neue"/>
                          <a:cs typeface="Helvetica Neue"/>
                        </a:rPr>
                        <a:t>6.02 → 3.70 GB</a:t>
                      </a:r>
                    </a:p>
                  </a:txBody>
                  <a:tcPr marL="133350" marR="133350" marT="85725" marB="85725" anchor="ctr">
                    <a:solidFill>
                      <a:srgbClr val="FFFFFF"/>
                    </a:solidFill>
                  </a:tcPr>
                </a:tc>
                <a:tc>
                  <a:txBody>
                    <a:bodyPr/>
                    <a:lstStyle/>
                    <a:p>
                      <a:r>
                        <a:rPr sz="1875">
                          <a:solidFill>
                            <a:srgbClr val="183542"/>
                          </a:solidFill>
                          <a:latin typeface="Helvetica Neue"/>
                          <a:ea typeface="Helvetica Neue"/>
                          <a:cs typeface="Helvetica Neue"/>
                        </a:rPr>
                        <a:t>Process RSS, not dedicated VRAM</a:t>
                      </a:r>
                    </a:p>
                  </a:txBody>
                  <a:tcPr marL="133350" marR="133350" marT="85725" marB="85725" anchor="ctr">
                    <a:solidFill>
                      <a:srgbClr val="FFFFFF"/>
                    </a:solidFill>
                  </a:tcPr>
                </a:tc>
              </a:tr>
              <a:tr h="685800">
                <a:tc>
                  <a:txBody>
                    <a:bodyPr/>
                    <a:lstStyle/>
                    <a:p>
                      <a:r>
                        <a:rPr sz="1875">
                          <a:solidFill>
                            <a:srgbClr val="183542"/>
                          </a:solidFill>
                          <a:latin typeface="Helvetica Neue"/>
                          <a:ea typeface="Helvetica Neue"/>
                          <a:cs typeface="Helvetica Neue"/>
                        </a:rPr>
                        <a:t>Later repeated-image run</a:t>
                      </a:r>
                    </a:p>
                  </a:txBody>
                  <a:tcPr marL="133350" marR="133350" marT="85725" marB="85725" anchor="ctr">
                    <a:solidFill>
                      <a:srgbClr val="FFFFFF"/>
                    </a:solidFill>
                  </a:tcPr>
                </a:tc>
                <a:tc>
                  <a:txBody>
                    <a:bodyPr/>
                    <a:lstStyle/>
                    <a:p>
                      <a:r>
                        <a:rPr sz="1875">
                          <a:solidFill>
                            <a:srgbClr val="183542"/>
                          </a:solidFill>
                          <a:latin typeface="Helvetica Neue"/>
                          <a:ea typeface="Helvetica Neue"/>
                          <a:cs typeface="Helvetica Neue"/>
                        </a:rPr>
                        <a:t>253 ms median</a:t>
                      </a:r>
                    </a:p>
                  </a:txBody>
                  <a:tcPr marL="133350" marR="133350" marT="85725" marB="85725" anchor="ctr">
                    <a:solidFill>
                      <a:srgbClr val="FFFFFF"/>
                    </a:solidFill>
                  </a:tcPr>
                </a:tc>
                <a:tc>
                  <a:txBody>
                    <a:bodyPr/>
                    <a:lstStyle/>
                    <a:p>
                      <a:r>
                        <a:rPr sz="1875">
                          <a:solidFill>
                            <a:srgbClr val="183542"/>
                          </a:solidFill>
                          <a:latin typeface="Helvetica Neue"/>
                          <a:ea typeface="Helvetica Neue"/>
                          <a:cs typeface="Helvetica Neue"/>
                        </a:rPr>
                        <a:t>Complete HTTP answer; 14 median tokens</a:t>
                      </a:r>
                    </a:p>
                  </a:txBody>
                  <a:tcPr marL="133350" marR="133350" marT="85725" marB="85725" anchor="ctr">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2763557B-3C24-42F4-9D96-0BA368B356CE}"/>
              </a:ext>
            </a:extLst>
          </p:cNvPr>
          <p:cNvSpPr>
            <a:spLocks xmlns:a="http://schemas.openxmlformats.org/drawingml/2006/main" noGrp="1"/>
          </p:cNvSpPr>
          <p:nvPr/>
        </p:nvSpPr>
        <p:spPr>
          <a:xfrm xmlns:a="http://schemas.openxmlformats.org/drawingml/2006/main">
            <a:off x="685800" y="5153025"/>
            <a:ext cx="108204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325" b="1">
                <a:solidFill>
                  <a:srgbClr val="965A20"/>
                </a:solidFill>
                <a:latin typeface="Helvetica Neue"/>
                <a:ea typeface="Helvetica Neue"/>
                <a:cs typeface="Helvetica Neue"/>
              </a:defRPr>
            </a:pPr>
            <a:r>
              <a:rPr sz="2325" b="1">
                <a:solidFill>
                  <a:srgbClr val="965A20"/>
                </a:solidFill>
                <a:latin typeface="Helvetica Neue"/>
                <a:ea typeface="Helvetica Neue"/>
                <a:cs typeface="Helvetica Neue"/>
              </a:rPr>
              <a:t>253 ms to finish an answer and 239 ms to start text are different measurements.</a:t>
            </a:r>
          </a:p>
        </p:txBody>
      </p:sp>
      <p:sp>
        <p:nvSpPr>
          <p:cNvPr id="7" name="">
            <a:extLst xmlns:a="http://schemas.openxmlformats.org/drawingml/2006/main">
              <a:ext uri="{FF2B5EF4-FFF2-40B4-BE49-F238E27FC236}">
                <a16:creationId xmlns:a16="http://schemas.microsoft.com/office/drawing/2014/main" id="{10B2BE92-05C9-4373-90C6-32E5A2403853}"/>
              </a:ext>
            </a:extLst>
          </p:cNvPr>
          <p:cNvSpPr>
            <a:spLocks xmlns:a="http://schemas.openxmlformats.org/drawingml/2006/main" noGrp="1"/>
          </p:cNvSpPr>
          <p:nvPr/>
        </p:nvSpPr>
        <p:spPr>
          <a:xfrm xmlns:a="http://schemas.openxmlformats.org/drawingml/2006/main">
            <a:off x="685800" y="5981700"/>
            <a:ext cx="10820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575" b="0">
                <a:solidFill>
                  <a:srgbClr val="566773"/>
                </a:solidFill>
                <a:latin typeface="Helvetica Neue"/>
                <a:ea typeface="Helvetica Neue"/>
                <a:cs typeface="Helvetica Neue"/>
              </a:defRPr>
            </a:pPr>
            <a:r>
              <a:rPr sz="1575" b="0">
                <a:solidFill>
                  <a:srgbClr val="566773"/>
                </a:solidFill>
                <a:latin typeface="Helvetica Neue"/>
                <a:ea typeface="Helvetica Neue"/>
                <a:cs typeface="Helvetica Neue"/>
              </a:rPr>
              <a:t>Precision scope, power, input detail and cache behavior also differ. No cross-campaign speed ratio.</a:t>
            </a:r>
          </a:p>
        </p:txBody>
      </p:sp>
    </p:spTree>
    <p:extLst>
      <p:ext uri="{BB962C8B-B14F-4D97-AF65-F5344CB8AC3E}">
        <p14:creationId xmlns:p14="http://schemas.microsoft.com/office/powerpoint/2010/main" val="1180721018"/>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5EF16495-9A21-43F2-984F-AE7906B3863C}"/>
              </a:ext>
            </a:extLst>
          </p:cNvPr>
          <p:cNvSpPr>
            <a:spLocks xmlns:a="http://schemas.openxmlformats.org/drawingml/2006/main" noGrp="1"/>
          </p:cNvSpPr>
          <p:nvPr/>
        </p:nvSpPr>
        <p:spPr>
          <a:xfrm xmlns:a="http://schemas.openxmlformats.org/drawingml/2006/main">
            <a:off x="685800" y="428625"/>
            <a:ext cx="108204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300" b="1">
                <a:solidFill>
                  <a:srgbClr val="183542"/>
                </a:solidFill>
                <a:latin typeface="Helvetica Neue"/>
                <a:ea typeface="Helvetica Neue"/>
                <a:cs typeface="Helvetica Neue"/>
              </a:defRPr>
            </a:pPr>
            <a:r>
              <a:rPr sz="3300" b="1">
                <a:solidFill>
                  <a:srgbClr val="183542"/>
                </a:solidFill>
                <a:latin typeface="Helvetica Neue"/>
                <a:ea typeface="Helvetica Neue"/>
                <a:cs typeface="Helvetica Neue"/>
              </a:rPr>
              <a:t>Stopping rules bounded the search</a:t>
            </a:r>
          </a:p>
        </p:txBody>
      </p:sp>
      <p:sp>
        <p:nvSpPr>
          <p:cNvPr id="2" name="">
            <a:extLst xmlns:a="http://schemas.openxmlformats.org/drawingml/2006/main">
              <a:ext uri="{FF2B5EF4-FFF2-40B4-BE49-F238E27FC236}">
                <a16:creationId xmlns:a16="http://schemas.microsoft.com/office/drawing/2014/main" id="{84AFDE7F-304B-4141-89A5-6C75E31D7E99}"/>
              </a:ext>
            </a:extLst>
          </p:cNvPr>
          <p:cNvSpPr>
            <a:spLocks xmlns:a="http://schemas.openxmlformats.org/drawingml/2006/main" noGrp="1"/>
          </p:cNvSpPr>
          <p:nvPr/>
        </p:nvSpPr>
        <p:spPr>
          <a:xfrm xmlns:a="http://schemas.openxmlformats.org/drawingml/2006/main">
            <a:off x="685800" y="6429375"/>
            <a:ext cx="1000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275" b="0">
                <a:solidFill>
                  <a:srgbClr val="566773"/>
                </a:solidFill>
                <a:latin typeface="Helvetica Neue"/>
                <a:ea typeface="Helvetica Neue"/>
                <a:cs typeface="Helvetica Neue"/>
              </a:defRPr>
            </a:pPr>
            <a:r>
              <a:rPr sz="1275" b="0">
                <a:solidFill>
                  <a:srgbClr val="566773"/>
                </a:solidFill>
                <a:latin typeface="Helvetica Neue"/>
                <a:ea typeface="Helvetica Neue"/>
                <a:cs typeface="Helvetica Neue"/>
              </a:rPr>
              <a:t>Two hackathons · Cosmos3-Edge on Orin Nano</a:t>
            </a:r>
          </a:p>
        </p:txBody>
      </p:sp>
      <p:sp>
        <p:nvSpPr>
          <p:cNvPr id="3" name="">
            <a:extLst xmlns:a="http://schemas.openxmlformats.org/drawingml/2006/main">
              <a:ext uri="{FF2B5EF4-FFF2-40B4-BE49-F238E27FC236}">
                <a16:creationId xmlns:a16="http://schemas.microsoft.com/office/drawing/2014/main" id="{7966BFC9-F13A-4D24-B8B8-19FC5B4F1A7F}"/>
              </a:ext>
            </a:extLst>
          </p:cNvPr>
          <p:cNvSpPr>
            <a:spLocks xmlns:a="http://schemas.openxmlformats.org/drawingml/2006/main" noGrp="1"/>
          </p:cNvSpPr>
          <p:nvPr/>
        </p:nvSpPr>
        <p:spPr>
          <a:xfrm xmlns:a="http://schemas.openxmlformats.org/drawingml/2006/main">
            <a:off x="11049000" y="6429375"/>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275" b="0">
                <a:solidFill>
                  <a:srgbClr val="566773"/>
                </a:solidFill>
                <a:latin typeface="Helvetica Neue"/>
                <a:ea typeface="Helvetica Neue"/>
                <a:cs typeface="Helvetica Neue"/>
              </a:defRPr>
            </a:pPr>
            <a:r>
              <a:rPr sz="1275" b="0">
                <a:solidFill>
                  <a:srgbClr val="566773"/>
                </a:solidFill>
                <a:latin typeface="Helvetica Neue"/>
                <a:ea typeface="Helvetica Neue"/>
                <a:cs typeface="Helvetica Neue"/>
              </a:rPr>
              <a:t>07</a:t>
            </a:r>
          </a:p>
        </p:txBody>
      </p:sp>
      <p:graphicFrame>
        <p:nvGraphicFramePr>
          <p:cNvPr id="11" name=""/>
          <p:cNvGraphicFramePr/>
          <p:nvPr/>
        </p:nvGraphicFramePr>
        <p:xfrm>
          <a:off xmlns:a="http://schemas.openxmlformats.org/drawingml/2006/main" x="685800" y="1676400"/>
          <a:ext xmlns:a="http://schemas.openxmlformats.org/drawingml/2006/main" cx="10820400" cy="2638425"/>
        </p:xfrm>
        <a:graphic xmlns:a="http://schemas.openxmlformats.org/drawingml/2006/main">
          <a:graphicData uri="http://schemas.openxmlformats.org/drawingml/2006/table">
            <a:tbl>
              <a:tblPr firstRow="1" bandRow="0"/>
              <a:tblGrid>
                <a:gridCol w="3048000"/>
                <a:gridCol w="4314825"/>
                <a:gridCol w="3457575"/>
              </a:tblGrid>
              <a:tr h="879475">
                <a:tc>
                  <a:txBody>
                    <a:bodyPr/>
                    <a:lstStyle/>
                    <a:p>
                      <a:r>
                        <a:rPr sz="1950" b="1">
                          <a:solidFill>
                            <a:srgbClr val="183542"/>
                          </a:solidFill>
                          <a:latin typeface="Helvetica Neue"/>
                          <a:ea typeface="Helvetica Neue"/>
                          <a:cs typeface="Helvetica Neue"/>
                        </a:rPr>
                        <a:t>Trial in this task</a:t>
                      </a:r>
                    </a:p>
                  </a:txBody>
                  <a:tcPr marL="133350" marR="133350" marT="85725" marB="85725" anchor="ctr">
                    <a:solidFill>
                      <a:srgbClr val="E8F0F1"/>
                    </a:solidFill>
                  </a:tcPr>
                </a:tc>
                <a:tc>
                  <a:txBody>
                    <a:bodyPr/>
                    <a:lstStyle/>
                    <a:p>
                      <a:r>
                        <a:rPr sz="1950" b="1">
                          <a:solidFill>
                            <a:srgbClr val="183542"/>
                          </a:solidFill>
                          <a:latin typeface="Helvetica Neue"/>
                          <a:ea typeface="Helvetica Neue"/>
                          <a:cs typeface="Helvetica Neue"/>
                        </a:rPr>
                        <a:t>Measured change</a:t>
                      </a:r>
                    </a:p>
                  </a:txBody>
                  <a:tcPr marL="133350" marR="133350" marT="85725" marB="85725" anchor="ctr">
                    <a:solidFill>
                      <a:srgbClr val="E8F0F1"/>
                    </a:solidFill>
                  </a:tcPr>
                </a:tc>
                <a:tc>
                  <a:txBody>
                    <a:bodyPr/>
                    <a:lstStyle/>
                    <a:p>
                      <a:r>
                        <a:rPr sz="1950" b="1">
                          <a:solidFill>
                            <a:srgbClr val="183542"/>
                          </a:solidFill>
                          <a:latin typeface="Helvetica Neue"/>
                          <a:ea typeface="Helvetica Neue"/>
                          <a:cs typeface="Helvetica Neue"/>
                        </a:rPr>
                        <a:t>Decision</a:t>
                      </a:r>
                    </a:p>
                  </a:txBody>
                  <a:tcPr marL="133350" marR="133350" marT="85725" marB="85725" anchor="ctr">
                    <a:solidFill>
                      <a:srgbClr val="E8F0F1"/>
                    </a:solidFill>
                  </a:tcPr>
                </a:tc>
              </a:tr>
              <a:tr h="879475">
                <a:tc>
                  <a:txBody>
                    <a:bodyPr/>
                    <a:lstStyle/>
                    <a:p>
                      <a:r>
                        <a:rPr sz="1950">
                          <a:solidFill>
                            <a:srgbClr val="183542"/>
                          </a:solidFill>
                          <a:latin typeface="Helvetica Neue"/>
                          <a:ea typeface="Helvetica Neue"/>
                          <a:cs typeface="Helvetica Neue"/>
                        </a:rPr>
                        <a:t>Earlier FP16 sampler</a:t>
                      </a:r>
                    </a:p>
                  </a:txBody>
                  <a:tcPr marL="133350" marR="133350" marT="85725" marB="85725" anchor="ctr">
                    <a:solidFill>
                      <a:srgbClr val="FFFFFF"/>
                    </a:solidFill>
                  </a:tcPr>
                </a:tc>
                <a:tc>
                  <a:txBody>
                    <a:bodyPr/>
                    <a:lstStyle/>
                    <a:p>
                      <a:r>
                        <a:rPr sz="1950">
                          <a:solidFill>
                            <a:srgbClr val="183542"/>
                          </a:solidFill>
                          <a:latin typeface="Helvetica Neue"/>
                          <a:ea typeface="Helvetica Neue"/>
                          <a:cs typeface="Helvetica Neue"/>
                        </a:rPr>
                        <a:t>0.48% lower answer latency</a:t>
                      </a:r>
                    </a:p>
                  </a:txBody>
                  <a:tcPr marL="133350" marR="133350" marT="85725" marB="85725" anchor="ctr">
                    <a:solidFill>
                      <a:srgbClr val="FFFFFF"/>
                    </a:solidFill>
                  </a:tcPr>
                </a:tc>
                <a:tc>
                  <a:txBody>
                    <a:bodyPr/>
                    <a:lstStyle/>
                    <a:p>
                      <a:r>
                        <a:rPr sz="1950">
                          <a:solidFill>
                            <a:srgbClr val="183542"/>
                          </a:solidFill>
                          <a:latin typeface="Helvetica Neue"/>
                          <a:ea typeface="Helvetica Neue"/>
                          <a:cs typeface="Helvetica Neue"/>
                        </a:rPr>
                        <a:t>Rejected; restored runtime</a:t>
                      </a:r>
                    </a:p>
                  </a:txBody>
                  <a:tcPr marL="133350" marR="133350" marT="85725" marB="85725" anchor="ctr">
                    <a:solidFill>
                      <a:srgbClr val="FFFFFF"/>
                    </a:solidFill>
                  </a:tcPr>
                </a:tc>
              </a:tr>
              <a:tr h="879475">
                <a:tc>
                  <a:txBody>
                    <a:bodyPr/>
                    <a:lstStyle/>
                    <a:p>
                      <a:r>
                        <a:rPr sz="1950">
                          <a:solidFill>
                            <a:srgbClr val="183542"/>
                          </a:solidFill>
                          <a:latin typeface="Helvetica Neue"/>
                          <a:ea typeface="Helvetica Neue"/>
                          <a:cs typeface="Helvetica Neue"/>
                        </a:rPr>
                        <a:t>Compact MLP profile</a:t>
                      </a:r>
                    </a:p>
                  </a:txBody>
                  <a:tcPr marL="133350" marR="133350" marT="85725" marB="85725" anchor="ctr">
                    <a:solidFill>
                      <a:srgbClr val="FFFFFF"/>
                    </a:solidFill>
                  </a:tcPr>
                </a:tc>
                <a:tc>
                  <a:txBody>
                    <a:bodyPr/>
                    <a:lstStyle/>
                    <a:p>
                      <a:r>
                        <a:rPr sz="1950">
                          <a:solidFill>
                            <a:srgbClr val="183542"/>
                          </a:solidFill>
                          <a:latin typeface="Helvetica Neue"/>
                          <a:ea typeface="Helvetica Neue"/>
                          <a:cs typeface="Helvetica Neue"/>
                        </a:rPr>
                        <a:t>1.19% lower answer latency</a:t>
                      </a:r>
                    </a:p>
                    <a:p>
                      <a:r>
                        <a:rPr sz="1950">
                          <a:solidFill>
                            <a:srgbClr val="183542"/>
                          </a:solidFill>
                          <a:latin typeface="Helvetica Neue"/>
                          <a:ea typeface="Helvetica Neue"/>
                          <a:cs typeface="Helvetica Neue"/>
                        </a:rPr>
                        <a:t>163.45 MiB less peak shared RAM</a:t>
                      </a:r>
                    </a:p>
                  </a:txBody>
                  <a:tcPr marL="133350" marR="133350" marT="85725" marB="85725" anchor="ctr">
                    <a:solidFill>
                      <a:srgbClr val="FFFFFF"/>
                    </a:solidFill>
                  </a:tcPr>
                </a:tc>
                <a:tc>
                  <a:txBody>
                    <a:bodyPr/>
                    <a:lstStyle/>
                    <a:p>
                      <a:r>
                        <a:rPr sz="1950">
                          <a:solidFill>
                            <a:srgbClr val="183542"/>
                          </a:solidFill>
                          <a:latin typeface="Helvetica Neue"/>
                          <a:ea typeface="Helvetica Neue"/>
                          <a:cs typeface="Helvetica Neue"/>
                        </a:rPr>
                        <a:t>Stopped search; kept smaller profile</a:t>
                      </a:r>
                    </a:p>
                  </a:txBody>
                  <a:tcPr marL="133350" marR="133350" marT="85725" marB="85725" anchor="ctr">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2C008DAE-BF5D-4767-BE03-9EA8C3A8D9B2}"/>
              </a:ext>
            </a:extLst>
          </p:cNvPr>
          <p:cNvSpPr>
            <a:spLocks xmlns:a="http://schemas.openxmlformats.org/drawingml/2006/main" noGrp="1"/>
          </p:cNvSpPr>
          <p:nvPr/>
        </p:nvSpPr>
        <p:spPr>
          <a:xfrm xmlns:a="http://schemas.openxmlformats.org/drawingml/2006/main">
            <a:off x="685800" y="4714875"/>
            <a:ext cx="108204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250" b="1">
                <a:solidFill>
                  <a:srgbClr val="965A20"/>
                </a:solidFill>
                <a:latin typeface="Helvetica Neue"/>
                <a:ea typeface="Helvetica Neue"/>
                <a:cs typeface="Helvetica Neue"/>
              </a:defRPr>
            </a:pPr>
            <a:r>
              <a:rPr sz="2250" b="1">
                <a:solidFill>
                  <a:srgbClr val="965A20"/>
                </a:solidFill>
                <a:latin typeface="Helvetica Neue"/>
                <a:ea typeface="Helvetica Neue"/>
                <a:cs typeface="Helvetica Neue"/>
              </a:rPr>
              <a:t>MLP failed the original 10% acceptance rule.</a:t>
            </a:r>
          </a:p>
        </p:txBody>
      </p:sp>
      <p:sp>
        <p:nvSpPr>
          <p:cNvPr id="6" name="">
            <a:extLst xmlns:a="http://schemas.openxmlformats.org/drawingml/2006/main">
              <a:ext uri="{FF2B5EF4-FFF2-40B4-BE49-F238E27FC236}">
                <a16:creationId xmlns:a16="http://schemas.microsoft.com/office/drawing/2014/main" id="{C2569E94-E673-42C8-9345-6557C0EF762E}"/>
              </a:ext>
            </a:extLst>
          </p:cNvPr>
          <p:cNvSpPr>
            <a:spLocks xmlns:a="http://schemas.openxmlformats.org/drawingml/2006/main" noGrp="1"/>
          </p:cNvSpPr>
          <p:nvPr/>
        </p:nvSpPr>
        <p:spPr>
          <a:xfrm xmlns:a="http://schemas.openxmlformats.org/drawingml/2006/main">
            <a:off x="685800" y="5229225"/>
            <a:ext cx="10820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025" b="0">
                <a:solidFill>
                  <a:srgbClr val="183542"/>
                </a:solidFill>
                <a:latin typeface="Helvetica Neue"/>
                <a:ea typeface="Helvetica Neue"/>
                <a:cs typeface="Helvetica Neue"/>
              </a:defRPr>
            </a:pPr>
            <a:r>
              <a:rPr sz="2025" b="0">
                <a:solidFill>
                  <a:srgbClr val="183542"/>
                </a:solidFill>
                <a:latin typeface="Helvetica Neue"/>
                <a:ea typeface="Helvetica Neue"/>
                <a:cs typeface="Helvetica Neue"/>
              </a:rPr>
              <a:t>The agent clarified the rule after measurement: stop pursuing gains below 10%, while retaining the memory benefit.</a:t>
            </a:r>
          </a:p>
        </p:txBody>
      </p:sp>
      <p:sp>
        <p:nvSpPr>
          <p:cNvPr id="7" name="">
            <a:extLst xmlns:a="http://schemas.openxmlformats.org/drawingml/2006/main">
              <a:ext uri="{FF2B5EF4-FFF2-40B4-BE49-F238E27FC236}">
                <a16:creationId xmlns:a16="http://schemas.microsoft.com/office/drawing/2014/main" id="{24E99688-73C3-4592-83A5-4E4263683770}"/>
              </a:ext>
            </a:extLst>
          </p:cNvPr>
          <p:cNvSpPr>
            <a:spLocks xmlns:a="http://schemas.openxmlformats.org/drawingml/2006/main" noGrp="1"/>
          </p:cNvSpPr>
          <p:nvPr/>
        </p:nvSpPr>
        <p:spPr>
          <a:xfrm xmlns:a="http://schemas.openxmlformats.org/drawingml/2006/main">
            <a:off x="685800" y="6048375"/>
            <a:ext cx="108204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575" b="0">
                <a:solidFill>
                  <a:srgbClr val="566773"/>
                </a:solidFill>
                <a:latin typeface="Helvetica Neue"/>
                <a:ea typeface="Helvetica Neue"/>
                <a:cs typeface="Helvetica Neue"/>
              </a:defRPr>
            </a:pPr>
            <a:r>
              <a:rPr sz="1575" b="0">
                <a:solidFill>
                  <a:srgbClr val="566773"/>
                </a:solidFill>
                <a:latin typeface="Helvetica Neue"/>
                <a:ea typeface="Helvetica Neue"/>
                <a:cs typeface="Helvetica Neue"/>
              </a:rPr>
              <a:t>Known color error remains. Neither global optimality nor general accuracy was established.</a:t>
            </a:r>
          </a:p>
        </p:txBody>
      </p:sp>
    </p:spTree>
    <p:extLst>
      <p:ext uri="{BB962C8B-B14F-4D97-AF65-F5344CB8AC3E}">
        <p14:creationId xmlns:p14="http://schemas.microsoft.com/office/powerpoint/2010/main" val="809618979"/>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6D759777-2B71-4700-B865-F6A854CE5099}"/>
              </a:ext>
            </a:extLst>
          </p:cNvPr>
          <p:cNvSpPr>
            <a:spLocks xmlns:a="http://schemas.openxmlformats.org/drawingml/2006/main" noGrp="1"/>
          </p:cNvSpPr>
          <p:nvPr/>
        </p:nvSpPr>
        <p:spPr>
          <a:xfrm xmlns:a="http://schemas.openxmlformats.org/drawingml/2006/main">
            <a:off x="685800" y="428625"/>
            <a:ext cx="108204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300" b="1">
                <a:solidFill>
                  <a:srgbClr val="183542"/>
                </a:solidFill>
                <a:latin typeface="Helvetica Neue"/>
                <a:ea typeface="Helvetica Neue"/>
                <a:cs typeface="Helvetica Neue"/>
              </a:defRPr>
            </a:pPr>
            <a:r>
              <a:rPr sz="3300" b="1">
                <a:solidFill>
                  <a:srgbClr val="183542"/>
                </a:solidFill>
                <a:latin typeface="Helvetica Neue"/>
                <a:ea typeface="Helvetica Neue"/>
                <a:cs typeface="Helvetica Neue"/>
              </a:rPr>
              <a:t>Working demo, explicit tradeoffs</a:t>
            </a:r>
          </a:p>
        </p:txBody>
      </p:sp>
      <p:sp>
        <p:nvSpPr>
          <p:cNvPr id="2" name="">
            <a:extLst xmlns:a="http://schemas.openxmlformats.org/drawingml/2006/main">
              <a:ext uri="{FF2B5EF4-FFF2-40B4-BE49-F238E27FC236}">
                <a16:creationId xmlns:a16="http://schemas.microsoft.com/office/drawing/2014/main" id="{7ACF1D97-740E-4893-9E8E-4A89A7B9186B}"/>
              </a:ext>
            </a:extLst>
          </p:cNvPr>
          <p:cNvSpPr>
            <a:spLocks xmlns:a="http://schemas.openxmlformats.org/drawingml/2006/main" noGrp="1"/>
          </p:cNvSpPr>
          <p:nvPr/>
        </p:nvSpPr>
        <p:spPr>
          <a:xfrm xmlns:a="http://schemas.openxmlformats.org/drawingml/2006/main">
            <a:off x="685800" y="6429375"/>
            <a:ext cx="1000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275" b="0">
                <a:solidFill>
                  <a:srgbClr val="566773"/>
                </a:solidFill>
                <a:latin typeface="Helvetica Neue"/>
                <a:ea typeface="Helvetica Neue"/>
                <a:cs typeface="Helvetica Neue"/>
              </a:defRPr>
            </a:pPr>
            <a:r>
              <a:rPr sz="1275" b="0">
                <a:solidFill>
                  <a:srgbClr val="566773"/>
                </a:solidFill>
                <a:latin typeface="Helvetica Neue"/>
                <a:ea typeface="Helvetica Neue"/>
                <a:cs typeface="Helvetica Neue"/>
              </a:rPr>
              <a:t>Two hackathons · Cosmos3-Edge on Orin Nano</a:t>
            </a:r>
          </a:p>
        </p:txBody>
      </p:sp>
      <p:sp>
        <p:nvSpPr>
          <p:cNvPr id="3" name="">
            <a:extLst xmlns:a="http://schemas.openxmlformats.org/drawingml/2006/main">
              <a:ext uri="{FF2B5EF4-FFF2-40B4-BE49-F238E27FC236}">
                <a16:creationId xmlns:a16="http://schemas.microsoft.com/office/drawing/2014/main" id="{4EDBB774-B065-4CF3-903A-0269910D826C}"/>
              </a:ext>
            </a:extLst>
          </p:cNvPr>
          <p:cNvSpPr>
            <a:spLocks xmlns:a="http://schemas.openxmlformats.org/drawingml/2006/main" noGrp="1"/>
          </p:cNvSpPr>
          <p:nvPr/>
        </p:nvSpPr>
        <p:spPr>
          <a:xfrm xmlns:a="http://schemas.openxmlformats.org/drawingml/2006/main">
            <a:off x="11049000" y="6429375"/>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275" b="0">
                <a:solidFill>
                  <a:srgbClr val="566773"/>
                </a:solidFill>
                <a:latin typeface="Helvetica Neue"/>
                <a:ea typeface="Helvetica Neue"/>
                <a:cs typeface="Helvetica Neue"/>
              </a:defRPr>
            </a:pPr>
            <a:r>
              <a:rPr sz="1275" b="0">
                <a:solidFill>
                  <a:srgbClr val="566773"/>
                </a:solidFill>
                <a:latin typeface="Helvetica Neue"/>
                <a:ea typeface="Helvetica Neue"/>
                <a:cs typeface="Helvetica Neue"/>
              </a:rPr>
              <a:t>08</a:t>
            </a:r>
          </a:p>
        </p:txBody>
      </p:sp>
      <p:sp>
        <p:nvSpPr>
          <p:cNvPr id="4" name="">
            <a:extLst xmlns:a="http://schemas.openxmlformats.org/drawingml/2006/main">
              <a:ext uri="{FF2B5EF4-FFF2-40B4-BE49-F238E27FC236}">
                <a16:creationId xmlns:a16="http://schemas.microsoft.com/office/drawing/2014/main" id="{B43E85B8-C549-4119-808E-76BFB50D8FA2}"/>
              </a:ext>
            </a:extLst>
          </p:cNvPr>
          <p:cNvSpPr>
            <a:spLocks xmlns:a="http://schemas.openxmlformats.org/drawingml/2006/main" noGrp="1"/>
          </p:cNvSpPr>
          <p:nvPr/>
        </p:nvSpPr>
        <p:spPr>
          <a:xfrm xmlns:a="http://schemas.openxmlformats.org/drawingml/2006/main">
            <a:off x="685800" y="1628775"/>
            <a:ext cx="35242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325" b="1">
                <a:solidFill>
                  <a:srgbClr val="146875"/>
                </a:solidFill>
                <a:latin typeface="Helvetica Neue"/>
                <a:ea typeface="Helvetica Neue"/>
                <a:cs typeface="Helvetica Neue"/>
              </a:defRPr>
            </a:pPr>
            <a:r>
              <a:rPr sz="2325" b="1">
                <a:solidFill>
                  <a:srgbClr val="146875"/>
                </a:solidFill>
                <a:latin typeface="Helvetica Neue"/>
                <a:ea typeface="Helvetica Neue"/>
                <a:cs typeface="Helvetica Neue"/>
              </a:rPr>
              <a:t>Public NVIDIA stack</a:t>
            </a:r>
          </a:p>
        </p:txBody>
      </p:sp>
      <p:sp>
        <p:nvSpPr>
          <p:cNvPr id="5" name="">
            <a:extLst xmlns:a="http://schemas.openxmlformats.org/drawingml/2006/main">
              <a:ext uri="{FF2B5EF4-FFF2-40B4-BE49-F238E27FC236}">
                <a16:creationId xmlns:a16="http://schemas.microsoft.com/office/drawing/2014/main" id="{27AFA34B-CF06-4256-8237-AC81305B7F42}"/>
              </a:ext>
            </a:extLst>
          </p:cNvPr>
          <p:cNvSpPr>
            <a:spLocks xmlns:a="http://schemas.openxmlformats.org/drawingml/2006/main" noGrp="1"/>
          </p:cNvSpPr>
          <p:nvPr/>
        </p:nvSpPr>
        <p:spPr>
          <a:xfrm xmlns:a="http://schemas.openxmlformats.org/drawingml/2006/main">
            <a:off x="685800" y="2200275"/>
            <a:ext cx="1038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325" b="0">
                <a:solidFill>
                  <a:srgbClr val="183542"/>
                </a:solidFill>
                <a:latin typeface="Helvetica Neue"/>
                <a:ea typeface="Helvetica Neue"/>
                <a:cs typeface="Helvetica Neue"/>
              </a:defRPr>
            </a:pPr>
            <a:r>
              <a:rPr sz="2325" b="0">
                <a:solidFill>
                  <a:srgbClr val="183542"/>
                </a:solidFill>
                <a:latin typeface="Helvetica Neue"/>
                <a:ea typeface="Helvetica Neue"/>
                <a:cs typeface="Helvetica Neue"/>
              </a:rPr>
              <a:t>Cosmos3-Edge, JetPack and TensorRT-Edge-LLM provide the model and execution foundation.</a:t>
            </a:r>
          </a:p>
        </p:txBody>
      </p:sp>
      <p:sp>
        <p:nvSpPr>
          <p:cNvPr id="6" name="">
            <a:extLst xmlns:a="http://schemas.openxmlformats.org/drawingml/2006/main">
              <a:ext uri="{FF2B5EF4-FFF2-40B4-BE49-F238E27FC236}">
                <a16:creationId xmlns:a16="http://schemas.microsoft.com/office/drawing/2014/main" id="{4241A1DE-761F-4A48-82E3-4B196913D48D}"/>
              </a:ext>
            </a:extLst>
          </p:cNvPr>
          <p:cNvSpPr>
            <a:spLocks xmlns:a="http://schemas.openxmlformats.org/drawingml/2006/main" noGrp="1"/>
          </p:cNvSpPr>
          <p:nvPr/>
        </p:nvSpPr>
        <p:spPr>
          <a:xfrm xmlns:a="http://schemas.openxmlformats.org/drawingml/2006/main">
            <a:off x="685800" y="3267075"/>
            <a:ext cx="55245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325" b="1">
                <a:solidFill>
                  <a:srgbClr val="146875"/>
                </a:solidFill>
                <a:latin typeface="Helvetica Neue"/>
                <a:ea typeface="Helvetica Neue"/>
                <a:cs typeface="Helvetica Neue"/>
              </a:defRPr>
            </a:pPr>
            <a:r>
              <a:rPr sz="2325" b="1">
                <a:solidFill>
                  <a:srgbClr val="146875"/>
                </a:solidFill>
                <a:latin typeface="Helvetica Neue"/>
                <a:ea typeface="Helvetica Neue"/>
                <a:cs typeface="Helvetica Neue"/>
              </a:rPr>
              <a:t>Task-authored integration</a:t>
            </a:r>
          </a:p>
        </p:txBody>
      </p:sp>
      <p:sp>
        <p:nvSpPr>
          <p:cNvPr id="7" name="">
            <a:extLst xmlns:a="http://schemas.openxmlformats.org/drawingml/2006/main">
              <a:ext uri="{FF2B5EF4-FFF2-40B4-BE49-F238E27FC236}">
                <a16:creationId xmlns:a16="http://schemas.microsoft.com/office/drawing/2014/main" id="{9AF289B1-9167-4DD1-8AEF-DD86D5EC6D07}"/>
              </a:ext>
            </a:extLst>
          </p:cNvPr>
          <p:cNvSpPr>
            <a:spLocks xmlns:a="http://schemas.openxmlformats.org/drawingml/2006/main" noGrp="1"/>
          </p:cNvSpPr>
          <p:nvPr/>
        </p:nvSpPr>
        <p:spPr>
          <a:xfrm xmlns:a="http://schemas.openxmlformats.org/drawingml/2006/main">
            <a:off x="685800" y="3838575"/>
            <a:ext cx="1038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325" b="0">
                <a:solidFill>
                  <a:srgbClr val="183542"/>
                </a:solidFill>
                <a:latin typeface="Helvetica Neue"/>
                <a:ea typeface="Helvetica Neue"/>
                <a:cs typeface="Helvetica Neue"/>
              </a:defRPr>
            </a:pPr>
            <a:r>
              <a:rPr sz="2325" b="0">
                <a:solidFill>
                  <a:srgbClr val="183542"/>
                </a:solidFill>
                <a:latin typeface="Helvetica Neue"/>
                <a:ea typeface="Helvetica Neue"/>
                <a:cs typeface="Helvetica Neue"/>
              </a:rPr>
              <a:t>Streaming camera UI, native timing, runtime controls, bounded tuning and evidence.</a:t>
            </a:r>
          </a:p>
        </p:txBody>
      </p:sp>
      <p:sp>
        <p:nvSpPr>
          <p:cNvPr id="8" name="">
            <a:extLst xmlns:a="http://schemas.openxmlformats.org/drawingml/2006/main">
              <a:ext uri="{FF2B5EF4-FFF2-40B4-BE49-F238E27FC236}">
                <a16:creationId xmlns:a16="http://schemas.microsoft.com/office/drawing/2014/main" id="{C398EE57-58B8-4B6E-85A0-F0A5F290983B}"/>
              </a:ext>
            </a:extLst>
          </p:cNvPr>
          <p:cNvSpPr>
            <a:spLocks xmlns:a="http://schemas.openxmlformats.org/drawingml/2006/main" noGrp="1"/>
          </p:cNvSpPr>
          <p:nvPr/>
        </p:nvSpPr>
        <p:spPr>
          <a:xfrm xmlns:a="http://schemas.openxmlformats.org/drawingml/2006/main">
            <a:off x="685800" y="5038725"/>
            <a:ext cx="10477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875" b="0">
                <a:solidFill>
                  <a:srgbClr val="566773"/>
                </a:solidFill>
                <a:latin typeface="Helvetica Neue"/>
                <a:ea typeface="Helvetica Neue"/>
                <a:cs typeface="Helvetica Neue"/>
              </a:defRPr>
            </a:pPr>
            <a:r>
              <a:rPr sz="1875" b="0">
                <a:solidFill>
                  <a:srgbClr val="566773"/>
                </a:solidFill>
                <a:latin typeface="Helvetica Neue"/>
                <a:ea typeface="Helvetica Neue"/>
                <a:cs typeface="Helvetica Neue"/>
              </a:rPr>
              <a:t>Live demo on the Orin</a:t>
            </a:r>
          </a:p>
        </p:txBody>
      </p:sp>
      <p:sp>
        <p:nvSpPr>
          <p:cNvPr id="9" name="">
            <a:extLst xmlns:a="http://schemas.openxmlformats.org/drawingml/2006/main">
              <a:ext uri="{FF2B5EF4-FFF2-40B4-BE49-F238E27FC236}">
                <a16:creationId xmlns:a16="http://schemas.microsoft.com/office/drawing/2014/main" id="{2ABBA650-74DE-45FD-BF25-7249CDD93BCA}"/>
              </a:ext>
            </a:extLst>
          </p:cNvPr>
          <p:cNvSpPr>
            <a:spLocks xmlns:a="http://schemas.openxmlformats.org/drawingml/2006/main" noGrp="1"/>
          </p:cNvSpPr>
          <p:nvPr/>
        </p:nvSpPr>
        <p:spPr>
          <a:xfrm xmlns:a="http://schemas.openxmlformats.org/drawingml/2006/main">
            <a:off x="685800" y="5495925"/>
            <a:ext cx="108204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925" b="1">
                <a:solidFill>
                  <a:srgbClr val="183542"/>
                </a:solidFill>
                <a:latin typeface="Helvetica Neue"/>
                <a:ea typeface="Helvetica Neue"/>
                <a:cs typeface="Helvetica Neue"/>
              </a:defRPr>
            </a:pPr>
            <a:r>
              <a:rPr sz="2925" b="1">
                <a:solidFill>
                  <a:srgbClr val="183542"/>
                </a:solidFill>
                <a:latin typeface="Helvetica Neue"/>
                <a:ea typeface="Helvetica Neue"/>
                <a:cs typeface="Helvetica Neue"/>
              </a:rPr>
              <a:t>https://192.168.6.252:8443/</a:t>
            </a:r>
          </a:p>
        </p:txBody>
      </p:sp>
    </p:spTree>
    <p:extLst>
      <p:ext uri="{BB962C8B-B14F-4D97-AF65-F5344CB8AC3E}">
        <p14:creationId xmlns:p14="http://schemas.microsoft.com/office/powerpoint/2010/main" val="555731118"/>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6182744F-5542-462D-9187-9550891EDA4F}"/>
              </a:ext>
            </a:extLst>
          </p:cNvPr>
          <p:cNvSpPr>
            <a:spLocks xmlns:a="http://schemas.openxmlformats.org/drawingml/2006/main" noGrp="1"/>
          </p:cNvSpPr>
          <p:nvPr/>
        </p:nvSpPr>
        <p:spPr>
          <a:xfrm xmlns:a="http://schemas.openxmlformats.org/drawingml/2006/main">
            <a:off x="685800" y="428625"/>
            <a:ext cx="108204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300" b="1">
                <a:solidFill>
                  <a:srgbClr val="183542"/>
                </a:solidFill>
                <a:latin typeface="Helvetica Neue"/>
                <a:ea typeface="Helvetica Neue"/>
                <a:cs typeface="Helvetica Neue"/>
              </a:defRPr>
            </a:pPr>
            <a:r>
              <a:rPr sz="3300" b="1">
                <a:solidFill>
                  <a:srgbClr val="183542"/>
                </a:solidFill>
                <a:latin typeface="Helvetica Neue"/>
                <a:ea typeface="Helvetica Neue"/>
                <a:cs typeface="Helvetica Neue"/>
              </a:rPr>
              <a:t>Architecture and runtime differences</a:t>
            </a:r>
          </a:p>
        </p:txBody>
      </p:sp>
      <p:sp>
        <p:nvSpPr>
          <p:cNvPr id="2" name="">
            <a:extLst xmlns:a="http://schemas.openxmlformats.org/drawingml/2006/main">
              <a:ext uri="{FF2B5EF4-FFF2-40B4-BE49-F238E27FC236}">
                <a16:creationId xmlns:a16="http://schemas.microsoft.com/office/drawing/2014/main" id="{0BD008E2-EA49-48A8-844F-F889203DFBA9}"/>
              </a:ext>
            </a:extLst>
          </p:cNvPr>
          <p:cNvSpPr>
            <a:spLocks xmlns:a="http://schemas.openxmlformats.org/drawingml/2006/main" noGrp="1"/>
          </p:cNvSpPr>
          <p:nvPr/>
        </p:nvSpPr>
        <p:spPr>
          <a:xfrm xmlns:a="http://schemas.openxmlformats.org/drawingml/2006/main">
            <a:off x="685800" y="6429375"/>
            <a:ext cx="1000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275" b="0">
                <a:solidFill>
                  <a:srgbClr val="566773"/>
                </a:solidFill>
                <a:latin typeface="Helvetica Neue"/>
                <a:ea typeface="Helvetica Neue"/>
                <a:cs typeface="Helvetica Neue"/>
              </a:defRPr>
            </a:pPr>
            <a:r>
              <a:rPr sz="1275" b="0">
                <a:solidFill>
                  <a:srgbClr val="566773"/>
                </a:solidFill>
                <a:latin typeface="Helvetica Neue"/>
                <a:ea typeface="Helvetica Neue"/>
                <a:cs typeface="Helvetica Neue"/>
              </a:rPr>
              <a:t>Technical appendix · Cosmos3-Edge on Orin Nano</a:t>
            </a:r>
          </a:p>
        </p:txBody>
      </p:sp>
      <p:sp>
        <p:nvSpPr>
          <p:cNvPr id="3" name="">
            <a:extLst xmlns:a="http://schemas.openxmlformats.org/drawingml/2006/main">
              <a:ext uri="{FF2B5EF4-FFF2-40B4-BE49-F238E27FC236}">
                <a16:creationId xmlns:a16="http://schemas.microsoft.com/office/drawing/2014/main" id="{40A25DC7-2494-429E-85C3-03E6FE3965CE}"/>
              </a:ext>
            </a:extLst>
          </p:cNvPr>
          <p:cNvSpPr>
            <a:spLocks xmlns:a="http://schemas.openxmlformats.org/drawingml/2006/main" noGrp="1"/>
          </p:cNvSpPr>
          <p:nvPr/>
        </p:nvSpPr>
        <p:spPr>
          <a:xfrm xmlns:a="http://schemas.openxmlformats.org/drawingml/2006/main">
            <a:off x="11049000" y="6429375"/>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275" b="0">
                <a:solidFill>
                  <a:srgbClr val="566773"/>
                </a:solidFill>
                <a:latin typeface="Helvetica Neue"/>
                <a:ea typeface="Helvetica Neue"/>
                <a:cs typeface="Helvetica Neue"/>
              </a:defRPr>
            </a:pPr>
            <a:r>
              <a:rPr sz="1275" b="0">
                <a:solidFill>
                  <a:srgbClr val="566773"/>
                </a:solidFill>
                <a:latin typeface="Helvetica Neue"/>
                <a:ea typeface="Helvetica Neue"/>
                <a:cs typeface="Helvetica Neue"/>
              </a:rPr>
              <a:t>09</a:t>
            </a:r>
          </a:p>
        </p:txBody>
      </p:sp>
      <p:graphicFrame>
        <p:nvGraphicFramePr>
          <p:cNvPr id="9" name=""/>
          <p:cNvGraphicFramePr/>
          <p:nvPr/>
        </p:nvGraphicFramePr>
        <p:xfrm>
          <a:off xmlns:a="http://schemas.openxmlformats.org/drawingml/2006/main" x="685800" y="1504950"/>
          <a:ext xmlns:a="http://schemas.openxmlformats.org/drawingml/2006/main" cx="10820400" cy="4114800"/>
        </p:xfrm>
        <a:graphic xmlns:a="http://schemas.openxmlformats.org/drawingml/2006/main">
          <a:graphicData uri="http://schemas.openxmlformats.org/drawingml/2006/table">
            <a:tbl>
              <a:tblPr firstRow="1" bandRow="0"/>
              <a:tblGrid>
                <a:gridCol w="2886075"/>
                <a:gridCol w="3962400"/>
                <a:gridCol w="3971925"/>
              </a:tblGrid>
              <a:tr h="514350">
                <a:tc>
                  <a:txBody>
                    <a:bodyPr/>
                    <a:lstStyle/>
                    <a:p>
                      <a:r>
                        <a:rPr sz="1725" b="1">
                          <a:solidFill>
                            <a:srgbClr val="183542"/>
                          </a:solidFill>
                          <a:latin typeface="Helvetica Neue"/>
                          <a:ea typeface="Helvetica Neue"/>
                          <a:cs typeface="Helvetica Neue"/>
                        </a:rPr>
                        <a:t>Axis</a:t>
                      </a:r>
                    </a:p>
                  </a:txBody>
                  <a:tcPr marL="133350" marR="133350" marT="85725" marB="85725" anchor="ctr">
                    <a:solidFill>
                      <a:srgbClr val="E8F0F1"/>
                    </a:solidFill>
                  </a:tcPr>
                </a:tc>
                <a:tc>
                  <a:txBody>
                    <a:bodyPr/>
                    <a:lstStyle/>
                    <a:p>
                      <a:r>
                        <a:rPr sz="1725" b="1">
                          <a:solidFill>
                            <a:srgbClr val="183542"/>
                          </a:solidFill>
                          <a:latin typeface="Helvetica Neue"/>
                          <a:ea typeface="Helvetica Neue"/>
                          <a:cs typeface="Helvetica Neue"/>
                        </a:rPr>
                        <a:t>First campaign source</a:t>
                      </a:r>
                    </a:p>
                  </a:txBody>
                  <a:tcPr marL="133350" marR="133350" marT="85725" marB="85725" anchor="ctr">
                    <a:solidFill>
                      <a:srgbClr val="E8F0F1"/>
                    </a:solidFill>
                  </a:tcPr>
                </a:tc>
                <a:tc>
                  <a:txBody>
                    <a:bodyPr/>
                    <a:lstStyle/>
                    <a:p>
                      <a:r>
                        <a:rPr sz="1725" b="1">
                          <a:solidFill>
                            <a:srgbClr val="183542"/>
                          </a:solidFill>
                          <a:latin typeface="Helvetica Neue"/>
                          <a:ea typeface="Helvetica Neue"/>
                          <a:cs typeface="Helvetica Neue"/>
                        </a:rPr>
                        <a:t>Current final deployment</a:t>
                      </a:r>
                    </a:p>
                  </a:txBody>
                  <a:tcPr marL="133350" marR="133350" marT="85725" marB="85725" anchor="ctr">
                    <a:solidFill>
                      <a:srgbClr val="E8F0F1"/>
                    </a:solidFill>
                  </a:tcPr>
                </a:tc>
              </a:tr>
              <a:tr h="514350">
                <a:tc>
                  <a:txBody>
                    <a:bodyPr/>
                    <a:lstStyle/>
                    <a:p>
                      <a:r>
                        <a:rPr sz="1725">
                          <a:solidFill>
                            <a:srgbClr val="183542"/>
                          </a:solidFill>
                          <a:latin typeface="Helvetica Neue"/>
                          <a:ea typeface="Helvetica Neue"/>
                          <a:cs typeface="Helvetica Neue"/>
                        </a:rPr>
                        <a:t>INT4 layers</a:t>
                      </a:r>
                    </a:p>
                  </a:txBody>
                  <a:tcPr marL="133350" marR="133350" marT="85725" marB="85725" anchor="ctr">
                    <a:solidFill>
                      <a:srgbClr val="FFFFFF"/>
                    </a:solidFill>
                  </a:tcPr>
                </a:tc>
                <a:tc>
                  <a:txBody>
                    <a:bodyPr/>
                    <a:lstStyle/>
                    <a:p>
                      <a:r>
                        <a:rPr sz="1725">
                          <a:solidFill>
                            <a:srgbClr val="183542"/>
                          </a:solidFill>
                          <a:latin typeface="Helvetica Neue"/>
                          <a:ea typeface="Helvetica Neue"/>
                          <a:cs typeface="Helvetica Neue"/>
                        </a:rPr>
                        <a:t>169 attention + MLP + head</a:t>
                      </a:r>
                    </a:p>
                  </a:txBody>
                  <a:tcPr marL="133350" marR="133350" marT="85725" marB="85725" anchor="ctr">
                    <a:solidFill>
                      <a:srgbClr val="FFFFFF"/>
                    </a:solidFill>
                  </a:tcPr>
                </a:tc>
                <a:tc>
                  <a:txBody>
                    <a:bodyPr/>
                    <a:lstStyle/>
                    <a:p>
                      <a:r>
                        <a:rPr sz="1725">
                          <a:solidFill>
                            <a:srgbClr val="183542"/>
                          </a:solidFill>
                          <a:latin typeface="Helvetica Neue"/>
                          <a:ea typeface="Helvetica Neue"/>
                          <a:cs typeface="Helvetica Neue"/>
                        </a:rPr>
                        <a:t>56 MLP only</a:t>
                      </a:r>
                    </a:p>
                  </a:txBody>
                  <a:tcPr marL="133350" marR="133350" marT="85725" marB="85725" anchor="ctr">
                    <a:solidFill>
                      <a:srgbClr val="FFFFFF"/>
                    </a:solidFill>
                  </a:tcPr>
                </a:tc>
              </a:tr>
              <a:tr h="514350">
                <a:tc>
                  <a:txBody>
                    <a:bodyPr/>
                    <a:lstStyle/>
                    <a:p>
                      <a:r>
                        <a:rPr sz="1725">
                          <a:solidFill>
                            <a:srgbClr val="183542"/>
                          </a:solidFill>
                          <a:latin typeface="Helvetica Neue"/>
                          <a:ea typeface="Helvetica Neue"/>
                          <a:cs typeface="Helvetica Neue"/>
                        </a:rPr>
                        <a:t>Quantizer / plugin</a:t>
                      </a:r>
                    </a:p>
                  </a:txBody>
                  <a:tcPr marL="133350" marR="133350" marT="85725" marB="85725" anchor="ctr">
                    <a:solidFill>
                      <a:srgbClr val="FFFFFF"/>
                    </a:solidFill>
                  </a:tcPr>
                </a:tc>
                <a:tc>
                  <a:txBody>
                    <a:bodyPr/>
                    <a:lstStyle/>
                    <a:p>
                      <a:r>
                        <a:rPr sz="1725">
                          <a:solidFill>
                            <a:srgbClr val="183542"/>
                          </a:solidFill>
                          <a:latin typeface="Helvetica Neue"/>
                          <a:ea typeface="Helvetica Neue"/>
                          <a:cs typeface="Helvetica Neue"/>
                        </a:rPr>
                        <a:t>RTN + MSE clipping / V2</a:t>
                      </a:r>
                    </a:p>
                  </a:txBody>
                  <a:tcPr marL="133350" marR="133350" marT="85725" marB="85725" anchor="ctr">
                    <a:solidFill>
                      <a:srgbClr val="FFFFFF"/>
                    </a:solidFill>
                  </a:tcPr>
                </a:tc>
                <a:tc>
                  <a:txBody>
                    <a:bodyPr/>
                    <a:lstStyle/>
                    <a:p>
                      <a:r>
                        <a:rPr sz="1725">
                          <a:solidFill>
                            <a:srgbClr val="183542"/>
                          </a:solidFill>
                          <a:latin typeface="Helvetica Neue"/>
                          <a:ea typeface="Helvetica Neue"/>
                          <a:cs typeface="Helvetica Neue"/>
                        </a:rPr>
                        <a:t>Symmetric RTN / V1 + N4</a:t>
                      </a:r>
                    </a:p>
                  </a:txBody>
                  <a:tcPr marL="133350" marR="133350" marT="85725" marB="85725" anchor="ctr">
                    <a:solidFill>
                      <a:srgbClr val="FFFFFF"/>
                    </a:solidFill>
                  </a:tcPr>
                </a:tc>
              </a:tr>
              <a:tr h="514350">
                <a:tc>
                  <a:txBody>
                    <a:bodyPr/>
                    <a:lstStyle/>
                    <a:p>
                      <a:r>
                        <a:rPr sz="1725">
                          <a:solidFill>
                            <a:srgbClr val="183542"/>
                          </a:solidFill>
                          <a:latin typeface="Helvetica Neue"/>
                          <a:ea typeface="Helvetica Neue"/>
                          <a:cs typeface="Helvetica Neue"/>
                        </a:rPr>
                        <a:t>Power / clocks</a:t>
                      </a:r>
                    </a:p>
                  </a:txBody>
                  <a:tcPr marL="133350" marR="133350" marT="85725" marB="85725" anchor="ctr">
                    <a:solidFill>
                      <a:srgbClr val="FFFFFF"/>
                    </a:solidFill>
                  </a:tcPr>
                </a:tc>
                <a:tc>
                  <a:txBody>
                    <a:bodyPr/>
                    <a:lstStyle/>
                    <a:p>
                      <a:r>
                        <a:rPr sz="1725">
                          <a:solidFill>
                            <a:srgbClr val="183542"/>
                          </a:solidFill>
                          <a:latin typeface="Helvetica Neue"/>
                          <a:ea typeface="Helvetica Neue"/>
                          <a:cs typeface="Helvetica Neue"/>
                        </a:rPr>
                        <a:t>MAXN_SUPER / static</a:t>
                      </a:r>
                    </a:p>
                  </a:txBody>
                  <a:tcPr marL="133350" marR="133350" marT="85725" marB="85725" anchor="ctr">
                    <a:solidFill>
                      <a:srgbClr val="FFFFFF"/>
                    </a:solidFill>
                  </a:tcPr>
                </a:tc>
                <a:tc>
                  <a:txBody>
                    <a:bodyPr/>
                    <a:lstStyle/>
                    <a:p>
                      <a:r>
                        <a:rPr sz="1725">
                          <a:solidFill>
                            <a:srgbClr val="183542"/>
                          </a:solidFill>
                          <a:latin typeface="Helvetica Neue"/>
                          <a:ea typeface="Helvetica Neue"/>
                          <a:cs typeface="Helvetica Neue"/>
                        </a:rPr>
                        <a:t>Stock 25 W / dynamic</a:t>
                      </a:r>
                    </a:p>
                  </a:txBody>
                  <a:tcPr marL="133350" marR="133350" marT="85725" marB="85725" anchor="ctr">
                    <a:solidFill>
                      <a:srgbClr val="FFFFFF"/>
                    </a:solidFill>
                  </a:tcPr>
                </a:tc>
              </a:tr>
              <a:tr h="514350">
                <a:tc>
                  <a:txBody>
                    <a:bodyPr/>
                    <a:lstStyle/>
                    <a:p>
                      <a:r>
                        <a:rPr sz="1725">
                          <a:solidFill>
                            <a:srgbClr val="183542"/>
                          </a:solidFill>
                          <a:latin typeface="Helvetica Neue"/>
                          <a:ea typeface="Helvetica Neue"/>
                          <a:cs typeface="Helvetica Neue"/>
                        </a:rPr>
                        <a:t>Image token cap</a:t>
                      </a:r>
                    </a:p>
                  </a:txBody>
                  <a:tcPr marL="133350" marR="133350" marT="85725" marB="85725" anchor="ctr">
                    <a:solidFill>
                      <a:srgbClr val="FFFFFF"/>
                    </a:solidFill>
                  </a:tcPr>
                </a:tc>
                <a:tc>
                  <a:txBody>
                    <a:bodyPr/>
                    <a:lstStyle/>
                    <a:p>
                      <a:r>
                        <a:rPr sz="1725">
                          <a:solidFill>
                            <a:srgbClr val="183542"/>
                          </a:solidFill>
                          <a:latin typeface="Helvetica Neue"/>
                          <a:ea typeface="Helvetica Neue"/>
                          <a:cs typeface="Helvetica Neue"/>
                        </a:rPr>
                        <a:t>320</a:t>
                      </a:r>
                    </a:p>
                  </a:txBody>
                  <a:tcPr marL="133350" marR="133350" marT="85725" marB="85725" anchor="ctr">
                    <a:solidFill>
                      <a:srgbClr val="FFFFFF"/>
                    </a:solidFill>
                  </a:tcPr>
                </a:tc>
                <a:tc>
                  <a:txBody>
                    <a:bodyPr/>
                    <a:lstStyle/>
                    <a:p>
                      <a:r>
                        <a:rPr sz="1725">
                          <a:solidFill>
                            <a:srgbClr val="183542"/>
                          </a:solidFill>
                          <a:latin typeface="Helvetica Neue"/>
                          <a:ea typeface="Helvetica Neue"/>
                          <a:cs typeface="Helvetica Neue"/>
                        </a:rPr>
                        <a:t>512</a:t>
                      </a:r>
                    </a:p>
                  </a:txBody>
                  <a:tcPr marL="133350" marR="133350" marT="85725" marB="85725" anchor="ctr">
                    <a:solidFill>
                      <a:srgbClr val="FFFFFF"/>
                    </a:solidFill>
                  </a:tcPr>
                </a:tc>
              </a:tr>
              <a:tr h="514350">
                <a:tc>
                  <a:txBody>
                    <a:bodyPr/>
                    <a:lstStyle/>
                    <a:p>
                      <a:r>
                        <a:rPr sz="1725">
                          <a:solidFill>
                            <a:srgbClr val="183542"/>
                          </a:solidFill>
                          <a:latin typeface="Helvetica Neue"/>
                          <a:ea typeface="Helvetica Neue"/>
                          <a:cs typeface="Helvetica Neue"/>
                        </a:rPr>
                        <a:t>Encoder cache</a:t>
                      </a:r>
                    </a:p>
                  </a:txBody>
                  <a:tcPr marL="133350" marR="133350" marT="85725" marB="85725" anchor="ctr">
                    <a:solidFill>
                      <a:srgbClr val="FFFFFF"/>
                    </a:solidFill>
                  </a:tcPr>
                </a:tc>
                <a:tc>
                  <a:txBody>
                    <a:bodyPr/>
                    <a:lstStyle/>
                    <a:p>
                      <a:r>
                        <a:rPr sz="1725">
                          <a:solidFill>
                            <a:srgbClr val="183542"/>
                          </a:solidFill>
                          <a:latin typeface="Helvetica Neue"/>
                          <a:ea typeface="Helvetica Neue"/>
                          <a:cs typeface="Helvetica Neue"/>
                        </a:rPr>
                        <a:t>256 MiB native default¹</a:t>
                      </a:r>
                    </a:p>
                  </a:txBody>
                  <a:tcPr marL="133350" marR="133350" marT="85725" marB="85725" anchor="ctr">
                    <a:solidFill>
                      <a:srgbClr val="FFFFFF"/>
                    </a:solidFill>
                  </a:tcPr>
                </a:tc>
                <a:tc>
                  <a:txBody>
                    <a:bodyPr/>
                    <a:lstStyle/>
                    <a:p>
                      <a:r>
                        <a:rPr sz="1725">
                          <a:solidFill>
                            <a:srgbClr val="183542"/>
                          </a:solidFill>
                          <a:latin typeface="Helvetica Neue"/>
                          <a:ea typeface="Helvetica Neue"/>
                          <a:cs typeface="Helvetica Neue"/>
                        </a:rPr>
                        <a:t>0</a:t>
                      </a:r>
                    </a:p>
                  </a:txBody>
                  <a:tcPr marL="133350" marR="133350" marT="85725" marB="85725" anchor="ctr">
                    <a:solidFill>
                      <a:srgbClr val="FFFFFF"/>
                    </a:solidFill>
                  </a:tcPr>
                </a:tc>
              </a:tr>
              <a:tr h="514350">
                <a:tc>
                  <a:txBody>
                    <a:bodyPr/>
                    <a:lstStyle/>
                    <a:p>
                      <a:r>
                        <a:rPr sz="1725">
                          <a:solidFill>
                            <a:srgbClr val="183542"/>
                          </a:solidFill>
                          <a:latin typeface="Helvetica Neue"/>
                          <a:ea typeface="Helvetica Neue"/>
                          <a:cs typeface="Helvetica Neue"/>
                        </a:rPr>
                        <a:t>Input / KV capacity</a:t>
                      </a:r>
                    </a:p>
                  </a:txBody>
                  <a:tcPr marL="133350" marR="133350" marT="85725" marB="85725" anchor="ctr">
                    <a:solidFill>
                      <a:srgbClr val="FFFFFF"/>
                    </a:solidFill>
                  </a:tcPr>
                </a:tc>
                <a:tc>
                  <a:txBody>
                    <a:bodyPr/>
                    <a:lstStyle/>
                    <a:p>
                      <a:r>
                        <a:rPr sz="1725">
                          <a:solidFill>
                            <a:srgbClr val="183542"/>
                          </a:solidFill>
                          <a:latin typeface="Helvetica Neue"/>
                          <a:ea typeface="Helvetica Neue"/>
                          <a:cs typeface="Helvetica Neue"/>
                        </a:rPr>
                        <a:t>1536 / 2048</a:t>
                      </a:r>
                    </a:p>
                  </a:txBody>
                  <a:tcPr marL="133350" marR="133350" marT="85725" marB="85725" anchor="ctr">
                    <a:solidFill>
                      <a:srgbClr val="FFFFFF"/>
                    </a:solidFill>
                  </a:tcPr>
                </a:tc>
                <a:tc>
                  <a:txBody>
                    <a:bodyPr/>
                    <a:lstStyle/>
                    <a:p>
                      <a:r>
                        <a:rPr sz="1725">
                          <a:solidFill>
                            <a:srgbClr val="183542"/>
                          </a:solidFill>
                          <a:latin typeface="Helvetica Neue"/>
                          <a:ea typeface="Helvetica Neue"/>
                          <a:cs typeface="Helvetica Neue"/>
                        </a:rPr>
                        <a:t>1024 / 1664</a:t>
                      </a:r>
                    </a:p>
                  </a:txBody>
                  <a:tcPr marL="133350" marR="133350" marT="85725" marB="85725" anchor="ctr">
                    <a:solidFill>
                      <a:srgbClr val="FFFFFF"/>
                    </a:solidFill>
                  </a:tcPr>
                </a:tc>
              </a:tr>
              <a:tr h="514350">
                <a:tc>
                  <a:txBody>
                    <a:bodyPr/>
                    <a:lstStyle/>
                    <a:p>
                      <a:r>
                        <a:rPr sz="1725">
                          <a:solidFill>
                            <a:srgbClr val="183542"/>
                          </a:solidFill>
                          <a:latin typeface="Helvetica Neue"/>
                          <a:ea typeface="Helvetica Neue"/>
                          <a:cs typeface="Helvetica Neue"/>
                        </a:rPr>
                        <a:t>UI response</a:t>
                      </a:r>
                    </a:p>
                  </a:txBody>
                  <a:tcPr marL="133350" marR="133350" marT="85725" marB="85725" anchor="ctr">
                    <a:solidFill>
                      <a:srgbClr val="FFFFFF"/>
                    </a:solidFill>
                  </a:tcPr>
                </a:tc>
                <a:tc>
                  <a:txBody>
                    <a:bodyPr/>
                    <a:lstStyle/>
                    <a:p>
                      <a:r>
                        <a:rPr sz="1725">
                          <a:solidFill>
                            <a:srgbClr val="183542"/>
                          </a:solidFill>
                          <a:latin typeface="Helvetica Neue"/>
                          <a:ea typeface="Helvetica Neue"/>
                          <a:cs typeface="Helvetica Neue"/>
                        </a:rPr>
                        <a:t>Whole-answer JSON</a:t>
                      </a:r>
                    </a:p>
                  </a:txBody>
                  <a:tcPr marL="133350" marR="133350" marT="85725" marB="85725" anchor="ctr">
                    <a:solidFill>
                      <a:srgbClr val="FFFFFF"/>
                    </a:solidFill>
                  </a:tcPr>
                </a:tc>
                <a:tc>
                  <a:txBody>
                    <a:bodyPr/>
                    <a:lstStyle/>
                    <a:p>
                      <a:r>
                        <a:rPr sz="1725">
                          <a:solidFill>
                            <a:srgbClr val="183542"/>
                          </a:solidFill>
                          <a:latin typeface="Helvetica Neue"/>
                          <a:ea typeface="Helvetica Neue"/>
                          <a:cs typeface="Helvetica Neue"/>
                        </a:rPr>
                        <a:t>Incremental SSE text</a:t>
                      </a:r>
                    </a:p>
                  </a:txBody>
                  <a:tcPr marL="133350" marR="133350" marT="85725" marB="85725" anchor="ctr">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357F3E80-353D-40A0-AACF-570C9686B727}"/>
              </a:ext>
            </a:extLst>
          </p:cNvPr>
          <p:cNvSpPr>
            <a:spLocks xmlns:a="http://schemas.openxmlformats.org/drawingml/2006/main" noGrp="1"/>
          </p:cNvSpPr>
          <p:nvPr/>
        </p:nvSpPr>
        <p:spPr>
          <a:xfrm xmlns:a="http://schemas.openxmlformats.org/drawingml/2006/main">
            <a:off x="685800" y="5867400"/>
            <a:ext cx="108204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650" b="0">
                <a:solidFill>
                  <a:srgbClr val="566773"/>
                </a:solidFill>
                <a:latin typeface="Helvetica Neue"/>
                <a:ea typeface="Helvetica Neue"/>
                <a:cs typeface="Helvetica Neue"/>
              </a:defRPr>
            </a:pPr>
            <a:r>
              <a:rPr sz="1650" b="0">
                <a:solidFill>
                  <a:srgbClr val="566773"/>
                </a:solidFill>
                <a:latin typeface="Helvetica Neue"/>
                <a:ea typeface="Helvetica Neue"/>
                <a:cs typeface="Helvetica Neue"/>
              </a:rPr>
              <a:t>¹ Historical executed cache state is not independently proven. Both retain FP16 components.</a:t>
            </a:r>
          </a:p>
        </p:txBody>
      </p:sp>
    </p:spTree>
    <p:extLst>
      <p:ext uri="{BB962C8B-B14F-4D97-AF65-F5344CB8AC3E}">
        <p14:creationId xmlns:p14="http://schemas.microsoft.com/office/powerpoint/2010/main" val="2118085085"/>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1D9937B5-1653-463A-AABC-2147DD72D029}"/>
              </a:ext>
            </a:extLst>
          </p:cNvPr>
          <p:cNvSpPr>
            <a:spLocks xmlns:a="http://schemas.openxmlformats.org/drawingml/2006/main" noGrp="1"/>
          </p:cNvSpPr>
          <p:nvPr/>
        </p:nvSpPr>
        <p:spPr>
          <a:xfrm xmlns:a="http://schemas.openxmlformats.org/drawingml/2006/main">
            <a:off x="685800" y="428625"/>
            <a:ext cx="108204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300" b="1">
                <a:solidFill>
                  <a:srgbClr val="183542"/>
                </a:solidFill>
                <a:latin typeface="Helvetica Neue"/>
                <a:ea typeface="Helvetica Neue"/>
                <a:cs typeface="Helvetica Neue"/>
              </a:defRPr>
            </a:pPr>
            <a:r>
              <a:rPr sz="3300" b="1">
                <a:solidFill>
                  <a:srgbClr val="183542"/>
                </a:solidFill>
                <a:latin typeface="Helvetica Neue"/>
                <a:ea typeface="Helvetica Neue"/>
                <a:cs typeface="Helvetica Neue"/>
              </a:rPr>
              <a:t>Recorded human and agent interventions</a:t>
            </a:r>
          </a:p>
        </p:txBody>
      </p:sp>
      <p:sp>
        <p:nvSpPr>
          <p:cNvPr id="2" name="">
            <a:extLst xmlns:a="http://schemas.openxmlformats.org/drawingml/2006/main">
              <a:ext uri="{FF2B5EF4-FFF2-40B4-BE49-F238E27FC236}">
                <a16:creationId xmlns:a16="http://schemas.microsoft.com/office/drawing/2014/main" id="{EBE54DF7-A82C-4CC7-A284-5B5729B11EC1}"/>
              </a:ext>
            </a:extLst>
          </p:cNvPr>
          <p:cNvSpPr>
            <a:spLocks xmlns:a="http://schemas.openxmlformats.org/drawingml/2006/main" noGrp="1"/>
          </p:cNvSpPr>
          <p:nvPr/>
        </p:nvSpPr>
        <p:spPr>
          <a:xfrm xmlns:a="http://schemas.openxmlformats.org/drawingml/2006/main">
            <a:off x="685800" y="6429375"/>
            <a:ext cx="1000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275" b="0">
                <a:solidFill>
                  <a:srgbClr val="566773"/>
                </a:solidFill>
                <a:latin typeface="Helvetica Neue"/>
                <a:ea typeface="Helvetica Neue"/>
                <a:cs typeface="Helvetica Neue"/>
              </a:defRPr>
            </a:pPr>
            <a:r>
              <a:rPr sz="1275" b="0">
                <a:solidFill>
                  <a:srgbClr val="566773"/>
                </a:solidFill>
                <a:latin typeface="Helvetica Neue"/>
                <a:ea typeface="Helvetica Neue"/>
                <a:cs typeface="Helvetica Neue"/>
              </a:rPr>
              <a:t>Technical appendix · Cosmos3-Edge on Orin Nano</a:t>
            </a:r>
          </a:p>
        </p:txBody>
      </p:sp>
      <p:sp>
        <p:nvSpPr>
          <p:cNvPr id="3" name="">
            <a:extLst xmlns:a="http://schemas.openxmlformats.org/drawingml/2006/main">
              <a:ext uri="{FF2B5EF4-FFF2-40B4-BE49-F238E27FC236}">
                <a16:creationId xmlns:a16="http://schemas.microsoft.com/office/drawing/2014/main" id="{12055454-470F-42F7-8787-B8D011B3BFC3}"/>
              </a:ext>
            </a:extLst>
          </p:cNvPr>
          <p:cNvSpPr>
            <a:spLocks xmlns:a="http://schemas.openxmlformats.org/drawingml/2006/main" noGrp="1"/>
          </p:cNvSpPr>
          <p:nvPr/>
        </p:nvSpPr>
        <p:spPr>
          <a:xfrm xmlns:a="http://schemas.openxmlformats.org/drawingml/2006/main">
            <a:off x="11049000" y="6429375"/>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275" b="0">
                <a:solidFill>
                  <a:srgbClr val="566773"/>
                </a:solidFill>
                <a:latin typeface="Helvetica Neue"/>
                <a:ea typeface="Helvetica Neue"/>
                <a:cs typeface="Helvetica Neue"/>
              </a:defRPr>
            </a:pPr>
            <a:r>
              <a:rPr sz="1275" b="0">
                <a:solidFill>
                  <a:srgbClr val="566773"/>
                </a:solidFill>
                <a:latin typeface="Helvetica Neue"/>
                <a:ea typeface="Helvetica Neue"/>
                <a:cs typeface="Helvetica Neue"/>
              </a:rPr>
              <a:t>10</a:t>
            </a:r>
          </a:p>
        </p:txBody>
      </p:sp>
      <p:graphicFrame>
        <p:nvGraphicFramePr>
          <p:cNvPr id="9" name=""/>
          <p:cNvGraphicFramePr/>
          <p:nvPr/>
        </p:nvGraphicFramePr>
        <p:xfrm>
          <a:off xmlns:a="http://schemas.openxmlformats.org/drawingml/2006/main" x="685800" y="1504950"/>
          <a:ext xmlns:a="http://schemas.openxmlformats.org/drawingml/2006/main" cx="10820400" cy="4324350"/>
        </p:xfrm>
        <a:graphic xmlns:a="http://schemas.openxmlformats.org/drawingml/2006/main">
          <a:graphicData uri="http://schemas.openxmlformats.org/drawingml/2006/table">
            <a:tbl>
              <a:tblPr firstRow="1" bandRow="0"/>
              <a:tblGrid>
                <a:gridCol w="3048000"/>
                <a:gridCol w="7772400"/>
              </a:tblGrid>
              <a:tr h="540544">
                <a:tc>
                  <a:txBody>
                    <a:bodyPr/>
                    <a:lstStyle/>
                    <a:p>
                      <a:r>
                        <a:rPr sz="1725" b="1">
                          <a:solidFill>
                            <a:srgbClr val="183542"/>
                          </a:solidFill>
                          <a:latin typeface="Helvetica Neue"/>
                          <a:ea typeface="Helvetica Neue"/>
                          <a:cs typeface="Helvetica Neue"/>
                        </a:rPr>
                        <a:t>Stage</a:t>
                      </a:r>
                    </a:p>
                  </a:txBody>
                  <a:tcPr marL="133350" marR="133350" marT="85725" marB="85725" anchor="ctr">
                    <a:solidFill>
                      <a:srgbClr val="E8F0F1"/>
                    </a:solidFill>
                  </a:tcPr>
                </a:tc>
                <a:tc>
                  <a:txBody>
                    <a:bodyPr/>
                    <a:lstStyle/>
                    <a:p>
                      <a:r>
                        <a:rPr sz="1725" b="1">
                          <a:solidFill>
                            <a:srgbClr val="183542"/>
                          </a:solidFill>
                          <a:latin typeface="Helvetica Neue"/>
                          <a:ea typeface="Helvetica Neue"/>
                          <a:cs typeface="Helvetica Neue"/>
                        </a:rPr>
                        <a:t>Intervention and consequence</a:t>
                      </a:r>
                    </a:p>
                  </a:txBody>
                  <a:tcPr marL="133350" marR="133350" marT="85725" marB="85725" anchor="ctr">
                    <a:solidFill>
                      <a:srgbClr val="E8F0F1"/>
                    </a:solidFill>
                  </a:tcPr>
                </a:tc>
              </a:tr>
              <a:tr h="540544">
                <a:tc>
                  <a:txBody>
                    <a:bodyPr/>
                    <a:lstStyle/>
                    <a:p>
                      <a:r>
                        <a:rPr sz="1725">
                          <a:solidFill>
                            <a:srgbClr val="183542"/>
                          </a:solidFill>
                          <a:latin typeface="Helvetica Neue"/>
                          <a:ea typeface="Helvetica Neue"/>
                          <a:cs typeface="Helvetica Neue"/>
                        </a:rPr>
                        <a:t>Hardware bring-up</a:t>
                      </a:r>
                    </a:p>
                  </a:txBody>
                  <a:tcPr marL="133350" marR="133350" marT="85725" marB="85725" anchor="ctr">
                    <a:solidFill>
                      <a:srgbClr val="FFFFFF"/>
                    </a:solidFill>
                  </a:tcPr>
                </a:tc>
                <a:tc>
                  <a:txBody>
                    <a:bodyPr/>
                    <a:lstStyle/>
                    <a:p>
                      <a:r>
                        <a:rPr sz="1725">
                          <a:solidFill>
                            <a:srgbClr val="183542"/>
                          </a:solidFill>
                          <a:latin typeface="Helvetica Neue"/>
                          <a:ea typeface="Helvetica Neue"/>
                          <a:cs typeface="Helvetica Neue"/>
                        </a:rPr>
                        <a:t>User recovery-jumper / connection steps; official USB-C flash</a:t>
                      </a:r>
                    </a:p>
                  </a:txBody>
                  <a:tcPr marL="133350" marR="133350" marT="85725" marB="85725" anchor="ctr">
                    <a:solidFill>
                      <a:srgbClr val="FFFFFF"/>
                    </a:solidFill>
                  </a:tcPr>
                </a:tc>
              </a:tr>
              <a:tr h="540544">
                <a:tc>
                  <a:txBody>
                    <a:bodyPr/>
                    <a:lstStyle/>
                    <a:p>
                      <a:r>
                        <a:rPr sz="1725">
                          <a:solidFill>
                            <a:srgbClr val="183542"/>
                          </a:solidFill>
                          <a:latin typeface="Helvetica Neue"/>
                          <a:ea typeface="Helvetica Neue"/>
                          <a:cs typeface="Helvetica Neue"/>
                        </a:rPr>
                        <a:t>Initial assumptions</a:t>
                      </a:r>
                    </a:p>
                  </a:txBody>
                  <a:tcPr marL="133350" marR="133350" marT="85725" marB="85725" anchor="ctr">
                    <a:solidFill>
                      <a:srgbClr val="FFFFFF"/>
                    </a:solidFill>
                  </a:tcPr>
                </a:tc>
                <a:tc>
                  <a:txBody>
                    <a:bodyPr/>
                    <a:lstStyle/>
                    <a:p>
                      <a:r>
                        <a:rPr sz="1725">
                          <a:solidFill>
                            <a:srgbClr val="183542"/>
                          </a:solidFill>
                          <a:latin typeface="Helvetica Neue"/>
                          <a:ea typeface="Helvetica Neue"/>
                          <a:cs typeface="Helvetica Neue"/>
                        </a:rPr>
                        <a:t>Agent chose lightweight capture, 64 output tokens, greedy decoding</a:t>
                      </a:r>
                    </a:p>
                  </a:txBody>
                  <a:tcPr marL="133350" marR="133350" marT="85725" marB="85725" anchor="ctr">
                    <a:solidFill>
                      <a:srgbClr val="FFFFFF"/>
                    </a:solidFill>
                  </a:tcPr>
                </a:tc>
              </a:tr>
              <a:tr h="540544">
                <a:tc>
                  <a:txBody>
                    <a:bodyPr/>
                    <a:lstStyle/>
                    <a:p>
                      <a:r>
                        <a:rPr sz="1725">
                          <a:solidFill>
                            <a:srgbClr val="183542"/>
                          </a:solidFill>
                          <a:latin typeface="Helvetica Neue"/>
                          <a:ea typeface="Helvetica Neue"/>
                          <a:cs typeface="Helvetica Neue"/>
                        </a:rPr>
                        <a:t>Fair comparison and UI</a:t>
                      </a:r>
                    </a:p>
                  </a:txBody>
                  <a:tcPr marL="133350" marR="133350" marT="85725" marB="85725" anchor="ctr">
                    <a:solidFill>
                      <a:srgbClr val="FFFFFF"/>
                    </a:solidFill>
                  </a:tcPr>
                </a:tc>
                <a:tc>
                  <a:txBody>
                    <a:bodyPr/>
                    <a:lstStyle/>
                    <a:p>
                      <a:r>
                        <a:rPr sz="1725">
                          <a:solidFill>
                            <a:srgbClr val="183542"/>
                          </a:solidFill>
                          <a:latin typeface="Helvetica Neue"/>
                          <a:ea typeface="Helvetica Neue"/>
                          <a:cs typeface="Helvetica Neue"/>
                        </a:rPr>
                        <a:t>Live VLM preset; HTTPS, prompts, graphs, caption controls</a:t>
                      </a:r>
                    </a:p>
                  </a:txBody>
                  <a:tcPr marL="133350" marR="133350" marT="85725" marB="85725" anchor="ctr">
                    <a:solidFill>
                      <a:srgbClr val="FFFFFF"/>
                    </a:solidFill>
                  </a:tcPr>
                </a:tc>
              </a:tr>
              <a:tr h="540544">
                <a:tc>
                  <a:txBody>
                    <a:bodyPr/>
                    <a:lstStyle/>
                    <a:p>
                      <a:r>
                        <a:rPr sz="1725">
                          <a:solidFill>
                            <a:srgbClr val="183542"/>
                          </a:solidFill>
                          <a:latin typeface="Helvetica Neue"/>
                          <a:ea typeface="Helvetica Neue"/>
                          <a:cs typeface="Helvetica Neue"/>
                        </a:rPr>
                        <a:t>Freeze and bounded search</a:t>
                      </a:r>
                    </a:p>
                  </a:txBody>
                  <a:tcPr marL="133350" marR="133350" marT="85725" marB="85725" anchor="ctr">
                    <a:solidFill>
                      <a:srgbClr val="FFFFFF"/>
                    </a:solidFill>
                  </a:tcPr>
                </a:tc>
                <a:tc>
                  <a:txBody>
                    <a:bodyPr/>
                    <a:lstStyle/>
                    <a:p>
                      <a:r>
                        <a:rPr sz="1725">
                          <a:solidFill>
                            <a:srgbClr val="183542"/>
                          </a:solidFill>
                          <a:latin typeface="Helvetica Neue"/>
                          <a:ea typeface="Helvetica Neue"/>
                          <a:cs typeface="Helvetica Neue"/>
                        </a:rPr>
                        <a:t>User froze a checkpoint and required 10% continuation gating</a:t>
                      </a:r>
                    </a:p>
                  </a:txBody>
                  <a:tcPr marL="133350" marR="133350" marT="85725" marB="85725" anchor="ctr">
                    <a:solidFill>
                      <a:srgbClr val="FFFFFF"/>
                    </a:solidFill>
                  </a:tcPr>
                </a:tc>
              </a:tr>
              <a:tr h="540544">
                <a:tc>
                  <a:txBody>
                    <a:bodyPr/>
                    <a:lstStyle/>
                    <a:p>
                      <a:r>
                        <a:rPr sz="1725">
                          <a:solidFill>
                            <a:srgbClr val="183542"/>
                          </a:solidFill>
                          <a:latin typeface="Helvetica Neue"/>
                          <a:ea typeface="Helvetica Neue"/>
                          <a:cs typeface="Helvetica Neue"/>
                        </a:rPr>
                        <a:t>Policy correction</a:t>
                      </a:r>
                    </a:p>
                  </a:txBody>
                  <a:tcPr marL="133350" marR="133350" marT="85725" marB="85725" anchor="ctr">
                    <a:solidFill>
                      <a:srgbClr val="FFFFFF"/>
                    </a:solidFill>
                  </a:tcPr>
                </a:tc>
                <a:tc>
                  <a:txBody>
                    <a:bodyPr/>
                    <a:lstStyle/>
                    <a:p>
                      <a:r>
                        <a:rPr sz="1725">
                          <a:solidFill>
                            <a:srgbClr val="183542"/>
                          </a:solidFill>
                          <a:latin typeface="Helvetica Neue"/>
                          <a:ea typeface="Helvetica Neue"/>
                          <a:cs typeface="Helvetica Neue"/>
                        </a:rPr>
                        <a:t>Agent kept smaller MLP profile after original acceptance failed</a:t>
                      </a:r>
                    </a:p>
                  </a:txBody>
                  <a:tcPr marL="133350" marR="133350" marT="85725" marB="85725" anchor="ctr">
                    <a:solidFill>
                      <a:srgbClr val="FFFFFF"/>
                    </a:solidFill>
                  </a:tcPr>
                </a:tc>
              </a:tr>
              <a:tr h="540544">
                <a:tc>
                  <a:txBody>
                    <a:bodyPr/>
                    <a:lstStyle/>
                    <a:p>
                      <a:r>
                        <a:rPr sz="1725">
                          <a:solidFill>
                            <a:srgbClr val="183542"/>
                          </a:solidFill>
                          <a:latin typeface="Helvetica Neue"/>
                          <a:ea typeface="Helvetica Neue"/>
                          <a:cs typeface="Helvetica Neue"/>
                        </a:rPr>
                        <a:t>Runtime / timer steering</a:t>
                      </a:r>
                    </a:p>
                  </a:txBody>
                  <a:tcPr marL="133350" marR="133350" marT="85725" marB="85725" anchor="ctr">
                    <a:solidFill>
                      <a:srgbClr val="FFFFFF"/>
                    </a:solidFill>
                  </a:tcPr>
                </a:tc>
                <a:tc>
                  <a:txBody>
                    <a:bodyPr/>
                    <a:lstStyle/>
                    <a:p>
                      <a:r>
                        <a:rPr sz="1725">
                          <a:solidFill>
                            <a:srgbClr val="183542"/>
                          </a:solidFill>
                          <a:latin typeface="Helvetica Neue"/>
                          <a:ea typeface="Helvetica Neue"/>
                          <a:cs typeface="Helvetica Neue"/>
                        </a:rPr>
                        <a:t>320 input cap + cache/clocks trial; then JPEG/network excluded</a:t>
                      </a:r>
                    </a:p>
                  </a:txBody>
                  <a:tcPr marL="133350" marR="133350" marT="85725" marB="85725" anchor="ctr">
                    <a:solidFill>
                      <a:srgbClr val="FFFFFF"/>
                    </a:solidFill>
                  </a:tcPr>
                </a:tc>
              </a:tr>
              <a:tr h="540544">
                <a:tc>
                  <a:txBody>
                    <a:bodyPr/>
                    <a:lstStyle/>
                    <a:p>
                      <a:r>
                        <a:rPr sz="1725">
                          <a:solidFill>
                            <a:srgbClr val="183542"/>
                          </a:solidFill>
                          <a:latin typeface="Helvetica Neue"/>
                          <a:ea typeface="Helvetica Neue"/>
                          <a:cs typeface="Helvetica Neue"/>
                        </a:rPr>
                        <a:t>Rollback and measurement</a:t>
                      </a:r>
                    </a:p>
                  </a:txBody>
                  <a:tcPr marL="133350" marR="133350" marT="85725" marB="85725" anchor="ctr">
                    <a:solidFill>
                      <a:srgbClr val="FFFFFF"/>
                    </a:solidFill>
                  </a:tcPr>
                </a:tc>
                <a:tc>
                  <a:txBody>
                    <a:bodyPr/>
                    <a:lstStyle/>
                    <a:p>
                      <a:r>
                        <a:rPr sz="1725">
                          <a:solidFill>
                            <a:srgbClr val="183542"/>
                          </a:solidFill>
                          <a:latin typeface="Helvetica Neue"/>
                          <a:ea typeface="Helvetica Neue"/>
                          <a:cs typeface="Helvetica Neue"/>
                        </a:rPr>
                        <a:t>Stop active sweep; restore lightweight, test FP16, then return to MLP</a:t>
                      </a:r>
                    </a:p>
                  </a:txBody>
                  <a:tcPr marL="133350" marR="133350" marT="85725" marB="85725" anchor="ctr">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D9FE2168-374B-49C5-855D-D33D127E31BE}"/>
              </a:ext>
            </a:extLst>
          </p:cNvPr>
          <p:cNvSpPr>
            <a:spLocks xmlns:a="http://schemas.openxmlformats.org/drawingml/2006/main" noGrp="1"/>
          </p:cNvSpPr>
          <p:nvPr/>
        </p:nvSpPr>
        <p:spPr>
          <a:xfrm xmlns:a="http://schemas.openxmlformats.org/drawingml/2006/main">
            <a:off x="685800" y="6048375"/>
            <a:ext cx="108204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575" b="0">
                <a:solidFill>
                  <a:srgbClr val="566773"/>
                </a:solidFill>
                <a:latin typeface="Helvetica Neue"/>
                <a:ea typeface="Helvetica Neue"/>
                <a:cs typeface="Helvetica Neue"/>
              </a:defRPr>
            </a:pPr>
            <a:r>
              <a:rPr sz="1575" b="0">
                <a:solidFill>
                  <a:srgbClr val="566773"/>
                </a:solidFill>
                <a:latin typeface="Helvetica Neue"/>
                <a:ea typeface="Helvetica Neue"/>
                <a:cs typeface="Helvetica Neue"/>
              </a:rPr>
              <a:t>No measured labor-hours or intervention count is available for the first campaign.</a:t>
            </a:r>
          </a:p>
        </p:txBody>
      </p:sp>
    </p:spTree>
    <p:extLst>
      <p:ext uri="{BB962C8B-B14F-4D97-AF65-F5344CB8AC3E}">
        <p14:creationId xmlns:p14="http://schemas.microsoft.com/office/powerpoint/2010/main" val="1553873158"/>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F728C323-7D3D-40C7-BF18-54FB9BC71C76}"/>
              </a:ext>
            </a:extLst>
          </p:cNvPr>
          <p:cNvSpPr>
            <a:spLocks xmlns:a="http://schemas.openxmlformats.org/drawingml/2006/main" noGrp="1"/>
          </p:cNvSpPr>
          <p:nvPr/>
        </p:nvSpPr>
        <p:spPr>
          <a:xfrm xmlns:a="http://schemas.openxmlformats.org/drawingml/2006/main">
            <a:off x="685800" y="428625"/>
            <a:ext cx="108204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300" b="1">
                <a:solidFill>
                  <a:srgbClr val="183542"/>
                </a:solidFill>
                <a:latin typeface="Helvetica Neue"/>
                <a:ea typeface="Helvetica Neue"/>
                <a:cs typeface="Helvetica Neue"/>
              </a:defRPr>
            </a:pPr>
            <a:r>
              <a:rPr sz="3300" b="1">
                <a:solidFill>
                  <a:srgbClr val="183542"/>
                </a:solidFill>
                <a:latin typeface="Helvetica Neue"/>
                <a:ea typeface="Helvetica Neue"/>
                <a:cs typeface="Helvetica Neue"/>
              </a:rPr>
              <a:t>User screenshots are observations</a:t>
            </a:r>
          </a:p>
        </p:txBody>
      </p:sp>
      <p:sp>
        <p:nvSpPr>
          <p:cNvPr id="2" name="">
            <a:extLst xmlns:a="http://schemas.openxmlformats.org/drawingml/2006/main">
              <a:ext uri="{FF2B5EF4-FFF2-40B4-BE49-F238E27FC236}">
                <a16:creationId xmlns:a16="http://schemas.microsoft.com/office/drawing/2014/main" id="{6BDC0458-A47D-4110-B123-404A3105FE38}"/>
              </a:ext>
            </a:extLst>
          </p:cNvPr>
          <p:cNvSpPr>
            <a:spLocks xmlns:a="http://schemas.openxmlformats.org/drawingml/2006/main" noGrp="1"/>
          </p:cNvSpPr>
          <p:nvPr/>
        </p:nvSpPr>
        <p:spPr>
          <a:xfrm xmlns:a="http://schemas.openxmlformats.org/drawingml/2006/main">
            <a:off x="685800" y="6429375"/>
            <a:ext cx="1000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275" b="0">
                <a:solidFill>
                  <a:srgbClr val="566773"/>
                </a:solidFill>
                <a:latin typeface="Helvetica Neue"/>
                <a:ea typeface="Helvetica Neue"/>
                <a:cs typeface="Helvetica Neue"/>
              </a:defRPr>
            </a:pPr>
            <a:r>
              <a:rPr sz="1275" b="0">
                <a:solidFill>
                  <a:srgbClr val="566773"/>
                </a:solidFill>
                <a:latin typeface="Helvetica Neue"/>
                <a:ea typeface="Helvetica Neue"/>
                <a:cs typeface="Helvetica Neue"/>
              </a:rPr>
              <a:t>Technical appendix · Cosmos3-Edge on Orin Nano</a:t>
            </a:r>
          </a:p>
        </p:txBody>
      </p:sp>
      <p:sp>
        <p:nvSpPr>
          <p:cNvPr id="3" name="">
            <a:extLst xmlns:a="http://schemas.openxmlformats.org/drawingml/2006/main">
              <a:ext uri="{FF2B5EF4-FFF2-40B4-BE49-F238E27FC236}">
                <a16:creationId xmlns:a16="http://schemas.microsoft.com/office/drawing/2014/main" id="{7F44D334-0642-41B6-8A4B-6947EB9EBE3E}"/>
              </a:ext>
            </a:extLst>
          </p:cNvPr>
          <p:cNvSpPr>
            <a:spLocks xmlns:a="http://schemas.openxmlformats.org/drawingml/2006/main" noGrp="1"/>
          </p:cNvSpPr>
          <p:nvPr/>
        </p:nvSpPr>
        <p:spPr>
          <a:xfrm xmlns:a="http://schemas.openxmlformats.org/drawingml/2006/main">
            <a:off x="11049000" y="6429375"/>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275" b="0">
                <a:solidFill>
                  <a:srgbClr val="566773"/>
                </a:solidFill>
                <a:latin typeface="Helvetica Neue"/>
                <a:ea typeface="Helvetica Neue"/>
                <a:cs typeface="Helvetica Neue"/>
              </a:defRPr>
            </a:pPr>
            <a:r>
              <a:rPr sz="1275" b="0">
                <a:solidFill>
                  <a:srgbClr val="566773"/>
                </a:solidFill>
                <a:latin typeface="Helvetica Neue"/>
                <a:ea typeface="Helvetica Neue"/>
                <a:cs typeface="Helvetica Neue"/>
              </a:rPr>
              <a:t>11</a:t>
            </a:r>
          </a:p>
        </p:txBody>
      </p:sp>
      <p:sp>
        <p:nvSpPr>
          <p:cNvPr id="4" name="">
            <a:extLst xmlns:a="http://schemas.openxmlformats.org/drawingml/2006/main">
              <a:ext uri="{FF2B5EF4-FFF2-40B4-BE49-F238E27FC236}">
                <a16:creationId xmlns:a16="http://schemas.microsoft.com/office/drawing/2014/main" id="{15805422-D6FA-4391-84AF-82ABEAA2DDD7}"/>
              </a:ext>
            </a:extLst>
          </p:cNvPr>
          <p:cNvSpPr>
            <a:spLocks xmlns:a="http://schemas.openxmlformats.org/drawingml/2006/main" noGrp="1"/>
          </p:cNvSpPr>
          <p:nvPr/>
        </p:nvSpPr>
        <p:spPr>
          <a:xfrm xmlns:a="http://schemas.openxmlformats.org/drawingml/2006/main">
            <a:off x="685800" y="1390650"/>
            <a:ext cx="52197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950" b="1">
                <a:solidFill>
                  <a:srgbClr val="146875"/>
                </a:solidFill>
                <a:latin typeface="Helvetica Neue"/>
                <a:ea typeface="Helvetica Neue"/>
                <a:cs typeface="Helvetica Neue"/>
              </a:defRPr>
            </a:pPr>
            <a:r>
              <a:rPr sz="1950" b="1">
                <a:solidFill>
                  <a:srgbClr val="146875"/>
                </a:solidFill>
                <a:latin typeface="Helvetica Neue"/>
                <a:ea typeface="Helvetica Neue"/>
                <a:cs typeface="Helvetica Neue"/>
              </a:rPr>
              <a:t>MLP: user’s “Astra Settings” label</a:t>
            </a:r>
          </a:p>
        </p:txBody>
      </p:sp>
      <p:sp>
        <p:nvSpPr>
          <p:cNvPr id="5" name="">
            <a:extLst xmlns:a="http://schemas.openxmlformats.org/drawingml/2006/main">
              <a:ext uri="{FF2B5EF4-FFF2-40B4-BE49-F238E27FC236}">
                <a16:creationId xmlns:a16="http://schemas.microsoft.com/office/drawing/2014/main" id="{94D754D9-5F3F-4E49-9500-F08A7C6A1EA8}"/>
              </a:ext>
            </a:extLst>
          </p:cNvPr>
          <p:cNvSpPr>
            <a:spLocks xmlns:a="http://schemas.openxmlformats.org/drawingml/2006/main" noGrp="1"/>
          </p:cNvSpPr>
          <p:nvPr/>
        </p:nvSpPr>
        <p:spPr>
          <a:xfrm xmlns:a="http://schemas.openxmlformats.org/drawingml/2006/main">
            <a:off x="6286500" y="1390650"/>
            <a:ext cx="5238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950" b="1">
                <a:solidFill>
                  <a:srgbClr val="146875"/>
                </a:solidFill>
                <a:latin typeface="Helvetica Neue"/>
                <a:ea typeface="Helvetica Neue"/>
                <a:cs typeface="Helvetica Neue"/>
              </a:defRPr>
            </a:pPr>
            <a:r>
              <a:rPr sz="1950" b="1">
                <a:solidFill>
                  <a:srgbClr val="146875"/>
                </a:solidFill>
                <a:latin typeface="Helvetica Neue"/>
                <a:ea typeface="Helvetica Neue"/>
                <a:cs typeface="Helvetica Neue"/>
              </a:rPr>
              <a:t>Original FP16: user’s “BF16” label</a:t>
            </a:r>
          </a:p>
        </p:txBody>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a2e00afa2923451c"/>
          <a:stretch xmlns:a="http://schemas.openxmlformats.org/drawingml/2006/main"/>
        </p:blipFill>
        <p:spPr>
          <a:xfrm xmlns:a="http://schemas.openxmlformats.org/drawingml/2006/main">
            <a:off x="1080992" y="1800225"/>
            <a:ext cx="4381691" cy="3467100"/>
          </a:xfrm>
          <a:prstGeom xmlns:a="http://schemas.openxmlformats.org/drawingml/2006/main" prst="rect">
            <a:avLst/>
          </a:prstGeom>
        </p:spPr>
      </p:pic>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447bbff2d772448b"/>
          <a:stretch xmlns:a="http://schemas.openxmlformats.org/drawingml/2006/main"/>
        </p:blipFill>
        <p:spPr>
          <a:xfrm xmlns:a="http://schemas.openxmlformats.org/drawingml/2006/main">
            <a:off x="6681692" y="1800225"/>
            <a:ext cx="4381691" cy="3467100"/>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1B5B54E2-6FBF-457E-80BE-FEE209E91E39}"/>
              </a:ext>
            </a:extLst>
          </p:cNvPr>
          <p:cNvSpPr>
            <a:spLocks xmlns:a="http://schemas.openxmlformats.org/drawingml/2006/main" noGrp="1"/>
          </p:cNvSpPr>
          <p:nvPr/>
        </p:nvSpPr>
        <p:spPr>
          <a:xfrm xmlns:a="http://schemas.openxmlformats.org/drawingml/2006/main">
            <a:off x="714375" y="5353050"/>
            <a:ext cx="515302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725" b="0">
                <a:solidFill>
                  <a:srgbClr val="183542"/>
                </a:solidFill>
                <a:latin typeface="Helvetica Neue"/>
                <a:ea typeface="Helvetica Neue"/>
                <a:cs typeface="Helvetica Neue"/>
              </a:defRPr>
            </a:pPr>
            <a:r>
              <a:rPr sz="1725" b="0">
                <a:solidFill>
                  <a:srgbClr val="183542"/>
                </a:solidFill>
                <a:latin typeface="Helvetica Neue"/>
                <a:ea typeface="Helvetica Neue"/>
                <a:cs typeface="Helvetica Neue"/>
              </a:rPr>
              <a:t>686 ms latency · 708 ms average · n = 8</a:t>
            </a:r>
          </a:p>
          <a:p xmlns:a="http://schemas.openxmlformats.org/drawingml/2006/main">
            <a:pPr>
              <a:defRPr sz="1725" b="0">
                <a:solidFill>
                  <a:srgbClr val="183542"/>
                </a:solidFill>
                <a:latin typeface="Helvetica Neue"/>
                <a:ea typeface="Helvetica Neue"/>
                <a:cs typeface="Helvetica Neue"/>
              </a:defRPr>
            </a:pPr>
            <a:r>
              <a:rPr sz="1725" b="0">
                <a:solidFill>
                  <a:srgbClr val="183542"/>
                </a:solidFill>
                <a:latin typeface="Helvetica Neue"/>
                <a:ea typeface="Helvetica Neue"/>
                <a:cs typeface="Helvetica Neue"/>
              </a:rPr>
              <a:t>4.92 / 7.37 GiB shared RAM</a:t>
            </a:r>
          </a:p>
        </p:txBody>
      </p:sp>
      <p:sp>
        <p:nvSpPr>
          <p:cNvPr id="9" name="">
            <a:extLst xmlns:a="http://schemas.openxmlformats.org/drawingml/2006/main">
              <a:ext uri="{FF2B5EF4-FFF2-40B4-BE49-F238E27FC236}">
                <a16:creationId xmlns:a16="http://schemas.microsoft.com/office/drawing/2014/main" id="{CB55D873-F01E-442F-9A14-4127A498FB29}"/>
              </a:ext>
            </a:extLst>
          </p:cNvPr>
          <p:cNvSpPr>
            <a:spLocks xmlns:a="http://schemas.openxmlformats.org/drawingml/2006/main" noGrp="1"/>
          </p:cNvSpPr>
          <p:nvPr/>
        </p:nvSpPr>
        <p:spPr>
          <a:xfrm xmlns:a="http://schemas.openxmlformats.org/drawingml/2006/main">
            <a:off x="6296025" y="5353050"/>
            <a:ext cx="52197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725" b="0">
                <a:solidFill>
                  <a:srgbClr val="183542"/>
                </a:solidFill>
                <a:latin typeface="Helvetica Neue"/>
                <a:ea typeface="Helvetica Neue"/>
                <a:cs typeface="Helvetica Neue"/>
              </a:defRPr>
            </a:pPr>
            <a:r>
              <a:rPr sz="1725" b="0">
                <a:solidFill>
                  <a:srgbClr val="183542"/>
                </a:solidFill>
                <a:latin typeface="Helvetica Neue"/>
                <a:ea typeface="Helvetica Neue"/>
                <a:cs typeface="Helvetica Neue"/>
              </a:rPr>
              <a:t>1,436 ms latency · 1,307 ms average · n = 53</a:t>
            </a:r>
          </a:p>
          <a:p xmlns:a="http://schemas.openxmlformats.org/drawingml/2006/main">
            <a:pPr>
              <a:defRPr sz="1725" b="0">
                <a:solidFill>
                  <a:srgbClr val="183542"/>
                </a:solidFill>
                <a:latin typeface="Helvetica Neue"/>
                <a:ea typeface="Helvetica Neue"/>
                <a:cs typeface="Helvetica Neue"/>
              </a:defRPr>
            </a:pPr>
            <a:r>
              <a:rPr sz="1725" b="0">
                <a:solidFill>
                  <a:srgbClr val="183542"/>
                </a:solidFill>
                <a:latin typeface="Helvetica Neue"/>
                <a:ea typeface="Helvetica Neue"/>
                <a:cs typeface="Helvetica Neue"/>
              </a:rPr>
              <a:t>6.39 / 7.37 GiB shared RAM</a:t>
            </a:r>
          </a:p>
        </p:txBody>
      </p:sp>
      <p:sp>
        <p:nvSpPr>
          <p:cNvPr id="10" name="">
            <a:extLst xmlns:a="http://schemas.openxmlformats.org/drawingml/2006/main">
              <a:ext uri="{FF2B5EF4-FFF2-40B4-BE49-F238E27FC236}">
                <a16:creationId xmlns:a16="http://schemas.microsoft.com/office/drawing/2014/main" id="{6DCB9B12-ECD2-4CAE-BB5D-AC5AFF815838}"/>
              </a:ext>
            </a:extLst>
          </p:cNvPr>
          <p:cNvSpPr>
            <a:spLocks xmlns:a="http://schemas.openxmlformats.org/drawingml/2006/main" noGrp="1"/>
          </p:cNvSpPr>
          <p:nvPr/>
        </p:nvSpPr>
        <p:spPr>
          <a:xfrm xmlns:a="http://schemas.openxmlformats.org/drawingml/2006/main">
            <a:off x="685800" y="6076950"/>
            <a:ext cx="10820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500" b="0">
                <a:solidFill>
                  <a:srgbClr val="566773"/>
                </a:solidFill>
                <a:latin typeface="Helvetica Neue"/>
                <a:ea typeface="Helvetica Neue"/>
                <a:cs typeface="Helvetica Neue"/>
              </a:defRPr>
            </a:pPr>
            <a:r>
              <a:rPr sz="1500" b="0">
                <a:solidFill>
                  <a:srgbClr val="566773"/>
                </a:solidFill>
                <a:latin typeface="Helvetica Neue"/>
                <a:ea typeface="Helvetica Neue"/>
                <a:cs typeface="Helvetica Neue"/>
              </a:rPr>
              <a:t>All show Lightweight capture. Advanced settings are outside the crop. These are not matched tests.</a:t>
            </a:r>
          </a:p>
        </p:txBody>
      </p:sp>
    </p:spTree>
    <p:extLst>
      <p:ext uri="{BB962C8B-B14F-4D97-AF65-F5344CB8AC3E}">
        <p14:creationId xmlns:p14="http://schemas.microsoft.com/office/powerpoint/2010/main" val="1019990332"/>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72B9139D-A74A-432A-9F29-D27708A0C956}"/>
              </a:ext>
            </a:extLst>
          </p:cNvPr>
          <p:cNvSpPr>
            <a:spLocks xmlns:a="http://schemas.openxmlformats.org/drawingml/2006/main" noGrp="1"/>
          </p:cNvSpPr>
          <p:nvPr/>
        </p:nvSpPr>
        <p:spPr>
          <a:xfrm xmlns:a="http://schemas.openxmlformats.org/drawingml/2006/main">
            <a:off x="685800" y="428625"/>
            <a:ext cx="108204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300" b="1">
                <a:solidFill>
                  <a:srgbClr val="183542"/>
                </a:solidFill>
                <a:latin typeface="Helvetica Neue"/>
                <a:ea typeface="Helvetica Neue"/>
                <a:cs typeface="Helvetica Neue"/>
              </a:defRPr>
            </a:pPr>
            <a:r>
              <a:rPr sz="3300" b="1">
                <a:solidFill>
                  <a:srgbClr val="183542"/>
                </a:solidFill>
                <a:latin typeface="Helvetica Neue"/>
                <a:ea typeface="Helvetica Neue"/>
                <a:cs typeface="Helvetica Neue"/>
              </a:rPr>
              <a:t>Keep each timing boundary explicit</a:t>
            </a:r>
          </a:p>
        </p:txBody>
      </p:sp>
      <p:sp>
        <p:nvSpPr>
          <p:cNvPr id="2" name="">
            <a:extLst xmlns:a="http://schemas.openxmlformats.org/drawingml/2006/main">
              <a:ext uri="{FF2B5EF4-FFF2-40B4-BE49-F238E27FC236}">
                <a16:creationId xmlns:a16="http://schemas.microsoft.com/office/drawing/2014/main" id="{70EDF12B-7A8F-479B-B73E-DECD18DF602F}"/>
              </a:ext>
            </a:extLst>
          </p:cNvPr>
          <p:cNvSpPr>
            <a:spLocks xmlns:a="http://schemas.openxmlformats.org/drawingml/2006/main" noGrp="1"/>
          </p:cNvSpPr>
          <p:nvPr/>
        </p:nvSpPr>
        <p:spPr>
          <a:xfrm xmlns:a="http://schemas.openxmlformats.org/drawingml/2006/main">
            <a:off x="685800" y="6429375"/>
            <a:ext cx="1000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275" b="0">
                <a:solidFill>
                  <a:srgbClr val="566773"/>
                </a:solidFill>
                <a:latin typeface="Helvetica Neue"/>
                <a:ea typeface="Helvetica Neue"/>
                <a:cs typeface="Helvetica Neue"/>
              </a:defRPr>
            </a:pPr>
            <a:r>
              <a:rPr sz="1275" b="0">
                <a:solidFill>
                  <a:srgbClr val="566773"/>
                </a:solidFill>
                <a:latin typeface="Helvetica Neue"/>
                <a:ea typeface="Helvetica Neue"/>
                <a:cs typeface="Helvetica Neue"/>
              </a:rPr>
              <a:t>Technical appendix · Cosmos3-Edge on Orin Nano</a:t>
            </a:r>
          </a:p>
        </p:txBody>
      </p:sp>
      <p:sp>
        <p:nvSpPr>
          <p:cNvPr id="3" name="">
            <a:extLst xmlns:a="http://schemas.openxmlformats.org/drawingml/2006/main">
              <a:ext uri="{FF2B5EF4-FFF2-40B4-BE49-F238E27FC236}">
                <a16:creationId xmlns:a16="http://schemas.microsoft.com/office/drawing/2014/main" id="{E425ED8F-0C87-4ACA-A7B5-CC0EE7B850C4}"/>
              </a:ext>
            </a:extLst>
          </p:cNvPr>
          <p:cNvSpPr>
            <a:spLocks xmlns:a="http://schemas.openxmlformats.org/drawingml/2006/main" noGrp="1"/>
          </p:cNvSpPr>
          <p:nvPr/>
        </p:nvSpPr>
        <p:spPr>
          <a:xfrm xmlns:a="http://schemas.openxmlformats.org/drawingml/2006/main">
            <a:off x="11049000" y="6429375"/>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275" b="0">
                <a:solidFill>
                  <a:srgbClr val="566773"/>
                </a:solidFill>
                <a:latin typeface="Helvetica Neue"/>
                <a:ea typeface="Helvetica Neue"/>
                <a:cs typeface="Helvetica Neue"/>
              </a:defRPr>
            </a:pPr>
            <a:r>
              <a:rPr sz="1275" b="0">
                <a:solidFill>
                  <a:srgbClr val="566773"/>
                </a:solidFill>
                <a:latin typeface="Helvetica Neue"/>
                <a:ea typeface="Helvetica Neue"/>
                <a:cs typeface="Helvetica Neue"/>
              </a:rPr>
              <a:t>12</a:t>
            </a:r>
          </a:p>
        </p:txBody>
      </p:sp>
      <p:graphicFrame>
        <p:nvGraphicFramePr>
          <p:cNvPr id="10" name=""/>
          <p:cNvGraphicFramePr/>
          <p:nvPr/>
        </p:nvGraphicFramePr>
        <p:xfrm>
          <a:off xmlns:a="http://schemas.openxmlformats.org/drawingml/2006/main" x="685800" y="1600200"/>
          <a:ext xmlns:a="http://schemas.openxmlformats.org/drawingml/2006/main" cx="10820400" cy="3190875"/>
        </p:xfrm>
        <a:graphic xmlns:a="http://schemas.openxmlformats.org/drawingml/2006/main">
          <a:graphicData uri="http://schemas.openxmlformats.org/drawingml/2006/table">
            <a:tbl>
              <a:tblPr firstRow="1" bandRow="0"/>
              <a:tblGrid>
                <a:gridCol w="5676900"/>
                <a:gridCol w="2571750"/>
                <a:gridCol w="2571750"/>
              </a:tblGrid>
              <a:tr h="638175">
                <a:tc>
                  <a:txBody>
                    <a:bodyPr/>
                    <a:lstStyle/>
                    <a:p>
                      <a:r>
                        <a:rPr sz="2025" b="1">
                          <a:solidFill>
                            <a:srgbClr val="183542"/>
                          </a:solidFill>
                          <a:latin typeface="Helvetica Neue"/>
                          <a:ea typeface="Helvetica Neue"/>
                          <a:cs typeface="Helvetica Neue"/>
                        </a:rPr>
                        <a:t>Median on the fixed fixture</a:t>
                      </a:r>
                    </a:p>
                  </a:txBody>
                  <a:tcPr marL="133350" marR="133350" marT="85725" marB="85725" anchor="ctr">
                    <a:solidFill>
                      <a:srgbClr val="E8F0F1"/>
                    </a:solidFill>
                  </a:tcPr>
                </a:tc>
                <a:tc>
                  <a:txBody>
                    <a:bodyPr/>
                    <a:lstStyle/>
                    <a:p>
                      <a:r>
                        <a:rPr sz="2025" b="1">
                          <a:solidFill>
                            <a:srgbClr val="183542"/>
                          </a:solidFill>
                          <a:latin typeface="Helvetica Neue"/>
                          <a:ea typeface="Helvetica Neue"/>
                          <a:cs typeface="Helvetica Neue"/>
                        </a:rPr>
                        <a:t>FP16</a:t>
                      </a:r>
                    </a:p>
                  </a:txBody>
                  <a:tcPr marL="133350" marR="133350" marT="85725" marB="85725" anchor="ctr">
                    <a:solidFill>
                      <a:srgbClr val="E8F0F1"/>
                    </a:solidFill>
                  </a:tcPr>
                </a:tc>
                <a:tc>
                  <a:txBody>
                    <a:bodyPr/>
                    <a:lstStyle/>
                    <a:p>
                      <a:r>
                        <a:rPr sz="2025" b="1">
                          <a:solidFill>
                            <a:srgbClr val="183542"/>
                          </a:solidFill>
                          <a:latin typeface="Helvetica Neue"/>
                          <a:ea typeface="Helvetica Neue"/>
                          <a:cs typeface="Helvetica Neue"/>
                        </a:rPr>
                        <a:t>MLP INT4</a:t>
                      </a:r>
                    </a:p>
                  </a:txBody>
                  <a:tcPr marL="133350" marR="133350" marT="85725" marB="85725" anchor="ctr">
                    <a:solidFill>
                      <a:srgbClr val="E8F0F1"/>
                    </a:solidFill>
                  </a:tcPr>
                </a:tc>
              </a:tr>
              <a:tr h="638175">
                <a:tc>
                  <a:txBody>
                    <a:bodyPr/>
                    <a:lstStyle/>
                    <a:p>
                      <a:r>
                        <a:rPr sz="2025">
                          <a:solidFill>
                            <a:srgbClr val="183542"/>
                          </a:solidFill>
                          <a:latin typeface="Helvetica Neue"/>
                          <a:ea typeface="Helvetica Neue"/>
                          <a:cs typeface="Helvetica Neue"/>
                        </a:rPr>
                        <a:t>Server first text</a:t>
                      </a:r>
                    </a:p>
                  </a:txBody>
                  <a:tcPr marL="133350" marR="133350" marT="85725" marB="85725" anchor="ctr">
                    <a:solidFill>
                      <a:srgbClr val="FFFFFF"/>
                    </a:solidFill>
                  </a:tcPr>
                </a:tc>
                <a:tc>
                  <a:txBody>
                    <a:bodyPr/>
                    <a:lstStyle/>
                    <a:p>
                      <a:r>
                        <a:rPr sz="2025">
                          <a:solidFill>
                            <a:srgbClr val="183542"/>
                          </a:solidFill>
                          <a:latin typeface="Helvetica Neue"/>
                          <a:ea typeface="Helvetica Neue"/>
                          <a:cs typeface="Helvetica Neue"/>
                        </a:rPr>
                        <a:t>249.5 ms</a:t>
                      </a:r>
                    </a:p>
                  </a:txBody>
                  <a:tcPr marL="133350" marR="133350" marT="85725" marB="85725" anchor="ctr">
                    <a:solidFill>
                      <a:srgbClr val="FFFFFF"/>
                    </a:solidFill>
                  </a:tcPr>
                </a:tc>
                <a:tc>
                  <a:txBody>
                    <a:bodyPr/>
                    <a:lstStyle/>
                    <a:p>
                      <a:r>
                        <a:rPr sz="2025">
                          <a:solidFill>
                            <a:srgbClr val="183542"/>
                          </a:solidFill>
                          <a:latin typeface="Helvetica Neue"/>
                          <a:ea typeface="Helvetica Neue"/>
                          <a:cs typeface="Helvetica Neue"/>
                        </a:rPr>
                        <a:t>239.3 ms</a:t>
                      </a:r>
                    </a:p>
                  </a:txBody>
                  <a:tcPr marL="133350" marR="133350" marT="85725" marB="85725" anchor="ctr">
                    <a:solidFill>
                      <a:srgbClr val="FFFFFF"/>
                    </a:solidFill>
                  </a:tcPr>
                </a:tc>
              </a:tr>
              <a:tr h="638175">
                <a:tc>
                  <a:txBody>
                    <a:bodyPr/>
                    <a:lstStyle/>
                    <a:p>
                      <a:r>
                        <a:rPr sz="2025">
                          <a:solidFill>
                            <a:srgbClr val="183542"/>
                          </a:solidFill>
                          <a:latin typeface="Helvetica Neue"/>
                          <a:ea typeface="Helvetica Neue"/>
                          <a:cs typeface="Helvetica Neue"/>
                        </a:rPr>
                        <a:t>Loopback HTTP first text</a:t>
                      </a:r>
                    </a:p>
                  </a:txBody>
                  <a:tcPr marL="133350" marR="133350" marT="85725" marB="85725" anchor="ctr">
                    <a:solidFill>
                      <a:srgbClr val="FFFFFF"/>
                    </a:solidFill>
                  </a:tcPr>
                </a:tc>
                <a:tc>
                  <a:txBody>
                    <a:bodyPr/>
                    <a:lstStyle/>
                    <a:p>
                      <a:r>
                        <a:rPr sz="2025">
                          <a:solidFill>
                            <a:srgbClr val="183542"/>
                          </a:solidFill>
                          <a:latin typeface="Helvetica Neue"/>
                          <a:ea typeface="Helvetica Neue"/>
                          <a:cs typeface="Helvetica Neue"/>
                        </a:rPr>
                        <a:t>267.7 ms</a:t>
                      </a:r>
                    </a:p>
                  </a:txBody>
                  <a:tcPr marL="133350" marR="133350" marT="85725" marB="85725" anchor="ctr">
                    <a:solidFill>
                      <a:srgbClr val="FFFFFF"/>
                    </a:solidFill>
                  </a:tcPr>
                </a:tc>
                <a:tc>
                  <a:txBody>
                    <a:bodyPr/>
                    <a:lstStyle/>
                    <a:p>
                      <a:r>
                        <a:rPr sz="2025">
                          <a:solidFill>
                            <a:srgbClr val="183542"/>
                          </a:solidFill>
                          <a:latin typeface="Helvetica Neue"/>
                          <a:ea typeface="Helvetica Neue"/>
                          <a:cs typeface="Helvetica Neue"/>
                        </a:rPr>
                        <a:t>261.7 ms</a:t>
                      </a:r>
                    </a:p>
                  </a:txBody>
                  <a:tcPr marL="133350" marR="133350" marT="85725" marB="85725" anchor="ctr">
                    <a:solidFill>
                      <a:srgbClr val="FFFFFF"/>
                    </a:solidFill>
                  </a:tcPr>
                </a:tc>
              </a:tr>
              <a:tr h="638175">
                <a:tc>
                  <a:txBody>
                    <a:bodyPr/>
                    <a:lstStyle/>
                    <a:p>
                      <a:r>
                        <a:rPr sz="2025">
                          <a:solidFill>
                            <a:srgbClr val="183542"/>
                          </a:solidFill>
                          <a:latin typeface="Helvetica Neue"/>
                          <a:ea typeface="Helvetica Neue"/>
                          <a:cs typeface="Helvetica Neue"/>
                        </a:rPr>
                        <a:t>Native complete answer</a:t>
                      </a:r>
                    </a:p>
                  </a:txBody>
                  <a:tcPr marL="133350" marR="133350" marT="85725" marB="85725" anchor="ctr">
                    <a:solidFill>
                      <a:srgbClr val="FFFFFF"/>
                    </a:solidFill>
                  </a:tcPr>
                </a:tc>
                <a:tc>
                  <a:txBody>
                    <a:bodyPr/>
                    <a:lstStyle/>
                    <a:p>
                      <a:r>
                        <a:rPr sz="2025">
                          <a:solidFill>
                            <a:srgbClr val="183542"/>
                          </a:solidFill>
                          <a:latin typeface="Helvetica Neue"/>
                          <a:ea typeface="Helvetica Neue"/>
                          <a:cs typeface="Helvetica Neue"/>
                        </a:rPr>
                        <a:t>1,804.6 ms</a:t>
                      </a:r>
                    </a:p>
                  </a:txBody>
                  <a:tcPr marL="133350" marR="133350" marT="85725" marB="85725" anchor="ctr">
                    <a:solidFill>
                      <a:srgbClr val="FFFFFF"/>
                    </a:solidFill>
                  </a:tcPr>
                </a:tc>
                <a:tc>
                  <a:txBody>
                    <a:bodyPr/>
                    <a:lstStyle/>
                    <a:p>
                      <a:r>
                        <a:rPr sz="2025">
                          <a:solidFill>
                            <a:srgbClr val="183542"/>
                          </a:solidFill>
                          <a:latin typeface="Helvetica Neue"/>
                          <a:ea typeface="Helvetica Neue"/>
                          <a:cs typeface="Helvetica Neue"/>
                        </a:rPr>
                        <a:t>1,009.0 ms</a:t>
                      </a:r>
                    </a:p>
                  </a:txBody>
                  <a:tcPr marL="133350" marR="133350" marT="85725" marB="85725" anchor="ctr">
                    <a:solidFill>
                      <a:srgbClr val="FFFFFF"/>
                    </a:solidFill>
                  </a:tcPr>
                </a:tc>
              </a:tr>
              <a:tr h="638175">
                <a:tc>
                  <a:txBody>
                    <a:bodyPr/>
                    <a:lstStyle/>
                    <a:p>
                      <a:r>
                        <a:rPr sz="2025">
                          <a:solidFill>
                            <a:srgbClr val="183542"/>
                          </a:solidFill>
                          <a:latin typeface="Helvetica Neue"/>
                          <a:ea typeface="Helvetica Neue"/>
                          <a:cs typeface="Helvetica Neue"/>
                        </a:rPr>
                        <a:t>Actual output tokens</a:t>
                      </a:r>
                    </a:p>
                  </a:txBody>
                  <a:tcPr marL="133350" marR="133350" marT="85725" marB="85725" anchor="ctr">
                    <a:solidFill>
                      <a:srgbClr val="FFFFFF"/>
                    </a:solidFill>
                  </a:tcPr>
                </a:tc>
                <a:tc>
                  <a:txBody>
                    <a:bodyPr/>
                    <a:lstStyle/>
                    <a:p>
                      <a:r>
                        <a:rPr sz="2025">
                          <a:solidFill>
                            <a:srgbClr val="183542"/>
                          </a:solidFill>
                          <a:latin typeface="Helvetica Neue"/>
                          <a:ea typeface="Helvetica Neue"/>
                          <a:cs typeface="Helvetica Neue"/>
                        </a:rPr>
                        <a:t>37</a:t>
                      </a:r>
                    </a:p>
                  </a:txBody>
                  <a:tcPr marL="133350" marR="133350" marT="85725" marB="85725" anchor="ctr">
                    <a:solidFill>
                      <a:srgbClr val="FFFFFF"/>
                    </a:solidFill>
                  </a:tcPr>
                </a:tc>
                <a:tc>
                  <a:txBody>
                    <a:bodyPr/>
                    <a:lstStyle/>
                    <a:p>
                      <a:r>
                        <a:rPr sz="2025">
                          <a:solidFill>
                            <a:srgbClr val="183542"/>
                          </a:solidFill>
                          <a:latin typeface="Helvetica Neue"/>
                          <a:ea typeface="Helvetica Neue"/>
                          <a:cs typeface="Helvetica Neue"/>
                        </a:rPr>
                        <a:t>31</a:t>
                      </a:r>
                    </a:p>
                  </a:txBody>
                  <a:tcPr marL="133350" marR="133350" marT="85725" marB="85725" anchor="ctr">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188FB211-EA4E-4BB2-96DF-1348C4C0C535}"/>
              </a:ext>
            </a:extLst>
          </p:cNvPr>
          <p:cNvSpPr>
            <a:spLocks xmlns:a="http://schemas.openxmlformats.org/drawingml/2006/main" noGrp="1"/>
          </p:cNvSpPr>
          <p:nvPr/>
        </p:nvSpPr>
        <p:spPr>
          <a:xfrm xmlns:a="http://schemas.openxmlformats.org/drawingml/2006/main">
            <a:off x="685800" y="5067300"/>
            <a:ext cx="108204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175" b="1">
                <a:solidFill>
                  <a:srgbClr val="965A20"/>
                </a:solidFill>
                <a:latin typeface="Helvetica Neue"/>
                <a:ea typeface="Helvetica Neue"/>
                <a:cs typeface="Helvetica Neue"/>
              </a:defRPr>
            </a:pPr>
            <a:r>
              <a:rPr sz="2175" b="1">
                <a:solidFill>
                  <a:srgbClr val="965A20"/>
                </a:solidFill>
                <a:latin typeface="Helvetica Neue"/>
                <a:ea typeface="Helvetica Neue"/>
                <a:cs typeface="Helvetica Neue"/>
              </a:rPr>
              <a:t>Different output lengths prevent a whole-answer engine-speed ratio.</a:t>
            </a:r>
          </a:p>
        </p:txBody>
      </p:sp>
      <p:sp>
        <p:nvSpPr>
          <p:cNvPr id="6" name="">
            <a:extLst xmlns:a="http://schemas.openxmlformats.org/drawingml/2006/main">
              <a:ext uri="{FF2B5EF4-FFF2-40B4-BE49-F238E27FC236}">
                <a16:creationId xmlns:a16="http://schemas.microsoft.com/office/drawing/2014/main" id="{A47DA387-5E43-45D4-BC57-5A8521C60B2B}"/>
              </a:ext>
            </a:extLst>
          </p:cNvPr>
          <p:cNvSpPr>
            <a:spLocks xmlns:a="http://schemas.openxmlformats.org/drawingml/2006/main" noGrp="1"/>
          </p:cNvSpPr>
          <p:nvPr/>
        </p:nvSpPr>
        <p:spPr>
          <a:xfrm xmlns:a="http://schemas.openxmlformats.org/drawingml/2006/main">
            <a:off x="685800" y="5657850"/>
            <a:ext cx="108204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725" b="0">
                <a:solidFill>
                  <a:srgbClr val="566773"/>
                </a:solidFill>
                <a:latin typeface="Helvetica Neue"/>
                <a:ea typeface="Helvetica Neue"/>
                <a:cs typeface="Helvetica Neue"/>
              </a:defRPr>
            </a:pPr>
            <a:r>
              <a:rPr sz="1725" b="0">
                <a:solidFill>
                  <a:srgbClr val="566773"/>
                </a:solidFill>
                <a:latin typeface="Helvetica Neue"/>
                <a:ea typeface="Helvetica Neue"/>
                <a:cs typeface="Helvetica Neue"/>
              </a:rPr>
              <a:t>The interrupted token-length sweep produced no finished fixed-ms / marginal-ms-per-token fit.</a:t>
            </a:r>
          </a:p>
          <a:p xmlns:a="http://schemas.openxmlformats.org/drawingml/2006/main">
            <a:pPr>
              <a:defRPr sz="1725" b="0">
                <a:solidFill>
                  <a:srgbClr val="566773"/>
                </a:solidFill>
                <a:latin typeface="Helvetica Neue"/>
                <a:ea typeface="Helvetica Neue"/>
                <a:cs typeface="Helvetica Neue"/>
              </a:defRPr>
            </a:pPr>
            <a:r>
              <a:rPr sz="1725" b="0">
                <a:solidFill>
                  <a:srgbClr val="566773"/>
                </a:solidFill>
                <a:latin typeface="Helvetica Neue"/>
                <a:ea typeface="Helvetica Neue"/>
                <a:cs typeface="Helvetica Neue"/>
              </a:rPr>
              <a:t>Historical first-demo HTTP median: 265.54 ms. It uses the broader HTTP boundary.</a:t>
            </a:r>
          </a:p>
        </p:txBody>
      </p:sp>
    </p:spTree>
    <p:extLst>
      <p:ext uri="{BB962C8B-B14F-4D97-AF65-F5344CB8AC3E}">
        <p14:creationId xmlns:p14="http://schemas.microsoft.com/office/powerpoint/2010/main" val="520512254"/>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F734B11B-DC23-4B04-B94A-310FA3B0593D}"/>
              </a:ext>
            </a:extLst>
          </p:cNvPr>
          <p:cNvSpPr>
            <a:spLocks xmlns:a="http://schemas.openxmlformats.org/drawingml/2006/main" noGrp="1"/>
          </p:cNvSpPr>
          <p:nvPr/>
        </p:nvSpPr>
        <p:spPr>
          <a:xfrm xmlns:a="http://schemas.openxmlformats.org/drawingml/2006/main">
            <a:off x="685800" y="428625"/>
            <a:ext cx="108204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300" b="1">
                <a:solidFill>
                  <a:srgbClr val="183542"/>
                </a:solidFill>
                <a:latin typeface="Helvetica Neue"/>
                <a:ea typeface="Helvetica Neue"/>
                <a:cs typeface="Helvetica Neue"/>
              </a:defRPr>
            </a:pPr>
            <a:r>
              <a:rPr sz="3300" b="1">
                <a:solidFill>
                  <a:srgbClr val="183542"/>
                </a:solidFill>
                <a:latin typeface="Helvetica Neue"/>
                <a:ea typeface="Helvetica Neue"/>
                <a:cs typeface="Helvetica Neue"/>
              </a:rPr>
              <a:t>Final defaults and the intermediate trial</a:t>
            </a:r>
          </a:p>
        </p:txBody>
      </p:sp>
      <p:sp>
        <p:nvSpPr>
          <p:cNvPr id="2" name="">
            <a:extLst xmlns:a="http://schemas.openxmlformats.org/drawingml/2006/main">
              <a:ext uri="{FF2B5EF4-FFF2-40B4-BE49-F238E27FC236}">
                <a16:creationId xmlns:a16="http://schemas.microsoft.com/office/drawing/2014/main" id="{81C68071-64E9-4CA7-A55F-74972AF83949}"/>
              </a:ext>
            </a:extLst>
          </p:cNvPr>
          <p:cNvSpPr>
            <a:spLocks xmlns:a="http://schemas.openxmlformats.org/drawingml/2006/main" noGrp="1"/>
          </p:cNvSpPr>
          <p:nvPr/>
        </p:nvSpPr>
        <p:spPr>
          <a:xfrm xmlns:a="http://schemas.openxmlformats.org/drawingml/2006/main">
            <a:off x="685800" y="6429375"/>
            <a:ext cx="1000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275" b="0">
                <a:solidFill>
                  <a:srgbClr val="566773"/>
                </a:solidFill>
                <a:latin typeface="Helvetica Neue"/>
                <a:ea typeface="Helvetica Neue"/>
                <a:cs typeface="Helvetica Neue"/>
              </a:defRPr>
            </a:pPr>
            <a:r>
              <a:rPr sz="1275" b="0">
                <a:solidFill>
                  <a:srgbClr val="566773"/>
                </a:solidFill>
                <a:latin typeface="Helvetica Neue"/>
                <a:ea typeface="Helvetica Neue"/>
                <a:cs typeface="Helvetica Neue"/>
              </a:rPr>
              <a:t>Technical appendix · Cosmos3-Edge on Orin Nano</a:t>
            </a:r>
          </a:p>
        </p:txBody>
      </p:sp>
      <p:sp>
        <p:nvSpPr>
          <p:cNvPr id="3" name="">
            <a:extLst xmlns:a="http://schemas.openxmlformats.org/drawingml/2006/main">
              <a:ext uri="{FF2B5EF4-FFF2-40B4-BE49-F238E27FC236}">
                <a16:creationId xmlns:a16="http://schemas.microsoft.com/office/drawing/2014/main" id="{7814EEA2-5689-4FC9-B090-916CC7F65F47}"/>
              </a:ext>
            </a:extLst>
          </p:cNvPr>
          <p:cNvSpPr>
            <a:spLocks xmlns:a="http://schemas.openxmlformats.org/drawingml/2006/main" noGrp="1"/>
          </p:cNvSpPr>
          <p:nvPr/>
        </p:nvSpPr>
        <p:spPr>
          <a:xfrm xmlns:a="http://schemas.openxmlformats.org/drawingml/2006/main">
            <a:off x="11049000" y="6429375"/>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275" b="0">
                <a:solidFill>
                  <a:srgbClr val="566773"/>
                </a:solidFill>
                <a:latin typeface="Helvetica Neue"/>
                <a:ea typeface="Helvetica Neue"/>
                <a:cs typeface="Helvetica Neue"/>
              </a:defRPr>
            </a:pPr>
            <a:r>
              <a:rPr sz="1275" b="0">
                <a:solidFill>
                  <a:srgbClr val="566773"/>
                </a:solidFill>
                <a:latin typeface="Helvetica Neue"/>
                <a:ea typeface="Helvetica Neue"/>
                <a:cs typeface="Helvetica Neue"/>
              </a:rPr>
              <a:t>13</a:t>
            </a:r>
          </a:p>
        </p:txBody>
      </p:sp>
      <p:graphicFrame>
        <p:nvGraphicFramePr>
          <p:cNvPr id="9" name=""/>
          <p:cNvGraphicFramePr/>
          <p:nvPr/>
        </p:nvGraphicFramePr>
        <p:xfrm>
          <a:off xmlns:a="http://schemas.openxmlformats.org/drawingml/2006/main" x="685800" y="1466850"/>
          <a:ext xmlns:a="http://schemas.openxmlformats.org/drawingml/2006/main" cx="10820400" cy="4124325"/>
        </p:xfrm>
        <a:graphic xmlns:a="http://schemas.openxmlformats.org/drawingml/2006/main">
          <a:graphicData uri="http://schemas.openxmlformats.org/drawingml/2006/table">
            <a:tbl>
              <a:tblPr firstRow="1" bandRow="0"/>
              <a:tblGrid>
                <a:gridCol w="3457575"/>
                <a:gridCol w="3609975"/>
                <a:gridCol w="3752850"/>
              </a:tblGrid>
              <a:tr h="589189">
                <a:tc>
                  <a:txBody>
                    <a:bodyPr/>
                    <a:lstStyle/>
                    <a:p>
                      <a:r>
                        <a:rPr sz="1725" b="1">
                          <a:solidFill>
                            <a:srgbClr val="183542"/>
                          </a:solidFill>
                          <a:latin typeface="Helvetica Neue"/>
                          <a:ea typeface="Helvetica Neue"/>
                          <a:cs typeface="Helvetica Neue"/>
                        </a:rPr>
                        <a:t>Control</a:t>
                      </a:r>
                    </a:p>
                  </a:txBody>
                  <a:tcPr marL="133350" marR="133350" marT="85725" marB="85725" anchor="ctr">
                    <a:solidFill>
                      <a:srgbClr val="E8F0F1"/>
                    </a:solidFill>
                  </a:tcPr>
                </a:tc>
                <a:tc>
                  <a:txBody>
                    <a:bodyPr/>
                    <a:lstStyle/>
                    <a:p>
                      <a:r>
                        <a:rPr sz="1725" b="1">
                          <a:solidFill>
                            <a:srgbClr val="183542"/>
                          </a:solidFill>
                          <a:latin typeface="Helvetica Neue"/>
                          <a:ea typeface="Helvetica Neue"/>
                          <a:cs typeface="Helvetica Neue"/>
                        </a:rPr>
                        <a:t>Intermediate request</a:t>
                      </a:r>
                    </a:p>
                  </a:txBody>
                  <a:tcPr marL="133350" marR="133350" marT="85725" marB="85725" anchor="ctr">
                    <a:solidFill>
                      <a:srgbClr val="E8F0F1"/>
                    </a:solidFill>
                  </a:tcPr>
                </a:tc>
                <a:tc>
                  <a:txBody>
                    <a:bodyPr/>
                    <a:lstStyle/>
                    <a:p>
                      <a:r>
                        <a:rPr sz="1725" b="1">
                          <a:solidFill>
                            <a:srgbClr val="183542"/>
                          </a:solidFill>
                          <a:latin typeface="Helvetica Neue"/>
                          <a:ea typeface="Helvetica Neue"/>
                          <a:cs typeface="Helvetica Neue"/>
                        </a:rPr>
                        <a:t>Final first-demo settings</a:t>
                      </a:r>
                    </a:p>
                  </a:txBody>
                  <a:tcPr marL="133350" marR="133350" marT="85725" marB="85725" anchor="ctr">
                    <a:solidFill>
                      <a:srgbClr val="E8F0F1"/>
                    </a:solidFill>
                  </a:tcPr>
                </a:tc>
              </a:tr>
              <a:tr h="589189">
                <a:tc>
                  <a:txBody>
                    <a:bodyPr/>
                    <a:lstStyle/>
                    <a:p>
                      <a:r>
                        <a:rPr sz="1725">
                          <a:solidFill>
                            <a:srgbClr val="183542"/>
                          </a:solidFill>
                          <a:latin typeface="Helvetica Neue"/>
                          <a:ea typeface="Helvetica Neue"/>
                          <a:cs typeface="Helvetica Neue"/>
                        </a:rPr>
                        <a:t>Input image-token cap</a:t>
                      </a:r>
                    </a:p>
                  </a:txBody>
                  <a:tcPr marL="133350" marR="133350" marT="85725" marB="85725" anchor="ctr">
                    <a:solidFill>
                      <a:srgbClr val="FFFFFF"/>
                    </a:solidFill>
                  </a:tcPr>
                </a:tc>
                <a:tc>
                  <a:txBody>
                    <a:bodyPr/>
                    <a:lstStyle/>
                    <a:p>
                      <a:r>
                        <a:rPr sz="1725">
                          <a:solidFill>
                            <a:srgbClr val="183542"/>
                          </a:solidFill>
                          <a:latin typeface="Helvetica Neue"/>
                          <a:ea typeface="Helvetica Neue"/>
                          <a:cs typeface="Helvetica Neue"/>
                        </a:rPr>
                        <a:t>320; 512 and Custom options</a:t>
                      </a:r>
                    </a:p>
                  </a:txBody>
                  <a:tcPr marL="133350" marR="133350" marT="85725" marB="85725" anchor="ctr">
                    <a:solidFill>
                      <a:srgbClr val="FFFFFF"/>
                    </a:solidFill>
                  </a:tcPr>
                </a:tc>
                <a:tc>
                  <a:txBody>
                    <a:bodyPr/>
                    <a:lstStyle/>
                    <a:p>
                      <a:r>
                        <a:rPr sz="1725">
                          <a:solidFill>
                            <a:srgbClr val="183542"/>
                          </a:solidFill>
                          <a:latin typeface="Helvetica Neue"/>
                          <a:ea typeface="Helvetica Neue"/>
                          <a:cs typeface="Helvetica Neue"/>
                        </a:rPr>
                        <a:t>512; 320 and Custom remain</a:t>
                      </a:r>
                    </a:p>
                  </a:txBody>
                  <a:tcPr marL="133350" marR="133350" marT="85725" marB="85725" anchor="ctr">
                    <a:solidFill>
                      <a:srgbClr val="FFFFFF"/>
                    </a:solidFill>
                  </a:tcPr>
                </a:tc>
              </a:tr>
              <a:tr h="589189">
                <a:tc>
                  <a:txBody>
                    <a:bodyPr/>
                    <a:lstStyle/>
                    <a:p>
                      <a:r>
                        <a:rPr sz="1725">
                          <a:solidFill>
                            <a:srgbClr val="183542"/>
                          </a:solidFill>
                          <a:latin typeface="Helvetica Neue"/>
                          <a:ea typeface="Helvetica Neue"/>
                          <a:cs typeface="Helvetica Neue"/>
                        </a:rPr>
                        <a:t>Maximum output tokens</a:t>
                      </a:r>
                    </a:p>
                  </a:txBody>
                  <a:tcPr marL="133350" marR="133350" marT="85725" marB="85725" anchor="ctr">
                    <a:solidFill>
                      <a:srgbClr val="FFFFFF"/>
                    </a:solidFill>
                  </a:tcPr>
                </a:tc>
                <a:tc>
                  <a:txBody>
                    <a:bodyPr/>
                    <a:lstStyle/>
                    <a:p>
                      <a:r>
                        <a:rPr sz="1725">
                          <a:solidFill>
                            <a:srgbClr val="183542"/>
                          </a:solidFill>
                          <a:latin typeface="Helvetica Neue"/>
                          <a:ea typeface="Helvetica Neue"/>
                          <a:cs typeface="Helvetica Neue"/>
                        </a:rPr>
                        <a:t>512, Live VLM reference</a:t>
                      </a:r>
                    </a:p>
                  </a:txBody>
                  <a:tcPr marL="133350" marR="133350" marT="85725" marB="85725" anchor="ctr">
                    <a:solidFill>
                      <a:srgbClr val="FFFFFF"/>
                    </a:solidFill>
                  </a:tcPr>
                </a:tc>
                <a:tc>
                  <a:txBody>
                    <a:bodyPr/>
                    <a:lstStyle/>
                    <a:p>
                      <a:r>
                        <a:rPr sz="1725">
                          <a:solidFill>
                            <a:srgbClr val="183542"/>
                          </a:solidFill>
                          <a:latin typeface="Helvetica Neue"/>
                          <a:ea typeface="Helvetica Neue"/>
                          <a:cs typeface="Helvetica Neue"/>
                        </a:rPr>
                        <a:t>64</a:t>
                      </a:r>
                    </a:p>
                  </a:txBody>
                  <a:tcPr marL="133350" marR="133350" marT="85725" marB="85725" anchor="ctr">
                    <a:solidFill>
                      <a:srgbClr val="FFFFFF"/>
                    </a:solidFill>
                  </a:tcPr>
                </a:tc>
              </a:tr>
              <a:tr h="589189">
                <a:tc>
                  <a:txBody>
                    <a:bodyPr/>
                    <a:lstStyle/>
                    <a:p>
                      <a:r>
                        <a:rPr sz="1725">
                          <a:solidFill>
                            <a:srgbClr val="183542"/>
                          </a:solidFill>
                          <a:latin typeface="Helvetica Neue"/>
                          <a:ea typeface="Helvetica Neue"/>
                          <a:cs typeface="Helvetica Neue"/>
                        </a:rPr>
                        <a:t>Temperature / top-p</a:t>
                      </a:r>
                    </a:p>
                  </a:txBody>
                  <a:tcPr marL="133350" marR="133350" marT="85725" marB="85725" anchor="ctr">
                    <a:solidFill>
                      <a:srgbClr val="FFFFFF"/>
                    </a:solidFill>
                  </a:tcPr>
                </a:tc>
                <a:tc>
                  <a:txBody>
                    <a:bodyPr/>
                    <a:lstStyle/>
                    <a:p>
                      <a:r>
                        <a:rPr sz="1725">
                          <a:solidFill>
                            <a:srgbClr val="183542"/>
                          </a:solidFill>
                          <a:latin typeface="Helvetica Neue"/>
                          <a:ea typeface="Helvetica Neue"/>
                          <a:cs typeface="Helvetica Neue"/>
                        </a:rPr>
                        <a:t>0.7 / 0.95</a:t>
                      </a:r>
                    </a:p>
                  </a:txBody>
                  <a:tcPr marL="133350" marR="133350" marT="85725" marB="85725" anchor="ctr">
                    <a:solidFill>
                      <a:srgbClr val="FFFFFF"/>
                    </a:solidFill>
                  </a:tcPr>
                </a:tc>
                <a:tc>
                  <a:txBody>
                    <a:bodyPr/>
                    <a:lstStyle/>
                    <a:p>
                      <a:r>
                        <a:rPr sz="1725">
                          <a:solidFill>
                            <a:srgbClr val="183542"/>
                          </a:solidFill>
                          <a:latin typeface="Helvetica Neue"/>
                          <a:ea typeface="Helvetica Neue"/>
                          <a:cs typeface="Helvetica Neue"/>
                        </a:rPr>
                        <a:t>0 / 1 (greedy)</a:t>
                      </a:r>
                    </a:p>
                  </a:txBody>
                  <a:tcPr marL="133350" marR="133350" marT="85725" marB="85725" anchor="ctr">
                    <a:solidFill>
                      <a:srgbClr val="FFFFFF"/>
                    </a:solidFill>
                  </a:tcPr>
                </a:tc>
              </a:tr>
              <a:tr h="589189">
                <a:tc>
                  <a:txBody>
                    <a:bodyPr/>
                    <a:lstStyle/>
                    <a:p>
                      <a:r>
                        <a:rPr sz="1725">
                          <a:solidFill>
                            <a:srgbClr val="183542"/>
                          </a:solidFill>
                          <a:latin typeface="Helvetica Neue"/>
                          <a:ea typeface="Helvetica Neue"/>
                          <a:cs typeface="Helvetica Neue"/>
                        </a:rPr>
                        <a:t>Encoder cache / clocks</a:t>
                      </a:r>
                    </a:p>
                  </a:txBody>
                  <a:tcPr marL="133350" marR="133350" marT="85725" marB="85725" anchor="ctr">
                    <a:solidFill>
                      <a:srgbClr val="FFFFFF"/>
                    </a:solidFill>
                  </a:tcPr>
                </a:tc>
                <a:tc>
                  <a:txBody>
                    <a:bodyPr/>
                    <a:lstStyle/>
                    <a:p>
                      <a:r>
                        <a:rPr sz="1725">
                          <a:solidFill>
                            <a:srgbClr val="183542"/>
                          </a:solidFill>
                          <a:latin typeface="Helvetica Neue"/>
                          <a:ea typeface="Helvetica Neue"/>
                          <a:cs typeface="Helvetica Neue"/>
                        </a:rPr>
                        <a:t>256 MiB / static enabled</a:t>
                      </a:r>
                    </a:p>
                  </a:txBody>
                  <a:tcPr marL="133350" marR="133350" marT="85725" marB="85725" anchor="ctr">
                    <a:solidFill>
                      <a:srgbClr val="FFFFFF"/>
                    </a:solidFill>
                  </a:tcPr>
                </a:tc>
                <a:tc>
                  <a:txBody>
                    <a:bodyPr/>
                    <a:lstStyle/>
                    <a:p>
                      <a:r>
                        <a:rPr sz="1725">
                          <a:solidFill>
                            <a:srgbClr val="183542"/>
                          </a:solidFill>
                          <a:latin typeface="Helvetica Neue"/>
                          <a:ea typeface="Helvetica Neue"/>
                          <a:cs typeface="Helvetica Neue"/>
                        </a:rPr>
                        <a:t>0 / dynamic, stock 25 W</a:t>
                      </a:r>
                    </a:p>
                  </a:txBody>
                  <a:tcPr marL="133350" marR="133350" marT="85725" marB="85725" anchor="ctr">
                    <a:solidFill>
                      <a:srgbClr val="FFFFFF"/>
                    </a:solidFill>
                  </a:tcPr>
                </a:tc>
              </a:tr>
              <a:tr h="589189">
                <a:tc>
                  <a:txBody>
                    <a:bodyPr/>
                    <a:lstStyle/>
                    <a:p>
                      <a:r>
                        <a:rPr sz="1725">
                          <a:solidFill>
                            <a:srgbClr val="183542"/>
                          </a:solidFill>
                          <a:latin typeface="Helvetica Neue"/>
                          <a:ea typeface="Helvetica Neue"/>
                          <a:cs typeface="Helvetica Neue"/>
                        </a:rPr>
                        <a:t>Capture / transmitted side</a:t>
                      </a:r>
                    </a:p>
                  </a:txBody>
                  <a:tcPr marL="133350" marR="133350" marT="85725" marB="85725" anchor="ctr">
                    <a:solidFill>
                      <a:srgbClr val="FFFFFF"/>
                    </a:solidFill>
                  </a:tcPr>
                </a:tc>
                <a:tc>
                  <a:txBody>
                    <a:bodyPr/>
                    <a:lstStyle/>
                    <a:p>
                      <a:r>
                        <a:rPr sz="1725">
                          <a:solidFill>
                            <a:srgbClr val="183542"/>
                          </a:solidFill>
                          <a:latin typeface="Helvetica Neue"/>
                          <a:ea typeface="Helvetica Neue"/>
                          <a:cs typeface="Helvetica Neue"/>
                        </a:rPr>
                        <a:t>Live VLM capture preset</a:t>
                      </a:r>
                    </a:p>
                  </a:txBody>
                  <a:tcPr marL="133350" marR="133350" marT="85725" marB="85725" anchor="ctr">
                    <a:solidFill>
                      <a:srgbClr val="FFFFFF"/>
                    </a:solidFill>
                  </a:tcPr>
                </a:tc>
                <a:tc>
                  <a:txBody>
                    <a:bodyPr/>
                    <a:lstStyle/>
                    <a:p>
                      <a:r>
                        <a:rPr sz="1725">
                          <a:solidFill>
                            <a:srgbClr val="183542"/>
                          </a:solidFill>
                          <a:latin typeface="Helvetica Neue"/>
                          <a:ea typeface="Helvetica Neue"/>
                          <a:cs typeface="Helvetica Neue"/>
                        </a:rPr>
                        <a:t>640×480 at 15 FPS / 512 px</a:t>
                      </a:r>
                    </a:p>
                  </a:txBody>
                  <a:tcPr marL="133350" marR="133350" marT="85725" marB="85725" anchor="ctr">
                    <a:solidFill>
                      <a:srgbClr val="FFFFFF"/>
                    </a:solidFill>
                  </a:tcPr>
                </a:tc>
              </a:tr>
              <a:tr h="589189">
                <a:tc>
                  <a:txBody>
                    <a:bodyPr/>
                    <a:lstStyle/>
                    <a:p>
                      <a:r>
                        <a:rPr sz="1725">
                          <a:solidFill>
                            <a:srgbClr val="183542"/>
                          </a:solidFill>
                          <a:latin typeface="Helvetica Neue"/>
                          <a:ea typeface="Helvetica Neue"/>
                          <a:cs typeface="Helvetica Neue"/>
                        </a:rPr>
                        <a:t>JPEG / minimum interval</a:t>
                      </a:r>
                    </a:p>
                  </a:txBody>
                  <a:tcPr marL="133350" marR="133350" marT="85725" marB="85725" anchor="ctr">
                    <a:solidFill>
                      <a:srgbClr val="FFFFFF"/>
                    </a:solidFill>
                  </a:tcPr>
                </a:tc>
                <a:tc>
                  <a:txBody>
                    <a:bodyPr/>
                    <a:lstStyle/>
                    <a:p>
                      <a:r>
                        <a:rPr sz="1725">
                          <a:solidFill>
                            <a:srgbClr val="183542"/>
                          </a:solidFill>
                          <a:latin typeface="Helvetica Neue"/>
                          <a:ea typeface="Helvetica Neue"/>
                          <a:cs typeface="Helvetica Neue"/>
                        </a:rPr>
                        <a:t>Capture-preset dependent</a:t>
                      </a:r>
                    </a:p>
                  </a:txBody>
                  <a:tcPr marL="133350" marR="133350" marT="85725" marB="85725" anchor="ctr">
                    <a:solidFill>
                      <a:srgbClr val="FFFFFF"/>
                    </a:solidFill>
                  </a:tcPr>
                </a:tc>
                <a:tc>
                  <a:txBody>
                    <a:bodyPr/>
                    <a:lstStyle/>
                    <a:p>
                      <a:r>
                        <a:rPr sz="1725">
                          <a:solidFill>
                            <a:srgbClr val="183542"/>
                          </a:solidFill>
                          <a:latin typeface="Helvetica Neue"/>
                          <a:ea typeface="Helvetica Neue"/>
                          <a:cs typeface="Helvetica Neue"/>
                        </a:rPr>
                        <a:t>0.8 / 1 second</a:t>
                      </a:r>
                    </a:p>
                  </a:txBody>
                  <a:tcPr marL="133350" marR="133350" marT="85725" marB="85725" anchor="ctr">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5A7F7802-C458-4C25-93D3-73120103FD23}"/>
              </a:ext>
            </a:extLst>
          </p:cNvPr>
          <p:cNvSpPr>
            <a:spLocks xmlns:a="http://schemas.openxmlformats.org/drawingml/2006/main" noGrp="1"/>
          </p:cNvSpPr>
          <p:nvPr/>
        </p:nvSpPr>
        <p:spPr>
          <a:xfrm xmlns:a="http://schemas.openxmlformats.org/drawingml/2006/main">
            <a:off x="685800" y="5876925"/>
            <a:ext cx="108204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800" b="1">
                <a:solidFill>
                  <a:srgbClr val="146875"/>
                </a:solidFill>
                <a:latin typeface="Helvetica Neue"/>
                <a:ea typeface="Helvetica Neue"/>
                <a:cs typeface="Helvetica Neue"/>
              </a:defRPr>
            </a:pPr>
            <a:r>
              <a:rPr sz="1800" b="1">
                <a:solidFill>
                  <a:srgbClr val="146875"/>
                </a:solidFill>
                <a:latin typeface="Helvetica Neue"/>
                <a:ea typeface="Helvetica Neue"/>
                <a:cs typeface="Helvetica Neue"/>
              </a:rPr>
              <a:t>Input tokens control visual detail. Output tokens cap answer length. They are independent.</a:t>
            </a:r>
          </a:p>
        </p:txBody>
      </p:sp>
    </p:spTree>
    <p:extLst>
      <p:ext uri="{BB962C8B-B14F-4D97-AF65-F5344CB8AC3E}">
        <p14:creationId xmlns:p14="http://schemas.microsoft.com/office/powerpoint/2010/main" val="1356008677"/>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9ABAE020-7335-45E7-9170-C3006E9FD127}"/>
              </a:ext>
            </a:extLst>
          </p:cNvPr>
          <p:cNvSpPr>
            <a:spLocks xmlns:a="http://schemas.openxmlformats.org/drawingml/2006/main" noGrp="1"/>
          </p:cNvSpPr>
          <p:nvPr/>
        </p:nvSpPr>
        <p:spPr>
          <a:xfrm xmlns:a="http://schemas.openxmlformats.org/drawingml/2006/main">
            <a:off x="685800" y="428625"/>
            <a:ext cx="108204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300" b="1">
                <a:solidFill>
                  <a:srgbClr val="183542"/>
                </a:solidFill>
                <a:latin typeface="Helvetica Neue"/>
                <a:ea typeface="Helvetica Neue"/>
                <a:cs typeface="Helvetica Neue"/>
              </a:defRPr>
            </a:pPr>
            <a:r>
              <a:rPr sz="3300" b="1">
                <a:solidFill>
                  <a:srgbClr val="183542"/>
                </a:solidFill>
                <a:latin typeface="Helvetica Neue"/>
                <a:ea typeface="Helvetica Neue"/>
                <a:cs typeface="Helvetica Neue"/>
              </a:rPr>
              <a:t>Attribution and reproducible evidence</a:t>
            </a:r>
          </a:p>
        </p:txBody>
      </p:sp>
      <p:sp>
        <p:nvSpPr>
          <p:cNvPr id="2" name="">
            <a:extLst xmlns:a="http://schemas.openxmlformats.org/drawingml/2006/main">
              <a:ext uri="{FF2B5EF4-FFF2-40B4-BE49-F238E27FC236}">
                <a16:creationId xmlns:a16="http://schemas.microsoft.com/office/drawing/2014/main" id="{19FAE63E-B77C-4A2E-BEFD-842B7D7B064C}"/>
              </a:ext>
            </a:extLst>
          </p:cNvPr>
          <p:cNvSpPr>
            <a:spLocks xmlns:a="http://schemas.openxmlformats.org/drawingml/2006/main" noGrp="1"/>
          </p:cNvSpPr>
          <p:nvPr/>
        </p:nvSpPr>
        <p:spPr>
          <a:xfrm xmlns:a="http://schemas.openxmlformats.org/drawingml/2006/main">
            <a:off x="685800" y="6429375"/>
            <a:ext cx="1000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275" b="0">
                <a:solidFill>
                  <a:srgbClr val="566773"/>
                </a:solidFill>
                <a:latin typeface="Helvetica Neue"/>
                <a:ea typeface="Helvetica Neue"/>
                <a:cs typeface="Helvetica Neue"/>
              </a:defRPr>
            </a:pPr>
            <a:r>
              <a:rPr sz="1275" b="0">
                <a:solidFill>
                  <a:srgbClr val="566773"/>
                </a:solidFill>
                <a:latin typeface="Helvetica Neue"/>
                <a:ea typeface="Helvetica Neue"/>
                <a:cs typeface="Helvetica Neue"/>
              </a:rPr>
              <a:t>Technical appendix · Cosmos3-Edge on Orin Nano</a:t>
            </a:r>
          </a:p>
        </p:txBody>
      </p:sp>
      <p:sp>
        <p:nvSpPr>
          <p:cNvPr id="3" name="">
            <a:extLst xmlns:a="http://schemas.openxmlformats.org/drawingml/2006/main">
              <a:ext uri="{FF2B5EF4-FFF2-40B4-BE49-F238E27FC236}">
                <a16:creationId xmlns:a16="http://schemas.microsoft.com/office/drawing/2014/main" id="{252A11E6-873D-467B-88C7-12089AF64ADA}"/>
              </a:ext>
            </a:extLst>
          </p:cNvPr>
          <p:cNvSpPr>
            <a:spLocks xmlns:a="http://schemas.openxmlformats.org/drawingml/2006/main" noGrp="1"/>
          </p:cNvSpPr>
          <p:nvPr/>
        </p:nvSpPr>
        <p:spPr>
          <a:xfrm xmlns:a="http://schemas.openxmlformats.org/drawingml/2006/main">
            <a:off x="11049000" y="6429375"/>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275" b="0">
                <a:solidFill>
                  <a:srgbClr val="566773"/>
                </a:solidFill>
                <a:latin typeface="Helvetica Neue"/>
                <a:ea typeface="Helvetica Neue"/>
                <a:cs typeface="Helvetica Neue"/>
              </a:defRPr>
            </a:pPr>
            <a:r>
              <a:rPr sz="1275" b="0">
                <a:solidFill>
                  <a:srgbClr val="566773"/>
                </a:solidFill>
                <a:latin typeface="Helvetica Neue"/>
                <a:ea typeface="Helvetica Neue"/>
                <a:cs typeface="Helvetica Neue"/>
              </a:rPr>
              <a:t>14</a:t>
            </a:r>
          </a:p>
        </p:txBody>
      </p:sp>
      <p:sp>
        <p:nvSpPr>
          <p:cNvPr id="4" name="">
            <a:extLst xmlns:a="http://schemas.openxmlformats.org/drawingml/2006/main">
              <a:ext uri="{FF2B5EF4-FFF2-40B4-BE49-F238E27FC236}">
                <a16:creationId xmlns:a16="http://schemas.microsoft.com/office/drawing/2014/main" id="{745CD539-5C46-46B4-95DB-0280978D431C}"/>
              </a:ext>
            </a:extLst>
          </p:cNvPr>
          <p:cNvSpPr>
            <a:spLocks xmlns:a="http://schemas.openxmlformats.org/drawingml/2006/main" noGrp="1"/>
          </p:cNvSpPr>
          <p:nvPr/>
        </p:nvSpPr>
        <p:spPr>
          <a:xfrm xmlns:a="http://schemas.openxmlformats.org/drawingml/2006/main">
            <a:off x="685800" y="1438275"/>
            <a:ext cx="4000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250" b="1">
                <a:solidFill>
                  <a:srgbClr val="146875"/>
                </a:solidFill>
                <a:latin typeface="Helvetica Neue"/>
                <a:ea typeface="Helvetica Neue"/>
                <a:cs typeface="Helvetica Neue"/>
              </a:defRPr>
            </a:pPr>
            <a:r>
              <a:rPr sz="2250" b="1">
                <a:solidFill>
                  <a:srgbClr val="146875"/>
                </a:solidFill>
                <a:latin typeface="Helvetica Neue"/>
                <a:ea typeface="Helvetica Neue"/>
                <a:cs typeface="Helvetica Neue"/>
              </a:rPr>
              <a:t>NVIDIA</a:t>
            </a:r>
          </a:p>
        </p:txBody>
      </p:sp>
      <p:sp>
        <p:nvSpPr>
          <p:cNvPr id="5" name="">
            <a:extLst xmlns:a="http://schemas.openxmlformats.org/drawingml/2006/main">
              <a:ext uri="{FF2B5EF4-FFF2-40B4-BE49-F238E27FC236}">
                <a16:creationId xmlns:a16="http://schemas.microsoft.com/office/drawing/2014/main" id="{55682501-AA9A-4D45-9D8E-5A7ADCB7846E}"/>
              </a:ext>
            </a:extLst>
          </p:cNvPr>
          <p:cNvSpPr>
            <a:spLocks xmlns:a="http://schemas.openxmlformats.org/drawingml/2006/main" noGrp="1"/>
          </p:cNvSpPr>
          <p:nvPr/>
        </p:nvSpPr>
        <p:spPr>
          <a:xfrm xmlns:a="http://schemas.openxmlformats.org/drawingml/2006/main">
            <a:off x="685800" y="1971675"/>
            <a:ext cx="103822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025" b="0">
                <a:solidFill>
                  <a:srgbClr val="183542"/>
                </a:solidFill>
                <a:latin typeface="Helvetica Neue"/>
                <a:ea typeface="Helvetica Neue"/>
                <a:cs typeface="Helvetica Neue"/>
              </a:defRPr>
            </a:pPr>
            <a:r>
              <a:rPr sz="2025" b="0">
                <a:solidFill>
                  <a:srgbClr val="183542"/>
                </a:solidFill>
                <a:latin typeface="Helvetica Neue"/>
                <a:ea typeface="Helvetica Neue"/>
                <a:cs typeface="Helvetica Neue"/>
              </a:rPr>
              <a:t>Model, JetPack and TensorRT-Edge-LLM. Existing encoder, runtime and kernels.</a:t>
            </a:r>
          </a:p>
        </p:txBody>
      </p:sp>
      <p:sp>
        <p:nvSpPr>
          <p:cNvPr id="6" name="">
            <a:extLst xmlns:a="http://schemas.openxmlformats.org/drawingml/2006/main">
              <a:ext uri="{FF2B5EF4-FFF2-40B4-BE49-F238E27FC236}">
                <a16:creationId xmlns:a16="http://schemas.microsoft.com/office/drawing/2014/main" id="{D8FDC26C-05CF-48F6-9470-BF637BF4444F}"/>
              </a:ext>
            </a:extLst>
          </p:cNvPr>
          <p:cNvSpPr>
            <a:spLocks xmlns:a="http://schemas.openxmlformats.org/drawingml/2006/main" noGrp="1"/>
          </p:cNvSpPr>
          <p:nvPr/>
        </p:nvSpPr>
        <p:spPr>
          <a:xfrm xmlns:a="http://schemas.openxmlformats.org/drawingml/2006/main">
            <a:off x="685800" y="2819400"/>
            <a:ext cx="10287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250" b="1">
                <a:solidFill>
                  <a:srgbClr val="146875"/>
                </a:solidFill>
                <a:latin typeface="Helvetica Neue"/>
                <a:ea typeface="Helvetica Neue"/>
                <a:cs typeface="Helvetica Neue"/>
              </a:defRPr>
            </a:pPr>
            <a:r>
              <a:rPr sz="2250" b="1">
                <a:solidFill>
                  <a:srgbClr val="146875"/>
                </a:solidFill>
                <a:latin typeface="Helvetica Neue"/>
                <a:ea typeface="Helvetica Neue"/>
                <a:cs typeface="Helvetica Neue"/>
              </a:rPr>
              <a:t>Live VLM WebUI and public contributors</a:t>
            </a:r>
          </a:p>
        </p:txBody>
      </p:sp>
      <p:sp>
        <p:nvSpPr>
          <p:cNvPr id="7" name="">
            <a:extLst xmlns:a="http://schemas.openxmlformats.org/drawingml/2006/main">
              <a:ext uri="{FF2B5EF4-FFF2-40B4-BE49-F238E27FC236}">
                <a16:creationId xmlns:a16="http://schemas.microsoft.com/office/drawing/2014/main" id="{16290076-88B7-4173-AB67-EFD63A2ABFA2}"/>
              </a:ext>
            </a:extLst>
          </p:cNvPr>
          <p:cNvSpPr>
            <a:spLocks xmlns:a="http://schemas.openxmlformats.org/drawingml/2006/main" noGrp="1"/>
          </p:cNvSpPr>
          <p:nvPr/>
        </p:nvSpPr>
        <p:spPr>
          <a:xfrm xmlns:a="http://schemas.openxmlformats.org/drawingml/2006/main">
            <a:off x="685800" y="3352800"/>
            <a:ext cx="103822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025" b="0">
                <a:solidFill>
                  <a:srgbClr val="183542"/>
                </a:solidFill>
                <a:latin typeface="Helvetica Neue"/>
                <a:ea typeface="Helvetica Neue"/>
                <a:cs typeface="Helvetica Neue"/>
              </a:defRPr>
            </a:pPr>
            <a:r>
              <a:rPr sz="2025" b="0">
                <a:solidFill>
                  <a:srgbClr val="183542"/>
                </a:solidFill>
                <a:latin typeface="Helvetica Neue"/>
                <a:ea typeface="Helvetica Neue"/>
                <a:cs typeface="Helvetica Neue"/>
              </a:rPr>
              <a:t>Workflow and prompts. Apache-2.0; public contributors include tokk-nv and chitoku.</a:t>
            </a:r>
          </a:p>
        </p:txBody>
      </p:sp>
      <p:sp>
        <p:nvSpPr>
          <p:cNvPr id="8" name="">
            <a:extLst xmlns:a="http://schemas.openxmlformats.org/drawingml/2006/main">
              <a:ext uri="{FF2B5EF4-FFF2-40B4-BE49-F238E27FC236}">
                <a16:creationId xmlns:a16="http://schemas.microsoft.com/office/drawing/2014/main" id="{6B655CC0-DF0A-4F97-BB6B-552F7469B00F}"/>
              </a:ext>
            </a:extLst>
          </p:cNvPr>
          <p:cNvSpPr>
            <a:spLocks xmlns:a="http://schemas.openxmlformats.org/drawingml/2006/main" noGrp="1"/>
          </p:cNvSpPr>
          <p:nvPr/>
        </p:nvSpPr>
        <p:spPr>
          <a:xfrm xmlns:a="http://schemas.openxmlformats.org/drawingml/2006/main">
            <a:off x="685800" y="4200525"/>
            <a:ext cx="10287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250" b="1">
                <a:solidFill>
                  <a:srgbClr val="146875"/>
                </a:solidFill>
                <a:latin typeface="Helvetica Neue"/>
                <a:ea typeface="Helvetica Neue"/>
                <a:cs typeface="Helvetica Neue"/>
              </a:defRPr>
            </a:pPr>
            <a:r>
              <a:rPr sz="2250" b="1">
                <a:solidFill>
                  <a:srgbClr val="146875"/>
                </a:solidFill>
                <a:latin typeface="Helvetica Neue"/>
                <a:ea typeface="Helvetica Neue"/>
                <a:cs typeface="Helvetica Neue"/>
              </a:rPr>
              <a:t>Campaign-specific work</a:t>
            </a:r>
          </a:p>
        </p:txBody>
      </p:sp>
      <p:sp>
        <p:nvSpPr>
          <p:cNvPr id="9" name="">
            <a:extLst xmlns:a="http://schemas.openxmlformats.org/drawingml/2006/main">
              <a:ext uri="{FF2B5EF4-FFF2-40B4-BE49-F238E27FC236}">
                <a16:creationId xmlns:a16="http://schemas.microsoft.com/office/drawing/2014/main" id="{F8116A6C-BD08-4378-BA2C-F394B1227A7F}"/>
              </a:ext>
            </a:extLst>
          </p:cNvPr>
          <p:cNvSpPr>
            <a:spLocks xmlns:a="http://schemas.openxmlformats.org/drawingml/2006/main" noGrp="1"/>
          </p:cNvSpPr>
          <p:nvPr/>
        </p:nvSpPr>
        <p:spPr>
          <a:xfrm xmlns:a="http://schemas.openxmlformats.org/drawingml/2006/main">
            <a:off x="685800" y="4733925"/>
            <a:ext cx="103822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025" b="0">
                <a:solidFill>
                  <a:srgbClr val="183542"/>
                </a:solidFill>
                <a:latin typeface="Helvetica Neue"/>
                <a:ea typeface="Helvetica Neue"/>
                <a:cs typeface="Helvetica Neue"/>
              </a:defRPr>
            </a:pPr>
            <a:r>
              <a:rPr sz="2025" b="0">
                <a:solidFill>
                  <a:srgbClr val="183542"/>
                </a:solidFill>
                <a:latin typeface="Helvetica Neue"/>
                <a:ea typeface="Helvetica Neue"/>
                <a:cs typeface="Helvetica Neue"/>
              </a:rPr>
              <a:t>Resident serving and broader INT4 in the first campaign. Independent bring-up, streaming UI, runtime controls and measurement in this task.</a:t>
            </a:r>
          </a:p>
        </p:txBody>
      </p:sp>
      <p:sp>
        <p:nvSpPr>
          <p:cNvPr id="10" name="">
            <a:extLst xmlns:a="http://schemas.openxmlformats.org/drawingml/2006/main">
              <a:ext uri="{FF2B5EF4-FFF2-40B4-BE49-F238E27FC236}">
                <a16:creationId xmlns:a16="http://schemas.microsoft.com/office/drawing/2014/main" id="{1F7F59B2-F6DF-4864-ADDC-5C5E3D47AA1A}"/>
              </a:ext>
            </a:extLst>
          </p:cNvPr>
          <p:cNvSpPr>
            <a:spLocks xmlns:a="http://schemas.openxmlformats.org/drawingml/2006/main" noGrp="1"/>
          </p:cNvSpPr>
          <p:nvPr/>
        </p:nvSpPr>
        <p:spPr>
          <a:xfrm xmlns:a="http://schemas.openxmlformats.org/drawingml/2006/main">
            <a:off x="685800" y="5857875"/>
            <a:ext cx="108204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500" b="0">
                <a:solidFill>
                  <a:srgbClr val="566773"/>
                </a:solidFill>
                <a:latin typeface="Helvetica Neue"/>
                <a:ea typeface="Helvetica Neue"/>
                <a:cs typeface="Helvetica Neue"/>
              </a:defRPr>
            </a:pPr>
            <a:r>
              <a:rPr sz="1500" b="0">
                <a:solidFill>
                  <a:srgbClr val="566773"/>
                </a:solidFill>
                <a:latin typeface="Helvetica Neue"/>
                <a:ea typeface="Helvetica Neue"/>
                <a:cs typeface="Helvetica Neue"/>
              </a:rPr>
              <a:t>Pinned source: first 1375886 · current 935ea488 (cosmos3-edge-orin/)</a:t>
            </a:r>
          </a:p>
          <a:p xmlns:a="http://schemas.openxmlformats.org/drawingml/2006/main">
            <a:pPr>
              <a:defRPr sz="1500" b="0">
                <a:solidFill>
                  <a:srgbClr val="566773"/>
                </a:solidFill>
                <a:latin typeface="Helvetica Neue"/>
                <a:ea typeface="Helvetica Neue"/>
                <a:cs typeface="Helvetica Neue"/>
              </a:defRPr>
            </a:pPr>
            <a:r>
              <a:rPr sz="1500" b="0">
                <a:solidFill>
                  <a:srgbClr val="566773"/>
                </a:solidFill>
                <a:latin typeface="Helvetica Neue"/>
                <a:ea typeface="Helvetica Neue"/>
                <a:cs typeface="Helvetica Neue"/>
              </a:rPr>
              <a:t>Reports, request logs, image hashes and full source links are in the speaker notes and repository.</a:t>
            </a:r>
          </a:p>
        </p:txBody>
      </p:sp>
    </p:spTree>
    <p:extLst>
      <p:ext uri="{BB962C8B-B14F-4D97-AF65-F5344CB8AC3E}">
        <p14:creationId xmlns:p14="http://schemas.microsoft.com/office/powerpoint/2010/main" val="55729506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2026-09-21T18:45:11.9390000Z</dcterms:created>
  <dcterms:modified xsi:type="dcterms:W3CDTF">2026-09-21T18:45:11.9390000Z</dcterms:modified>
</coreProperties>
</file>