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edc17aae0e4b5b" /><Relationship Type="http://schemas.openxmlformats.org/officeDocument/2006/relationships/extended-properties" Target="/docProps/app.xml" Id="R0ae9f38286344834" /><Relationship Type="http://schemas.openxmlformats.org/officeDocument/2006/relationships/officeDocument" Target="/ppt/presentation.xml" Id="R0caf5d52d5f34b8c" /></Relationships>
</file>

<file path=ppt/presentation.xml><?xml version="1.0" encoding="utf-8"?>
<p:presentation xmlns:p="http://schemas.openxmlformats.org/presentationml/2006/main">
  <p:sldMasterIdLst>
    <p:sldMasterId xmlns:r="http://schemas.openxmlformats.org/officeDocument/2006/relationships" id="2147483648" r:id="R9d752277f6ab4d78"/>
  </p:sldMasterIdLst>
  <p:notesMasterIdLst>
    <p:notesMasterId xmlns:r="http://schemas.openxmlformats.org/officeDocument/2006/relationships" r:id="Rf9d67b017c244397"/>
  </p:notesMasterIdLst>
  <p:sldIdLst>
    <p:sldId xmlns:r="http://schemas.openxmlformats.org/officeDocument/2006/relationships" id="256" r:id="R0aa761ede7a84f1b"/>
    <p:sldId xmlns:r="http://schemas.openxmlformats.org/officeDocument/2006/relationships" id="257" r:id="R1b1a020e953444dd"/>
    <p:sldId xmlns:r="http://schemas.openxmlformats.org/officeDocument/2006/relationships" id="258" r:id="R9afafbe8bebb4f9d"/>
    <p:sldId xmlns:r="http://schemas.openxmlformats.org/officeDocument/2006/relationships" id="259" r:id="Re21594b27ef54a6d"/>
    <p:sldId xmlns:r="http://schemas.openxmlformats.org/officeDocument/2006/relationships" id="260" r:id="R0c48f82566304f85"/>
    <p:sldId xmlns:r="http://schemas.openxmlformats.org/officeDocument/2006/relationships" id="261" r:id="Rbb81a9d9d2f14380"/>
    <p:sldId xmlns:r="http://schemas.openxmlformats.org/officeDocument/2006/relationships" id="262" r:id="Re5e8c2ae68864e6a"/>
    <p:sldId xmlns:r="http://schemas.openxmlformats.org/officeDocument/2006/relationships" id="263" r:id="Rd6b9caee60e64df5"/>
    <p:sldId xmlns:r="http://schemas.openxmlformats.org/officeDocument/2006/relationships" id="264" r:id="R294dd8247fe3471a"/>
    <p:sldId xmlns:r="http://schemas.openxmlformats.org/officeDocument/2006/relationships" id="265" r:id="R18fb923706924702"/>
    <p:sldId xmlns:r="http://schemas.openxmlformats.org/officeDocument/2006/relationships" id="266" r:id="R641215a6d4334f9f"/>
    <p:sldId xmlns:r="http://schemas.openxmlformats.org/officeDocument/2006/relationships" id="267" r:id="R3d262124c60c40b9"/>
    <p:sldId xmlns:r="http://schemas.openxmlformats.org/officeDocument/2006/relationships" id="268" r:id="R7c81320838004c95"/>
    <p:sldId xmlns:r="http://schemas.openxmlformats.org/officeDocument/2006/relationships" id="269" r:id="R7f7dc65ee5d34ee4"/>
    <p:sldId xmlns:r="http://schemas.openxmlformats.org/officeDocument/2006/relationships" id="270" r:id="R6fdff4bbd1734a3b"/>
    <p:sldId xmlns:r="http://schemas.openxmlformats.org/officeDocument/2006/relationships" id="271" r:id="Rae3db9d1362744a1"/>
    <p:sldId xmlns:r="http://schemas.openxmlformats.org/officeDocument/2006/relationships" id="272" r:id="R388771ae047d46f1"/>
    <p:sldId xmlns:r="http://schemas.openxmlformats.org/officeDocument/2006/relationships" id="273" r:id="Rf023616063b748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8c0a36fa8f43cf" /><Relationship Type="http://schemas.openxmlformats.org/officeDocument/2006/relationships/slideMaster" Target="/ppt/slideMasters/slideMaster1.xml" Id="R9d752277f6ab4d78" /><Relationship Type="http://schemas.openxmlformats.org/officeDocument/2006/relationships/notesMaster" Target="/ppt/notesMasters/notesMaster1.xml" Id="Rf9d67b017c244397" /><Relationship Type="http://schemas.openxmlformats.org/officeDocument/2006/relationships/presProps" Target="/ppt/presProps.xml" Id="R1c256694be5a4195" /><Relationship Type="http://schemas.openxmlformats.org/officeDocument/2006/relationships/tableStyles" Target="/ppt/tableStyles.xml" Id="Rf0719ebabc5f447d" /><Relationship Type="http://schemas.openxmlformats.org/officeDocument/2006/relationships/slide" Target="/ppt/slides/slide1.xml" Id="R0aa761ede7a84f1b" /><Relationship Type="http://schemas.openxmlformats.org/officeDocument/2006/relationships/slide" Target="/ppt/slides/slide2.xml" Id="R1b1a020e953444dd" /><Relationship Type="http://schemas.openxmlformats.org/officeDocument/2006/relationships/slide" Target="/ppt/slides/slide3.xml" Id="R9afafbe8bebb4f9d" /><Relationship Type="http://schemas.openxmlformats.org/officeDocument/2006/relationships/slide" Target="/ppt/slides/slide4.xml" Id="Re21594b27ef54a6d" /><Relationship Type="http://schemas.openxmlformats.org/officeDocument/2006/relationships/slide" Target="/ppt/slides/slide5.xml" Id="R0c48f82566304f85" /><Relationship Type="http://schemas.openxmlformats.org/officeDocument/2006/relationships/slide" Target="/ppt/slides/slide6.xml" Id="Rbb81a9d9d2f14380" /><Relationship Type="http://schemas.openxmlformats.org/officeDocument/2006/relationships/slide" Target="/ppt/slides/slide7.xml" Id="Re5e8c2ae68864e6a" /><Relationship Type="http://schemas.openxmlformats.org/officeDocument/2006/relationships/slide" Target="/ppt/slides/slide8.xml" Id="Rd6b9caee60e64df5" /><Relationship Type="http://schemas.openxmlformats.org/officeDocument/2006/relationships/slide" Target="/ppt/slides/slide9.xml" Id="R294dd8247fe3471a" /><Relationship Type="http://schemas.openxmlformats.org/officeDocument/2006/relationships/slide" Target="/ppt/slides/slide10.xml" Id="R18fb923706924702" /><Relationship Type="http://schemas.openxmlformats.org/officeDocument/2006/relationships/slide" Target="/ppt/slides/slide11.xml" Id="R641215a6d4334f9f" /><Relationship Type="http://schemas.openxmlformats.org/officeDocument/2006/relationships/slide" Target="/ppt/slides/slide12.xml" Id="R3d262124c60c40b9" /><Relationship Type="http://schemas.openxmlformats.org/officeDocument/2006/relationships/slide" Target="/ppt/slides/slide13.xml" Id="R7c81320838004c95" /><Relationship Type="http://schemas.openxmlformats.org/officeDocument/2006/relationships/slide" Target="/ppt/slides/slide14.xml" Id="R7f7dc65ee5d34ee4" /><Relationship Type="http://schemas.openxmlformats.org/officeDocument/2006/relationships/slide" Target="/ppt/slides/slide15.xml" Id="R6fdff4bbd1734a3b" /><Relationship Type="http://schemas.openxmlformats.org/officeDocument/2006/relationships/slide" Target="/ppt/slides/slide16.xml" Id="Rae3db9d1362744a1" /><Relationship Type="http://schemas.openxmlformats.org/officeDocument/2006/relationships/slide" Target="/ppt/slides/slide17.xml" Id="R388771ae047d46f1" /><Relationship Type="http://schemas.openxmlformats.org/officeDocument/2006/relationships/slide" Target="/ppt/slides/slide18.xml" Id="Rf023616063b748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45cb72722945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a2ea0a443442a5" /><Relationship Type="http://schemas.openxmlformats.org/officeDocument/2006/relationships/notesMaster" Target="/ppt/notesMasters/notesMaster1.xml" Id="R641a24c255884c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84e761dfe04f54" /><Relationship Type="http://schemas.openxmlformats.org/officeDocument/2006/relationships/notesMaster" Target="/ppt/notesMasters/notesMaster1.xml" Id="R0470e07f8e8e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01936b79374df2" /><Relationship Type="http://schemas.openxmlformats.org/officeDocument/2006/relationships/notesMaster" Target="/ppt/notesMasters/notesMaster1.xml" Id="Ra8e3ea5866334c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883ef10d5d4a70" /><Relationship Type="http://schemas.openxmlformats.org/officeDocument/2006/relationships/notesMaster" Target="/ppt/notesMasters/notesMaster1.xml" Id="Rbe0ecbae36734e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f50095007c4af1" /><Relationship Type="http://schemas.openxmlformats.org/officeDocument/2006/relationships/notesMaster" Target="/ppt/notesMasters/notesMaster1.xml" Id="R1aabc5e7f2144e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06ffd7d4f24851" /><Relationship Type="http://schemas.openxmlformats.org/officeDocument/2006/relationships/notesMaster" Target="/ppt/notesMasters/notesMaster1.xml" Id="Re1cc141c94484e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c452c0c17243ed" /><Relationship Type="http://schemas.openxmlformats.org/officeDocument/2006/relationships/notesMaster" Target="/ppt/notesMasters/notesMaster1.xml" Id="R61b8246984ae43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592450704d4591" /><Relationship Type="http://schemas.openxmlformats.org/officeDocument/2006/relationships/notesMaster" Target="/ppt/notesMasters/notesMaster1.xml" Id="Rccd56d3cecbc44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e6e413cd70454b" /><Relationship Type="http://schemas.openxmlformats.org/officeDocument/2006/relationships/notesMaster" Target="/ppt/notesMasters/notesMaster1.xml" Id="R920310ec1fdf41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11584093824c34" /><Relationship Type="http://schemas.openxmlformats.org/officeDocument/2006/relationships/notesMaster" Target="/ppt/notesMasters/notesMaster1.xml" Id="Rbebf683d62a940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355dc5a5ce451f" /><Relationship Type="http://schemas.openxmlformats.org/officeDocument/2006/relationships/notesMaster" Target="/ppt/notesMasters/notesMaster1.xml" Id="R12b16b8f9ca348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88341142e14f08" /><Relationship Type="http://schemas.openxmlformats.org/officeDocument/2006/relationships/notesMaster" Target="/ppt/notesMasters/notesMaster1.xml" Id="Rbdd762b3040345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099791396c4acb" /><Relationship Type="http://schemas.openxmlformats.org/officeDocument/2006/relationships/notesMaster" Target="/ppt/notesMasters/notesMaster1.xml" Id="Rc38af80ca0ed49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175c0422f34c85" /><Relationship Type="http://schemas.openxmlformats.org/officeDocument/2006/relationships/notesMaster" Target="/ppt/notesMasters/notesMaster1.xml" Id="R32520d83c6d646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8e84a9e56f465f" /><Relationship Type="http://schemas.openxmlformats.org/officeDocument/2006/relationships/notesMaster" Target="/ppt/notesMasters/notesMaster1.xml" Id="R29a997c3d7c44d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c3bed188ac477e" /><Relationship Type="http://schemas.openxmlformats.org/officeDocument/2006/relationships/notesMaster" Target="/ppt/notesMasters/notesMaster1.xml" Id="R8171229811524ef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84120f75284ed1" /><Relationship Type="http://schemas.openxmlformats.org/officeDocument/2006/relationships/notesMaster" Target="/ppt/notesMasters/notesMaster1.xml" Id="R2885770d0e754d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44e29d5a5547cc" /><Relationship Type="http://schemas.openxmlformats.org/officeDocument/2006/relationships/notesMaster" Target="/ppt/notesMasters/notesMaster1.xml" Id="R8e422dd6210049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presentation design. A final label requires explicit selected-candidate and completed-soak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results/raw/soak-final-service-01.summary.json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Installed platform facts come from the actual device receipts. Advertised RAM and Linux MemTotal are distinct.</a:t>
            </a:r>
          </a:p>
          <a:p xmlns:a="http://schemas.openxmlformats.org/drawingml/2006/main">
            <a:r>
              <a:t>Measured values supplied by output/final-findings-data.json.</a:t>
            </a:r>
          </a:p>
          <a:p xmlns:a="http://schemas.openxmlformats.org/drawingml/2006/main">
            <a:r>
              <a:t>Sources:</a:t>
            </a:r>
          </a:p>
          <a:p xmlns:a="http://schemas.openxmlformats.org/drawingml/2006/main">
            <a:r>
              <a:t>results/normal-boot.json</a:t>
            </a:r>
          </a:p>
          <a:p xmlns:a="http://schemas.openxmlformats.org/drawingml/2006/main">
            <a:r>
              <a:t>results/jetpack-flash-status.json</a:t>
            </a:r>
          </a:p>
          <a:p xmlns:a="http://schemas.openxmlformats.org/drawingml/2006/main">
            <a:r>
              <a:t>results/installed-compute-packages.json</a:t>
            </a:r>
          </a:p>
          <a:p xmlns:a="http://schemas.openxmlformats.org/drawingml/2006/main">
            <a:r>
              <a:t>https://developer.nvidia.com/embedded/jetpack/downloads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UI and actual inference screenshot. Crop removes lower settings only. Screenshot timing is one request, not the benchmark distribution. The screenshot does not establish general image accuracy.</a:t>
            </a:r>
          </a:p>
          <a:p xmlns:a="http://schemas.openxmlformats.org/drawingml/2006/main">
            <a:r>
              <a:t>Measured values supplied by output/final-findings-data.json.</a:t>
            </a:r>
          </a:p>
          <a:p xmlns:a="http://schemas.openxmlformats.org/drawingml/2006/main">
            <a:r>
              <a:t>Sources:</a:t>
            </a:r>
          </a:p>
          <a:p xmlns:a="http://schemas.openxmlformats.org/drawingml/2006/main">
            <a:r>
              <a:t>results/browser-live-ui-final.json</a:t>
            </a:r>
          </a:p>
          <a:p xmlns:a="http://schemas.openxmlformats.org/drawingml/2006/main">
            <a:r>
              <a:t>results/browser-live-ui-final.json</a:t>
            </a:r>
          </a:p>
          <a:p xmlns:a="http://schemas.openxmlformats.org/drawingml/2006/main">
            <a:r>
              <a:t>results/browser-camera-ui-final.json</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browser/proxy components wrap the public TensorRT Edge-LLM reasoner. One active request prevents accumulating frames. The application displays only real upstream token deltas.</a:t>
            </a:r>
          </a:p>
          <a:p xmlns:a="http://schemas.openxmlformats.org/drawingml/2006/main">
            <a:r>
              <a:t>Measured values supplied by output/final-findings-data.json.</a:t>
            </a:r>
          </a:p>
          <a:p xmlns:a="http://schemas.openxmlformats.org/drawingml/2006/main">
            <a:r>
              <a:t>Sources:</a:t>
            </a:r>
          </a:p>
          <a:p xmlns:a="http://schemas.openxmlformats.org/drawingml/2006/main">
            <a:r>
              <a:t>scripts/serve_ui.py</a:t>
            </a:r>
          </a:p>
          <a:p xmlns:a="http://schemas.openxmlformats.org/drawingml/2006/main">
            <a:r>
              <a:t>web/app.js</a:t>
            </a:r>
          </a:p>
          <a:p xmlns:a="http://schemas.openxmlformats.org/drawingml/2006/main">
            <a:r>
              <a:t>https://github.com/NVIDIA/TensorRT-Edge-LLM/blob/e8b29522938901f6df19ebeedd4b69bc8edbcd97/experimental/server/cli.py</a:t>
            </a:r>
          </a:p>
          <a:p xmlns:a="http://schemas.openxmlformats.org/drawingml/2006/main">
            <a:r>
              <a:t>https://github.com/NVIDIA/TensorRT-Edge-LLM/blob/e8b29522938901f6df19ebeedd4b69bc8edbcd97/experimental/server/runtime/engine.py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original diagnoses and small integrations reuse the public model/exporter conventions. No model training or new interpolation algorithm is claimed. Patch projection requires a fresh visual engine. Position and cache API changes require rebuilding the native binding.</a:t>
            </a:r>
          </a:p>
          <a:p xmlns:a="http://schemas.openxmlformats.org/drawingml/2006/main">
            <a:r>
              <a:t>Measured values supplied by output/final-findings-data.json.</a:t>
            </a:r>
          </a:p>
          <a:p xmlns:a="http://schemas.openxmlformats.org/drawingml/2006/main">
            <a:r>
              <a:t>Sources:</a:t>
            </a:r>
          </a:p>
          <a:p xmlns:a="http://schemas.openxmlformats.org/drawingml/2006/main">
            <a:r>
              <a:t>patches/cosmos3-patch-embedding-chw.md</a:t>
            </a:r>
          </a:p>
          <a:p xmlns:a="http://schemas.openxmlformats.org/drawingml/2006/main">
            <a:r>
              <a:t>patches/cosmos3-half-pixel-position.md</a:t>
            </a:r>
          </a:p>
          <a:p xmlns:a="http://schemas.openxmlformats.org/drawingml/2006/main">
            <a:r>
              <a:t>patches/encoder-cache-budget.json</a:t>
            </a:r>
          </a:p>
          <a:p xmlns:a="http://schemas.openxmlformats.org/drawingml/2006/main">
            <a:r>
              <a:t>scripts/repair_cosmos_runtime_config.py</a:t>
            </a:r>
          </a:p>
          <a:p xmlns:a="http://schemas.openxmlformats.org/drawingml/2006/main">
            <a:r>
              <a:t>scripts/repair_cosmos_chat_template.py</a:t>
            </a:r>
          </a:p>
          <a:p xmlns:a="http://schemas.openxmlformats.org/drawingml/2006/main">
            <a:r>
              <a:t>https://github.com/NVIDIA/TensorRT-Edge-LLM/blob/e8b29522938901f6df19ebeedd4b69bc8edbcd97/tensorrt_edgellm/models/cosmos3_reasoner/modeling_cosmos3_reasoner_visual.py</a:t>
            </a:r>
          </a:p>
          <a:p xmlns:a="http://schemas.openxmlformats.org/drawingml/2006/main">
            <a:r>
              <a:t>https://github.com/huggingface/transformers/blob/c587bc884db2c2e31fc2b8102314656b17aa07b1/src/transformers/models/cosmos3_edge/modeling_cosmos3_edge.py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six-image fixture grading and optimization equivalence are separate. The official unmodified model reproduced the entire case05 sphere answer on the exact image and prompt. A pre-INT4 policy preserves every previously correct fact and permits only that precise known error. It does not turn the strict 18/19 result into a 19/19 pass.</a:t>
            </a:r>
          </a:p>
          <a:p xmlns:a="http://schemas.openxmlformats.org/drawingml/2006/main">
            <a:r>
              <a:t>The distinct natural-photo smoke check is outside candidate selection. Fully correct photos means every required observation is correct, not merely a completed HTTP response. The natural-image official reference runs the unchanged public model through Transformers on Mac MPS FP16. It scores 5/9 with the same grading interpretation, with 2/3 answers exactly matching the Orin. In the recorded comparison, market gives only "Carrots." and dog incorrectly says "wooden deck" in both paths. The cap/mitt wording differs but both miss the required cap-on-mitt relation. The displayed 5/9 gives generous partial credit for carrot identity even though "Carrots." omits the required lower-right relation. Strict full-fact grading is 4/9. No photo satisfies every required fact under either interpretation. These observations do not establish a model-only cause for every failure. Mac execution time is diagnostic and is not an Orin performance measurement.</a:t>
            </a:r>
          </a:p>
          <a:p xmlns:a="http://schemas.openxmlformats.org/drawingml/2006/main">
            <a:r>
              <a:t>Captured official reference answer: Both objects are purple. The left object, which is a sphere, is larger than the right object, which is a smaller sphere.</a:t>
            </a:r>
          </a:p>
          <a:p xmlns:a="http://schemas.openxmlformats.org/drawingml/2006/main">
            <a:r>
              <a:t>Measured values supplied by output/final-findings-data.json.</a:t>
            </a:r>
          </a:p>
          <a:p xmlns:a="http://schemas.openxmlformats.org/drawingml/2006/main">
            <a:r>
              <a:t>Sources:</a:t>
            </a:r>
          </a:p>
          <a:p xmlns:a="http://schemas.openxmlformats.org/drawingml/2006/main">
            <a:r>
              <a:t>results/quality-final-service-01-review.json</a:t>
            </a:r>
          </a:p>
          <a:p xmlns:a="http://schemas.openxmlformats.org/drawingml/2006/main">
            <a:r>
              <a:t>results/optimization-quality-policy.json</a:t>
            </a:r>
          </a:p>
          <a:p xmlns:a="http://schemas.openxmlformats.org/drawingml/2006/main">
            <a:r>
              <a:t>results/reference-official-05-comparison.json</a:t>
            </a:r>
          </a:p>
          <a:p xmlns:a="http://schemas.openxmlformats.org/drawingml/2006/main">
            <a:r>
              <a:t>results/natural-smoke-final-01-review.json</a:t>
            </a:r>
          </a:p>
          <a:p xmlns:a="http://schemas.openxmlformats.org/drawingml/2006/main">
            <a:r>
              <a:t>results/reference-natural-smoke.json</a:t>
            </a:r>
          </a:p>
          <a:p xmlns:a="http://schemas.openxmlformats.org/drawingml/2006/main">
            <a:r>
              <a:t>benchmarks/natural-smoke/manifest.json</a:t>
            </a:r>
          </a:p>
          <a:p xmlns:a="http://schemas.openxmlformats.org/drawingml/2006/main">
            <a:r>
              <a:t>benchmarks/natural-smoke/README.md</a:t>
            </a:r>
          </a:p>
          <a:p xmlns:a="http://schemas.openxmlformats.org/drawingml/2006/main">
            <a:r>
              <a:t>results/reference-official-05.json</a:t>
            </a:r>
          </a:p>
          <a:p xmlns:a="http://schemas.openxmlformats.org/drawingml/2006/main">
            <a:r>
              <a:t>https://huggingface.co/nvidia/Cosmos3-Edge/blob/344d602b128d1bbdacb43b08d0a3626f46343e29/README.md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Warmups remain separate from measured requests. TTFT starts at request dispatch and ends on the first nonempty text delta. Completion token counts must come from real backend usage. Equivalent-quality qualification is an overlay referencing unchanged raw measurements.</a:t>
            </a:r>
          </a:p>
          <a:p xmlns:a="http://schemas.openxmlformats.org/drawingml/2006/main">
            <a:r>
              <a:t>Measured values supplied by output/final-findings-data.json.</a:t>
            </a:r>
          </a:p>
          <a:p xmlns:a="http://schemas.openxmlformats.org/drawingml/2006/main">
            <a:r>
              <a:t>Sources:</a:t>
            </a:r>
          </a:p>
          <a:p xmlns:a="http://schemas.openxmlformats.org/drawingml/2006/main">
            <a:r>
              <a:t>research/benchmark-method.md</a:t>
            </a:r>
          </a:p>
          <a:p xmlns:a="http://schemas.openxmlformats.org/drawingml/2006/main">
            <a:r>
              <a:t>GOAL.md</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qualification overlay references the original 35-request run, rather than recording a second measurement. Original raw SHA256: 3ecce48f18c461161a99368c221dc87abc43a8cb1e1a7c1b199f46f8d7d65417. Shared unavailable memory equals MemTotal minus MemAvailable. RSS is the process resident set. These overlapping counters must never be added.</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Group-128 symmetric round-to-nearest with stored FP16 scales and signed values -7 through 7. RTN_GPTQ dispatch describes RTN values in GPTQ-compatible packing. No GPTQ optimization, AWQ optimization, calibration dataset, GPU conversion or community checkpoint was used. Source shards stayed read-only. The exact public parser and V1/V2 repackers passed CPU tests.</a:t>
            </a:r>
          </a:p>
          <a:p xmlns:a="http://schemas.openxmlformats.org/drawingml/2006/main">
            <a:r>
              <a:t>Measured values supplied by output/final-findings-data.json.</a:t>
            </a:r>
          </a:p>
          <a:p xmlns:a="http://schemas.openxmlformats.org/drawingml/2006/main">
            <a:r>
              <a:t>Sources:</a:t>
            </a:r>
          </a:p>
          <a:p xmlns:a="http://schemas.openxmlformats.org/drawingml/2006/main">
            <a:r>
              <a:t>results/rtn-cpu-validation.json</a:t>
            </a:r>
          </a:p>
          <a:p xmlns:a="http://schemas.openxmlformats.org/drawingml/2006/main">
            <a:r>
              <a:t>scripts/quantize_cosmos3_rtn.py</a:t>
            </a:r>
          </a:p>
          <a:p xmlns:a="http://schemas.openxmlformats.org/drawingml/2006/main">
            <a:r>
              <a:t>scripts/rtn_backend.py</a:t>
            </a:r>
          </a:p>
          <a:p xmlns:a="http://schemas.openxmlformats.org/drawingml/2006/main">
            <a:r>
              <a:t>tests/test_rtn_quantization.py</a:t>
            </a:r>
          </a:p>
          <a:p xmlns:a="http://schemas.openxmlformats.org/drawingml/2006/main">
            <a:r>
              <a:t>https://github.com/NVIDIA/TensorRT-Edge-LLM/blob/e8b29522938901f6df19ebeedd4b69bc8edbcd97/experimental/builder/weight_packing/int4.py</a:t>
            </a:r>
          </a:p>
          <a:p xmlns:a="http://schemas.openxmlformats.org/drawingml/2006/main">
            <a:r>
              <a:t>https://github.com/NVIDIA/TensorRT-Edge-LLM/blob/e8b29522938901f6df19ebeedd4b69bc8edbcd97/experimental/builder/core/quantization.py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INT4 execution status: rejected. 13/19 facts; new errors and token-limit truncation.. Selection: fp16-corrected-i1024-kv2048. Identical workload fingerprints and memory counters are required for comparisons. The selected column is a separate final verification after swap was disabled; search-trial measurements remain unchanged. Rejected RTN measurements describe a tradeoff and cannot qualify it for selection. Strict quality and reference-equivalent quality remain separate.</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Orin Nano uses unified physical RAM for CPU and GPU. MemTotal minus MemAvailable includes CPU, GPU and system pressure. Process RSS and CUDA allocator telemetry answer different questions and overlap. Disk checkpoint/engine size is separate from memory. Missing allocator telemetry is explicitly unavailable.</a:t>
            </a:r>
          </a:p>
          <a:p xmlns:a="http://schemas.openxmlformats.org/drawingml/2006/main">
            <a:r>
              <a:t>Measured values supplied by output/final-findings-data.json.</a:t>
            </a:r>
          </a:p>
          <a:p xmlns:a="http://schemas.openxmlformats.org/drawingml/2006/main">
            <a:r>
              <a:t>Sources:</a:t>
            </a:r>
          </a:p>
          <a:p xmlns:a="http://schemas.openxmlformats.org/drawingml/2006/main">
            <a:r>
              <a:t>GOAL.md</a:t>
            </a:r>
          </a:p>
          <a:p xmlns:a="http://schemas.openxmlformats.org/drawingml/2006/main">
            <a:r>
              <a:t>research/fp16-build-memory.md</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results/optimization-search-plan.json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bounded observed selection, not a claim of a global optimum. Final export requires a 10-minute soak, no errors/OOM/swapping, at least 512 MiB minimum MemAvailable, and explicit candidate selection. Compare latency/memory improvement only under the same declared memory counter and workload.</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GOAL.md</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contributors are public contribution credits, not assigned individual ownership of each feature. NVIDIA owns the model/runtime contributions. Original task code is Apache-2.0. Model OpenMDW-1.1, JetPack/CUDA/TensorRT terms and bundled dependency licenses remain separate. Paramiko LGPL-2.1 supports the optional SSH bridge. NumPy uses BSD-3-Clause and Pillow MIT-CMU. Official PyTorch and Transformers supply reference execution. PyTorch wheels retain all bundled license notices, beyond its main BSD-style license. See the contribution ledger for exact public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research/contribution-ledger.md</a:t>
            </a:r>
          </a:p>
          <a:p xmlns:a="http://schemas.openxmlformats.org/drawingml/2006/main">
            <a:r>
              <a:t>THIRD_PARTY_NOTICES.md</a:t>
            </a:r>
          </a:p>
          <a:p xmlns:a="http://schemas.openxmlformats.org/drawingml/2006/main">
            <a:r>
              <a:t>https://huggingface.co/nvidia/Cosmos3-Edge/blob/344d602b128d1bbdacb43b08d0a3626f46343e29/README.md</a:t>
            </a:r>
          </a:p>
          <a:p xmlns:a="http://schemas.openxmlformats.org/drawingml/2006/main">
            <a:r>
              <a:t>https://github.com/NVIDIA/TensorRT-Edge-LLM/blob/e8b29522938901f6df19ebeedd4b69bc8edbcd97/LICENSE</a:t>
            </a:r>
          </a:p>
          <a:p xmlns:a="http://schemas.openxmlformats.org/drawingml/2006/main">
            <a:r>
              <a:t>https://github.com/NVIDIA-AI-IOT/live-vlm-webui</a:t>
            </a:r>
          </a:p>
          <a:p xmlns:a="http://schemas.openxmlformats.org/drawingml/2006/main">
            <a:r>
              <a:t>https://github.com/huggingface/transformers/blob/c587bc884db2c2e31fc2b8102314656b17aa07b1/LICENSE</a:t>
            </a:r>
          </a:p>
          <a:p xmlns:a="http://schemas.openxmlformats.org/drawingml/2006/main">
            <a:r>
              <a:t>https://github.com/pytorch/pytorch/blob/cf30153c4c131c8164ee7798e5022d810682e2cb/LICENSE</a:t>
            </a:r>
          </a:p>
          <a:p xmlns:a="http://schemas.openxmlformats.org/drawingml/2006/main">
            <a:r>
              <a:t>https://github.com/NVIDIA/TensorRT-Edge-LLM/commit/e8b29522938901f6df19ebeedd4b69bc8edbcd97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supplied from the selected validated deployment. Exact source/model revisions, conversion receipts, patch hashes, engine receipts and raw benchmark files preserve provenance. The source corpus contains public code and original task assets only. No personal-namespace project or internal repository was used.</a:t>
            </a:r>
          </a:p>
          <a:p xmlns:a="http://schemas.openxmlformats.org/drawingml/2006/main">
            <a:r>
              <a:t>Measured values supplied by output/final-findings-data.json.</a:t>
            </a:r>
          </a:p>
          <a:p xmlns:a="http://schemas.openxmlformats.org/drawingml/2006/main">
            <a:r>
              <a:t>Sources:</a:t>
            </a:r>
          </a:p>
          <a:p xmlns:a="http://schemas.openxmlformats.org/drawingml/2006/main">
            <a:r>
              <a:t>docs/backend-build.md</a:t>
            </a:r>
          </a:p>
          <a:p xmlns:a="http://schemas.openxmlformats.org/drawingml/2006/main">
            <a:r>
              <a:t>sources.lock.json</a:t>
            </a:r>
          </a:p>
          <a:p xmlns:a="http://schemas.openxmlformats.org/drawingml/2006/main">
            <a:r>
              <a:t>docs/quality-workload.md</a:t>
            </a:r>
          </a:p>
          <a:p xmlns:a="http://schemas.openxmlformats.org/drawingml/2006/main">
            <a:r>
              <a:t>patches/cosmos3-half-pixel-position.md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installing JetPack over USB-C, Cosmos3-Edge through TensorRT-Edge-LLM, a streaming UI served on the Orin, low memory and latency after signs of life, and a findings presentation. The user explicitly required public code and prohibited personal-namespace/internal repositories and communications. Exact user quote: “Give yourself a proper goal setting so you don’t keep iterating on marginal gains for either.” Numeric thresholds were agent choices. The initial ceiling was 12 candidates, later tightened to 5. Each measured trial used 5 warmups and 30 measured requests. Three consecutive non-improvements stop the search. A candidate needs at least 5% improvement in p50 answer latency or sampled peak memory, no greater than 5% regression in the counterpart or p95 latency, preserved reference-equivalent quality, and no errors, OOM or workload swap. Four trials were evaluated. The compact fifth trial was not run.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results/deployment-status.json</a:t>
            </a:r>
          </a:p>
          <a:p xmlns:a="http://schemas.openxmlformats.org/drawingml/2006/main">
            <a:r>
              <a:t>results/optimization-search-plan.json</a:t>
            </a:r>
          </a:p>
          <a:p xmlns:a="http://schemas.openxmlformats.org/drawingml/2006/main">
            <a:r>
              <a:t>results/optimization-selection.json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oversight prompts: “Did you install jetpack via the usb-c?” and “what have you done thus far?” These are status requests, not physical interventions. Exact connectivity reports: “Do you need the GPU? I took the ethernet offline so you can go faster, can you work on wifi or do you want ethernet”; “nvm we’ll take all night if you need to, giving the GPU ethernet back and you on wifi”. These statements are user reports, not independently verified interface changes or measured network speed improvements. Optional GPU authorization required all remote work to remain in one newly created task directory. The safe exact excerpt “Isolate your work from anything else on that computer.” omits host and credentials. The user also said “ok was able to ssh in from the terminal inside this codex side chat”. A user login did not establish agent authentication: the recorded agent clients were rejected, no task directory or files were created, and the auxiliary GPU was never used. Local Mac MPS reference execution and actual Orin GPU inference are distinct from that unused auxiliary machine.</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results/aux-gpu-status.json</a:t>
            </a:r>
          </a:p>
          <a:p xmlns:a="http://schemas.openxmlformats.org/drawingml/2006/main">
            <a:r>
              <a:t>results/normal-boot.json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reported “Poll the USB and see if you see it now, it’s jumpered FC REC and GND”. The later “done” followed a requested fresh recovery power cycle and is recorded here as a readiness confirmation, not independent proof of a detailed unplug/replug sequence or its timing. The status receipt records a user-confirmed physical reset, and the subsequent EEPROM/bulk-upload receipt passed. The user later said “the jumper isn’t in”. This establishes user-reported state, not who removed it or when. At RAM boot the agent asked for accessory approval if a prompt appeared. Approval itself was not confirmed; the agent instead verified native Mac USB SSH and used an SSH/NFS bridge around the VM networking issue. The official flash finished without reboot. The agent continued source/model and package preparation while normal-boot readiness remained unresolved. Package installation in a native ARM chroot was not GPU execution. After the user’s jumper-state confirmation, normal NVMe boot, task-key SSH, CUDA execution and storage expansion passed. Receipt timestamps are recording times. This history does not establish a physical reboot after the later systemd service installation.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results/host-inventory.json</a:t>
            </a:r>
          </a:p>
          <a:p xmlns:a="http://schemas.openxmlformats.org/drawingml/2006/main">
            <a:r>
              <a:t>results/deployment-status.json</a:t>
            </a:r>
          </a:p>
          <a:p xmlns:a="http://schemas.openxmlformats.org/drawingml/2006/main">
            <a:r>
              <a:t>results/jetson-board.json</a:t>
            </a:r>
          </a:p>
          <a:p xmlns:a="http://schemas.openxmlformats.org/drawingml/2006/main">
            <a:r>
              <a:t>results/ram-recovery-boot.json</a:t>
            </a:r>
          </a:p>
          <a:p xmlns:a="http://schemas.openxmlformats.org/drawingml/2006/main">
            <a:r>
              <a:t>results/usb-transfer-path.json</a:t>
            </a:r>
          </a:p>
          <a:p xmlns:a="http://schemas.openxmlformats.org/drawingml/2006/main">
            <a:r>
              <a:t>results/jetpack-flash-status.json</a:t>
            </a:r>
          </a:p>
          <a:p xmlns:a="http://schemas.openxmlformats.org/drawingml/2006/main">
            <a:r>
              <a:t>results/chroot-compute-provisioning.json</a:t>
            </a:r>
          </a:p>
          <a:p xmlns:a="http://schemas.openxmlformats.org/drawingml/2006/main">
            <a:r>
              <a:t>results/blocked-audit.json</a:t>
            </a:r>
          </a:p>
          <a:p xmlns:a="http://schemas.openxmlformats.org/drawingml/2006/main">
            <a:r>
              <a:t>results/normal-boot.json</a:t>
            </a:r>
          </a:p>
          <a:p xmlns:a="http://schemas.openxmlformats.org/drawingml/2006/main">
            <a:r>
              <a:t>results/cuda-preflight.json</a:t>
            </a:r>
          </a:p>
          <a:p xmlns:a="http://schemas.openxmlformats.org/drawingml/2006/main">
            <a:r>
              <a:t>results/final-service-audit.json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1–14 preserve the first completed findings presentation and its benchmark data. First-version acceptance covered USB-C installation, real Orin inference/UI, four-trial bounded search, 600.701-second API soak, and disclosed quality/storage limits. The benchmark ceiling remains 64 output tokens. Later exact user requests: “add the cpu, gpu, and vram usage to the UI.”; “Set the max tokens and the sample prompt to the same default parameters as Web VLM UI.”; “Serve the webpage directly on the orin please”. Telemetry and default prompt/max tokens passed later browser checks. The prompt is “Describe what you see in this image in one sentence.” with max_tokens 512. Reported RAM is MemTotal minus MemAvailable on shared CPU/GPU memory, not dedicated CUDA allocator usage. The later question “Are the capture interval and the frame longest side the same defaults as Web VLM UI?” was informational, not a request to change them. Current app remains at a 1-second minimum capture interval and 512px longest side; upstream uses 30 captured frames between inference attempts and an ideal 1280×720 camera request. These are different semantics and remain unmatched. Direct LAN access is a later deployment update. Browser tests completed real image inference over both direct HTTP and HTTPS. The backend PID remained unchanged. HTTPS tests explicitly ignored certificate errors only inside their isolated browser context, verified a secure context, and exercised a synthetic camera. They do not prove a physical camera works. HTTP permits image uploads; browser camera requires a secure/trusted context. The HTTPS endpoint uses a local self-signed certificate, so browser trust is still a user setup step.</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results/final-presentation.json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results/ui-telemetry-validation.json</a:t>
            </a:r>
          </a:p>
          <a:p xmlns:a="http://schemas.openxmlformats.org/drawingml/2006/main">
            <a:r>
              <a:t>results/browser-ui-telemetry.json</a:t>
            </a:r>
          </a:p>
          <a:p xmlns:a="http://schemas.openxmlformats.org/drawingml/2006/main">
            <a:r>
              <a:t>results/browser-ui-lan.json</a:t>
            </a:r>
          </a:p>
          <a:p xmlns:a="http://schemas.openxmlformats.org/drawingml/2006/main">
            <a:r>
              <a:t>web/index.html</a:t>
            </a:r>
          </a:p>
          <a:p xmlns:a="http://schemas.openxmlformats.org/drawingml/2006/main">
            <a:r>
              <a:t>web/app.js</a:t>
            </a:r>
          </a:p>
          <a:p xmlns:a="http://schemas.openxmlformats.org/drawingml/2006/main">
            <a:r>
              <a:t>https://github.com/NVIDIA-AI-IOT/live-vlm-webui/blob/2fd5ba0b334c334d24bf0f9439d8742b243d22be/src/live_vlm_webui/vlm_service.py#L42</a:t>
            </a:r>
          </a:p>
          <a:p xmlns:a="http://schemas.openxmlformats.org/drawingml/2006/main">
            <a:r>
              <a:t>https://github.com/NVIDIA-AI-IOT/live-vlm-webui/blob/2fd5ba0b334c334d24bf0f9439d8742b243d22be/src/live_vlm_webui/video_processor.py</a:t>
            </a:r>
          </a:p>
          <a:p xmlns:a="http://schemas.openxmlformats.org/drawingml/2006/main">
            <a:r>
              <a:t>https://github.com/NVIDIA-AI-IOT/live-vlm-webui/blob/2fd5ba0b334c334d24bf0f9439d8742b243d22be/src/live_vlm_webui/static/index.html#L2329</a:t>
            </a:r>
          </a:p>
          <a:p xmlns:a="http://schemas.openxmlformats.org/drawingml/2006/main">
            <a:r>
              <a:t>https://github.com/NVIDIA-AI-IOT/live-vlm-webui/blob/2fd5ba0b334c334d24bf0f9439d8742b243d22be/src/live_vlm_webui/static/index.html#L2659</a:t>
            </a:r>
          </a:p>
          <a:p xmlns:a="http://schemas.openxmlformats.org/drawingml/2006/main">
            <a:r>
              <a:t>results/ui-lan-deployment.json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e94b9b4f544b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f5fa5667ed482e" /><Relationship Type="http://schemas.openxmlformats.org/officeDocument/2006/relationships/slideLayout" Target="/ppt/slideLayouts/slideLayout1.xml" Id="R977c2874994148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7c2874994148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b7b4a3a8d24936" /><Relationship Type="http://schemas.openxmlformats.org/officeDocument/2006/relationships/notesSlide" Target="/ppt/notesSlides/notesSlide1.xml" Id="R69fe9f7fa69746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df16e3be8541ef" /><Relationship Type="http://schemas.openxmlformats.org/officeDocument/2006/relationships/notesSlide" Target="/ppt/notesSlides/notesSlide2.xml" Id="R20904ac2d1f447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46add4830747d5" /><Relationship Type="http://schemas.openxmlformats.org/officeDocument/2006/relationships/image" Target="/ppt/media/image.png" Id="R93ab9f31c40b4529" /><Relationship Type="http://schemas.openxmlformats.org/officeDocument/2006/relationships/notesSlide" Target="/ppt/notesSlides/notesSlide3.xml" Id="R1ca22e1311284f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65544733cd4205" /><Relationship Type="http://schemas.openxmlformats.org/officeDocument/2006/relationships/notesSlide" Target="/ppt/notesSlides/notesSlide4.xml" Id="R982dc18db3fb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1419337b77481f" /><Relationship Type="http://schemas.openxmlformats.org/officeDocument/2006/relationships/notesSlide" Target="/ppt/notesSlides/notesSlide5.xml" Id="R2c9f2a9862fc42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3776431def4e5c" /><Relationship Type="http://schemas.openxmlformats.org/officeDocument/2006/relationships/image" Target="/ppt/media/image.jpeg" Id="R33b52b71d64544d7" /><Relationship Type="http://schemas.openxmlformats.org/officeDocument/2006/relationships/notesSlide" Target="/ppt/notesSlides/notesSlide6.xml" Id="Rddd61e4941ba40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37eddfebcc44bb" /><Relationship Type="http://schemas.openxmlformats.org/officeDocument/2006/relationships/notesSlide" Target="/ppt/notesSlides/notesSlide7.xml" Id="R76b6178ee4f04f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3925eb6b2d4247" /><Relationship Type="http://schemas.openxmlformats.org/officeDocument/2006/relationships/notesSlide" Target="/ppt/notesSlides/notesSlide8.xml" Id="R7732655891224d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6dab4cbe604639" /><Relationship Type="http://schemas.openxmlformats.org/officeDocument/2006/relationships/notesSlide" Target="/ppt/notesSlides/notesSlide9.xml" Id="R3eaaa9f2ff6a40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c51770b4334502" /><Relationship Type="http://schemas.openxmlformats.org/officeDocument/2006/relationships/notesSlide" Target="/ppt/notesSlides/notesSlide10.xml" Id="R56c094afd2724a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1f885a329d4363" /><Relationship Type="http://schemas.openxmlformats.org/officeDocument/2006/relationships/notesSlide" Target="/ppt/notesSlides/notesSlide11.xml" Id="R6fab03f623ca45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280b9aa0ed47ec" /><Relationship Type="http://schemas.openxmlformats.org/officeDocument/2006/relationships/notesSlide" Target="/ppt/notesSlides/notesSlide12.xml" Id="R41c758e66b004d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8132b9eea244af" /><Relationship Type="http://schemas.openxmlformats.org/officeDocument/2006/relationships/notesSlide" Target="/ppt/notesSlides/notesSlide13.xml" Id="R471601e7a55e42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8fda4b0f704395" /><Relationship Type="http://schemas.openxmlformats.org/officeDocument/2006/relationships/notesSlide" Target="/ppt/notesSlides/notesSlide14.xml" Id="R054f1800507142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639b181a304f8d" /><Relationship Type="http://schemas.openxmlformats.org/officeDocument/2006/relationships/notesSlide" Target="/ppt/notesSlides/notesSlide15.xml" Id="R16985f7f531b43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739bef181a4295" /><Relationship Type="http://schemas.openxmlformats.org/officeDocument/2006/relationships/notesSlide" Target="/ppt/notesSlides/notesSlide16.xml" Id="R35caf570ae034a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78c74a33bfa494a" /><Relationship Type="http://schemas.openxmlformats.org/officeDocument/2006/relationships/notesSlide" Target="/ppt/notesSlides/notesSlide17.xml" Id="Rbad75b76ffa043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e9953a9b65a4ff3" /><Relationship Type="http://schemas.openxmlformats.org/officeDocument/2006/relationships/notesSlide" Target="/ppt/notesSlides/notesSlide18.xml" Id="R75e156e6b5f44de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44F95A-E72F-4474-9755-40728EB2D43E}"/>
              </a:ext>
            </a:extLst>
          </p:cNvPr>
          <p:cNvSpPr>
            <a:spLocks xmlns:a="http://schemas.openxmlformats.org/drawingml/2006/main" noGrp="1"/>
          </p:cNvSpPr>
          <p:nvPr/>
        </p:nvSpPr>
        <p:spPr>
          <a:xfrm xmlns:a="http://schemas.openxmlformats.org/drawingml/2006/main">
            <a:off x="685800" y="1400175"/>
            <a:ext cx="106489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Cosmos3-Edge on</a:t>
            </a:r>
          </a:p>
          <a:p xmlns:a="http://schemas.openxmlformats.org/drawingml/2006/main">
            <a:pPr>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Jetson Orin Nano</a:t>
            </a:r>
          </a:p>
        </p:txBody>
      </p:sp>
      <p:sp>
        <p:nvSpPr>
          <p:cNvPr id="2" name="">
            <a:extLst xmlns:a="http://schemas.openxmlformats.org/drawingml/2006/main">
              <a:ext uri="{FF2B5EF4-FFF2-40B4-BE49-F238E27FC236}">
                <a16:creationId xmlns:a16="http://schemas.microsoft.com/office/drawing/2014/main" id="{855E583C-3AD6-462C-8FC3-51A7A7339B67}"/>
              </a:ext>
            </a:extLst>
          </p:cNvPr>
          <p:cNvSpPr>
            <a:spLocks xmlns:a="http://schemas.openxmlformats.org/drawingml/2006/main" noGrp="1"/>
          </p:cNvSpPr>
          <p:nvPr/>
        </p:nvSpPr>
        <p:spPr>
          <a:xfrm xmlns:a="http://schemas.openxmlformats.org/drawingml/2006/main">
            <a:off x="685800" y="37338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146875"/>
                </a:solidFill>
                <a:latin typeface="Helvetica Neue"/>
                <a:ea typeface="Helvetica Neue"/>
                <a:cs typeface="Helvetica Neue"/>
              </a:defRPr>
            </a:pPr>
            <a:r>
              <a:rPr sz="2475" b="0">
                <a:solidFill>
                  <a:srgbClr val="146875"/>
                </a:solidFill>
                <a:latin typeface="Helvetica Neue"/>
                <a:ea typeface="Helvetica Neue"/>
                <a:cs typeface="Helvetica Neue"/>
              </a:rPr>
              <a:t>Public implementation and measured findings</a:t>
            </a:r>
          </a:p>
        </p:txBody>
      </p:sp>
      <p:sp>
        <p:nvSpPr>
          <p:cNvPr id="3" name="">
            <a:extLst xmlns:a="http://schemas.openxmlformats.org/drawingml/2006/main">
              <a:ext uri="{FF2B5EF4-FFF2-40B4-BE49-F238E27FC236}">
                <a16:creationId xmlns:a16="http://schemas.microsoft.com/office/drawing/2014/main" id="{C8243B99-A28D-4DE5-A2EC-A27F777B2CDE}"/>
              </a:ext>
            </a:extLst>
          </p:cNvPr>
          <p:cNvSpPr>
            <a:spLocks xmlns:a="http://schemas.openxmlformats.org/drawingml/2006/main" noGrp="1"/>
          </p:cNvSpPr>
          <p:nvPr/>
        </p:nvSpPr>
        <p:spPr>
          <a:xfrm xmlns:a="http://schemas.openxmlformats.org/drawingml/2006/main">
            <a:off x="685800" y="45720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83542"/>
                </a:solidFill>
                <a:latin typeface="Helvetica Neue"/>
                <a:ea typeface="Helvetica Neue"/>
                <a:cs typeface="Helvetica Neue"/>
              </a:defRPr>
            </a:pPr>
            <a:r>
              <a:rPr sz="2175" b="0">
                <a:solidFill>
                  <a:srgbClr val="183542"/>
                </a:solidFill>
                <a:latin typeface="Helvetica Neue"/>
                <a:ea typeface="Helvetica Neue"/>
                <a:cs typeface="Helvetica Neue"/>
              </a:rPr>
              <a:t>Selected configuration: fp16-corrected-i1024-kv2048</a:t>
            </a:r>
          </a:p>
        </p:txBody>
      </p:sp>
      <p:sp>
        <p:nvSpPr>
          <p:cNvPr id="4" name="">
            <a:extLst xmlns:a="http://schemas.openxmlformats.org/drawingml/2006/main">
              <a:ext uri="{FF2B5EF4-FFF2-40B4-BE49-F238E27FC236}">
                <a16:creationId xmlns:a16="http://schemas.microsoft.com/office/drawing/2014/main" id="{D96FCD07-6C6E-4308-9074-1D272769A106}"/>
              </a:ext>
            </a:extLst>
          </p:cNvPr>
          <p:cNvSpPr>
            <a:spLocks xmlns:a="http://schemas.openxmlformats.org/drawingml/2006/main" noGrp="1"/>
          </p:cNvSpPr>
          <p:nvPr/>
        </p:nvSpPr>
        <p:spPr>
          <a:xfrm xmlns:a="http://schemas.openxmlformats.org/drawingml/2006/main">
            <a:off x="68580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2026-09-20</a:t>
            </a:r>
          </a:p>
        </p:txBody>
      </p:sp>
    </p:spTree>
    <p:extLst>
      <p:ext uri="{BB962C8B-B14F-4D97-AF65-F5344CB8AC3E}">
        <p14:creationId xmlns:p14="http://schemas.microsoft.com/office/powerpoint/2010/main" val="1191486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60267D-8DB9-4A92-871E-E60A4E4FBF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Installed hardware and software</a:t>
            </a:r>
          </a:p>
        </p:txBody>
      </p:sp>
      <p:sp>
        <p:nvSpPr>
          <p:cNvPr id="2" name="">
            <a:extLst xmlns:a="http://schemas.openxmlformats.org/drawingml/2006/main">
              <a:ext uri="{FF2B5EF4-FFF2-40B4-BE49-F238E27FC236}">
                <a16:creationId xmlns:a16="http://schemas.microsoft.com/office/drawing/2014/main" id="{E44F1152-204C-4536-A012-A92F3B19B96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FA4EB11C-7245-4F03-A70B-8C96E8A82E7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a:t>
            </a:r>
          </a:p>
        </p:txBody>
      </p:sp>
      <p:graphicFrame>
        <p:nvGraphicFramePr>
          <p:cNvPr id="9" name=""/>
          <p:cNvGraphicFramePr/>
          <p:nvPr/>
        </p:nvGraphicFramePr>
        <p:xfrm>
          <a:off xmlns:a="http://schemas.openxmlformats.org/drawingml/2006/main" x="685800" y="1571625"/>
          <a:ext xmlns:a="http://schemas.openxmlformats.org/drawingml/2006/main" cx="10820400" cy="3886200"/>
        </p:xfrm>
        <a:graphic xmlns:a="http://schemas.openxmlformats.org/drawingml/2006/main">
          <a:graphicData uri="http://schemas.openxmlformats.org/drawingml/2006/table">
            <a:tbl>
              <a:tblPr firstRow="1" bandRow="0"/>
              <a:tblGrid>
                <a:gridCol w="3333750"/>
                <a:gridCol w="7486650"/>
              </a:tblGrid>
              <a:tr h="647700">
                <a:tc>
                  <a:txBody>
                    <a:bodyPr/>
                    <a:lstStyle/>
                    <a:p>
                      <a:r>
                        <a:rPr sz="1800" b="1">
                          <a:solidFill>
                            <a:srgbClr val="183542"/>
                          </a:solidFill>
                          <a:latin typeface="Helvetica Neue"/>
                          <a:ea typeface="Helvetica Neue"/>
                          <a:cs typeface="Helvetica Neue"/>
                        </a:rPr>
                        <a:t>Component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Observed configuration</a:t>
                      </a:r>
                    </a:p>
                  </a:txBody>
                  <a:tcPr marL="142875" marR="142875" marT="85725" marB="85725" anchor="ctr">
                    <a:solidFill>
                      <a:srgbClr val="E8F0F1"/>
                    </a:solidFill>
                  </a:tcPr>
                </a:tc>
              </a:tr>
              <a:tr h="647700">
                <a:tc>
                  <a:txBody>
                    <a:bodyPr/>
                    <a:lstStyle/>
                    <a:p>
                      <a:r>
                        <a:rPr sz="1800">
                          <a:solidFill>
                            <a:srgbClr val="183542"/>
                          </a:solidFill>
                          <a:latin typeface="Helvetica Neue"/>
                          <a:ea typeface="Helvetica Neue"/>
                          <a:cs typeface="Helvetica Neue"/>
                        </a:rPr>
                        <a:t>Device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Jetson Orin Nano P3767-0005  8 GB shared RAM</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Storage and mode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WD_BLACK SN7100 1 TB</a:t>
                      </a:r>
                    </a:p>
                    <a:p>
                      <a:r>
                        <a:rPr sz="1800">
                          <a:solidFill>
                            <a:srgbClr val="183542"/>
                          </a:solidFill>
                          <a:latin typeface="Helvetica Neue"/>
                          <a:ea typeface="Helvetica Neue"/>
                          <a:cs typeface="Helvetica Neue"/>
                        </a:rPr>
                        <a:t>Stock 25 W, ID1</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Operating system</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JetPack 7.2.1, L4T 39.2.1</a:t>
                      </a:r>
                    </a:p>
                    <a:p>
                      <a:r>
                        <a:rPr sz="1800">
                          <a:solidFill>
                            <a:srgbClr val="183542"/>
                          </a:solidFill>
                          <a:latin typeface="Helvetica Neue"/>
                          <a:ea typeface="Helvetica Neue"/>
                          <a:cs typeface="Helvetica Neue"/>
                        </a:rPr>
                        <a:t>Kernel 6.8.12-1021-tegra</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Compute libraries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CUDA nvcc13.2.86, TensorRT 10.16.2.10</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Installation evidence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Verified USB-C QSPI + NVMe flash</a:t>
                      </a:r>
                    </a:p>
                    <a:p>
                      <a:r>
                        <a:rPr sz="1800">
                          <a:solidFill>
                            <a:srgbClr val="183542"/>
                          </a:solidFill>
                          <a:latin typeface="Helvetica Neue"/>
                          <a:ea typeface="Helvetica Neue"/>
                          <a:cs typeface="Helvetica Neue"/>
                        </a:rPr>
                        <a:t>Verified NVMe boot and CUDA calculation</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68798F-44D8-4A48-9B69-5A69A47C15F0}"/>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Official NVIDIA flash tools ran through an original SSH/NFS transport bridge.</a:t>
            </a:r>
          </a:p>
        </p:txBody>
      </p:sp>
    </p:spTree>
    <p:extLst>
      <p:ext uri="{BB962C8B-B14F-4D97-AF65-F5344CB8AC3E}">
        <p14:creationId xmlns:p14="http://schemas.microsoft.com/office/powerpoint/2010/main" val="19835144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E251C0-7D08-42DF-B251-078DB7B9580A}"/>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Streaming browser interface</a:t>
            </a:r>
          </a:p>
        </p:txBody>
      </p:sp>
      <p:sp>
        <p:nvSpPr>
          <p:cNvPr id="2" name="">
            <a:extLst xmlns:a="http://schemas.openxmlformats.org/drawingml/2006/main">
              <a:ext uri="{FF2B5EF4-FFF2-40B4-BE49-F238E27FC236}">
                <a16:creationId xmlns:a16="http://schemas.microsoft.com/office/drawing/2014/main" id="{90EE3215-4302-476B-A079-D98B1B6DD27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B1CFDF1-34EF-4105-9E50-0C54733A046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3ab9f31c40b4529"/>
          <a:stretch xmlns:a="http://schemas.openxmlformats.org/drawingml/2006/main"/>
        </p:blipFill>
        <p:spPr>
          <a:xfrm xmlns:a="http://schemas.openxmlformats.org/drawingml/2006/main">
            <a:off x="1536955" y="1466850"/>
            <a:ext cx="5393816"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C513CE-E66C-4799-9EFA-62205FF45078}"/>
              </a:ext>
            </a:extLst>
          </p:cNvPr>
          <p:cNvSpPr>
            <a:spLocks xmlns:a="http://schemas.openxmlformats.org/drawingml/2006/main" noGrp="1"/>
          </p:cNvSpPr>
          <p:nvPr/>
        </p:nvSpPr>
        <p:spPr>
          <a:xfrm xmlns:a="http://schemas.openxmlformats.org/drawingml/2006/main">
            <a:off x="8172450" y="16764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Browser checks</a:t>
            </a:r>
          </a:p>
        </p:txBody>
      </p:sp>
      <p:sp>
        <p:nvSpPr>
          <p:cNvPr id="6" name="">
            <a:extLst xmlns:a="http://schemas.openxmlformats.org/drawingml/2006/main">
              <a:ext uri="{FF2B5EF4-FFF2-40B4-BE49-F238E27FC236}">
                <a16:creationId xmlns:a16="http://schemas.microsoft.com/office/drawing/2014/main" id="{B35A6623-9DC2-48FF-8DF1-3390F55CCACE}"/>
              </a:ext>
            </a:extLst>
          </p:cNvPr>
          <p:cNvSpPr>
            <a:spLocks xmlns:a="http://schemas.openxmlformats.org/drawingml/2006/main" noGrp="1"/>
          </p:cNvSpPr>
          <p:nvPr/>
        </p:nvSpPr>
        <p:spPr>
          <a:xfrm xmlns:a="http://schemas.openxmlformats.org/drawingml/2006/main">
            <a:off x="8172450" y="2171700"/>
            <a:ext cx="3333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Streaming: Pass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Stop and restart: Pass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Synthetic camera: Pass</a:t>
            </a:r>
          </a:p>
        </p:txBody>
      </p:sp>
      <p:sp>
        <p:nvSpPr>
          <p:cNvPr id="7" name="">
            <a:extLst xmlns:a="http://schemas.openxmlformats.org/drawingml/2006/main">
              <a:ext uri="{FF2B5EF4-FFF2-40B4-BE49-F238E27FC236}">
                <a16:creationId xmlns:a16="http://schemas.microsoft.com/office/drawing/2014/main" id="{C2E5A4A6-11B3-41CF-8AEB-CBC8FD111911}"/>
              </a:ext>
            </a:extLst>
          </p:cNvPr>
          <p:cNvSpPr>
            <a:spLocks xmlns:a="http://schemas.openxmlformats.org/drawingml/2006/main" noGrp="1"/>
          </p:cNvSpPr>
          <p:nvPr/>
        </p:nvSpPr>
        <p:spPr>
          <a:xfrm xmlns:a="http://schemas.openxmlformats.org/drawingml/2006/main">
            <a:off x="81724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Web access</a:t>
            </a:r>
          </a:p>
        </p:txBody>
      </p:sp>
      <p:sp>
        <p:nvSpPr>
          <p:cNvPr id="8" name="">
            <a:extLst xmlns:a="http://schemas.openxmlformats.org/drawingml/2006/main">
              <a:ext uri="{FF2B5EF4-FFF2-40B4-BE49-F238E27FC236}">
                <a16:creationId xmlns:a16="http://schemas.microsoft.com/office/drawing/2014/main" id="{0EE1E9E6-0DB2-43C4-AC83-AC50574E7AA6}"/>
              </a:ext>
            </a:extLst>
          </p:cNvPr>
          <p:cNvSpPr>
            <a:spLocks xmlns:a="http://schemas.openxmlformats.org/drawingml/2006/main" noGrp="1"/>
          </p:cNvSpPr>
          <p:nvPr/>
        </p:nvSpPr>
        <p:spPr>
          <a:xfrm xmlns:a="http://schemas.openxmlformats.org/drawingml/2006/main">
            <a:off x="8172450" y="43148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http://localhost:8090</a:t>
            </a:r>
          </a:p>
          <a:p xmlns:a="http://schemas.openxmlformats.org/drawingml/2006/main">
            <a:r>
              <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Actual Orin service through the Mac SSH tunnel</a:t>
            </a:r>
          </a:p>
        </p:txBody>
      </p:sp>
    </p:spTree>
    <p:extLst>
      <p:ext uri="{BB962C8B-B14F-4D97-AF65-F5344CB8AC3E}">
        <p14:creationId xmlns:p14="http://schemas.microsoft.com/office/powerpoint/2010/main" val="1125426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98CDB-5E12-4C9A-B49D-C27BA6C9F0D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Request and inference path</a:t>
            </a:r>
          </a:p>
        </p:txBody>
      </p:sp>
      <p:sp>
        <p:nvSpPr>
          <p:cNvPr id="2" name="">
            <a:extLst xmlns:a="http://schemas.openxmlformats.org/drawingml/2006/main">
              <a:ext uri="{FF2B5EF4-FFF2-40B4-BE49-F238E27FC236}">
                <a16:creationId xmlns:a16="http://schemas.microsoft.com/office/drawing/2014/main" id="{BA11A3E3-7E29-4DF4-99B3-5B9637264B5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B9743E93-2338-4BFD-B3AB-C75CBBF6C35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4</a:t>
            </a:r>
          </a:p>
        </p:txBody>
      </p:sp>
      <p:graphicFrame>
        <p:nvGraphicFramePr>
          <p:cNvPr id="9" name=""/>
          <p:cNvGraphicFramePr/>
          <p:nvPr/>
        </p:nvGraphicFramePr>
        <p:xfrm>
          <a:off xmlns:a="http://schemas.openxmlformats.org/drawingml/2006/main" x="685800" y="1571625"/>
          <a:ext xmlns:a="http://schemas.openxmlformats.org/drawingml/2006/main" cx="10820400" cy="4038600"/>
        </p:xfrm>
        <a:graphic xmlns:a="http://schemas.openxmlformats.org/drawingml/2006/main">
          <a:graphicData uri="http://schemas.openxmlformats.org/drawingml/2006/table">
            <a:tbl>
              <a:tblPr firstRow="1" bandRow="0"/>
              <a:tblGrid>
                <a:gridCol w="2381250"/>
                <a:gridCol w="5857875"/>
                <a:gridCol w="2581275"/>
              </a:tblGrid>
              <a:tr h="673100">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Responsibility</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Source</a:t>
                      </a:r>
                    </a:p>
                  </a:txBody>
                  <a:tcPr marL="142875" marR="142875" marT="85725" marB="85725" anchor="ctr">
                    <a:solidFill>
                      <a:srgbClr val="E8F0F1"/>
                    </a:solidFill>
                  </a:tcPr>
                </a:tc>
              </a:tr>
              <a:tr h="673100">
                <a:tc>
                  <a:txBody>
                    <a:bodyPr/>
                    <a:lstStyle/>
                    <a:p>
                      <a:r>
                        <a:rPr sz="1800">
                          <a:solidFill>
                            <a:srgbClr val="183542"/>
                          </a:solidFill>
                          <a:latin typeface="Helvetica Neue"/>
                          <a:ea typeface="Helvetica Neue"/>
                          <a:cs typeface="Helvetica Neue"/>
                        </a:rPr>
                        <a:t>Browser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Capture JPEG, prompt and sampling settings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Orin HTTP proxy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Forward one request and stream SSE events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proxy</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Resident backend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Decode image, run vision and language engines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TensorRT Edge-LLM</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Checkpoint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Learned image and language behavior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Browser response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Incremental text, timing and cancellation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C8964B-46D2-406B-B1A2-15BA1D4A3DBF}"/>
              </a:ext>
            </a:extLst>
          </p:cNvPr>
          <p:cNvSpPr>
            <a:spLocks xmlns:a="http://schemas.openxmlformats.org/drawingml/2006/main" noGrp="1"/>
          </p:cNvSpPr>
          <p:nvPr/>
        </p:nvSpPr>
        <p:spPr>
          <a:xfrm xmlns:a="http://schemas.openxmlformats.org/drawingml/2006/main">
            <a:off x="6858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The webpage runs on the Orin. Access through a tunnel remains a transport detail.</a:t>
            </a:r>
          </a:p>
        </p:txBody>
      </p:sp>
    </p:spTree>
    <p:extLst>
      <p:ext uri="{BB962C8B-B14F-4D97-AF65-F5344CB8AC3E}">
        <p14:creationId xmlns:p14="http://schemas.microsoft.com/office/powerpoint/2010/main" val="120892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E2D8D9-4882-4699-8D98-3E441070BAD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Compatibility and correctness repairs</a:t>
            </a:r>
          </a:p>
        </p:txBody>
      </p:sp>
      <p:sp>
        <p:nvSpPr>
          <p:cNvPr id="2" name="">
            <a:extLst xmlns:a="http://schemas.openxmlformats.org/drawingml/2006/main">
              <a:ext uri="{FF2B5EF4-FFF2-40B4-BE49-F238E27FC236}">
                <a16:creationId xmlns:a16="http://schemas.microsoft.com/office/drawing/2014/main" id="{AD4E62B6-638C-4DD8-B1E1-E805931B2E5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A21B1D-86B3-444E-83AC-1EE3CE3AEB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5</a:t>
            </a:r>
          </a:p>
        </p:txBody>
      </p:sp>
      <p:graphicFrame>
        <p:nvGraphicFramePr>
          <p:cNvPr id="9" name=""/>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firstRow="1" bandRow="0"/>
              <a:tblGrid>
                <a:gridCol w="3562350"/>
                <a:gridCol w="7258050"/>
              </a:tblGrid>
              <a:tr h="781050">
                <a:tc>
                  <a:txBody>
                    <a:bodyPr/>
                    <a:lstStyle/>
                    <a:p>
                      <a:r>
                        <a:rPr sz="1875" b="1">
                          <a:solidFill>
                            <a:srgbClr val="183542"/>
                          </a:solidFill>
                          <a:latin typeface="Helvetica Neue"/>
                          <a:ea typeface="Helvetica Neue"/>
                          <a:cs typeface="Helvetica Neue"/>
                        </a:rPr>
                        <a:t>Observed defect</a:t>
                      </a:r>
                    </a:p>
                  </a:txBody>
                  <a:tcPr marL="142875" marR="142875" marT="85725" marB="85725" anchor="ctr">
                    <a:solidFill>
                      <a:srgbClr val="E8F0F1"/>
                    </a:solidFill>
                  </a:tcPr>
                </a:tc>
                <a:tc>
                  <a:txBody>
                    <a:bodyPr/>
                    <a:lstStyle/>
                    <a:p>
                      <a:r>
                        <a:rPr sz="1875" b="1">
                          <a:solidFill>
                            <a:srgbClr val="183542"/>
                          </a:solidFill>
                          <a:latin typeface="Helvetica Neue"/>
                          <a:ea typeface="Helvetica Neue"/>
                          <a:cs typeface="Helvetica Neue"/>
                        </a:rPr>
                        <a:t>Task contribution using public conventions</a:t>
                      </a:r>
                    </a:p>
                  </a:txBody>
                  <a:tcPr marL="142875" marR="142875" marT="85725" marB="85725" anchor="ctr">
                    <a:solidFill>
                      <a:srgbClr val="E8F0F1"/>
                    </a:solidFill>
                  </a:tcPr>
                </a:tc>
              </a:tr>
              <a:tr h="781050">
                <a:tc>
                  <a:txBody>
                    <a:bodyPr/>
                    <a:lstStyle/>
                    <a:p>
                      <a:r>
                        <a:rPr sz="1875">
                          <a:solidFill>
                            <a:srgbClr val="183542"/>
                          </a:solidFill>
                          <a:latin typeface="Helvetica Neue"/>
                          <a:ea typeface="Helvetica Neue"/>
                          <a:cs typeface="Helvetica Neue"/>
                        </a:rPr>
                        <a:t>Generated runtime sidecars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Restore existing RoPE aliases and image/video delimiters</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HWC weights with CHW pixels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Apply the public exporter’s patch-weight column permutation</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Position interpolation</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Select the Cosmos half-pixel convention in the existing kernel</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Independent image cache</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Expose its existing byte budget and set it to zero for measurement</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79CDEB-7664-4E7A-8432-23481343BE1A}"/>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NVIDIA supplies the model, runtime and underlying conventions. This task repairs their integration.</a:t>
            </a:r>
          </a:p>
        </p:txBody>
      </p:sp>
    </p:spTree>
    <p:extLst>
      <p:ext uri="{BB962C8B-B14F-4D97-AF65-F5344CB8AC3E}">
        <p14:creationId xmlns:p14="http://schemas.microsoft.com/office/powerpoint/2010/main" val="875819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994DE4-6D06-4AF3-8181-C2FB23E4AB0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Quality checks and their limits</a:t>
            </a:r>
          </a:p>
        </p:txBody>
      </p:sp>
      <p:sp>
        <p:nvSpPr>
          <p:cNvPr id="2" name="">
            <a:extLst xmlns:a="http://schemas.openxmlformats.org/drawingml/2006/main">
              <a:ext uri="{FF2B5EF4-FFF2-40B4-BE49-F238E27FC236}">
                <a16:creationId xmlns:a16="http://schemas.microsoft.com/office/drawing/2014/main" id="{C420477C-7B26-455E-9C1A-3EDC6565F8B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EE91B4AA-BA78-4996-B6E3-760842CD58A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3b52b71d64544d7"/>
          <a:stretch xmlns:a="http://schemas.openxmlformats.org/drawingml/2006/main"/>
        </p:blipFill>
        <p:spPr>
          <a:xfrm xmlns:a="http://schemas.openxmlformats.org/drawingml/2006/main">
            <a:off x="1495425" y="1600200"/>
            <a:ext cx="26479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44763F-43F3-453A-BD71-74D7D6617B19}"/>
              </a:ext>
            </a:extLst>
          </p:cNvPr>
          <p:cNvSpPr>
            <a:spLocks xmlns:a="http://schemas.openxmlformats.org/drawingml/2006/main" noGrp="1"/>
          </p:cNvSpPr>
          <p:nvPr/>
        </p:nvSpPr>
        <p:spPr>
          <a:xfrm xmlns:a="http://schemas.openxmlformats.org/drawingml/2006/main">
            <a:off x="685800" y="441960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Natural photos</a:t>
            </a:r>
          </a:p>
        </p:txBody>
      </p:sp>
      <p:sp>
        <p:nvSpPr>
          <p:cNvPr id="6" name="">
            <a:extLst xmlns:a="http://schemas.openxmlformats.org/drawingml/2006/main">
              <a:ext uri="{FF2B5EF4-FFF2-40B4-BE49-F238E27FC236}">
                <a16:creationId xmlns:a16="http://schemas.microsoft.com/office/drawing/2014/main" id="{7A482A80-3C0A-4867-8B0E-E08F58595AA5}"/>
              </a:ext>
            </a:extLst>
          </p:cNvPr>
          <p:cNvSpPr>
            <a:spLocks xmlns:a="http://schemas.openxmlformats.org/drawingml/2006/main" noGrp="1"/>
          </p:cNvSpPr>
          <p:nvPr/>
        </p:nvSpPr>
        <p:spPr>
          <a:xfrm xmlns:a="http://schemas.openxmlformats.org/drawingml/2006/main">
            <a:off x="685800" y="4867275"/>
            <a:ext cx="4267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5/9 with partial credit.</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0/3 fully correct photos.</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Official reference also 5/9.</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2/3 answers match exactly.</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Cause remains unassigned.</a:t>
            </a:r>
          </a:p>
        </p:txBody>
      </p:sp>
      <p:sp>
        <p:nvSpPr>
          <p:cNvPr id="7" name="">
            <a:extLst xmlns:a="http://schemas.openxmlformats.org/drawingml/2006/main">
              <a:ext uri="{FF2B5EF4-FFF2-40B4-BE49-F238E27FC236}">
                <a16:creationId xmlns:a16="http://schemas.microsoft.com/office/drawing/2014/main" id="{554E2322-6533-4414-BFA2-E919B62641BB}"/>
              </a:ext>
            </a:extLst>
          </p:cNvPr>
          <p:cNvSpPr>
            <a:spLocks xmlns:a="http://schemas.openxmlformats.org/drawingml/2006/main" noGrp="1"/>
          </p:cNvSpPr>
          <p:nvPr/>
        </p:nvSpPr>
        <p:spPr>
          <a:xfrm xmlns:a="http://schemas.openxmlformats.org/drawingml/2006/main">
            <a:off x="5410200" y="15525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46875"/>
                </a:solidFill>
                <a:latin typeface="Helvetica Neue"/>
                <a:ea typeface="Helvetica Neue"/>
                <a:cs typeface="Helvetica Neue"/>
              </a:defRPr>
            </a:pPr>
            <a:r>
              <a:rPr sz="3225" b="1">
                <a:solidFill>
                  <a:srgbClr val="146875"/>
                </a:solidFill>
                <a:latin typeface="Helvetica Neue"/>
                <a:ea typeface="Helvetica Neue"/>
                <a:cs typeface="Helvetica Neue"/>
              </a:rPr>
              <a:t>18 / 19 synthetic facts</a:t>
            </a:r>
          </a:p>
        </p:txBody>
      </p:sp>
      <p:sp>
        <p:nvSpPr>
          <p:cNvPr id="8" name="">
            <a:extLst xmlns:a="http://schemas.openxmlformats.org/drawingml/2006/main">
              <a:ext uri="{FF2B5EF4-FFF2-40B4-BE49-F238E27FC236}">
                <a16:creationId xmlns:a16="http://schemas.microsoft.com/office/drawing/2014/main" id="{5A26529C-D826-47FD-848A-651BDA45659A}"/>
              </a:ext>
            </a:extLst>
          </p:cNvPr>
          <p:cNvSpPr>
            <a:spLocks xmlns:a="http://schemas.openxmlformats.org/drawingml/2006/main" noGrp="1"/>
          </p:cNvSpPr>
          <p:nvPr/>
        </p:nvSpPr>
        <p:spPr>
          <a:xfrm xmlns:a="http://schemas.openxmlformats.org/drawingml/2006/main">
            <a:off x="5410200" y="2457450"/>
            <a:ext cx="609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Strict screen: Fail</a:t>
            </a:r>
          </a:p>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Reference equivalence: Accepted</a:t>
            </a:r>
          </a:p>
        </p:txBody>
      </p:sp>
      <p:sp>
        <p:nvSpPr>
          <p:cNvPr id="9" name="">
            <a:extLst xmlns:a="http://schemas.openxmlformats.org/drawingml/2006/main">
              <a:ext uri="{FF2B5EF4-FFF2-40B4-BE49-F238E27FC236}">
                <a16:creationId xmlns:a16="http://schemas.microsoft.com/office/drawing/2014/main" id="{432F804B-BAEB-4F07-A4A8-C80B256049F2}"/>
              </a:ext>
            </a:extLst>
          </p:cNvPr>
          <p:cNvSpPr>
            <a:spLocks xmlns:a="http://schemas.openxmlformats.org/drawingml/2006/main" noGrp="1"/>
          </p:cNvSpPr>
          <p:nvPr/>
        </p:nvSpPr>
        <p:spPr>
          <a:xfrm xmlns:a="http://schemas.openxmlformats.org/drawingml/2006/main">
            <a:off x="5410200" y="35337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83542"/>
                </a:solidFill>
                <a:latin typeface="Helvetica Neue"/>
                <a:ea typeface="Helvetica Neue"/>
                <a:cs typeface="Helvetica Neue"/>
              </a:defRPr>
            </a:pPr>
            <a:r>
              <a:rPr sz="2325" b="1">
                <a:solidFill>
                  <a:srgbClr val="183542"/>
                </a:solidFill>
                <a:latin typeface="Helvetica Neue"/>
                <a:ea typeface="Helvetica Neue"/>
                <a:cs typeface="Helvetica Neue"/>
              </a:rPr>
              <a:t>Both paths describe the flat circles as spheres.</a:t>
            </a:r>
          </a:p>
        </p:txBody>
      </p:sp>
      <p:sp>
        <p:nvSpPr>
          <p:cNvPr id="10" name="">
            <a:extLst xmlns:a="http://schemas.openxmlformats.org/drawingml/2006/main">
              <a:ext uri="{FF2B5EF4-FFF2-40B4-BE49-F238E27FC236}">
                <a16:creationId xmlns:a16="http://schemas.microsoft.com/office/drawing/2014/main" id="{7DF82EB8-F40E-41B2-8497-236E2A300588}"/>
              </a:ext>
            </a:extLst>
          </p:cNvPr>
          <p:cNvSpPr>
            <a:spLocks xmlns:a="http://schemas.openxmlformats.org/drawingml/2006/main" noGrp="1"/>
          </p:cNvSpPr>
          <p:nvPr/>
        </p:nvSpPr>
        <p:spPr>
          <a:xfrm xmlns:a="http://schemas.openxmlformats.org/drawingml/2006/main">
            <a:off x="5410200" y="4476750"/>
            <a:ext cx="6096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Official answer identical: Yes</a:t>
            </a:r>
          </a:p>
          <a:p xmlns:a="http://schemas.openxmlformats.org/drawingml/2006/main">
            <a:pPr>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All previously correct facts must remain correct. No additional false claim is permitted.</a:t>
            </a:r>
          </a:p>
        </p:txBody>
      </p:sp>
    </p:spTree>
    <p:extLst>
      <p:ext uri="{BB962C8B-B14F-4D97-AF65-F5344CB8AC3E}">
        <p14:creationId xmlns:p14="http://schemas.microsoft.com/office/powerpoint/2010/main" val="19163599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69EB01-3938-4585-A8ED-34D0020D844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Measurement workload and stopping rule</a:t>
            </a:r>
          </a:p>
        </p:txBody>
      </p:sp>
      <p:sp>
        <p:nvSpPr>
          <p:cNvPr id="2" name="">
            <a:extLst xmlns:a="http://schemas.openxmlformats.org/drawingml/2006/main">
              <a:ext uri="{FF2B5EF4-FFF2-40B4-BE49-F238E27FC236}">
                <a16:creationId xmlns:a16="http://schemas.microsoft.com/office/drawing/2014/main" id="{EDED4253-B7CC-4022-9516-4D302324961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41CE1C2A-3A77-462E-808E-719849143C8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AF88498-9E02-47EC-8CCA-88116D532C2A}"/>
              </a:ext>
            </a:extLst>
          </p:cNvPr>
          <p:cNvSpPr>
            <a:spLocks xmlns:a="http://schemas.openxmlformats.org/drawingml/2006/main" noGrp="1"/>
          </p:cNvSpPr>
          <p:nvPr/>
        </p:nvSpPr>
        <p:spPr>
          <a:xfrm xmlns:a="http://schemas.openxmlformats.org/drawingml/2006/main">
            <a:off x="685800" y="16192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Fixed workload</a:t>
            </a:r>
          </a:p>
        </p:txBody>
      </p:sp>
      <p:sp>
        <p:nvSpPr>
          <p:cNvPr id="5" name="">
            <a:extLst xmlns:a="http://schemas.openxmlformats.org/drawingml/2006/main">
              <a:ext uri="{FF2B5EF4-FFF2-40B4-BE49-F238E27FC236}">
                <a16:creationId xmlns:a16="http://schemas.microsoft.com/office/drawing/2014/main" id="{0BC87CA6-9099-4FEB-8C32-A4489B71C357}"/>
              </a:ext>
            </a:extLst>
          </p:cNvPr>
          <p:cNvSpPr>
            <a:spLocks xmlns:a="http://schemas.openxmlformats.org/drawingml/2006/main" noGrp="1"/>
          </p:cNvSpPr>
          <p:nvPr/>
        </p:nvSpPr>
        <p:spPr>
          <a:xfrm xmlns:a="http://schemas.openxmlformats.org/drawingml/2006/main">
            <a:off x="685800" y="2114550"/>
            <a:ext cx="5095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512 × 512 JPEG</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Output ceiling: 64 tokens</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Temperature 0, top_p 1</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 warmups, 30 measured requests</a:t>
            </a:r>
          </a:p>
        </p:txBody>
      </p:sp>
      <p:sp>
        <p:nvSpPr>
          <p:cNvPr id="6" name="">
            <a:extLst xmlns:a="http://schemas.openxmlformats.org/drawingml/2006/main">
              <a:ext uri="{FF2B5EF4-FFF2-40B4-BE49-F238E27FC236}">
                <a16:creationId xmlns:a16="http://schemas.microsoft.com/office/drawing/2014/main" id="{006F8518-4F0B-4045-AE66-B9042F45EEEB}"/>
              </a:ext>
            </a:extLst>
          </p:cNvPr>
          <p:cNvSpPr>
            <a:spLocks xmlns:a="http://schemas.openxmlformats.org/drawingml/2006/main" noGrp="1"/>
          </p:cNvSpPr>
          <p:nvPr/>
        </p:nvSpPr>
        <p:spPr>
          <a:xfrm xmlns:a="http://schemas.openxmlformats.org/drawingml/2006/main">
            <a:off x="6486525" y="16192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Baseline runtime profile</a:t>
            </a:r>
          </a:p>
        </p:txBody>
      </p:sp>
      <p:sp>
        <p:nvSpPr>
          <p:cNvPr id="7" name="">
            <a:extLst xmlns:a="http://schemas.openxmlformats.org/drawingml/2006/main">
              <a:ext uri="{FF2B5EF4-FFF2-40B4-BE49-F238E27FC236}">
                <a16:creationId xmlns:a16="http://schemas.microsoft.com/office/drawing/2014/main" id="{2493C68E-00B7-4043-85DF-A607C831F3CA}"/>
              </a:ext>
            </a:extLst>
          </p:cNvPr>
          <p:cNvSpPr>
            <a:spLocks xmlns:a="http://schemas.openxmlformats.org/drawingml/2006/main" noGrp="1"/>
          </p:cNvSpPr>
          <p:nvPr/>
        </p:nvSpPr>
        <p:spPr>
          <a:xfrm xmlns:a="http://schemas.openxmlformats.org/drawingml/2006/main">
            <a:off x="6486525" y="2114550"/>
            <a:ext cx="50196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Input 1024, KV 2048, batch 1</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Encoder cache: 0 bytes</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Text context reuse: Off</a:t>
            </a:r>
          </a:p>
        </p:txBody>
      </p:sp>
      <p:sp>
        <p:nvSpPr>
          <p:cNvPr id="8" name="">
            <a:extLst xmlns:a="http://schemas.openxmlformats.org/drawingml/2006/main">
              <a:ext uri="{FF2B5EF4-FFF2-40B4-BE49-F238E27FC236}">
                <a16:creationId xmlns:a16="http://schemas.microsoft.com/office/drawing/2014/main" id="{833C219B-3453-4713-B94F-CC9ED1E6E911}"/>
              </a:ext>
            </a:extLst>
          </p:cNvPr>
          <p:cNvSpPr>
            <a:spLocks xmlns:a="http://schemas.openxmlformats.org/drawingml/2006/main" noGrp="1"/>
          </p:cNvSpPr>
          <p:nvPr/>
        </p:nvSpPr>
        <p:spPr>
          <a:xfrm xmlns:a="http://schemas.openxmlformats.org/drawingml/2006/main">
            <a:off x="685800" y="41719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At most 5 candidates. Stop after 3 consecutive non-improvements.</a:t>
            </a:r>
          </a:p>
        </p:txBody>
      </p:sp>
      <p:sp>
        <p:nvSpPr>
          <p:cNvPr id="9" name="">
            <a:extLst xmlns:a="http://schemas.openxmlformats.org/drawingml/2006/main">
              <a:ext uri="{FF2B5EF4-FFF2-40B4-BE49-F238E27FC236}">
                <a16:creationId xmlns:a16="http://schemas.microsoft.com/office/drawing/2014/main" id="{F3A36CD6-75C9-4C12-83E9-4E44269342A2}"/>
              </a:ext>
            </a:extLst>
          </p:cNvPr>
          <p:cNvSpPr>
            <a:spLocks xmlns:a="http://schemas.openxmlformats.org/drawingml/2006/main" noGrp="1"/>
          </p:cNvSpPr>
          <p:nvPr/>
        </p:nvSpPr>
        <p:spPr>
          <a:xfrm xmlns:a="http://schemas.openxmlformats.org/drawingml/2006/main">
            <a:off x="685800" y="5038725"/>
            <a:ext cx="10820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Require at least 5% lower p50 latency or peak memory, with no greater than 5% regression in the counterpart or p95 latency. Reject errors, OOM and swapping.</a:t>
            </a:r>
          </a:p>
        </p:txBody>
      </p:sp>
    </p:spTree>
    <p:extLst>
      <p:ext uri="{BB962C8B-B14F-4D97-AF65-F5344CB8AC3E}">
        <p14:creationId xmlns:p14="http://schemas.microsoft.com/office/powerpoint/2010/main" val="16533901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BFFB84-74AB-4A22-AE17-794C64699C9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Measured FP16 baseline</a:t>
            </a:r>
          </a:p>
        </p:txBody>
      </p:sp>
      <p:sp>
        <p:nvSpPr>
          <p:cNvPr id="2" name="">
            <a:extLst xmlns:a="http://schemas.openxmlformats.org/drawingml/2006/main">
              <a:ext uri="{FF2B5EF4-FFF2-40B4-BE49-F238E27FC236}">
                <a16:creationId xmlns:a16="http://schemas.microsoft.com/office/drawing/2014/main" id="{F97C772F-BDC7-4180-8340-C204005AAE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23010F-518D-4F37-A27D-8C5D38703F7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8</a:t>
            </a:r>
          </a:p>
        </p:txBody>
      </p:sp>
      <p:graphicFrame>
        <p:nvGraphicFramePr>
          <p:cNvPr id="12" name=""/>
          <p:cNvGraphicFramePr/>
          <p:nvPr/>
        </p:nvGraphicFramePr>
        <p:xfrm>
          <a:off xmlns:a="http://schemas.openxmlformats.org/drawingml/2006/main" x="685800" y="1571625"/>
          <a:ext xmlns:a="http://schemas.openxmlformats.org/drawingml/2006/main" cx="7867650" cy="2171700"/>
        </p:xfrm>
        <a:graphic xmlns:a="http://schemas.openxmlformats.org/drawingml/2006/main">
          <a:graphicData uri="http://schemas.openxmlformats.org/drawingml/2006/table">
            <a:tbl>
              <a:tblPr firstRow="1" bandRow="0"/>
              <a:tblGrid>
                <a:gridCol w="3429000"/>
                <a:gridCol w="2219325"/>
                <a:gridCol w="2219325"/>
              </a:tblGrid>
              <a:tr h="723900">
                <a:tc>
                  <a:txBody>
                    <a:bodyPr/>
                    <a:lstStyle/>
                    <a:p>
                      <a:r>
                        <a:rPr sz="2025" b="1">
                          <a:solidFill>
                            <a:srgbClr val="183542"/>
                          </a:solidFill>
                          <a:latin typeface="Helvetica Neue"/>
                          <a:ea typeface="Helvetica Neue"/>
                          <a:cs typeface="Helvetica Neue"/>
                        </a:rPr>
                        <a:t>Latency</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p50</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p95</a:t>
                      </a:r>
                    </a:p>
                  </a:txBody>
                  <a:tcPr marL="142875" marR="142875" marT="85725" marB="85725" anchor="ctr">
                    <a:solidFill>
                      <a:srgbClr val="E8F0F1"/>
                    </a:solidFill>
                  </a:tcPr>
                </a:tc>
              </a:tr>
              <a:tr h="723900">
                <a:tc>
                  <a:txBody>
                    <a:bodyPr/>
                    <a:lstStyle/>
                    <a:p>
                      <a:r>
                        <a:rPr sz="2025">
                          <a:solidFill>
                            <a:srgbClr val="183542"/>
                          </a:solidFill>
                          <a:latin typeface="Helvetica Neue"/>
                          <a:ea typeface="Helvetica Neue"/>
                          <a:cs typeface="Helvetica Neue"/>
                        </a:rPr>
                        <a:t>First visible text</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266.3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271.7 ms</a:t>
                      </a:r>
                    </a:p>
                  </a:txBody>
                  <a:tcPr marL="142875" marR="142875" marT="85725" marB="85725" anchor="ctr">
                    <a:solidFill>
                      <a:srgbClr val="FFFFFF"/>
                    </a:solidFill>
                  </a:tcPr>
                </a:tc>
              </a:tr>
              <a:tr h="723900">
                <a:tc>
                  <a:txBody>
                    <a:bodyPr/>
                    <a:lstStyle/>
                    <a:p>
                      <a:r>
                        <a:rPr sz="2025">
                          <a:solidFill>
                            <a:srgbClr val="183542"/>
                          </a:solidFill>
                          <a:latin typeface="Helvetica Neue"/>
                          <a:ea typeface="Helvetica Neue"/>
                          <a:cs typeface="Helvetica Neue"/>
                        </a:rPr>
                        <a:t>Complete answer</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1834.9 ms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340BF7-F81E-4203-913B-D4EE847272BB}"/>
              </a:ext>
            </a:extLst>
          </p:cNvPr>
          <p:cNvSpPr>
            <a:spLocks xmlns:a="http://schemas.openxmlformats.org/drawingml/2006/main" noGrp="1"/>
          </p:cNvSpPr>
          <p:nvPr/>
        </p:nvSpPr>
        <p:spPr>
          <a:xfrm xmlns:a="http://schemas.openxmlformats.org/drawingml/2006/main">
            <a:off x="9039225" y="1666875"/>
            <a:ext cx="2466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46875"/>
                </a:solidFill>
                <a:latin typeface="Helvetica Neue"/>
                <a:ea typeface="Helvetica Neue"/>
                <a:cs typeface="Helvetica Neue"/>
              </a:defRPr>
            </a:pPr>
            <a:r>
              <a:rPr sz="2775" b="1">
                <a:solidFill>
                  <a:srgbClr val="146875"/>
                </a:solidFill>
                <a:latin typeface="Helvetica Neue"/>
                <a:ea typeface="Helvetica Neue"/>
                <a:cs typeface="Helvetica Neue"/>
              </a:rPr>
              <a:t>20.21 tokens/s</a:t>
            </a:r>
          </a:p>
        </p:txBody>
      </p:sp>
      <p:sp>
        <p:nvSpPr>
          <p:cNvPr id="6" name="">
            <a:extLst xmlns:a="http://schemas.openxmlformats.org/drawingml/2006/main">
              <a:ext uri="{FF2B5EF4-FFF2-40B4-BE49-F238E27FC236}">
                <a16:creationId xmlns:a16="http://schemas.microsoft.com/office/drawing/2014/main" id="{A25EEDA1-1FAF-4B69-967A-B0BCF17CCC7B}"/>
              </a:ext>
            </a:extLst>
          </p:cNvPr>
          <p:cNvSpPr>
            <a:spLocks xmlns:a="http://schemas.openxmlformats.org/drawingml/2006/main" noGrp="1"/>
          </p:cNvSpPr>
          <p:nvPr/>
        </p:nvSpPr>
        <p:spPr>
          <a:xfrm xmlns:a="http://schemas.openxmlformats.org/drawingml/2006/main">
            <a:off x="9039225" y="2495550"/>
            <a:ext cx="2466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End-to-end throughput</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37 completion tokens</a:t>
            </a:r>
          </a:p>
        </p:txBody>
      </p:sp>
      <p:sp>
        <p:nvSpPr>
          <p:cNvPr id="7" name="">
            <a:extLst xmlns:a="http://schemas.openxmlformats.org/drawingml/2006/main">
              <a:ext uri="{FF2B5EF4-FFF2-40B4-BE49-F238E27FC236}">
                <a16:creationId xmlns:a16="http://schemas.microsoft.com/office/drawing/2014/main" id="{9142E6A6-EF56-4C73-93C1-85399BBC8429}"/>
              </a:ext>
            </a:extLst>
          </p:cNvPr>
          <p:cNvSpPr>
            <a:spLocks xmlns:a="http://schemas.openxmlformats.org/drawingml/2006/main" noGrp="1"/>
          </p:cNvSpPr>
          <p:nvPr/>
        </p:nvSpPr>
        <p:spPr>
          <a:xfrm xmlns:a="http://schemas.openxmlformats.org/drawingml/2006/main">
            <a:off x="685800" y="428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Shared RAM unavailable peak: 6.38 GiB</a:t>
            </a:r>
          </a:p>
          <a:p xmlns:a="http://schemas.openxmlformats.org/drawingml/2006/main">
            <a:pPr>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Process RSS peak: 5.90 GiB</a:t>
            </a:r>
          </a:p>
        </p:txBody>
      </p:sp>
      <p:sp>
        <p:nvSpPr>
          <p:cNvPr id="8" name="">
            <a:extLst xmlns:a="http://schemas.openxmlformats.org/drawingml/2006/main">
              <a:ext uri="{FF2B5EF4-FFF2-40B4-BE49-F238E27FC236}">
                <a16:creationId xmlns:a16="http://schemas.microsoft.com/office/drawing/2014/main" id="{8BFF5846-5CD9-414E-B355-83216E15B1DA}"/>
              </a:ext>
            </a:extLst>
          </p:cNvPr>
          <p:cNvSpPr>
            <a:spLocks xmlns:a="http://schemas.openxmlformats.org/drawingml/2006/main" noGrp="1"/>
          </p:cNvSpPr>
          <p:nvPr/>
        </p:nvSpPr>
        <p:spPr>
          <a:xfrm xmlns:a="http://schemas.openxmlformats.org/drawingml/2006/main">
            <a:off x="685800" y="56483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566773"/>
                </a:solidFill>
                <a:latin typeface="Helvetica Neue"/>
                <a:ea typeface="Helvetica Neue"/>
                <a:cs typeface="Helvetica Neue"/>
              </a:defRPr>
            </a:pPr>
            <a:r>
              <a:rPr sz="2025" b="0">
                <a:solidFill>
                  <a:srgbClr val="566773"/>
                </a:solidFill>
                <a:latin typeface="Helvetica Neue"/>
                <a:ea typeface="Helvetica Neue"/>
                <a:cs typeface="Helvetica Neue"/>
              </a:rPr>
              <a:t>Errors: 0    OOM: No    Swap activity: No</a:t>
            </a:r>
          </a:p>
        </p:txBody>
      </p:sp>
    </p:spTree>
    <p:extLst>
      <p:ext uri="{BB962C8B-B14F-4D97-AF65-F5344CB8AC3E}">
        <p14:creationId xmlns:p14="http://schemas.microsoft.com/office/powerpoint/2010/main" val="429357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0F2599-5256-4979-A07C-220028787E3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CPU INT4 conversion</a:t>
            </a:r>
          </a:p>
        </p:txBody>
      </p:sp>
      <p:sp>
        <p:nvSpPr>
          <p:cNvPr id="2" name="">
            <a:extLst xmlns:a="http://schemas.openxmlformats.org/drawingml/2006/main">
              <a:ext uri="{FF2B5EF4-FFF2-40B4-BE49-F238E27FC236}">
                <a16:creationId xmlns:a16="http://schemas.microsoft.com/office/drawing/2014/main" id="{D149536D-7A99-4677-ABF5-1940C4F7AC8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489B445-9BC9-43CD-A0D4-074E14A5155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4DCCC6CB-6293-415B-B1CF-0CE3A439ACD7}"/>
              </a:ext>
            </a:extLst>
          </p:cNvPr>
          <p:cNvSpPr>
            <a:spLocks xmlns:a="http://schemas.openxmlformats.org/drawingml/2006/main" noGrp="1"/>
          </p:cNvSpPr>
          <p:nvPr/>
        </p:nvSpPr>
        <p:spPr>
          <a:xfrm xmlns:a="http://schemas.openxmlformats.org/drawingml/2006/main">
            <a:off x="685800" y="15335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2.22 GiB</a:t>
            </a:r>
          </a:p>
        </p:txBody>
      </p:sp>
      <p:sp>
        <p:nvSpPr>
          <p:cNvPr id="5" name="">
            <a:extLst xmlns:a="http://schemas.openxmlformats.org/drawingml/2006/main">
              <a:ext uri="{FF2B5EF4-FFF2-40B4-BE49-F238E27FC236}">
                <a16:creationId xmlns:a16="http://schemas.microsoft.com/office/drawing/2014/main" id="{584B9B8C-A4AE-4D5F-8692-777A1CBC09F8}"/>
              </a:ext>
            </a:extLst>
          </p:cNvPr>
          <p:cNvSpPr>
            <a:spLocks xmlns:a="http://schemas.openxmlformats.org/drawingml/2006/main" noGrp="1"/>
          </p:cNvSpPr>
          <p:nvPr/>
        </p:nvSpPr>
        <p:spPr>
          <a:xfrm xmlns:a="http://schemas.openxmlformats.org/drawingml/2006/main">
            <a:off x="685800" y="2476500"/>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Checkpoint file on disk</a:t>
            </a:r>
          </a:p>
        </p:txBody>
      </p:sp>
      <p:sp>
        <p:nvSpPr>
          <p:cNvPr id="6" name="">
            <a:extLst xmlns:a="http://schemas.openxmlformats.org/drawingml/2006/main">
              <a:ext uri="{FF2B5EF4-FFF2-40B4-BE49-F238E27FC236}">
                <a16:creationId xmlns:a16="http://schemas.microsoft.com/office/drawing/2014/main" id="{44E339FA-5CDE-496C-8FF0-F54A5746B5F9}"/>
              </a:ext>
            </a:extLst>
          </p:cNvPr>
          <p:cNvSpPr>
            <a:spLocks xmlns:a="http://schemas.openxmlformats.org/drawingml/2006/main" noGrp="1"/>
          </p:cNvSpPr>
          <p:nvPr/>
        </p:nvSpPr>
        <p:spPr>
          <a:xfrm xmlns:a="http://schemas.openxmlformats.org/drawingml/2006/main">
            <a:off x="685800" y="338137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169 language linear modules</a:t>
            </a:r>
          </a:p>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Group size 128</a:t>
            </a:r>
          </a:p>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Native INT4 V1 kernels</a:t>
            </a:r>
          </a:p>
        </p:txBody>
      </p:sp>
      <p:sp>
        <p:nvSpPr>
          <p:cNvPr id="7" name="">
            <a:extLst xmlns:a="http://schemas.openxmlformats.org/drawingml/2006/main">
              <a:ext uri="{FF2B5EF4-FFF2-40B4-BE49-F238E27FC236}">
                <a16:creationId xmlns:a16="http://schemas.microsoft.com/office/drawing/2014/main" id="{C1FF6765-6287-4171-B7E4-1EA22715ECBC}"/>
              </a:ext>
            </a:extLst>
          </p:cNvPr>
          <p:cNvSpPr>
            <a:spLocks xmlns:a="http://schemas.openxmlformats.org/drawingml/2006/main" noGrp="1"/>
          </p:cNvSpPr>
          <p:nvPr/>
        </p:nvSpPr>
        <p:spPr>
          <a:xfrm xmlns:a="http://schemas.openxmlformats.org/drawingml/2006/main">
            <a:off x="6467475" y="16192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trial: all language linears</a:t>
            </a:r>
          </a:p>
        </p:txBody>
      </p:sp>
      <p:sp>
        <p:nvSpPr>
          <p:cNvPr id="8" name="">
            <a:extLst xmlns:a="http://schemas.openxmlformats.org/drawingml/2006/main">
              <a:ext uri="{FF2B5EF4-FFF2-40B4-BE49-F238E27FC236}">
                <a16:creationId xmlns:a16="http://schemas.microsoft.com/office/drawing/2014/main" id="{14FAC391-12B1-49B7-8B46-33A7F3C21740}"/>
              </a:ext>
            </a:extLst>
          </p:cNvPr>
          <p:cNvSpPr>
            <a:spLocks xmlns:a="http://schemas.openxmlformats.org/drawingml/2006/main" noGrp="1"/>
          </p:cNvSpPr>
          <p:nvPr/>
        </p:nvSpPr>
        <p:spPr>
          <a:xfrm xmlns:a="http://schemas.openxmlformats.org/drawingml/2006/main">
            <a:off x="6467475" y="2114550"/>
            <a:ext cx="50387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Uncalibrated RTN quantizes language linear weights and the LM head. Vision, projector and embedding tensors stay FP16.</a:t>
            </a:r>
          </a:p>
        </p:txBody>
      </p:sp>
      <p:sp>
        <p:nvSpPr>
          <p:cNvPr id="9" name="">
            <a:extLst xmlns:a="http://schemas.openxmlformats.org/drawingml/2006/main">
              <a:ext uri="{FF2B5EF4-FFF2-40B4-BE49-F238E27FC236}">
                <a16:creationId xmlns:a16="http://schemas.microsoft.com/office/drawing/2014/main" id="{913E15C6-B31B-4F00-B31F-C5B0A7EF91B6}"/>
              </a:ext>
            </a:extLst>
          </p:cNvPr>
          <p:cNvSpPr>
            <a:spLocks xmlns:a="http://schemas.openxmlformats.org/drawingml/2006/main" noGrp="1"/>
          </p:cNvSpPr>
          <p:nvPr/>
        </p:nvSpPr>
        <p:spPr>
          <a:xfrm xmlns:a="http://schemas.openxmlformats.org/drawingml/2006/main">
            <a:off x="6467475" y="39814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GPTQ-compatible storage</a:t>
            </a:r>
          </a:p>
        </p:txBody>
      </p:sp>
      <p:sp>
        <p:nvSpPr>
          <p:cNvPr id="10" name="">
            <a:extLst xmlns:a="http://schemas.openxmlformats.org/drawingml/2006/main">
              <a:ext uri="{FF2B5EF4-FFF2-40B4-BE49-F238E27FC236}">
                <a16:creationId xmlns:a16="http://schemas.microsoft.com/office/drawing/2014/main" id="{D771BD1E-8CA4-4CF5-BFA0-C206F06E8B0E}"/>
              </a:ext>
            </a:extLst>
          </p:cNvPr>
          <p:cNvSpPr>
            <a:spLocks xmlns:a="http://schemas.openxmlformats.org/drawingml/2006/main" noGrp="1"/>
          </p:cNvSpPr>
          <p:nvPr/>
        </p:nvSpPr>
        <p:spPr>
          <a:xfrm xmlns:a="http://schemas.openxmlformats.org/drawingml/2006/main">
            <a:off x="6467475" y="4476750"/>
            <a:ext cx="50387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The storage layout lets the pinned builder load RTN values. It makes no claim of GPTQ or AWQ optimization.</a:t>
            </a:r>
          </a:p>
        </p:txBody>
      </p:sp>
      <p:sp>
        <p:nvSpPr>
          <p:cNvPr id="11" name="">
            <a:extLst xmlns:a="http://schemas.openxmlformats.org/drawingml/2006/main">
              <a:ext uri="{FF2B5EF4-FFF2-40B4-BE49-F238E27FC236}">
                <a16:creationId xmlns:a16="http://schemas.microsoft.com/office/drawing/2014/main" id="{5B84323C-7408-4AB7-8B42-BED87E8C520C}"/>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Checkpoint size is distinct from measured resident RAM, allocation and latency.</a:t>
            </a:r>
          </a:p>
        </p:txBody>
      </p:sp>
    </p:spTree>
    <p:extLst>
      <p:ext uri="{BB962C8B-B14F-4D97-AF65-F5344CB8AC3E}">
        <p14:creationId xmlns:p14="http://schemas.microsoft.com/office/powerpoint/2010/main" val="869106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7F621C-6F7D-4F1E-A03C-92AE376E514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Baseline, first INT4 trial and selection</a:t>
            </a:r>
          </a:p>
        </p:txBody>
      </p:sp>
      <p:sp>
        <p:nvSpPr>
          <p:cNvPr id="2" name="">
            <a:extLst xmlns:a="http://schemas.openxmlformats.org/drawingml/2006/main">
              <a:ext uri="{FF2B5EF4-FFF2-40B4-BE49-F238E27FC236}">
                <a16:creationId xmlns:a16="http://schemas.microsoft.com/office/drawing/2014/main" id="{1612F3F3-7938-40EF-B6D3-3E80F51A007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780A633-6F97-4509-AEC5-A8FCDA2E440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10" name=""/>
          <p:cNvGraphicFramePr/>
          <p:nvPr/>
        </p:nvGraphicFramePr>
        <p:xfrm>
          <a:off xmlns:a="http://schemas.openxmlformats.org/drawingml/2006/main" x="685800" y="1571625"/>
          <a:ext xmlns:a="http://schemas.openxmlformats.org/drawingml/2006/main" cx="10820400" cy="3714750"/>
        </p:xfrm>
        <a:graphic xmlns:a="http://schemas.openxmlformats.org/drawingml/2006/main">
          <a:graphicData uri="http://schemas.openxmlformats.org/drawingml/2006/table">
            <a:tbl>
              <a:tblPr firstRow="1" bandRow="0"/>
              <a:tblGrid>
                <a:gridCol w="3048000"/>
                <a:gridCol w="2590800"/>
                <a:gridCol w="2590800"/>
                <a:gridCol w="2590800"/>
              </a:tblGrid>
              <a:tr h="619125">
                <a:tc>
                  <a:txBody>
                    <a:bodyPr/>
                    <a:lstStyle/>
                    <a:p>
                      <a:r>
                        <a:rPr sz="1650" b="1">
                          <a:solidFill>
                            <a:srgbClr val="183542"/>
                          </a:solidFill>
                          <a:latin typeface="Helvetica Neue"/>
                          <a:ea typeface="Helvetica Neue"/>
                          <a:cs typeface="Helvetica Neue"/>
                        </a:rPr>
                        <a:t>Metric</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FP16 baseline</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First RTN: rejected</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Final selected</a:t>
                      </a:r>
                    </a:p>
                  </a:txBody>
                  <a:tcPr marL="142875" marR="142875" marT="85725" marB="85725" anchor="ctr">
                    <a:solidFill>
                      <a:srgbClr val="E8F0F1"/>
                    </a:solidFill>
                  </a:tcPr>
                </a:tc>
              </a:tr>
              <a:tr h="619125">
                <a:tc>
                  <a:txBody>
                    <a:bodyPr/>
                    <a:lstStyle/>
                    <a:p>
                      <a:r>
                        <a:rPr sz="1650">
                          <a:solidFill>
                            <a:srgbClr val="183542"/>
                          </a:solidFill>
                          <a:latin typeface="Helvetica Neue"/>
                          <a:ea typeface="Helvetica Neue"/>
                          <a:cs typeface="Helvetica Neue"/>
                        </a:rPr>
                        <a:t>TTFT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266.3 ms / 271.7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266.7 ms / 269.6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265.5 ms / 267.4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Answer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1830.4 ms / 1834.9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1228.8 ms / 1234.2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1825.9 ms / 1830.0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Shared RAM peak¹</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6.38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4.20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6.43 GiB</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Strict quality facts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Reference equivalence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Fail</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715862-0F7B-4453-B8E8-A66ABEE2A9B3}"/>
              </a:ext>
            </a:extLst>
          </p:cNvPr>
          <p:cNvSpPr>
            <a:spLocks xmlns:a="http://schemas.openxmlformats.org/drawingml/2006/main" noGrp="1"/>
          </p:cNvSpPr>
          <p:nvPr/>
        </p:nvSpPr>
        <p:spPr>
          <a:xfrm xmlns:a="http://schemas.openxmlformats.org/drawingml/2006/main">
            <a:off x="685800" y="54673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Selected: fp16-corrected-i1024-kv2048</a:t>
            </a:r>
          </a:p>
        </p:txBody>
      </p:sp>
      <p:sp>
        <p:nvSpPr>
          <p:cNvPr id="6" name="">
            <a:extLst xmlns:a="http://schemas.openxmlformats.org/drawingml/2006/main">
              <a:ext uri="{FF2B5EF4-FFF2-40B4-BE49-F238E27FC236}">
                <a16:creationId xmlns:a16="http://schemas.microsoft.com/office/drawing/2014/main" id="{C8BEE034-399E-46ED-9E6B-D9855E1CECF1}"/>
              </a:ext>
            </a:extLst>
          </p:cNvPr>
          <p:cNvSpPr>
            <a:spLocks xmlns:a="http://schemas.openxmlformats.org/drawingml/2006/main" noGrp="1"/>
          </p:cNvSpPr>
          <p:nvPr/>
        </p:nvSpPr>
        <p:spPr>
          <a:xfrm xmlns:a="http://schemas.openxmlformats.org/drawingml/2006/main">
            <a:off x="685800" y="59721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System RAM unavailable. Quality rejection takes precedence over latency or memory gains.</a:t>
            </a:r>
          </a:p>
        </p:txBody>
      </p:sp>
    </p:spTree>
    <p:extLst>
      <p:ext uri="{BB962C8B-B14F-4D97-AF65-F5344CB8AC3E}">
        <p14:creationId xmlns:p14="http://schemas.microsoft.com/office/powerpoint/2010/main" val="15717560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A9867D-9B84-4604-A32A-48D36D12645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Bounded search and memory constraints</a:t>
            </a:r>
          </a:p>
        </p:txBody>
      </p:sp>
      <p:sp>
        <p:nvSpPr>
          <p:cNvPr id="2" name="">
            <a:extLst xmlns:a="http://schemas.openxmlformats.org/drawingml/2006/main">
              <a:ext uri="{FF2B5EF4-FFF2-40B4-BE49-F238E27FC236}">
                <a16:creationId xmlns:a16="http://schemas.microsoft.com/office/drawing/2014/main" id="{F3B3233A-1682-451C-ABAB-18F5D787902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5E75A50F-2732-43BE-9167-34A0F16DD95B}"/>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85800" y="1571625"/>
          <a:ext xmlns:a="http://schemas.openxmlformats.org/drawingml/2006/main" cx="10820400" cy="3105150"/>
        </p:xfrm>
        <a:graphic xmlns:a="http://schemas.openxmlformats.org/drawingml/2006/main">
          <a:graphicData uri="http://schemas.openxmlformats.org/drawingml/2006/table">
            <a:tbl>
              <a:tblPr firstRow="1" bandRow="0"/>
              <a:tblGrid>
                <a:gridCol w="3495675"/>
                <a:gridCol w="1762125"/>
                <a:gridCol w="1143000"/>
                <a:gridCol w="2209800"/>
                <a:gridCol w="2209800"/>
              </a:tblGrid>
              <a:tr h="621030">
                <a:tc>
                  <a:txBody>
                    <a:bodyPr/>
                    <a:lstStyle/>
                    <a:p>
                      <a:r>
                        <a:rPr sz="1725" b="1">
                          <a:solidFill>
                            <a:srgbClr val="183542"/>
                          </a:solidFill>
                          <a:latin typeface="Helvetica Neue"/>
                          <a:ea typeface="Helvetica Neue"/>
                          <a:cs typeface="Helvetica Neue"/>
                        </a:rPr>
                        <a:t>Candidate</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Result</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Facts</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RAM peak¹</a:t>
                      </a:r>
                    </a:p>
                  </a:txBody>
                  <a:tcPr marL="142875" marR="142875" marT="85725" marB="85725" anchor="ctr">
                    <a:solidFill>
                      <a:srgbClr val="E8F0F1"/>
                    </a:solidFill>
                  </a:tcPr>
                </a:tc>
              </a:tr>
              <a:tr h="621030">
                <a:tc>
                  <a:txBody>
                    <a:bodyPr/>
                    <a:lstStyle/>
                    <a:p>
                      <a:r>
                        <a:rPr sz="1725">
                          <a:solidFill>
                            <a:srgbClr val="183542"/>
                          </a:solidFill>
                          <a:latin typeface="Helvetica Neue"/>
                          <a:ea typeface="Helvetica Neue"/>
                          <a:cs typeface="Helvetica Neue"/>
                        </a:rPr>
                        <a:t>FP16 reference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Selected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6.38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all linears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1228.8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4.20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MLP only</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1026.6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5.01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FP16 fixed clocks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1758.3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6.35 GiB</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BB17D0-2142-4E9F-BB5C-DEA92832698C}"/>
              </a:ext>
            </a:extLst>
          </p:cNvPr>
          <p:cNvSpPr>
            <a:spLocks xmlns:a="http://schemas.openxmlformats.org/drawingml/2006/main" noGrp="1"/>
          </p:cNvSpPr>
          <p:nvPr/>
        </p:nvSpPr>
        <p:spPr>
          <a:xfrm xmlns:a="http://schemas.openxmlformats.org/drawingml/2006/main">
            <a:off x="685800" y="49053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46875"/>
                </a:solidFill>
                <a:latin typeface="Helvetica Neue"/>
                <a:ea typeface="Helvetica Neue"/>
                <a:cs typeface="Helvetica Neue"/>
              </a:defRPr>
            </a:pPr>
            <a:r>
              <a:rPr sz="1950" b="0">
                <a:solidFill>
                  <a:srgbClr val="146875"/>
                </a:solidFill>
                <a:latin typeface="Helvetica Neue"/>
                <a:ea typeface="Helvetica Neue"/>
                <a:cs typeface="Helvetica Neue"/>
              </a:rPr>
              <a:t>Linux exposes 7.37 GiB shared physical RAM. Selected process RSS peak: 5.91 GiB.</a:t>
            </a:r>
          </a:p>
        </p:txBody>
      </p:sp>
      <p:sp>
        <p:nvSpPr>
          <p:cNvPr id="6" name="">
            <a:extLst xmlns:a="http://schemas.openxmlformats.org/drawingml/2006/main">
              <a:ext uri="{FF2B5EF4-FFF2-40B4-BE49-F238E27FC236}">
                <a16:creationId xmlns:a16="http://schemas.microsoft.com/office/drawing/2014/main" id="{AF347A8D-D30D-4EEF-9B2F-12FC7E14A572}"/>
              </a:ext>
            </a:extLst>
          </p:cNvPr>
          <p:cNvSpPr>
            <a:spLocks xmlns:a="http://schemas.openxmlformats.org/drawingml/2006/main" noGrp="1"/>
          </p:cNvSpPr>
          <p:nvPr/>
        </p:nvSpPr>
        <p:spPr>
          <a:xfrm xmlns:a="http://schemas.openxmlformats.org/drawingml/2006/main">
            <a:off x="685800" y="57245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MemTotal − MemAvailable overlaps process RSS. Never add them.</a:t>
            </a:r>
          </a:p>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CUDA allocator telemetry: not collected. Disk sizes measure storage.</a:t>
            </a:r>
          </a:p>
        </p:txBody>
      </p:sp>
    </p:spTree>
    <p:extLst>
      <p:ext uri="{BB962C8B-B14F-4D97-AF65-F5344CB8AC3E}">
        <p14:creationId xmlns:p14="http://schemas.microsoft.com/office/powerpoint/2010/main" val="889328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9B79B3-C3CC-439E-8176-D1AE28ED43A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configuration and sustained run</a:t>
            </a:r>
          </a:p>
        </p:txBody>
      </p:sp>
      <p:sp>
        <p:nvSpPr>
          <p:cNvPr id="2" name="">
            <a:extLst xmlns:a="http://schemas.openxmlformats.org/drawingml/2006/main">
              <a:ext uri="{FF2B5EF4-FFF2-40B4-BE49-F238E27FC236}">
                <a16:creationId xmlns:a16="http://schemas.microsoft.com/office/drawing/2014/main" id="{E9D11E52-04A7-4983-BF01-0ECE082FE9D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01DE917F-F595-409A-9497-A12CE30E1DF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07C5DC8-59A6-4F7A-BF3E-83A7E1A5C3E9}"/>
              </a:ext>
            </a:extLst>
          </p:cNvPr>
          <p:cNvSpPr>
            <a:spLocks xmlns:a="http://schemas.openxmlformats.org/drawingml/2006/main" noGrp="1"/>
          </p:cNvSpPr>
          <p:nvPr/>
        </p:nvSpPr>
        <p:spPr>
          <a:xfrm xmlns:a="http://schemas.openxmlformats.org/drawingml/2006/main">
            <a:off x="685800" y="1562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46875"/>
                </a:solidFill>
                <a:latin typeface="Helvetica Neue"/>
                <a:ea typeface="Helvetica Neue"/>
                <a:cs typeface="Helvetica Neue"/>
              </a:defRPr>
            </a:pPr>
            <a:r>
              <a:rPr sz="2700" b="1">
                <a:solidFill>
                  <a:srgbClr val="146875"/>
                </a:solidFill>
                <a:latin typeface="Helvetica Neue"/>
                <a:ea typeface="Helvetica Neue"/>
                <a:cs typeface="Helvetica Neue"/>
              </a:rPr>
              <a:t>fp16-corrected-i1024-kv2048</a:t>
            </a:r>
          </a:p>
        </p:txBody>
      </p:sp>
      <p:sp>
        <p:nvSpPr>
          <p:cNvPr id="5" name="">
            <a:extLst xmlns:a="http://schemas.openxmlformats.org/drawingml/2006/main">
              <a:ext uri="{FF2B5EF4-FFF2-40B4-BE49-F238E27FC236}">
                <a16:creationId xmlns:a16="http://schemas.microsoft.com/office/drawing/2014/main" id="{7ED56856-97D1-4FE3-AE0D-DED0D9E917EE}"/>
              </a:ext>
            </a:extLst>
          </p:cNvPr>
          <p:cNvSpPr>
            <a:spLocks xmlns:a="http://schemas.openxmlformats.org/drawingml/2006/main" noGrp="1"/>
          </p:cNvSpPr>
          <p:nvPr/>
        </p:nvSpPr>
        <p:spPr>
          <a:xfrm xmlns:a="http://schemas.openxmlformats.org/drawingml/2006/main">
            <a:off x="685800" y="2200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FP16 preserves reference quality. Both INT4 variants add errors; fixed clocks miss the 5% gain and swap gate.</a:t>
            </a:r>
          </a:p>
        </p:txBody>
      </p:sp>
      <p:sp>
        <p:nvSpPr>
          <p:cNvPr id="6" name="">
            <a:extLst xmlns:a="http://schemas.openxmlformats.org/drawingml/2006/main">
              <a:ext uri="{FF2B5EF4-FFF2-40B4-BE49-F238E27FC236}">
                <a16:creationId xmlns:a16="http://schemas.microsoft.com/office/drawing/2014/main" id="{F4149C92-D7A4-489F-9D5F-0C6F82ACC4C8}"/>
              </a:ext>
            </a:extLst>
          </p:cNvPr>
          <p:cNvSpPr>
            <a:spLocks xmlns:a="http://schemas.openxmlformats.org/drawingml/2006/main" noGrp="1"/>
          </p:cNvSpPr>
          <p:nvPr/>
        </p:nvSpPr>
        <p:spPr>
          <a:xfrm xmlns:a="http://schemas.openxmlformats.org/drawingml/2006/main">
            <a:off x="685800" y="28194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FP16 · dynamic stock 25 W · swap disabled</a:t>
            </a:r>
          </a:p>
        </p:txBody>
      </p:sp>
      <p:sp>
        <p:nvSpPr>
          <p:cNvPr id="7" name="">
            <a:extLst xmlns:a="http://schemas.openxmlformats.org/drawingml/2006/main">
              <a:ext uri="{FF2B5EF4-FFF2-40B4-BE49-F238E27FC236}">
                <a16:creationId xmlns:a16="http://schemas.microsoft.com/office/drawing/2014/main" id="{E241020C-2E5B-485E-8065-4C6BE5F92154}"/>
              </a:ext>
            </a:extLst>
          </p:cNvPr>
          <p:cNvSpPr>
            <a:spLocks xmlns:a="http://schemas.openxmlformats.org/drawingml/2006/main" noGrp="1"/>
          </p:cNvSpPr>
          <p:nvPr/>
        </p:nvSpPr>
        <p:spPr>
          <a:xfrm xmlns:a="http://schemas.openxmlformats.org/drawingml/2006/main">
            <a:off x="685800" y="33909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FP16 retained. Final service verification is separate from the four search trials.</a:t>
            </a:r>
          </a:p>
        </p:txBody>
      </p:sp>
      <p:graphicFrame>
        <p:nvGraphicFramePr>
          <p:cNvPr id="17" name=""/>
          <p:cNvGraphicFramePr/>
          <p:nvPr/>
        </p:nvGraphicFramePr>
        <p:xfrm>
          <a:off xmlns:a="http://schemas.openxmlformats.org/drawingml/2006/main" x="685800" y="3867150"/>
          <a:ext xmlns:a="http://schemas.openxmlformats.org/drawingml/2006/main" cx="10820400" cy="1714500"/>
        </p:xfrm>
        <a:graphic xmlns:a="http://schemas.openxmlformats.org/drawingml/2006/main">
          <a:graphicData uri="http://schemas.openxmlformats.org/drawingml/2006/table">
            <a:tbl>
              <a:tblPr firstRow="1" bandRow="0"/>
              <a:tblGrid>
                <a:gridCol w="5324475"/>
                <a:gridCol w="5495925"/>
              </a:tblGrid>
              <a:tr h="428625">
                <a:tc>
                  <a:txBody>
                    <a:bodyPr/>
                    <a:lstStyle/>
                    <a:p>
                      <a:r>
                        <a:rPr sz="1725" b="1">
                          <a:solidFill>
                            <a:srgbClr val="183542"/>
                          </a:solidFill>
                          <a:latin typeface="Helvetica Neue"/>
                          <a:ea typeface="Helvetica Neue"/>
                          <a:cs typeface="Helvetica Neue"/>
                        </a:rPr>
                        <a:t>Sustained-run check</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Observed result</a:t>
                      </a:r>
                    </a:p>
                  </a:txBody>
                  <a:tcPr marL="142875" marR="142875" marT="85725" marB="85725" anchor="ctr">
                    <a:solidFill>
                      <a:srgbClr val="E8F0F1"/>
                    </a:solidFill>
                  </a:tcPr>
                </a:tc>
              </a:tr>
              <a:tr h="428625">
                <a:tc>
                  <a:txBody>
                    <a:bodyPr/>
                    <a:lstStyle/>
                    <a:p>
                      <a:r>
                        <a:rPr sz="1725">
                          <a:solidFill>
                            <a:srgbClr val="183542"/>
                          </a:solidFill>
                          <a:latin typeface="Helvetica Neue"/>
                          <a:ea typeface="Helvetica Neue"/>
                          <a:cs typeface="Helvetica Neue"/>
                        </a:rPr>
                        <a:t>Duration and successful requests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601 seconds / 366 requests</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Minimum MemAvailable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0.94 GiB</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Errors / OOM / swap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 / No / No</a:t>
                      </a:r>
                    </a:p>
                  </a:txBody>
                  <a:tcPr marL="142875" marR="142875" marT="85725" marB="857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39D625B-2BE2-4D79-87BE-285503FC52EF}"/>
              </a:ext>
            </a:extLst>
          </p:cNvPr>
          <p:cNvSpPr>
            <a:spLocks xmlns:a="http://schemas.openxmlformats.org/drawingml/2006/main" noGrp="1"/>
          </p:cNvSpPr>
          <p:nvPr/>
        </p:nvSpPr>
        <p:spPr>
          <a:xfrm xmlns:a="http://schemas.openxmlformats.org/drawingml/2006/main">
            <a:off x="685800" y="5943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Candidates considered: 4. Stop reason: Stopped after three consecutive non-improvements.</a:t>
            </a:r>
          </a:p>
        </p:txBody>
      </p:sp>
    </p:spTree>
    <p:extLst>
      <p:ext uri="{BB962C8B-B14F-4D97-AF65-F5344CB8AC3E}">
        <p14:creationId xmlns:p14="http://schemas.microsoft.com/office/powerpoint/2010/main" val="7565377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8537E5-C82F-43CF-8A5F-AD77293A47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Upstream contributions and licenses</a:t>
            </a:r>
          </a:p>
        </p:txBody>
      </p:sp>
      <p:sp>
        <p:nvSpPr>
          <p:cNvPr id="2" name="">
            <a:extLst xmlns:a="http://schemas.openxmlformats.org/drawingml/2006/main">
              <a:ext uri="{FF2B5EF4-FFF2-40B4-BE49-F238E27FC236}">
                <a16:creationId xmlns:a16="http://schemas.microsoft.com/office/drawing/2014/main" id="{642E6B80-23FC-4DF0-8DBB-5A3CC98E54E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C16C768D-868C-48A9-8257-E7B9D1DFF84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10" name=""/>
          <p:cNvGraphicFramePr/>
          <p:nvPr/>
        </p:nvGraphicFramePr>
        <p:xfrm>
          <a:off xmlns:a="http://schemas.openxmlformats.org/drawingml/2006/main" x="685800" y="1571625"/>
          <a:ext xmlns:a="http://schemas.openxmlformats.org/drawingml/2006/main" cx="10820400" cy="3314700"/>
        </p:xfrm>
        <a:graphic xmlns:a="http://schemas.openxmlformats.org/drawingml/2006/main">
          <a:graphicData uri="http://schemas.openxmlformats.org/drawingml/2006/table">
            <a:tbl>
              <a:tblPr firstRow="1" bandRow="0"/>
              <a:tblGrid>
                <a:gridCol w="3876675"/>
                <a:gridCol w="4686300"/>
                <a:gridCol w="2257425"/>
              </a:tblGrid>
              <a:tr h="552450">
                <a:tc>
                  <a:txBody>
                    <a:bodyPr/>
                    <a:lstStyle/>
                    <a:p>
                      <a:r>
                        <a:rPr sz="1650" b="1">
                          <a:solidFill>
                            <a:srgbClr val="183542"/>
                          </a:solidFill>
                          <a:latin typeface="Helvetica Neue"/>
                          <a:ea typeface="Helvetica Neue"/>
                          <a:cs typeface="Helvetica Neue"/>
                        </a:rPr>
                        <a:t>Project / team</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Contribution</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Terms</a:t>
                      </a:r>
                    </a:p>
                  </a:txBody>
                  <a:tcPr marL="142875" marR="142875" marT="85725" marB="85725" anchor="ctr">
                    <a:solidFill>
                      <a:srgbClr val="E8F0F1"/>
                    </a:solidFill>
                  </a:tcPr>
                </a:tc>
              </a:tr>
              <a:tr h="552450">
                <a:tc>
                  <a:txBody>
                    <a:bodyPr/>
                    <a:lstStyle/>
                    <a:p>
                      <a:r>
                        <a:rPr sz="165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Pretrained model and tokenizer</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OpenMDW-1.1</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TensorRT Edge-LLM</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Runtime, builders and kernels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live-vlm-webui contributors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Public interaction reference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PyTorch / Transformers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Official-model reference execution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Component licenses</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Original task integration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UI, transport, repairs, measurements, RTN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677A33E-296A-4D15-9C1C-1E6CDC354FE1}"/>
              </a:ext>
            </a:extLst>
          </p:cNvPr>
          <p:cNvSpPr>
            <a:spLocks xmlns:a="http://schemas.openxmlformats.org/drawingml/2006/main" noGrp="1"/>
          </p:cNvSpPr>
          <p:nvPr/>
        </p:nvSpPr>
        <p:spPr>
          <a:xfrm xmlns:a="http://schemas.openxmlformats.org/drawingml/2006/main">
            <a:off x="685800" y="5048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Public repository contributors</a:t>
            </a:r>
          </a:p>
        </p:txBody>
      </p:sp>
      <p:sp>
        <p:nvSpPr>
          <p:cNvPr id="6" name="">
            <a:extLst xmlns:a="http://schemas.openxmlformats.org/drawingml/2006/main">
              <a:ext uri="{FF2B5EF4-FFF2-40B4-BE49-F238E27FC236}">
                <a16:creationId xmlns:a16="http://schemas.microsoft.com/office/drawing/2014/main" id="{2C95ACF4-73D1-4A27-9A0B-7CEA8018AAC6}"/>
              </a:ext>
            </a:extLst>
          </p:cNvPr>
          <p:cNvSpPr>
            <a:spLocks xmlns:a="http://schemas.openxmlformats.org/drawingml/2006/main" noGrp="1"/>
          </p:cNvSpPr>
          <p:nvPr/>
        </p:nvSpPr>
        <p:spPr>
          <a:xfrm xmlns:a="http://schemas.openxmlformats.org/drawingml/2006/main">
            <a:off x="685800" y="55054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UI: tokk-nv, chitoku</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Runtime: nvluxiaoz, ever-wong, jhalabi-nv, nvxingkaiz, JCalafato, poweiw</a:t>
            </a:r>
          </a:p>
        </p:txBody>
      </p:sp>
    </p:spTree>
    <p:extLst>
      <p:ext uri="{BB962C8B-B14F-4D97-AF65-F5344CB8AC3E}">
        <p14:creationId xmlns:p14="http://schemas.microsoft.com/office/powerpoint/2010/main" val="7893840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939C6D-5680-4B68-AB40-063488846D1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Limits and reproduction</a:t>
            </a:r>
          </a:p>
        </p:txBody>
      </p:sp>
      <p:sp>
        <p:nvSpPr>
          <p:cNvPr id="2" name="">
            <a:extLst xmlns:a="http://schemas.openxmlformats.org/drawingml/2006/main">
              <a:ext uri="{FF2B5EF4-FFF2-40B4-BE49-F238E27FC236}">
                <a16:creationId xmlns:a16="http://schemas.microsoft.com/office/drawing/2014/main" id="{AC0F33AC-9097-4E2D-8E86-9E61954B600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3096F3A-9AB8-40C3-9852-C0065CCFAFB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8F506D3-14F6-410D-B41B-9234DA06D5BF}"/>
              </a:ext>
            </a:extLst>
          </p:cNvPr>
          <p:cNvSpPr>
            <a:spLocks xmlns:a="http://schemas.openxmlformats.org/drawingml/2006/main" noGrp="1"/>
          </p:cNvSpPr>
          <p:nvPr/>
        </p:nvSpPr>
        <p:spPr>
          <a:xfrm xmlns:a="http://schemas.openxmlformats.org/drawingml/2006/main">
            <a:off x="685800" y="1581150"/>
            <a:ext cx="5019675"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Quality: 18/19 synthetic facts; natural photos 5/9 with partial credit, 0/3 fully correct.</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Streaming checks passed. Natural-video and temporal understanding remain untested.</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Small inputs are padded around a documented position-interpolation limit.</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RAM and RSS overlap. CUDA allocator peak was not collected.</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NVMe timeouts recur at cold load. Service recovers; storage issue remains unresolved.</a:t>
            </a:r>
          </a:p>
        </p:txBody>
      </p:sp>
      <p:sp>
        <p:nvSpPr>
          <p:cNvPr id="5" name="">
            <a:extLst xmlns:a="http://schemas.openxmlformats.org/drawingml/2006/main">
              <a:ext uri="{FF2B5EF4-FFF2-40B4-BE49-F238E27FC236}">
                <a16:creationId xmlns:a16="http://schemas.microsoft.com/office/drawing/2014/main" id="{64A06B59-61B3-42F7-93DE-EB3499D38F3B}"/>
              </a:ext>
            </a:extLst>
          </p:cNvPr>
          <p:cNvSpPr>
            <a:spLocks xmlns:a="http://schemas.openxmlformats.org/drawingml/2006/main" noGrp="1"/>
          </p:cNvSpPr>
          <p:nvPr/>
        </p:nvSpPr>
        <p:spPr>
          <a:xfrm xmlns:a="http://schemas.openxmlformats.org/drawingml/2006/main">
            <a:off x="6296025" y="160020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Build selected engines</a:t>
            </a:r>
          </a:p>
        </p:txBody>
      </p:sp>
      <p:sp>
        <p:nvSpPr>
          <p:cNvPr id="6" name="">
            <a:extLst xmlns:a="http://schemas.openxmlformats.org/drawingml/2006/main">
              <a:ext uri="{FF2B5EF4-FFF2-40B4-BE49-F238E27FC236}">
                <a16:creationId xmlns:a16="http://schemas.microsoft.com/office/drawing/2014/main" id="{1C43618D-1B18-48D0-AE80-A0EAE3FFCE21}"/>
              </a:ext>
            </a:extLst>
          </p:cNvPr>
          <p:cNvSpPr>
            <a:spLocks xmlns:a="http://schemas.openxmlformats.org/drawingml/2006/main" noGrp="1"/>
          </p:cNvSpPr>
          <p:nvPr/>
        </p:nvSpPr>
        <p:spPr>
          <a:xfrm xmlns:a="http://schemas.openxmlformats.org/drawingml/2006/main">
            <a:off x="6296025" y="2095500"/>
            <a:ext cx="5210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Native runtime + engine build:</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docs/backend-build.md</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Section 4, selected FP16</a:t>
            </a:r>
          </a:p>
        </p:txBody>
      </p:sp>
      <p:sp>
        <p:nvSpPr>
          <p:cNvPr id="7" name="">
            <a:extLst xmlns:a="http://schemas.openxmlformats.org/drawingml/2006/main">
              <a:ext uri="{FF2B5EF4-FFF2-40B4-BE49-F238E27FC236}">
                <a16:creationId xmlns:a16="http://schemas.microsoft.com/office/drawing/2014/main" id="{6732F9E8-B3E9-43F6-8287-6330B967226F}"/>
              </a:ext>
            </a:extLst>
          </p:cNvPr>
          <p:cNvSpPr>
            <a:spLocks xmlns:a="http://schemas.openxmlformats.org/drawingml/2006/main" noGrp="1"/>
          </p:cNvSpPr>
          <p:nvPr/>
        </p:nvSpPr>
        <p:spPr>
          <a:xfrm xmlns:a="http://schemas.openxmlformats.org/drawingml/2006/main">
            <a:off x="6296025" y="31432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Serve on the Orin</a:t>
            </a:r>
          </a:p>
        </p:txBody>
      </p:sp>
      <p:sp>
        <p:nvSpPr>
          <p:cNvPr id="8" name="">
            <a:extLst xmlns:a="http://schemas.openxmlformats.org/drawingml/2006/main">
              <a:ext uri="{FF2B5EF4-FFF2-40B4-BE49-F238E27FC236}">
                <a16:creationId xmlns:a16="http://schemas.microsoft.com/office/drawing/2014/main" id="{ACBE9B11-C085-416D-8341-98BB5E717F95}"/>
              </a:ext>
            </a:extLst>
          </p:cNvPr>
          <p:cNvSpPr>
            <a:spLocks xmlns:a="http://schemas.openxmlformats.org/drawingml/2006/main" noGrp="1"/>
          </p:cNvSpPr>
          <p:nvPr/>
        </p:nvSpPr>
        <p:spPr>
          <a:xfrm xmlns:a="http://schemas.openxmlformats.org/drawingml/2006/main">
            <a:off x="6296025" y="3638550"/>
            <a:ext cx="521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sudo systemctl start cosmos-edge-backend cosmos-edge-ui</a:t>
            </a:r>
          </a:p>
        </p:txBody>
      </p:sp>
      <p:sp>
        <p:nvSpPr>
          <p:cNvPr id="9" name="">
            <a:extLst xmlns:a="http://schemas.openxmlformats.org/drawingml/2006/main">
              <a:ext uri="{FF2B5EF4-FFF2-40B4-BE49-F238E27FC236}">
                <a16:creationId xmlns:a16="http://schemas.microsoft.com/office/drawing/2014/main" id="{E08C9D96-B395-4FBF-9411-E717F33D1AB9}"/>
              </a:ext>
            </a:extLst>
          </p:cNvPr>
          <p:cNvSpPr>
            <a:spLocks xmlns:a="http://schemas.openxmlformats.org/drawingml/2006/main" noGrp="1"/>
          </p:cNvSpPr>
          <p:nvPr/>
        </p:nvSpPr>
        <p:spPr>
          <a:xfrm xmlns:a="http://schemas.openxmlformats.org/drawingml/2006/main">
            <a:off x="6296025" y="45910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Repeat the measured workload</a:t>
            </a:r>
          </a:p>
        </p:txBody>
      </p:sp>
      <p:sp>
        <p:nvSpPr>
          <p:cNvPr id="10" name="">
            <a:extLst xmlns:a="http://schemas.openxmlformats.org/drawingml/2006/main">
              <a:ext uri="{FF2B5EF4-FFF2-40B4-BE49-F238E27FC236}">
                <a16:creationId xmlns:a16="http://schemas.microsoft.com/office/drawing/2014/main" id="{995CCC26-A2AA-4362-8B5B-C91923180603}"/>
              </a:ext>
            </a:extLst>
          </p:cNvPr>
          <p:cNvSpPr>
            <a:spLocks xmlns:a="http://schemas.openxmlformats.org/drawingml/2006/main" noGrp="1"/>
          </p:cNvSpPr>
          <p:nvPr/>
        </p:nvSpPr>
        <p:spPr>
          <a:xfrm xmlns:a="http://schemas.openxmlformats.org/drawingml/2006/main">
            <a:off x="6296025" y="5086350"/>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scripts/benchmark.py</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Invocation and fixed settings:</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research/benchmark-method.md</a:t>
            </a:r>
          </a:p>
        </p:txBody>
      </p:sp>
    </p:spTree>
    <p:extLst>
      <p:ext uri="{BB962C8B-B14F-4D97-AF65-F5344CB8AC3E}">
        <p14:creationId xmlns:p14="http://schemas.microsoft.com/office/powerpoint/2010/main" val="1426321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007B91-F2E2-4F9C-BDB2-DFAA48CFF47C}"/>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goal and agent stopping policy</a:t>
            </a:r>
          </a:p>
        </p:txBody>
      </p:sp>
      <p:sp>
        <p:nvSpPr>
          <p:cNvPr id="2" name="">
            <a:extLst xmlns:a="http://schemas.openxmlformats.org/drawingml/2006/main">
              <a:ext uri="{FF2B5EF4-FFF2-40B4-BE49-F238E27FC236}">
                <a16:creationId xmlns:a16="http://schemas.microsoft.com/office/drawing/2014/main" id="{A8A29B02-753F-4A90-AF5E-2F72B79777D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23FA088-03C0-405F-BE75-F9FC1BAB7F9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6D3C93F-6BE8-4AD1-83C4-D551128B9ABB}"/>
              </a:ext>
            </a:extLst>
          </p:cNvPr>
          <p:cNvSpPr>
            <a:spLocks xmlns:a="http://schemas.openxmlformats.org/drawingml/2006/main" noGrp="1"/>
          </p:cNvSpPr>
          <p:nvPr/>
        </p:nvSpPr>
        <p:spPr>
          <a:xfrm xmlns:a="http://schemas.openxmlformats.org/drawingml/2006/main">
            <a:off x="685800" y="15716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User-defined goal</a:t>
            </a:r>
          </a:p>
        </p:txBody>
      </p:sp>
      <p:sp>
        <p:nvSpPr>
          <p:cNvPr id="5" name="">
            <a:extLst xmlns:a="http://schemas.openxmlformats.org/drawingml/2006/main">
              <a:ext uri="{FF2B5EF4-FFF2-40B4-BE49-F238E27FC236}">
                <a16:creationId xmlns:a16="http://schemas.microsoft.com/office/drawing/2014/main" id="{68DE459D-E75B-41DD-A55B-F98D008E191C}"/>
              </a:ext>
            </a:extLst>
          </p:cNvPr>
          <p:cNvSpPr>
            <a:spLocks xmlns:a="http://schemas.openxmlformats.org/drawingml/2006/main" noGrp="1"/>
          </p:cNvSpPr>
          <p:nvPr/>
        </p:nvSpPr>
        <p:spPr>
          <a:xfrm xmlns:a="http://schemas.openxmlformats.org/drawingml/2006/main">
            <a:off x="685800" y="20669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Install JetPack through USB-C.</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Run Cosmos3-Edge with TRT-Edge-LLM.</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Serve streaming vision on the Orin.</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Measure memory and latency.</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Present findings and public-source credits.</a:t>
            </a:r>
          </a:p>
        </p:txBody>
      </p:sp>
      <p:sp>
        <p:nvSpPr>
          <p:cNvPr id="6" name="">
            <a:extLst xmlns:a="http://schemas.openxmlformats.org/drawingml/2006/main">
              <a:ext uri="{FF2B5EF4-FFF2-40B4-BE49-F238E27FC236}">
                <a16:creationId xmlns:a16="http://schemas.microsoft.com/office/drawing/2014/main" id="{A5ACA0CE-D9A2-4749-B45D-544BAE0EBB36}"/>
              </a:ext>
            </a:extLst>
          </p:cNvPr>
          <p:cNvSpPr>
            <a:spLocks xmlns:a="http://schemas.openxmlformats.org/drawingml/2006/main" noGrp="1"/>
          </p:cNvSpPr>
          <p:nvPr/>
        </p:nvSpPr>
        <p:spPr>
          <a:xfrm xmlns:a="http://schemas.openxmlformats.org/drawingml/2006/main">
            <a:off x="685800" y="44672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“so you don’t keep iterating on marginal gains”</a:t>
            </a:r>
          </a:p>
        </p:txBody>
      </p:sp>
      <p:sp>
        <p:nvSpPr>
          <p:cNvPr id="7" name="">
            <a:extLst xmlns:a="http://schemas.openxmlformats.org/drawingml/2006/main">
              <a:ext uri="{FF2B5EF4-FFF2-40B4-BE49-F238E27FC236}">
                <a16:creationId xmlns:a16="http://schemas.microsoft.com/office/drawing/2014/main" id="{F5DD196A-E28F-4A99-B483-D27604A26D5B}"/>
              </a:ext>
            </a:extLst>
          </p:cNvPr>
          <p:cNvSpPr>
            <a:spLocks xmlns:a="http://schemas.openxmlformats.org/drawingml/2006/main" noGrp="1"/>
          </p:cNvSpPr>
          <p:nvPr/>
        </p:nvSpPr>
        <p:spPr>
          <a:xfrm xmlns:a="http://schemas.openxmlformats.org/drawingml/2006/main">
            <a:off x="685800" y="562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User request for a finite search</a:t>
            </a:r>
          </a:p>
        </p:txBody>
      </p:sp>
      <p:graphicFrame>
        <p:nvGraphicFramePr>
          <p:cNvPr id="16" name=""/>
          <p:cNvGraphicFramePr/>
          <p:nvPr/>
        </p:nvGraphicFramePr>
        <p:xfrm>
          <a:off xmlns:a="http://schemas.openxmlformats.org/drawingml/2006/main" x="5981700" y="1571625"/>
          <a:ext xmlns:a="http://schemas.openxmlformats.org/drawingml/2006/main" cx="5524500" cy="4400550"/>
        </p:xfrm>
        <a:graphic xmlns:a="http://schemas.openxmlformats.org/drawingml/2006/main">
          <a:graphicData uri="http://schemas.openxmlformats.org/drawingml/2006/table">
            <a:tbl>
              <a:tblPr firstRow="1" bandRow="0"/>
              <a:tblGrid>
                <a:gridCol w="2571750"/>
                <a:gridCol w="2952750"/>
              </a:tblGrid>
              <a:tr h="733425">
                <a:tc>
                  <a:txBody>
                    <a:bodyPr/>
                    <a:lstStyle/>
                    <a:p>
                      <a:r>
                        <a:rPr sz="1725" b="1">
                          <a:solidFill>
                            <a:srgbClr val="183542"/>
                          </a:solidFill>
                          <a:latin typeface="Helvetica Neue"/>
                          <a:ea typeface="Helvetica Neue"/>
                          <a:cs typeface="Helvetica Neue"/>
                        </a:rPr>
                        <a:t>Agent-chosen policy</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Recorded limit</a:t>
                      </a:r>
                    </a:p>
                  </a:txBody>
                  <a:tcPr marL="142875" marR="142875" marT="85725" marB="85725" anchor="ctr">
                    <a:solidFill>
                      <a:srgbClr val="E8F0F1"/>
                    </a:solidFill>
                  </a:tcPr>
                </a:tc>
              </a:tr>
              <a:tr h="733425">
                <a:tc>
                  <a:txBody>
                    <a:bodyPr/>
                    <a:lstStyle/>
                    <a:p>
                      <a:r>
                        <a:rPr sz="1725">
                          <a:solidFill>
                            <a:srgbClr val="183542"/>
                          </a:solidFill>
                          <a:latin typeface="Helvetica Neue"/>
                          <a:ea typeface="Helvetica Neue"/>
                          <a:cs typeface="Helvetica Neue"/>
                        </a:rPr>
                        <a:t>Search ceiling</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 initially, then 5</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Each measured trial</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 warmups + 30 requests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Required gain</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At least 5%, with quality checks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Early stop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3 consecutive non-improvements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Actual outcome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 trials, corrected FP16 retained</a:t>
                      </a:r>
                    </a:p>
                  </a:txBody>
                  <a:tcPr marL="142875" marR="142875" marT="85725" marB="85725" anchor="ctr">
                    <a:solidFill>
                      <a:srgbClr val="FFFFFF"/>
                    </a:solidFill>
                  </a:tcPr>
                </a:tc>
              </a:tr>
            </a:tbl>
          </a:graphicData>
        </a:graphic>
      </p:graphicFrame>
    </p:spTree>
    <p:extLst>
      <p:ext uri="{BB962C8B-B14F-4D97-AF65-F5344CB8AC3E}">
        <p14:creationId xmlns:p14="http://schemas.microsoft.com/office/powerpoint/2010/main" val="8710816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5C5963-42BA-4C34-B2BE-91ABE19B7D1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User steering and progress oversight</a:t>
            </a:r>
          </a:p>
        </p:txBody>
      </p:sp>
      <p:sp>
        <p:nvSpPr>
          <p:cNvPr id="2" name="">
            <a:extLst xmlns:a="http://schemas.openxmlformats.org/drawingml/2006/main">
              <a:ext uri="{FF2B5EF4-FFF2-40B4-BE49-F238E27FC236}">
                <a16:creationId xmlns:a16="http://schemas.microsoft.com/office/drawing/2014/main" id="{ADBD5A4C-6656-4681-82EC-66DC393D03C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F12073C-8A65-4B9E-9C67-8D5F001E92F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5F965A33-F068-48CA-BD2F-B0E1EAC41E0D}"/>
              </a:ext>
            </a:extLst>
          </p:cNvPr>
          <p:cNvSpPr>
            <a:spLocks xmlns:a="http://schemas.openxmlformats.org/drawingml/2006/main" noGrp="1"/>
          </p:cNvSpPr>
          <p:nvPr/>
        </p:nvSpPr>
        <p:spPr>
          <a:xfrm xmlns:a="http://schemas.openxmlformats.org/drawingml/2006/main">
            <a:off x="685800" y="160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Progress oversight</a:t>
            </a:r>
          </a:p>
        </p:txBody>
      </p:sp>
      <p:sp>
        <p:nvSpPr>
          <p:cNvPr id="5" name="">
            <a:extLst xmlns:a="http://schemas.openxmlformats.org/drawingml/2006/main">
              <a:ext uri="{FF2B5EF4-FFF2-40B4-BE49-F238E27FC236}">
                <a16:creationId xmlns:a16="http://schemas.microsoft.com/office/drawing/2014/main" id="{59D969E9-FDD8-48DA-9B94-5C6A53BED900}"/>
              </a:ext>
            </a:extLst>
          </p:cNvPr>
          <p:cNvSpPr>
            <a:spLocks xmlns:a="http://schemas.openxmlformats.org/drawingml/2006/main" noGrp="1"/>
          </p:cNvSpPr>
          <p:nvPr/>
        </p:nvSpPr>
        <p:spPr>
          <a:xfrm xmlns:a="http://schemas.openxmlformats.org/drawingml/2006/main">
            <a:off x="685800" y="20955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“Did you install jetpack via the usb-c?”</a:t>
            </a:r>
          </a:p>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“what have you done thus far?”</a:t>
            </a:r>
          </a:p>
        </p:txBody>
      </p:sp>
      <p:sp>
        <p:nvSpPr>
          <p:cNvPr id="6" name="">
            <a:extLst xmlns:a="http://schemas.openxmlformats.org/drawingml/2006/main">
              <a:ext uri="{FF2B5EF4-FFF2-40B4-BE49-F238E27FC236}">
                <a16:creationId xmlns:a16="http://schemas.microsoft.com/office/drawing/2014/main" id="{4C4EB2D0-6E55-4574-98B1-25133E7056D5}"/>
              </a:ext>
            </a:extLst>
          </p:cNvPr>
          <p:cNvSpPr>
            <a:spLocks xmlns:a="http://schemas.openxmlformats.org/drawingml/2006/main" noGrp="1"/>
          </p:cNvSpPr>
          <p:nvPr/>
        </p:nvSpPr>
        <p:spPr>
          <a:xfrm xmlns:a="http://schemas.openxmlformats.org/drawingml/2006/main">
            <a:off x="685800" y="31432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Connectivity reports from the user</a:t>
            </a:r>
          </a:p>
        </p:txBody>
      </p:sp>
      <p:sp>
        <p:nvSpPr>
          <p:cNvPr id="7" name="">
            <a:extLst xmlns:a="http://schemas.openxmlformats.org/drawingml/2006/main">
              <a:ext uri="{FF2B5EF4-FFF2-40B4-BE49-F238E27FC236}">
                <a16:creationId xmlns:a16="http://schemas.microsoft.com/office/drawing/2014/main" id="{AA187D92-9629-4B6D-BB0D-A4F2954BA6D0}"/>
              </a:ext>
            </a:extLst>
          </p:cNvPr>
          <p:cNvSpPr>
            <a:spLocks xmlns:a="http://schemas.openxmlformats.org/drawingml/2006/main" noGrp="1"/>
          </p:cNvSpPr>
          <p:nvPr/>
        </p:nvSpPr>
        <p:spPr>
          <a:xfrm xmlns:a="http://schemas.openxmlformats.org/drawingml/2006/main">
            <a:off x="685800" y="36385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“can you work on wifi or do you want ethernet”</a:t>
            </a:r>
          </a:p>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“giving the GPU ethernet back and you on wifi”</a:t>
            </a:r>
          </a:p>
        </p:txBody>
      </p:sp>
      <p:sp>
        <p:nvSpPr>
          <p:cNvPr id="8" name="">
            <a:extLst xmlns:a="http://schemas.openxmlformats.org/drawingml/2006/main">
              <a:ext uri="{FF2B5EF4-FFF2-40B4-BE49-F238E27FC236}">
                <a16:creationId xmlns:a16="http://schemas.microsoft.com/office/drawing/2014/main" id="{B0422F41-D75C-4A9A-BAA3-6DF358701019}"/>
              </a:ext>
            </a:extLst>
          </p:cNvPr>
          <p:cNvSpPr>
            <a:spLocks xmlns:a="http://schemas.openxmlformats.org/drawingml/2006/main" noGrp="1"/>
          </p:cNvSpPr>
          <p:nvPr/>
        </p:nvSpPr>
        <p:spPr>
          <a:xfrm xmlns:a="http://schemas.openxmlformats.org/drawingml/2006/main">
            <a:off x="685800" y="47625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Optional GPU access</a:t>
            </a:r>
          </a:p>
        </p:txBody>
      </p:sp>
      <p:sp>
        <p:nvSpPr>
          <p:cNvPr id="9" name="">
            <a:extLst xmlns:a="http://schemas.openxmlformats.org/drawingml/2006/main">
              <a:ext uri="{FF2B5EF4-FFF2-40B4-BE49-F238E27FC236}">
                <a16:creationId xmlns:a16="http://schemas.microsoft.com/office/drawing/2014/main" id="{4C77E1AC-56F5-4001-927A-7955C1935750}"/>
              </a:ext>
            </a:extLst>
          </p:cNvPr>
          <p:cNvSpPr>
            <a:spLocks xmlns:a="http://schemas.openxmlformats.org/drawingml/2006/main" noGrp="1"/>
          </p:cNvSpPr>
          <p:nvPr/>
        </p:nvSpPr>
        <p:spPr>
          <a:xfrm xmlns:a="http://schemas.openxmlformats.org/drawingml/2006/main">
            <a:off x="685800" y="525780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“Isolate your work from anything else on that computer.”</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Agent authentication failed. No remote workspace or auxiliary GPU use.</a:t>
            </a:r>
          </a:p>
        </p:txBody>
      </p:sp>
    </p:spTree>
    <p:extLst>
      <p:ext uri="{BB962C8B-B14F-4D97-AF65-F5344CB8AC3E}">
        <p14:creationId xmlns:p14="http://schemas.microsoft.com/office/powerpoint/2010/main" val="9002535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8355FB-5CCC-4625-AFA5-7CDA36AD71D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Human readiness and verified agent actions</a:t>
            </a:r>
          </a:p>
        </p:txBody>
      </p:sp>
      <p:sp>
        <p:nvSpPr>
          <p:cNvPr id="2" name="">
            <a:extLst xmlns:a="http://schemas.openxmlformats.org/drawingml/2006/main">
              <a:ext uri="{FF2B5EF4-FFF2-40B4-BE49-F238E27FC236}">
                <a16:creationId xmlns:a16="http://schemas.microsoft.com/office/drawing/2014/main" id="{801C66E6-2F67-4F37-8834-7B7C95B674B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96524ED-6436-4E50-910A-D8114917C8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17</a:t>
            </a:r>
          </a:p>
        </p:txBody>
      </p:sp>
      <p:graphicFrame>
        <p:nvGraphicFramePr>
          <p:cNvPr id="9" name=""/>
          <p:cNvGraphicFramePr/>
          <p:nvPr/>
        </p:nvGraphicFramePr>
        <p:xfrm>
          <a:off xmlns:a="http://schemas.openxmlformats.org/drawingml/2006/main" x="685800" y="1562100"/>
          <a:ext xmlns:a="http://schemas.openxmlformats.org/drawingml/2006/main" cx="10820400" cy="3752850"/>
        </p:xfrm>
        <a:graphic xmlns:a="http://schemas.openxmlformats.org/drawingml/2006/main">
          <a:graphicData uri="http://schemas.openxmlformats.org/drawingml/2006/table">
            <a:tbl>
              <a:tblPr firstRow="1" bandRow="0"/>
              <a:tblGrid>
                <a:gridCol w="2095500"/>
                <a:gridCol w="4000500"/>
                <a:gridCol w="4724400"/>
              </a:tblGrid>
              <a:tr h="938213">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Human report or request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Verified agent action</a:t>
                      </a:r>
                    </a:p>
                  </a:txBody>
                  <a:tcPr marL="142875" marR="142875" marT="85725" marB="85725" anchor="ctr">
                    <a:solidFill>
                      <a:srgbClr val="E8F0F1"/>
                    </a:solidFill>
                  </a:tcPr>
                </a:tc>
              </a:tr>
              <a:tr h="938213">
                <a:tc>
                  <a:txBody>
                    <a:bodyPr/>
                    <a:lstStyle/>
                    <a:p>
                      <a:r>
                        <a:rPr sz="1800">
                          <a:solidFill>
                            <a:srgbClr val="183542"/>
                          </a:solidFill>
                          <a:latin typeface="Helvetica Neue"/>
                          <a:ea typeface="Helvetica Neue"/>
                          <a:cs typeface="Helvetica Neue"/>
                        </a:rPr>
                        <a:t>Recovery entry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FC REC–GND reported</a:t>
                      </a:r>
                    </a:p>
                    <a:p>
                      <a:r>
                        <a:rPr sz="1800">
                          <a:solidFill>
                            <a:srgbClr val="183542"/>
                          </a:solidFill>
                          <a:latin typeface="Helvetica Neue"/>
                          <a:ea typeface="Helvetica Neue"/>
                          <a:cs typeface="Helvetica Neue"/>
                        </a:rPr>
                        <a:t>“done”: readiness confirmation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Detect APX, read EEPROM, upload RAM recovery</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USB access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Accessory approval requested if a prompt appeared</a:t>
                      </a:r>
                    </a:p>
                    <a:p>
                      <a:r>
                        <a:rPr sz="1800">
                          <a:solidFill>
                            <a:srgbClr val="183542"/>
                          </a:solidFill>
                          <a:latin typeface="Helvetica Neue"/>
                          <a:ea typeface="Helvetica Neue"/>
                          <a:cs typeface="Helvetica Neue"/>
                        </a:rPr>
                        <a:t>Approval unconfirmed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Use native USB SSH and an NFS bridge</a:t>
                      </a:r>
                    </a:p>
                    <a:p>
                      <a:r>
                        <a:rPr sz="1800">
                          <a:solidFill>
                            <a:srgbClr val="183542"/>
                          </a:solidFill>
                          <a:latin typeface="Helvetica Neue"/>
                          <a:ea typeface="Helvetica Neue"/>
                          <a:cs typeface="Helvetica Neue"/>
                        </a:rPr>
                        <a:t>Complete official QSPI/NVMe flash</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Normal boot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“the jumper isn’t in”</a:t>
                      </a:r>
                    </a:p>
                    <a:p>
                      <a:r>
                        <a:rPr sz="1800">
                          <a:solidFill>
                            <a:srgbClr val="183542"/>
                          </a:solidFill>
                          <a:latin typeface="Helvetica Neue"/>
                          <a:ea typeface="Helvetica Neue"/>
                          <a:cs typeface="Helvetica Neue"/>
                        </a:rPr>
                        <a:t>Reported state, no action timestamp</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Verify NVMe boot and task-key SSH</a:t>
                      </a:r>
                    </a:p>
                    <a:p>
                      <a:r>
                        <a:rPr sz="1800">
                          <a:solidFill>
                            <a:srgbClr val="183542"/>
                          </a:solidFill>
                          <a:latin typeface="Helvetica Neue"/>
                          <a:ea typeface="Helvetica Neue"/>
                          <a:cs typeface="Helvetica Neue"/>
                        </a:rPr>
                        <a:t>Run CUDA and expand storage</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87E5BB-DD20-4E56-8228-18E78B593C42}"/>
              </a:ext>
            </a:extLst>
          </p:cNvPr>
          <p:cNvSpPr>
            <a:spLocks xmlns:a="http://schemas.openxmlformats.org/drawingml/2006/main" noGrp="1"/>
          </p:cNvSpPr>
          <p:nvPr/>
        </p:nvSpPr>
        <p:spPr>
          <a:xfrm xmlns:a="http://schemas.openxmlformats.org/drawingml/2006/main">
            <a:off x="6858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Agent preparation continued while hardware readiness was unresolved.</a:t>
            </a:r>
          </a:p>
        </p:txBody>
      </p:sp>
    </p:spTree>
    <p:extLst>
      <p:ext uri="{BB962C8B-B14F-4D97-AF65-F5344CB8AC3E}">
        <p14:creationId xmlns:p14="http://schemas.microsoft.com/office/powerpoint/2010/main" val="608196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4AEB60-A7AE-404E-9BDC-40EBE46130B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First-version boundary and later follow-ups</a:t>
            </a:r>
          </a:p>
        </p:txBody>
      </p:sp>
      <p:sp>
        <p:nvSpPr>
          <p:cNvPr id="2" name="">
            <a:extLst xmlns:a="http://schemas.openxmlformats.org/drawingml/2006/main">
              <a:ext uri="{FF2B5EF4-FFF2-40B4-BE49-F238E27FC236}">
                <a16:creationId xmlns:a16="http://schemas.microsoft.com/office/drawing/2014/main" id="{6163D948-13EC-4CFB-BA90-905DDA1F30B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D2C920CE-5478-4355-A17C-2BE3700D9FB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EA4F2BE2-14C3-4D4A-9610-36F3E13D3B7D}"/>
              </a:ext>
            </a:extLst>
          </p:cNvPr>
          <p:cNvSpPr>
            <a:spLocks xmlns:a="http://schemas.openxmlformats.org/drawingml/2006/main" noGrp="1"/>
          </p:cNvSpPr>
          <p:nvPr/>
        </p:nvSpPr>
        <p:spPr>
          <a:xfrm xmlns:a="http://schemas.openxmlformats.org/drawingml/2006/main">
            <a:off x="685800" y="14382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version: Orin inference, four trials and the soak. Benchmark ceiling stays 64 tokens.</a:t>
            </a:r>
          </a:p>
        </p:txBody>
      </p:sp>
      <p:graphicFrame>
        <p:nvGraphicFramePr>
          <p:cNvPr id="11" name=""/>
          <p:cNvGraphicFramePr/>
          <p:nvPr/>
        </p:nvGraphicFramePr>
        <p:xfrm>
          <a:off xmlns:a="http://schemas.openxmlformats.org/drawingml/2006/main" x="685800" y="2286000"/>
          <a:ext xmlns:a="http://schemas.openxmlformats.org/drawingml/2006/main" cx="10820400" cy="3381375"/>
        </p:xfrm>
        <a:graphic xmlns:a="http://schemas.openxmlformats.org/drawingml/2006/main">
          <a:graphicData uri="http://schemas.openxmlformats.org/drawingml/2006/table">
            <a:tbl>
              <a:tblPr firstRow="1" bandRow="0"/>
              <a:tblGrid>
                <a:gridCol w="3667125"/>
                <a:gridCol w="7153275"/>
              </a:tblGrid>
              <a:tr h="676275">
                <a:tc>
                  <a:txBody>
                    <a:bodyPr/>
                    <a:lstStyle/>
                    <a:p>
                      <a:r>
                        <a:rPr sz="1725" b="1">
                          <a:solidFill>
                            <a:srgbClr val="183542"/>
                          </a:solidFill>
                          <a:latin typeface="Helvetica Neue"/>
                          <a:ea typeface="Helvetica Neue"/>
                          <a:cs typeface="Helvetica Neue"/>
                        </a:rPr>
                        <a:t>After the first version</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Current status</a:t>
                      </a:r>
                    </a:p>
                  </a:txBody>
                  <a:tcPr marL="142875" marR="142875" marT="85725" marB="85725" anchor="ctr">
                    <a:solidFill>
                      <a:srgbClr val="E8F0F1"/>
                    </a:solidFill>
                  </a:tcPr>
                </a:tc>
              </a:tr>
              <a:tr h="676275">
                <a:tc>
                  <a:txBody>
                    <a:bodyPr/>
                    <a:lstStyle/>
                    <a:p>
                      <a:r>
                        <a:rPr sz="1725">
                          <a:solidFill>
                            <a:srgbClr val="183542"/>
                          </a:solidFill>
                          <a:latin typeface="Helvetica Neue"/>
                          <a:ea typeface="Helvetica Neue"/>
                          <a:cs typeface="Helvetica Neue"/>
                        </a:rPr>
                        <a:t>CPU / GPU / memory UI</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Added and verified. RAM is shared system memory.</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Upstream prompt + token limit</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Matched the sample prompt and 512-token UI default.</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Direct Orin webpage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http://192.168.6.252:8090</a:t>
                      </a:r>
                    </a:p>
                    <a:p>
                      <a:r>
                        <a:rPr sz="1725">
                          <a:solidFill>
                            <a:srgbClr val="183542"/>
                          </a:solidFill>
                          <a:latin typeface="Helvetica Neue"/>
                          <a:ea typeface="Helvetica Neue"/>
                          <a:cs typeface="Helvetica Neue"/>
                        </a:rPr>
                        <a:t>HTTPS: https://192.168.6.252:8443 (self-signed)</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Capture defaults question</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Current: 1 s minimum / 512px longest side.</a:t>
                      </a:r>
                    </a:p>
                    <a:p>
                      <a:r>
                        <a:rPr sz="1725">
                          <a:solidFill>
                            <a:srgbClr val="183542"/>
                          </a:solidFill>
                          <a:latin typeface="Helvetica Neue"/>
                          <a:ea typeface="Helvetica Neue"/>
                          <a:cs typeface="Helvetica Neue"/>
                        </a:rPr>
                        <a:t>Upstream: 30 frames / ideal 1280×720. Unmatched.</a:t>
                      </a:r>
                    </a:p>
                  </a:txBody>
                  <a:tcPr marL="142875" marR="142875"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7D087A-97D9-48EF-93E4-85B626E87C5E}"/>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Camera HTTPS requires accepting the local certificate warning.</a:t>
            </a:r>
          </a:p>
        </p:txBody>
      </p:sp>
    </p:spTree>
    <p:extLst>
      <p:ext uri="{BB962C8B-B14F-4D97-AF65-F5344CB8AC3E}">
        <p14:creationId xmlns:p14="http://schemas.microsoft.com/office/powerpoint/2010/main" val="40827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2026-09-20T18:31:44.4410000Z</dcterms:created>
  <dcterms:modified xsi:type="dcterms:W3CDTF">2026-09-20T18:31:44.4410000Z</dcterms:modified>
</coreProperties>
</file>