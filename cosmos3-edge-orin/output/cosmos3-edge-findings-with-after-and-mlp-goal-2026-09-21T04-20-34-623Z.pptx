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27fe75f80b4bab" /><Relationship Type="http://schemas.openxmlformats.org/officeDocument/2006/relationships/extended-properties" Target="/docProps/app.xml" Id="Rf7c736e2e3b54a13" /><Relationship Type="http://schemas.openxmlformats.org/officeDocument/2006/relationships/officeDocument" Target="/ppt/presentation.xml" Id="R8b065ddac7aa42ec" /></Relationships>
</file>

<file path=ppt/presentation.xml><?xml version="1.0" encoding="utf-8"?>
<p:presentation xmlns:p="http://schemas.openxmlformats.org/presentationml/2006/main">
  <p:sldMasterIdLst>
    <p:sldMasterId xmlns:r="http://schemas.openxmlformats.org/officeDocument/2006/relationships" id="2147483648" r:id="R95728bf2e48c47a9"/>
  </p:sldMasterIdLst>
  <p:notesMasterIdLst>
    <p:notesMasterId xmlns:r="http://schemas.openxmlformats.org/officeDocument/2006/relationships" r:id="R3c0a69c1f2b54db4"/>
  </p:notesMasterIdLst>
  <p:sldIdLst>
    <p:sldId xmlns:r="http://schemas.openxmlformats.org/officeDocument/2006/relationships" id="256" r:id="Rf4ce283b92c74ccc"/>
    <p:sldId xmlns:r="http://schemas.openxmlformats.org/officeDocument/2006/relationships" id="257" r:id="R40bbae0e3d9540af"/>
    <p:sldId xmlns:r="http://schemas.openxmlformats.org/officeDocument/2006/relationships" id="258" r:id="R251228a434ff4afb"/>
    <p:sldId xmlns:r="http://schemas.openxmlformats.org/officeDocument/2006/relationships" id="259" r:id="R44921c2508c04ba7"/>
    <p:sldId xmlns:r="http://schemas.openxmlformats.org/officeDocument/2006/relationships" id="260" r:id="R462a365a4c23423c"/>
    <p:sldId xmlns:r="http://schemas.openxmlformats.org/officeDocument/2006/relationships" id="261" r:id="R1dfa33a675c3433b"/>
    <p:sldId xmlns:r="http://schemas.openxmlformats.org/officeDocument/2006/relationships" id="262" r:id="Red217a7eaadf4026"/>
    <p:sldId xmlns:r="http://schemas.openxmlformats.org/officeDocument/2006/relationships" id="263" r:id="Re1964f613ec245e1"/>
    <p:sldId xmlns:r="http://schemas.openxmlformats.org/officeDocument/2006/relationships" id="264" r:id="R18f5afca4417467a"/>
    <p:sldId xmlns:r="http://schemas.openxmlformats.org/officeDocument/2006/relationships" id="265" r:id="Ra764d24a86874a22"/>
    <p:sldId xmlns:r="http://schemas.openxmlformats.org/officeDocument/2006/relationships" id="266" r:id="R6da94454c30943ac"/>
    <p:sldId xmlns:r="http://schemas.openxmlformats.org/officeDocument/2006/relationships" id="267" r:id="Rf2b22556cf454782"/>
    <p:sldId xmlns:r="http://schemas.openxmlformats.org/officeDocument/2006/relationships" id="268" r:id="Rfafe3e4dffb34491"/>
    <p:sldId xmlns:r="http://schemas.openxmlformats.org/officeDocument/2006/relationships" id="269" r:id="R315f3a5209244eb5"/>
    <p:sldId xmlns:r="http://schemas.openxmlformats.org/officeDocument/2006/relationships" id="270" r:id="R8ab49ae407fa48c8"/>
    <p:sldId xmlns:r="http://schemas.openxmlformats.org/officeDocument/2006/relationships" id="271" r:id="Rc1921a5435a445d9"/>
    <p:sldId xmlns:r="http://schemas.openxmlformats.org/officeDocument/2006/relationships" id="272" r:id="R8f02b488db034f8e"/>
    <p:sldId xmlns:r="http://schemas.openxmlformats.org/officeDocument/2006/relationships" id="273" r:id="R10f584ed7182475d"/>
    <p:sldId xmlns:r="http://schemas.openxmlformats.org/officeDocument/2006/relationships" id="274" r:id="Rd1b9b75236d2411f"/>
    <p:sldId xmlns:r="http://schemas.openxmlformats.org/officeDocument/2006/relationships" id="275" r:id="Rac6a9d032eb446ba"/>
    <p:sldId xmlns:r="http://schemas.openxmlformats.org/officeDocument/2006/relationships" id="276" r:id="Rb6ce8b4ab0254655"/>
    <p:sldId xmlns:r="http://schemas.openxmlformats.org/officeDocument/2006/relationships" id="277" r:id="R78cbd7f8097d43a1"/>
    <p:sldId xmlns:r="http://schemas.openxmlformats.org/officeDocument/2006/relationships" id="278" r:id="R9c7ff711b2c84089"/>
    <p:sldId xmlns:r="http://schemas.openxmlformats.org/officeDocument/2006/relationships" id="279" r:id="Rb19f3562707d4e31"/>
    <p:sldId xmlns:r="http://schemas.openxmlformats.org/officeDocument/2006/relationships" id="280" r:id="Rcec17a730ee14b31"/>
    <p:sldId xmlns:r="http://schemas.openxmlformats.org/officeDocument/2006/relationships" id="281" r:id="R0c1ba85af55d47ed"/>
    <p:sldId xmlns:r="http://schemas.openxmlformats.org/officeDocument/2006/relationships" id="282" r:id="Raa9e9645e68840da"/>
    <p:sldId xmlns:r="http://schemas.openxmlformats.org/officeDocument/2006/relationships" id="283" r:id="R6779f021eec54564"/>
    <p:sldId xmlns:r="http://schemas.openxmlformats.org/officeDocument/2006/relationships" id="284" r:id="R3d9748bebd3d4ef7"/>
    <p:sldId xmlns:r="http://schemas.openxmlformats.org/officeDocument/2006/relationships" id="285" r:id="Ra7f598d630454493"/>
    <p:sldId xmlns:r="http://schemas.openxmlformats.org/officeDocument/2006/relationships" id="286" r:id="Rd5221512bae84236"/>
    <p:sldId xmlns:r="http://schemas.openxmlformats.org/officeDocument/2006/relationships" id="287" r:id="R652e92148db840f4"/>
    <p:sldId xmlns:r="http://schemas.openxmlformats.org/officeDocument/2006/relationships" id="288" r:id="R20c991c2d3db4776"/>
    <p:sldId xmlns:r="http://schemas.openxmlformats.org/officeDocument/2006/relationships" id="289" r:id="Rde91937997924fac"/>
    <p:sldId xmlns:r="http://schemas.openxmlformats.org/officeDocument/2006/relationships" id="290" r:id="R816bddc7affd4faa"/>
    <p:sldId xmlns:r="http://schemas.openxmlformats.org/officeDocument/2006/relationships" id="291" r:id="Ra1d636070103418e"/>
    <p:sldId xmlns:r="http://schemas.openxmlformats.org/officeDocument/2006/relationships" id="292" r:id="Rfeb9e6a41e414d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264a6ba8e54552" /><Relationship Type="http://schemas.openxmlformats.org/officeDocument/2006/relationships/slideMaster" Target="/ppt/slideMasters/slideMaster1.xml" Id="R95728bf2e48c47a9" /><Relationship Type="http://schemas.openxmlformats.org/officeDocument/2006/relationships/notesMaster" Target="/ppt/notesMasters/notesMaster1.xml" Id="R3c0a69c1f2b54db4" /><Relationship Type="http://schemas.openxmlformats.org/officeDocument/2006/relationships/presProps" Target="/ppt/presProps.xml" Id="R49b36db131584e1c" /><Relationship Type="http://schemas.openxmlformats.org/officeDocument/2006/relationships/tableStyles" Target="/ppt/tableStyles.xml" Id="R0b54339780734cc2" /><Relationship Type="http://schemas.openxmlformats.org/officeDocument/2006/relationships/slide" Target="/ppt/slides/slide1.xml" Id="Rf4ce283b92c74ccc" /><Relationship Type="http://schemas.openxmlformats.org/officeDocument/2006/relationships/slide" Target="/ppt/slides/slide2.xml" Id="R40bbae0e3d9540af" /><Relationship Type="http://schemas.openxmlformats.org/officeDocument/2006/relationships/slide" Target="/ppt/slides/slide3.xml" Id="R251228a434ff4afb" /><Relationship Type="http://schemas.openxmlformats.org/officeDocument/2006/relationships/slide" Target="/ppt/slides/slide4.xml" Id="R44921c2508c04ba7" /><Relationship Type="http://schemas.openxmlformats.org/officeDocument/2006/relationships/slide" Target="/ppt/slides/slide5.xml" Id="R462a365a4c23423c" /><Relationship Type="http://schemas.openxmlformats.org/officeDocument/2006/relationships/slide" Target="/ppt/slides/slide6.xml" Id="R1dfa33a675c3433b" /><Relationship Type="http://schemas.openxmlformats.org/officeDocument/2006/relationships/slide" Target="/ppt/slides/slide7.xml" Id="Red217a7eaadf4026" /><Relationship Type="http://schemas.openxmlformats.org/officeDocument/2006/relationships/slide" Target="/ppt/slides/slide8.xml" Id="Re1964f613ec245e1" /><Relationship Type="http://schemas.openxmlformats.org/officeDocument/2006/relationships/slide" Target="/ppt/slides/slide9.xml" Id="R18f5afca4417467a" /><Relationship Type="http://schemas.openxmlformats.org/officeDocument/2006/relationships/slide" Target="/ppt/slides/slide10.xml" Id="Ra764d24a86874a22" /><Relationship Type="http://schemas.openxmlformats.org/officeDocument/2006/relationships/slide" Target="/ppt/slides/slide11.xml" Id="R6da94454c30943ac" /><Relationship Type="http://schemas.openxmlformats.org/officeDocument/2006/relationships/slide" Target="/ppt/slides/slide12.xml" Id="Rf2b22556cf454782" /><Relationship Type="http://schemas.openxmlformats.org/officeDocument/2006/relationships/slide" Target="/ppt/slides/slide13.xml" Id="Rfafe3e4dffb34491" /><Relationship Type="http://schemas.openxmlformats.org/officeDocument/2006/relationships/slide" Target="/ppt/slides/slide14.xml" Id="R315f3a5209244eb5" /><Relationship Type="http://schemas.openxmlformats.org/officeDocument/2006/relationships/slide" Target="/ppt/slides/slide15.xml" Id="R8ab49ae407fa48c8" /><Relationship Type="http://schemas.openxmlformats.org/officeDocument/2006/relationships/slide" Target="/ppt/slides/slide16.xml" Id="Rc1921a5435a445d9" /><Relationship Type="http://schemas.openxmlformats.org/officeDocument/2006/relationships/slide" Target="/ppt/slides/slide17.xml" Id="R8f02b488db034f8e" /><Relationship Type="http://schemas.openxmlformats.org/officeDocument/2006/relationships/slide" Target="/ppt/slides/slide18.xml" Id="R10f584ed7182475d" /><Relationship Type="http://schemas.openxmlformats.org/officeDocument/2006/relationships/slide" Target="/ppt/slides/slide19.xml" Id="Rd1b9b75236d2411f" /><Relationship Type="http://schemas.openxmlformats.org/officeDocument/2006/relationships/slide" Target="/ppt/slides/slide20.xml" Id="Rac6a9d032eb446ba" /><Relationship Type="http://schemas.openxmlformats.org/officeDocument/2006/relationships/slide" Target="/ppt/slides/slide21.xml" Id="Rb6ce8b4ab0254655" /><Relationship Type="http://schemas.openxmlformats.org/officeDocument/2006/relationships/slide" Target="/ppt/slides/slide22.xml" Id="R78cbd7f8097d43a1" /><Relationship Type="http://schemas.openxmlformats.org/officeDocument/2006/relationships/slide" Target="/ppt/slides/slide23.xml" Id="R9c7ff711b2c84089" /><Relationship Type="http://schemas.openxmlformats.org/officeDocument/2006/relationships/slide" Target="/ppt/slides/slide24.xml" Id="Rb19f3562707d4e31" /><Relationship Type="http://schemas.openxmlformats.org/officeDocument/2006/relationships/slide" Target="/ppt/slides/slide25.xml" Id="Rcec17a730ee14b31" /><Relationship Type="http://schemas.openxmlformats.org/officeDocument/2006/relationships/slide" Target="/ppt/slides/slide26.xml" Id="R0c1ba85af55d47ed" /><Relationship Type="http://schemas.openxmlformats.org/officeDocument/2006/relationships/slide" Target="/ppt/slides/slide27.xml" Id="Raa9e9645e68840da" /><Relationship Type="http://schemas.openxmlformats.org/officeDocument/2006/relationships/slide" Target="/ppt/slides/slide28.xml" Id="R6779f021eec54564" /><Relationship Type="http://schemas.openxmlformats.org/officeDocument/2006/relationships/slide" Target="/ppt/slides/slide29.xml" Id="R3d9748bebd3d4ef7" /><Relationship Type="http://schemas.openxmlformats.org/officeDocument/2006/relationships/slide" Target="/ppt/slides/slide30.xml" Id="Ra7f598d630454493" /><Relationship Type="http://schemas.openxmlformats.org/officeDocument/2006/relationships/slide" Target="/ppt/slides/slide31.xml" Id="Rd5221512bae84236" /><Relationship Type="http://schemas.openxmlformats.org/officeDocument/2006/relationships/slide" Target="/ppt/slides/slide32.xml" Id="R652e92148db840f4" /><Relationship Type="http://schemas.openxmlformats.org/officeDocument/2006/relationships/slide" Target="/ppt/slides/slide33.xml" Id="R20c991c2d3db4776" /><Relationship Type="http://schemas.openxmlformats.org/officeDocument/2006/relationships/slide" Target="/ppt/slides/slide34.xml" Id="Rde91937997924fac" /><Relationship Type="http://schemas.openxmlformats.org/officeDocument/2006/relationships/slide" Target="/ppt/slides/slide35.xml" Id="R816bddc7affd4faa" /><Relationship Type="http://schemas.openxmlformats.org/officeDocument/2006/relationships/slide" Target="/ppt/slides/slide36.xml" Id="Ra1d636070103418e" /><Relationship Type="http://schemas.openxmlformats.org/officeDocument/2006/relationships/slide" Target="/ppt/slides/slide37.xml" Id="Rfeb9e6a41e414d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3cffa2c2cf42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c406ca00894258" /><Relationship Type="http://schemas.openxmlformats.org/officeDocument/2006/relationships/notesMaster" Target="/ppt/notesMasters/notesMaster1.xml" Id="Rd3427bf86b964d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57dc11884a4139" /><Relationship Type="http://schemas.openxmlformats.org/officeDocument/2006/relationships/notesMaster" Target="/ppt/notesMasters/notesMaster1.xml" Id="Rce505d39526b43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55c2f611174776" /><Relationship Type="http://schemas.openxmlformats.org/officeDocument/2006/relationships/notesMaster" Target="/ppt/notesMasters/notesMaster1.xml" Id="R9e7a945a437640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91bb0220424b56" /><Relationship Type="http://schemas.openxmlformats.org/officeDocument/2006/relationships/notesMaster" Target="/ppt/notesMasters/notesMaster1.xml" Id="R6672e3bb09ae40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50f990eb8942db" /><Relationship Type="http://schemas.openxmlformats.org/officeDocument/2006/relationships/notesMaster" Target="/ppt/notesMasters/notesMaster1.xml" Id="Rfb29af603ea748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d5be9d9aaf4bc4" /><Relationship Type="http://schemas.openxmlformats.org/officeDocument/2006/relationships/notesMaster" Target="/ppt/notesMasters/notesMaster1.xml" Id="R2baba85d65224e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a24559a7b1415b" /><Relationship Type="http://schemas.openxmlformats.org/officeDocument/2006/relationships/notesMaster" Target="/ppt/notesMasters/notesMaster1.xml" Id="R745aa0b564634b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1516c964aa4655" /><Relationship Type="http://schemas.openxmlformats.org/officeDocument/2006/relationships/notesMaster" Target="/ppt/notesMasters/notesMaster1.xml" Id="R1b584567a58d41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5fd9b4e9ba747ff" /><Relationship Type="http://schemas.openxmlformats.org/officeDocument/2006/relationships/notesMaster" Target="/ppt/notesMasters/notesMaster1.xml" Id="R863aea5623354f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e66518c441448ad" /><Relationship Type="http://schemas.openxmlformats.org/officeDocument/2006/relationships/notesMaster" Target="/ppt/notesMasters/notesMaster1.xml" Id="R6035f3dc1210437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1665c2f1c8e477a" /><Relationship Type="http://schemas.openxmlformats.org/officeDocument/2006/relationships/notesMaster" Target="/ppt/notesMasters/notesMaster1.xml" Id="Rb251bc2cb961478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08d99618b5f418c" /><Relationship Type="http://schemas.openxmlformats.org/officeDocument/2006/relationships/notesMaster" Target="/ppt/notesMasters/notesMaster1.xml" Id="R9750c424136343b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61ad249f294ee9" /><Relationship Type="http://schemas.openxmlformats.org/officeDocument/2006/relationships/notesMaster" Target="/ppt/notesMasters/notesMaster1.xml" Id="R869a1f5276da483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739deba64b847de" /><Relationship Type="http://schemas.openxmlformats.org/officeDocument/2006/relationships/notesMaster" Target="/ppt/notesMasters/notesMaster1.xml" Id="Rfcc8610575a441a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53481caa8f54c40" /><Relationship Type="http://schemas.openxmlformats.org/officeDocument/2006/relationships/notesMaster" Target="/ppt/notesMasters/notesMaster1.xml" Id="R16673b7a4504493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4a66544cb9946bb" /><Relationship Type="http://schemas.openxmlformats.org/officeDocument/2006/relationships/notesMaster" Target="/ppt/notesMasters/notesMaster1.xml" Id="Rb298d146156046b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72ef501c45341e5" /><Relationship Type="http://schemas.openxmlformats.org/officeDocument/2006/relationships/notesMaster" Target="/ppt/notesMasters/notesMaster1.xml" Id="R182f78be3e064d9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f360cd7011a466f" /><Relationship Type="http://schemas.openxmlformats.org/officeDocument/2006/relationships/notesMaster" Target="/ppt/notesMasters/notesMaster1.xml" Id="Rf360cf5d65b0456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4bdb4b2aac740fb" /><Relationship Type="http://schemas.openxmlformats.org/officeDocument/2006/relationships/notesMaster" Target="/ppt/notesMasters/notesMaster1.xml" Id="Rb88cdd4eee2c487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3ec578fef9743c1" /><Relationship Type="http://schemas.openxmlformats.org/officeDocument/2006/relationships/notesMaster" Target="/ppt/notesMasters/notesMaster1.xml" Id="Rdc180904490c45b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75b61668e544c08" /><Relationship Type="http://schemas.openxmlformats.org/officeDocument/2006/relationships/notesMaster" Target="/ppt/notesMasters/notesMaster1.xml" Id="R9b741c70d551471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ba88077c73745ef" /><Relationship Type="http://schemas.openxmlformats.org/officeDocument/2006/relationships/notesMaster" Target="/ppt/notesMasters/notesMaster1.xml" Id="R84c988cc727448c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d4778230e5d42b0" /><Relationship Type="http://schemas.openxmlformats.org/officeDocument/2006/relationships/notesMaster" Target="/ppt/notesMasters/notesMaster1.xml" Id="Rb3ce116e7a89467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fd9566a754a479d" /><Relationship Type="http://schemas.openxmlformats.org/officeDocument/2006/relationships/notesMaster" Target="/ppt/notesMasters/notesMaster1.xml" Id="R84eafbe0d3324e9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fadf0daf255440e" /><Relationship Type="http://schemas.openxmlformats.org/officeDocument/2006/relationships/notesMaster" Target="/ppt/notesMasters/notesMaster1.xml" Id="Rc69375296528489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1f9ad68b82f4f4e" /><Relationship Type="http://schemas.openxmlformats.org/officeDocument/2006/relationships/notesMaster" Target="/ppt/notesMasters/notesMaster1.xml" Id="R4d534e04f1644d2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a71cc97ac0f482b" /><Relationship Type="http://schemas.openxmlformats.org/officeDocument/2006/relationships/notesMaster" Target="/ppt/notesMasters/notesMaster1.xml" Id="R18c308871b8c443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d7b3d7fa9434e3c" /><Relationship Type="http://schemas.openxmlformats.org/officeDocument/2006/relationships/notesMaster" Target="/ppt/notesMasters/notesMaster1.xml" Id="R2c5524a378a84a4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fc4b9eff33a4c13" /><Relationship Type="http://schemas.openxmlformats.org/officeDocument/2006/relationships/notesMaster" Target="/ppt/notesMasters/notesMaster1.xml" Id="Ree6041ac23c54c0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821acfaf8f64242" /><Relationship Type="http://schemas.openxmlformats.org/officeDocument/2006/relationships/notesMaster" Target="/ppt/notesMasters/notesMaster1.xml" Id="Rebc09299153d4dc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ed61d3f88064379" /><Relationship Type="http://schemas.openxmlformats.org/officeDocument/2006/relationships/notesMaster" Target="/ppt/notesMasters/notesMaster1.xml" Id="R9fa6515294f8440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80da2f3549a4434" /><Relationship Type="http://schemas.openxmlformats.org/officeDocument/2006/relationships/notesMaster" Target="/ppt/notesMasters/notesMaster1.xml" Id="R9d774b750c03444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ea0fa0f165340f3" /><Relationship Type="http://schemas.openxmlformats.org/officeDocument/2006/relationships/notesMaster" Target="/ppt/notesMasters/notesMaster1.xml" Id="Rb8fb2adc6fc94c2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1fb2367e8894a1d" /><Relationship Type="http://schemas.openxmlformats.org/officeDocument/2006/relationships/notesMaster" Target="/ppt/notesMasters/notesMaster1.xml" Id="Rf0a0aa6b16fe495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231d298d17d44f4" /><Relationship Type="http://schemas.openxmlformats.org/officeDocument/2006/relationships/notesMaster" Target="/ppt/notesMasters/notesMaster1.xml" Id="R7072b993daa6472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a1185b89821427c" /><Relationship Type="http://schemas.openxmlformats.org/officeDocument/2006/relationships/notesMaster" Target="/ppt/notesMasters/notesMaster1.xml" Id="R2616ed86ef804cb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24e2dfa503c4983" /><Relationship Type="http://schemas.openxmlformats.org/officeDocument/2006/relationships/notesMaster" Target="/ppt/notesMasters/notesMaster1.xml" Id="Rb12993abddf04e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deployment is the selected MLP-only RTN INT4 candidate with compact buffers. The cover date uses the user’s local day, 2026-09-20.</a:t>
            </a:r>
          </a:p>
          <a:p xmlns:a="http://schemas.openxmlformats.org/drawingml/2006/main">
            <a:r>
              <a:t>Historical FP16 phases remain on slides 2–28. Slides 29–32 show the user-provided recording at the earlier restored FP16 stage. Slides 33–37 document the new MLP goal and current selection.</a:t>
            </a:r>
          </a:p>
          <a:p xmlns:a="http://schemas.openxmlformats.org/drawingml/2006/main">
            <a:r>
              <a:t>The frozen comparator records a 1.19% observed latency reduction, below the 10% continuation threshold. The agent corrected its initial interpretation after measurement: stop searching while retaining the useful lower-memory deployment. This does not establish a 10% latency success.</a:t>
            </a:r>
          </a:p>
          <a:p xmlns:a="http://schemas.openxmlformats.org/drawingml/2006/main">
            <a:r>
              <a:t>Sources:</a:t>
            </a:r>
          </a:p>
          <a:p xmlns:a="http://schemas.openxmlformats.org/drawingml/2006/main">
            <a:r>
              <a:t>results/mlp-goal/selection.json</a:t>
            </a:r>
          </a:p>
          <a:p xmlns:a="http://schemas.openxmlformats.org/drawingml/2006/main">
            <a:r>
              <a:t>results/mlp-goal/policy-clarification.json</a:t>
            </a:r>
          </a:p>
          <a:p xmlns:a="http://schemas.openxmlformats.org/drawingml/2006/main">
            <a:r>
              <a:t>results/mlp-goal/comparison-01.json</a:t>
            </a:r>
          </a:p>
          <a:p xmlns:a="http://schemas.openxmlformats.org/drawingml/2006/main">
            <a:r>
              <a:t>results/mlp-goal/verification.json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Installed platform facts come from the actual device receipts. Advertised RAM and Linux MemTotal are distinct.</a:t>
            </a:r>
          </a:p>
          <a:p xmlns:a="http://schemas.openxmlformats.org/drawingml/2006/main">
            <a:r>
              <a:t>Measured values supplied by output/final-findings-data.json.</a:t>
            </a:r>
          </a:p>
          <a:p xmlns:a="http://schemas.openxmlformats.org/drawingml/2006/main">
            <a:r>
              <a:t>Sources:</a:t>
            </a:r>
          </a:p>
          <a:p xmlns:a="http://schemas.openxmlformats.org/drawingml/2006/main">
            <a:r>
              <a:t>results/normal-boot.json</a:t>
            </a:r>
          </a:p>
          <a:p xmlns:a="http://schemas.openxmlformats.org/drawingml/2006/main">
            <a:r>
              <a:t>results/jetpack-flash-status.json</a:t>
            </a:r>
          </a:p>
          <a:p xmlns:a="http://schemas.openxmlformats.org/drawingml/2006/main">
            <a:r>
              <a:t>results/installed-compute-packages.json</a:t>
            </a:r>
          </a:p>
          <a:p xmlns:a="http://schemas.openxmlformats.org/drawingml/2006/main">
            <a:r>
              <a:t>https://developer.nvidia.com/embedded/jetpack/downloads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UI and actual inference screenshot. Crop removes lower settings only. Screenshot timing is one request, not the benchmark distribution. The screenshot does not establish general image accuracy.</a:t>
            </a:r>
          </a:p>
          <a:p xmlns:a="http://schemas.openxmlformats.org/drawingml/2006/main">
            <a:r>
              <a:t>Measured values supplied by output/final-findings-data.json.</a:t>
            </a:r>
          </a:p>
          <a:p xmlns:a="http://schemas.openxmlformats.org/drawingml/2006/main">
            <a:r>
              <a:t>Sources:</a:t>
            </a:r>
          </a:p>
          <a:p xmlns:a="http://schemas.openxmlformats.org/drawingml/2006/main">
            <a:r>
              <a:t>results/browser-live-ui-final.json</a:t>
            </a:r>
          </a:p>
          <a:p xmlns:a="http://schemas.openxmlformats.org/drawingml/2006/main">
            <a:r>
              <a:t>results/browser-live-ui-final.json</a:t>
            </a:r>
          </a:p>
          <a:p xmlns:a="http://schemas.openxmlformats.org/drawingml/2006/main">
            <a:r>
              <a:t>results/browser-camera-ui-final.json</a:t>
            </a:r>
          </a:p>
          <a:p xmlns:a="http://schemas.openxmlformats.org/drawingml/2006/main">
            <a:r>
              <a:t>https://github.com/NVIDIA-AI-IOT/live-vlm-webui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browser/proxy components wrap the public TensorRT Edge-LLM reasoner. One active request prevents accumulating frames. The application displays only real upstream token deltas.</a:t>
            </a:r>
          </a:p>
          <a:p xmlns:a="http://schemas.openxmlformats.org/drawingml/2006/main">
            <a:r>
              <a:t>Measured values supplied by output/final-findings-data.json.</a:t>
            </a:r>
          </a:p>
          <a:p xmlns:a="http://schemas.openxmlformats.org/drawingml/2006/main">
            <a:r>
              <a:t>Sources:</a:t>
            </a:r>
          </a:p>
          <a:p xmlns:a="http://schemas.openxmlformats.org/drawingml/2006/main">
            <a:r>
              <a:t>scripts/serve_ui.py</a:t>
            </a:r>
          </a:p>
          <a:p xmlns:a="http://schemas.openxmlformats.org/drawingml/2006/main">
            <a:r>
              <a:t>web/app.js</a:t>
            </a:r>
          </a:p>
          <a:p xmlns:a="http://schemas.openxmlformats.org/drawingml/2006/main">
            <a:r>
              <a:t>https://github.com/NVIDIA/TensorRT-Edge-LLM/blob/e8b29522938901f6df19ebeedd4b69bc8edbcd97/experimental/server/cli.py</a:t>
            </a:r>
          </a:p>
          <a:p xmlns:a="http://schemas.openxmlformats.org/drawingml/2006/main">
            <a:r>
              <a:t>https://github.com/NVIDIA/TensorRT-Edge-LLM/blob/e8b29522938901f6df19ebeedd4b69bc8edbcd97/experimental/server/runtime/engine.py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original diagnoses and small integrations reuse the public model/exporter conventions. No model training or new interpolation algorithm is claimed. Patch projection requires a fresh visual engine. Position and cache API changes require rebuilding the native binding.</a:t>
            </a:r>
          </a:p>
          <a:p xmlns:a="http://schemas.openxmlformats.org/drawingml/2006/main">
            <a:r>
              <a:t>Measured values supplied by output/final-findings-data.json.</a:t>
            </a:r>
          </a:p>
          <a:p xmlns:a="http://schemas.openxmlformats.org/drawingml/2006/main">
            <a:r>
              <a:t>Sources:</a:t>
            </a:r>
          </a:p>
          <a:p xmlns:a="http://schemas.openxmlformats.org/drawingml/2006/main">
            <a:r>
              <a:t>patches/cosmos3-patch-embedding-chw.md</a:t>
            </a:r>
          </a:p>
          <a:p xmlns:a="http://schemas.openxmlformats.org/drawingml/2006/main">
            <a:r>
              <a:t>patches/cosmos3-half-pixel-position.md</a:t>
            </a:r>
          </a:p>
          <a:p xmlns:a="http://schemas.openxmlformats.org/drawingml/2006/main">
            <a:r>
              <a:t>patches/encoder-cache-budget.json</a:t>
            </a:r>
          </a:p>
          <a:p xmlns:a="http://schemas.openxmlformats.org/drawingml/2006/main">
            <a:r>
              <a:t>scripts/repair_cosmos_runtime_config.py</a:t>
            </a:r>
          </a:p>
          <a:p xmlns:a="http://schemas.openxmlformats.org/drawingml/2006/main">
            <a:r>
              <a:t>scripts/repair_cosmos_chat_template.py</a:t>
            </a:r>
          </a:p>
          <a:p xmlns:a="http://schemas.openxmlformats.org/drawingml/2006/main">
            <a:r>
              <a:t>https://github.com/NVIDIA/TensorRT-Edge-LLM/blob/e8b29522938901f6df19ebeedd4b69bc8edbcd97/tensorrt_edgellm/models/cosmos3_reasoner/modeling_cosmos3_reasoner_visual.py</a:t>
            </a:r>
          </a:p>
          <a:p xmlns:a="http://schemas.openxmlformats.org/drawingml/2006/main">
            <a:r>
              <a:t>https://github.com/huggingface/transformers/blob/c587bc884db2c2e31fc2b8102314656b17aa07b1/src/transformers/models/cosmos3_edge/modeling_cosmos3_edge.py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Strict six-image fixture grading and optimization equivalence are separate. The official unmodified model reproduced the entire case05 sphere answer on the exact image and prompt. A pre-INT4 policy preserves every previously correct fact and permits only that precise known error. It does not turn the strict 18/19 result into a 19/19 pass.</a:t>
            </a:r>
          </a:p>
          <a:p xmlns:a="http://schemas.openxmlformats.org/drawingml/2006/main">
            <a:r>
              <a:t>The distinct natural-photo smoke check is outside candidate selection. Fully correct photos means every required observation is correct, not merely a completed HTTP response. The natural-image official reference runs the unchanged public model through Transformers on Mac MPS FP16. It scores 5/9 with the same grading interpretation, with 2/3 answers exactly matching the Orin. In the recorded comparison, market gives only "Carrots." and dog incorrectly says "wooden deck" in both paths. The cap/mitt wording differs but both miss the required cap-on-mitt relation. The displayed 5/9 gives generous partial credit for carrot identity even though "Carrots." omits the required lower-right relation. Strict full-fact grading is 4/9. No photo satisfies every required fact under either interpretation. These observations do not establish a model-only cause for every failure. Mac execution time is diagnostic and is not an Orin performance measurement.</a:t>
            </a:r>
          </a:p>
          <a:p xmlns:a="http://schemas.openxmlformats.org/drawingml/2006/main">
            <a:r>
              <a:t>Captured official reference answer: Both objects are purple. The left object, which is a sphere, is larger than the right object, which is a smaller sphere.</a:t>
            </a:r>
          </a:p>
          <a:p xmlns:a="http://schemas.openxmlformats.org/drawingml/2006/main">
            <a:r>
              <a:t>Measured values supplied by output/final-findings-data.json.</a:t>
            </a:r>
          </a:p>
          <a:p xmlns:a="http://schemas.openxmlformats.org/drawingml/2006/main">
            <a:r>
              <a:t>Sources:</a:t>
            </a:r>
          </a:p>
          <a:p xmlns:a="http://schemas.openxmlformats.org/drawingml/2006/main">
            <a:r>
              <a:t>results/quality-final-service-01-review.json</a:t>
            </a:r>
          </a:p>
          <a:p xmlns:a="http://schemas.openxmlformats.org/drawingml/2006/main">
            <a:r>
              <a:t>results/optimization-quality-policy.json</a:t>
            </a:r>
          </a:p>
          <a:p xmlns:a="http://schemas.openxmlformats.org/drawingml/2006/main">
            <a:r>
              <a:t>results/reference-official-05-comparison.json</a:t>
            </a:r>
          </a:p>
          <a:p xmlns:a="http://schemas.openxmlformats.org/drawingml/2006/main">
            <a:r>
              <a:t>results/natural-smoke-final-01-review.json</a:t>
            </a:r>
          </a:p>
          <a:p xmlns:a="http://schemas.openxmlformats.org/drawingml/2006/main">
            <a:r>
              <a:t>results/reference-natural-smoke.json</a:t>
            </a:r>
          </a:p>
          <a:p xmlns:a="http://schemas.openxmlformats.org/drawingml/2006/main">
            <a:r>
              <a:t>benchmarks/natural-smoke/manifest.json</a:t>
            </a:r>
          </a:p>
          <a:p xmlns:a="http://schemas.openxmlformats.org/drawingml/2006/main">
            <a:r>
              <a:t>benchmarks/natural-smoke/README.md</a:t>
            </a:r>
          </a:p>
          <a:p xmlns:a="http://schemas.openxmlformats.org/drawingml/2006/main">
            <a:r>
              <a:t>results/reference-official-05.json</a:t>
            </a:r>
          </a:p>
          <a:p xmlns:a="http://schemas.openxmlformats.org/drawingml/2006/main">
            <a:r>
              <a:t>https://huggingface.co/nvidia/Cosmos3-Edge/blob/344d602b128d1bbdacb43b08d0a3626f46343e29/README.md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Warmups remain separate from measured requests. TTFT starts at request dispatch and ends on the first nonempty text delta. Completion token counts must come from real backend usage. Equivalent-quality qualification is an overlay referencing unchanged raw measurements.</a:t>
            </a:r>
          </a:p>
          <a:p xmlns:a="http://schemas.openxmlformats.org/drawingml/2006/main">
            <a:r>
              <a:t>Measured values supplied by output/final-findings-data.json.</a:t>
            </a:r>
          </a:p>
          <a:p xmlns:a="http://schemas.openxmlformats.org/drawingml/2006/main">
            <a:r>
              <a:t>Sources:</a:t>
            </a:r>
          </a:p>
          <a:p xmlns:a="http://schemas.openxmlformats.org/drawingml/2006/main">
            <a:r>
              <a:t>research/benchmark-method.md</a:t>
            </a:r>
          </a:p>
          <a:p xmlns:a="http://schemas.openxmlformats.org/drawingml/2006/main">
            <a:r>
              <a:t>GOAL.md</a:t>
            </a:r>
          </a:p>
          <a:p xmlns:a="http://schemas.openxmlformats.org/drawingml/2006/main">
            <a:r>
              <a:t>results/benchmark-fp16-qualified.jsonl</a:t>
            </a:r>
          </a:p>
          <a:p xmlns:a="http://schemas.openxmlformats.org/drawingml/2006/main">
            <a:r>
              <a:t>results/raw/benchmark-fp16-reference-01.jsonl</a:t>
            </a:r>
          </a:p>
          <a:p xmlns:a="http://schemas.openxmlformats.org/drawingml/2006/main">
            <a:r>
              <a:t>results/optimization-quality-policy.json</a:t>
            </a:r>
          </a:p>
          <a:p xmlns:a="http://schemas.openxmlformats.org/drawingml/2006/main">
            <a:r>
              <a:t>results/optimization-search-plan.json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qualification overlay references the original 35-request run, rather than recording a second measurement. Original raw SHA256: 3ecce48f18c461161a99368c221dc87abc43a8cb1e1a7c1b199f46f8d7d65417. Shared unavailable memory equals MemTotal minus MemAvailable. RSS is the process resident set. These overlapping counters must never be added.</a:t>
            </a:r>
          </a:p>
          <a:p xmlns:a="http://schemas.openxmlformats.org/drawingml/2006/main">
            <a:r>
              <a:t>Measured values supplied by output/final-findings-data.json.</a:t>
            </a:r>
          </a:p>
          <a:p xmlns:a="http://schemas.openxmlformats.org/drawingml/2006/main">
            <a:r>
              <a:t>Sources:</a:t>
            </a:r>
          </a:p>
          <a:p xmlns:a="http://schemas.openxmlformats.org/drawingml/2006/main">
            <a:r>
              <a:t>results/benchmark-fp16-qualified.jsonl</a:t>
            </a:r>
          </a:p>
          <a:p xmlns:a="http://schemas.openxmlformats.org/drawingml/2006/main">
            <a:r>
              <a:t>results/raw/benchmark-fp16-reference-01.jsonl</a:t>
            </a:r>
          </a:p>
          <a:p xmlns:a="http://schemas.openxmlformats.org/drawingml/2006/main">
            <a:r>
              <a:t>results/optimization-quality-policy.json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Group-128 symmetric round-to-nearest with stored FP16 scales and signed values -7 through 7. RTN_GPTQ dispatch describes RTN values in GPTQ-compatible packing. No GPTQ optimization, AWQ optimization, calibration dataset, GPU conversion or community checkpoint was used. Source shards stayed read-only. The exact public parser and V1/V2 repackers passed CPU tests.</a:t>
            </a:r>
          </a:p>
          <a:p xmlns:a="http://schemas.openxmlformats.org/drawingml/2006/main">
            <a:r>
              <a:t>Measured values supplied by output/final-findings-data.json.</a:t>
            </a:r>
          </a:p>
          <a:p xmlns:a="http://schemas.openxmlformats.org/drawingml/2006/main">
            <a:r>
              <a:t>Sources:</a:t>
            </a:r>
          </a:p>
          <a:p xmlns:a="http://schemas.openxmlformats.org/drawingml/2006/main">
            <a:r>
              <a:t>results/rtn-cpu-validation.json</a:t>
            </a:r>
          </a:p>
          <a:p xmlns:a="http://schemas.openxmlformats.org/drawingml/2006/main">
            <a:r>
              <a:t>scripts/quantize_cosmos3_rtn.py</a:t>
            </a:r>
          </a:p>
          <a:p xmlns:a="http://schemas.openxmlformats.org/drawingml/2006/main">
            <a:r>
              <a:t>scripts/rtn_backend.py</a:t>
            </a:r>
          </a:p>
          <a:p xmlns:a="http://schemas.openxmlformats.org/drawingml/2006/main">
            <a:r>
              <a:t>tests/test_rtn_quantization.py</a:t>
            </a:r>
          </a:p>
          <a:p xmlns:a="http://schemas.openxmlformats.org/drawingml/2006/main">
            <a:r>
              <a:t>https://github.com/NVIDIA/TensorRT-Edge-LLM/blob/e8b29522938901f6df19ebeedd4b69bc8edbcd97/experimental/builder/weight_packing/int4.py</a:t>
            </a:r>
          </a:p>
          <a:p xmlns:a="http://schemas.openxmlformats.org/drawingml/2006/main">
            <a:r>
              <a:t>https://github.com/NVIDIA/TensorRT-Edge-LLM/blob/e8b29522938901f6df19ebeedd4b69bc8edbcd97/experimental/builder/core/quantization.py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INT4 execution status: rejected. 13/19 facts; new errors and token-limit truncation.. Selection: fp16-corrected-i1024-kv2048. Identical workload fingerprints and memory counters are required for comparisons. The selected column is a separate final verification after swap was disabled; search-trial measurements remain unchanged. Rejected RTN measurements describe a tradeoff and cannot qualify it for selection. Strict quality and reference-equivalent quality remain separate.</a:t>
            </a:r>
          </a:p>
          <a:p xmlns:a="http://schemas.openxmlformats.org/drawingml/2006/main">
            <a:r>
              <a:t>Measured values supplied by output/final-findings-data.json.</a:t>
            </a:r>
          </a:p>
          <a:p xmlns:a="http://schemas.openxmlformats.org/drawingml/2006/main">
            <a:r>
              <a:t>Sources:</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results/raw/benchmark-final-service-01.jsonl</a:t>
            </a:r>
          </a:p>
          <a:p xmlns:a="http://schemas.openxmlformats.org/drawingml/2006/main">
            <a:r>
              <a:t>results/optimization-quality-policy.json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Orin Nano uses unified physical RAM for CPU and GPU. MemTotal minus MemAvailable includes CPU, GPU and system pressure. Process RSS and CUDA allocator telemetry answer different questions and overlap. Disk checkpoint/engine size is separate from memory. Missing allocator telemetry is explicitly unavailable.</a:t>
            </a:r>
          </a:p>
          <a:p xmlns:a="http://schemas.openxmlformats.org/drawingml/2006/main">
            <a:r>
              <a:t>Measured values supplied by output/final-findings-data.json.</a:t>
            </a:r>
          </a:p>
          <a:p xmlns:a="http://schemas.openxmlformats.org/drawingml/2006/main">
            <a:r>
              <a:t>Sources:</a:t>
            </a:r>
          </a:p>
          <a:p xmlns:a="http://schemas.openxmlformats.org/drawingml/2006/main">
            <a:r>
              <a:t>GOAL.md</a:t>
            </a:r>
          </a:p>
          <a:p xmlns:a="http://schemas.openxmlformats.org/drawingml/2006/main">
            <a:r>
              <a:t>research/fp16-build-memory.md</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results/raw/benchmark-final-service-01.jsonl</a:t>
            </a:r>
          </a:p>
          <a:p xmlns:a="http://schemas.openxmlformats.org/drawingml/2006/main">
            <a:r>
              <a:t>results/optimization-search-plan.json</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results/raw/benchmark-rtn-mlp-rejected-01.jsonl</a:t>
            </a:r>
          </a:p>
          <a:p xmlns:a="http://schemas.openxmlformats.org/drawingml/2006/main">
            <a:r>
              <a:t>results/raw/benchmark-fp16-clocks-01.jsonl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bounded observed selection, not a claim of a global optimum. Final export requires a 10-minute soak, no errors/OOM/swapping, at least 512 MiB minimum MemAvailable, and explicit candidate selection. Compare latency/memory improvement only under the same declared memory counter and workload.</a:t>
            </a:r>
          </a:p>
          <a:p xmlns:a="http://schemas.openxmlformats.org/drawingml/2006/main">
            <a:r>
              <a:t>Measured values supplied by output/final-findings-data.json.</a:t>
            </a:r>
          </a:p>
          <a:p xmlns:a="http://schemas.openxmlformats.org/drawingml/2006/main">
            <a:r>
              <a:t>Sources:</a:t>
            </a:r>
          </a:p>
          <a:p xmlns:a="http://schemas.openxmlformats.org/drawingml/2006/main">
            <a:r>
              <a:t>results/optimization-selection.json</a:t>
            </a:r>
          </a:p>
          <a:p xmlns:a="http://schemas.openxmlformats.org/drawingml/2006/main">
            <a:r>
              <a:t>results/raw/benchmark-final-service-01.jsonl</a:t>
            </a:r>
          </a:p>
          <a:p xmlns:a="http://schemas.openxmlformats.org/drawingml/2006/main">
            <a:r>
              <a:t>results/raw/soak-final-service-01.summary.json</a:t>
            </a:r>
          </a:p>
          <a:p xmlns:a="http://schemas.openxmlformats.org/drawingml/2006/main">
            <a:r>
              <a:t>GOAL.md</a:t>
            </a:r>
          </a:p>
          <a:p xmlns:a="http://schemas.openxmlformats.org/drawingml/2006/main">
            <a:r>
              <a:t>results/optimization-search-plan.json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contributors are public contribution credits, not assigned individual ownership of each feature. NVIDIA owns the model/runtime contributions. Original task code is Apache-2.0. Model OpenMDW-1.1, JetPack/CUDA/TensorRT terms and bundled dependency licenses remain separate. Paramiko LGPL-2.1 supports the optional SSH bridge. NumPy uses BSD-3-Clause and Pillow MIT-CMU. Official PyTorch and Transformers supply reference execution. PyTorch wheels retain all bundled license notices, beyond its main BSD-style license. See the contribution ledger for exact public evidence.</a:t>
            </a:r>
          </a:p>
          <a:p xmlns:a="http://schemas.openxmlformats.org/drawingml/2006/main">
            <a:r>
              <a:t>Measured values supplied by output/final-findings-data.json.</a:t>
            </a:r>
          </a:p>
          <a:p xmlns:a="http://schemas.openxmlformats.org/drawingml/2006/main">
            <a:r>
              <a:t>Sources:</a:t>
            </a:r>
          </a:p>
          <a:p xmlns:a="http://schemas.openxmlformats.org/drawingml/2006/main">
            <a:r>
              <a:t>research/contribution-ledger.md</a:t>
            </a:r>
          </a:p>
          <a:p xmlns:a="http://schemas.openxmlformats.org/drawingml/2006/main">
            <a:r>
              <a:t>THIRD_PARTY_NOTICES.md</a:t>
            </a:r>
          </a:p>
          <a:p xmlns:a="http://schemas.openxmlformats.org/drawingml/2006/main">
            <a:r>
              <a:t>https://huggingface.co/nvidia/Cosmos3-Edge/blob/344d602b128d1bbdacb43b08d0a3626f46343e29/README.md</a:t>
            </a:r>
          </a:p>
          <a:p xmlns:a="http://schemas.openxmlformats.org/drawingml/2006/main">
            <a:r>
              <a:t>https://github.com/NVIDIA/TensorRT-Edge-LLM/blob/e8b29522938901f6df19ebeedd4b69bc8edbcd97/LICENSE</a:t>
            </a:r>
          </a:p>
          <a:p xmlns:a="http://schemas.openxmlformats.org/drawingml/2006/main">
            <a:r>
              <a:t>https://github.com/NVIDIA-AI-IOT/live-vlm-webui</a:t>
            </a:r>
          </a:p>
          <a:p xmlns:a="http://schemas.openxmlformats.org/drawingml/2006/main">
            <a:r>
              <a:t>https://github.com/huggingface/transformers/blob/c587bc884db2c2e31fc2b8102314656b17aa07b1/LICENSE</a:t>
            </a:r>
          </a:p>
          <a:p xmlns:a="http://schemas.openxmlformats.org/drawingml/2006/main">
            <a:r>
              <a:t>https://github.com/pytorch/pytorch/blob/cf30153c4c131c8164ee7798e5022d810682e2cb/LICENSE</a:t>
            </a:r>
          </a:p>
          <a:p xmlns:a="http://schemas.openxmlformats.org/drawingml/2006/main">
            <a:r>
              <a:t>https://github.com/NVIDIA/TensorRT-Edge-LLM/commit/e8b29522938901f6df19ebeedd4b69bc8edbcd97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Commands are supplied from the selected validated deployment. Exact source/model revisions, conversion receipts, patch hashes, engine receipts and raw benchmark files preserve provenance. The source corpus contains public code and original task assets only. No personal-namespace project or internal repository was used.</a:t>
            </a:r>
          </a:p>
          <a:p xmlns:a="http://schemas.openxmlformats.org/drawingml/2006/main">
            <a:r>
              <a:t>Measured values supplied by output/final-findings-data.json.</a:t>
            </a:r>
          </a:p>
          <a:p xmlns:a="http://schemas.openxmlformats.org/drawingml/2006/main">
            <a:r>
              <a:t>Sources:</a:t>
            </a:r>
          </a:p>
          <a:p xmlns:a="http://schemas.openxmlformats.org/drawingml/2006/main">
            <a:r>
              <a:t>docs/backend-build.md</a:t>
            </a:r>
          </a:p>
          <a:p xmlns:a="http://schemas.openxmlformats.org/drawingml/2006/main">
            <a:r>
              <a:t>sources.lock.json</a:t>
            </a:r>
          </a:p>
          <a:p xmlns:a="http://schemas.openxmlformats.org/drawingml/2006/main">
            <a:r>
              <a:t>docs/quality-workload.md</a:t>
            </a:r>
          </a:p>
          <a:p xmlns:a="http://schemas.openxmlformats.org/drawingml/2006/main">
            <a:r>
              <a:t>patches/cosmos3-half-pixel-position.md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requested installing JetPack over USB-C, Cosmos3-Edge through TensorRT-Edge-LLM, a streaming UI served on the Orin, low memory and latency after signs of life, and a findings presentation. The user explicitly required public code and prohibited personal-namespace/internal repositories and communications. Exact user quote: “Give yourself a proper goal setting so you don’t keep iterating on marginal gains for either.” Numeric thresholds were agent choices. The initial ceiling was 12 candidates, later tightened to 5. Each measured trial used 5 warmups and 30 measured requests. Three consecutive non-improvements stop the search. A candidate needs at least 5% improvement in p50 answer latency or sampled peak memory, no greater than 5% regression in the counterpart or p95 latency, preserved reference-equivalent quality, and no errors, OOM or workload swap. Four trials were evaluated. The compact fifth trial was not run.</a:t>
            </a:r>
          </a:p>
          <a:p xmlns:a="http://schemas.openxmlformats.org/drawingml/2006/main">
            <a:r>
              <a:t>Safe transcript excerpts and attribution audit: research/first-version-journey.md.</a:t>
            </a:r>
          </a:p>
          <a:p xmlns:a="http://schemas.openxmlformats.org/drawingml/2006/main">
            <a:r>
              <a:t>Sources:</a:t>
            </a:r>
          </a:p>
          <a:p xmlns:a="http://schemas.openxmlformats.org/drawingml/2006/main">
            <a:r>
              <a:t>GOAL.md</a:t>
            </a:r>
          </a:p>
          <a:p xmlns:a="http://schemas.openxmlformats.org/drawingml/2006/main">
            <a:r>
              <a:t>results/deployment-status.json</a:t>
            </a:r>
          </a:p>
          <a:p xmlns:a="http://schemas.openxmlformats.org/drawingml/2006/main">
            <a:r>
              <a:t>results/optimization-search-plan.json</a:t>
            </a:r>
          </a:p>
          <a:p xmlns:a="http://schemas.openxmlformats.org/drawingml/2006/main">
            <a:r>
              <a:t>results/optimization-selection.json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user oversight prompts: “Did you install jetpack via the usb-c?” and “what have you done thus far?” These are status requests, not physical interventions. Exact connectivity reports: “Do you need the GPU? I took the ethernet offline so you can go faster, can you work on wifi or do you want ethernet”; “nvm we’ll take all night if you need to, giving the GPU ethernet back and you on wifi”. These statements are user reports, not independently verified interface changes or measured network speed improvements. Optional GPU authorization required all remote work to remain in one newly created task directory. The safe exact excerpt “Isolate your work from anything else on that computer.” omits host and credentials. The user also said “ok was able to ssh in from the terminal inside this codex side chat”. A user login did not establish agent authentication: the recorded agent clients were rejected, no task directory or files were created, and the auxiliary GPU was never used. Local Mac MPS reference execution and actual Orin GPU inference are distinct from that unused auxiliary machine.</a:t>
            </a:r>
          </a:p>
          <a:p xmlns:a="http://schemas.openxmlformats.org/drawingml/2006/main">
            <a:r>
              <a:t>Safe transcript excerpts and attribution audit: research/first-version-journey.md.</a:t>
            </a:r>
          </a:p>
          <a:p xmlns:a="http://schemas.openxmlformats.org/drawingml/2006/main">
            <a:r>
              <a:t>Sources:</a:t>
            </a:r>
          </a:p>
          <a:p xmlns:a="http://schemas.openxmlformats.org/drawingml/2006/main">
            <a:r>
              <a:t>GOAL.md</a:t>
            </a:r>
          </a:p>
          <a:p xmlns:a="http://schemas.openxmlformats.org/drawingml/2006/main">
            <a:r>
              <a:t>results/aux-gpu-status.json</a:t>
            </a:r>
          </a:p>
          <a:p xmlns:a="http://schemas.openxmlformats.org/drawingml/2006/main">
            <a:r>
              <a:t>results/normal-boot.json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reported “Poll the USB and see if you see it now, it’s jumpered FC REC and GND”. The later “done” followed a requested fresh recovery power cycle and is recorded here as a readiness confirmation, not independent proof of a detailed unplug/replug sequence or its timing. The status receipt records a user-confirmed physical reset, and the subsequent EEPROM/bulk-upload receipt passed. The user later said “the jumper isn’t in”. This establishes user-reported state, not who removed it or when. At RAM boot the agent asked for accessory approval if a prompt appeared. Approval itself was not confirmed; the agent instead verified native Mac USB SSH and used an SSH/NFS bridge around the VM networking issue. The official flash finished without reboot. The agent continued source/model and package preparation while normal-boot readiness remained unresolved. Package installation in a native ARM chroot was not GPU execution. After the user’s jumper-state confirmation, normal NVMe boot, task-key SSH, CUDA execution and storage expansion passed. Receipt timestamps are recording times. This history does not establish a physical reboot after the later systemd service installation.</a:t>
            </a:r>
          </a:p>
          <a:p xmlns:a="http://schemas.openxmlformats.org/drawingml/2006/main">
            <a:r>
              <a:t>Safe transcript excerpts and attribution audit: research/first-version-journey.md.</a:t>
            </a:r>
          </a:p>
          <a:p xmlns:a="http://schemas.openxmlformats.org/drawingml/2006/main">
            <a:r>
              <a:t>Sources:</a:t>
            </a:r>
          </a:p>
          <a:p xmlns:a="http://schemas.openxmlformats.org/drawingml/2006/main">
            <a:r>
              <a:t>results/host-inventory.json</a:t>
            </a:r>
          </a:p>
          <a:p xmlns:a="http://schemas.openxmlformats.org/drawingml/2006/main">
            <a:r>
              <a:t>results/deployment-status.json</a:t>
            </a:r>
          </a:p>
          <a:p xmlns:a="http://schemas.openxmlformats.org/drawingml/2006/main">
            <a:r>
              <a:t>results/jetson-board.json</a:t>
            </a:r>
          </a:p>
          <a:p xmlns:a="http://schemas.openxmlformats.org/drawingml/2006/main">
            <a:r>
              <a:t>results/ram-recovery-boot.json</a:t>
            </a:r>
          </a:p>
          <a:p xmlns:a="http://schemas.openxmlformats.org/drawingml/2006/main">
            <a:r>
              <a:t>results/usb-transfer-path.json</a:t>
            </a:r>
          </a:p>
          <a:p xmlns:a="http://schemas.openxmlformats.org/drawingml/2006/main">
            <a:r>
              <a:t>results/jetpack-flash-status.json</a:t>
            </a:r>
          </a:p>
          <a:p xmlns:a="http://schemas.openxmlformats.org/drawingml/2006/main">
            <a:r>
              <a:t>results/chroot-compute-provisioning.json</a:t>
            </a:r>
          </a:p>
          <a:p xmlns:a="http://schemas.openxmlformats.org/drawingml/2006/main">
            <a:r>
              <a:t>results/blocked-audit.json</a:t>
            </a:r>
          </a:p>
          <a:p xmlns:a="http://schemas.openxmlformats.org/drawingml/2006/main">
            <a:r>
              <a:t>results/normal-boot.json</a:t>
            </a:r>
          </a:p>
          <a:p xmlns:a="http://schemas.openxmlformats.org/drawingml/2006/main">
            <a:r>
              <a:t>results/cuda-preflight.json</a:t>
            </a:r>
          </a:p>
          <a:p xmlns:a="http://schemas.openxmlformats.org/drawingml/2006/main">
            <a:r>
              <a:t>results/final-service-audit.json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Slides 1–17 retain the earlier findings and intervention record. This slide updates the later UI state. User steering first matched prompt and the 512-token default, then explicitly requested a capture comparison toggle with Live VLM WebUI as the default. The default requests ideal 1280×720 with no FPS constraint, counts 30 browser-presented frames, preserves source dimensions, skips samples while busy, and uses temperature 0.7. Lightweight preserves previous capture settings. Prompt/token edits survive switching. This matches documented settings with remaining browser/WebRTC, JPEG and streaming differences. HTTP now redirects the LAN page to HTTPS. The original deterministic 64-token benchmark is unchanged. No new candidate search ran after the preset correction.</a:t>
            </a:r>
          </a:p>
          <a:p xmlns:a="http://schemas.openxmlformats.org/drawingml/2006/main">
            <a:r>
              <a:t>Sources:</a:t>
            </a:r>
          </a:p>
          <a:p xmlns:a="http://schemas.openxmlformats.org/drawingml/2006/main">
            <a:r>
              <a:t>research/first-version-journey.md</a:t>
            </a:r>
          </a:p>
          <a:p xmlns:a="http://schemas.openxmlformats.org/drawingml/2006/main">
            <a:r>
              <a:t>research/capture-preset-comparison.md</a:t>
            </a:r>
          </a:p>
          <a:p xmlns:a="http://schemas.openxmlformats.org/drawingml/2006/main">
            <a:r>
              <a:t>results/ui-presets-validation.json</a:t>
            </a:r>
          </a:p>
          <a:p xmlns:a="http://schemas.openxmlformats.org/drawingml/2006/main">
            <a:r>
              <a:t>results/browser-ui-presets.json</a:t>
            </a:r>
          </a:p>
          <a:p xmlns:a="http://schemas.openxmlformats.org/drawingml/2006/main">
            <a:r>
              <a:t>results/ui-camera-redirect-validation.json</a:t>
            </a:r>
          </a:p>
          <a:p xmlns:a="http://schemas.openxmlformats.org/drawingml/2006/main">
            <a:r>
              <a:t>results/browser-ui-camera-redirect.json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treated Live VLM WebUI as a workflow reference and selected a compact deterministic initial workload. The preserved initial UI screenshot shows a 64-token ceiling, 1-second minimum interval, 512-pixel longest side, and prompt: “Describe the visible scene in one concise sentence. Focus on objects and actions.” Camera request 640×480, ideal 15 FPS/max 30 FPS, JPEG 0.8 and temperature 0/top_p 1 are preserved in the later Lightweight profile and comparison contract. The original interim presentation explicitly labels reduced backlog/setup overhead from capped frames and resident inference as a hypothesis. The screenshot was captured before backend readiness and establishes settings only. The candidate benchmark later used its separate frozen geometric prompt with 512×512 images and 64 output tokens. Smaller frames, fewer output tokens, and greedy decoding did not establish an equivalent workload to Live VLM defaults.</a:t>
            </a:r>
          </a:p>
          <a:p xmlns:a="http://schemas.openxmlformats.org/drawingml/2006/main">
            <a:r>
              <a:t>Sources:</a:t>
            </a:r>
          </a:p>
          <a:p xmlns:a="http://schemas.openxmlformats.org/drawingml/2006/main">
            <a:r>
              <a:t>.qa/ui-desktop.png</a:t>
            </a:r>
          </a:p>
          <a:p xmlns:a="http://schemas.openxmlformats.org/drawingml/2006/main">
            <a:r>
              <a:t>.presentation-build/create.mjs</a:t>
            </a:r>
          </a:p>
          <a:p xmlns:a="http://schemas.openxmlformats.org/drawingml/2006/main">
            <a:r>
              <a:t>research/benchmark-method.md</a:t>
            </a:r>
          </a:p>
          <a:p xmlns:a="http://schemas.openxmlformats.org/drawingml/2006/main">
            <a:r>
              <a:t>research/capture-preset-comparison.md</a:t>
            </a:r>
          </a:p>
          <a:p xmlns:a="http://schemas.openxmlformats.org/drawingml/2006/main">
            <a:r>
              <a:t>web/app.js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user sequence: “Set the max tokens and the sample prompt to the same default parameters as Web VLM UI.” Then: “Are the capture interval and the frame longest side the same defaults as Web VLM UI?” Then: “can we have a toggle so we have an apples to apples comparison to web vlm ui? Make the Live VLM WebUI default”. Prompt/token matching happened first. The explicit toggle request later aligned capture and generation defaults. Initial UI prompt was “Describe the visible scene in one concise sentence. Focus on objects and actions.” New prompt is shown on this slide. Full source frames remain subject to documented input bounds. Source dimensions are the actual negotiated camera dimensions, not guaranteed to equal the ideal request. The browser JPEG 0.75 value is nominal: upstream uses Pillow defaults, so bytes differ. Initial top_p=1 used greedy temperature 0; Live VLM omits top_p/top_k so the backend resolves 0.9/50. Upstream uses received WebRTC frames while this app uses browser-presented frames. The UI streams tokens while upstream requests non-streaming answers. These limits prevent an identical end-to-end transport equivalence claim.</a:t>
            </a:r>
          </a:p>
          <a:p xmlns:a="http://schemas.openxmlformats.org/drawingml/2006/main">
            <a:r>
              <a:t>Sources:</a:t>
            </a:r>
          </a:p>
          <a:p xmlns:a="http://schemas.openxmlformats.org/drawingml/2006/main">
            <a:r>
              <a:t>research/first-version-journey.md</a:t>
            </a:r>
          </a:p>
          <a:p xmlns:a="http://schemas.openxmlformats.org/drawingml/2006/main">
            <a:r>
              <a:t>research/capture-preset-comparison.md</a:t>
            </a:r>
          </a:p>
          <a:p xmlns:a="http://schemas.openxmlformats.org/drawingml/2006/main">
            <a:r>
              <a:t>results/ui-telemetry-validation.json</a:t>
            </a:r>
          </a:p>
          <a:p xmlns:a="http://schemas.openxmlformats.org/drawingml/2006/main">
            <a:r>
              <a:t>results/ui-presets-validation.json</a:t>
            </a:r>
          </a:p>
          <a:p xmlns:a="http://schemas.openxmlformats.org/drawingml/2006/main">
            <a:r>
              <a:t>https://github.com/NVIDIA-AI-IOT/live-vlm-webui/blob/2fd5ba0b334c334d24bf0f9439d8742b243d22be/src/live_vlm_webui/static/index.html</a:t>
            </a:r>
          </a:p>
          <a:p xmlns:a="http://schemas.openxmlformats.org/drawingml/2006/main">
            <a:r>
              <a:t>https://github.com/NVIDIA-AI-IOT/live-vlm-webui/blob/2fd5ba0b334c334d24bf0f9439d8742b243d22be/src/live_vlm_webui/video_processor.py</a:t>
            </a:r>
          </a:p>
          <a:p xmlns:a="http://schemas.openxmlformats.org/drawingml/2006/main">
            <a:r>
              <a:t>https://github.com/NVIDIA-AI-IOT/live-vlm-webui/blob/2fd5ba0b334c334d24bf0f9439d8742b243d22be/src/live_vlm_webui/vlm_service.py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User-designated unoptimized/before recording, after the default-preset change and after the earlier bounded optimization search. Source: Codex recording unoptimized Sep 20 Cosmos3-Edge.mov. SHA-256 6f4b66d3572edf2faffa617baa77b1d448635354f1874d4960e2c7c87238b438. Exact frame PTS 5.808333 s, zero-based frame 232. The full source screenshot is embedded without crop or pixel modification. Visible camera and sent frame dimensions are 1280×720 with reported 30.0 FPS. The preset and temperature 0.7 description are visible, as is the one-sentence prompt. UI reports Answer complete. First visible token 812 ms, complete answer 1.44 s, frame age 1.55 s. These are one rounded UI observation. CPU/GPU/shared-RAM numbers and the active token-limit control are outside the viewport. The recording therefore does not independently prove the current output ceiling. Corrected FP16 and memory limits were already deployed. This is the user’s new comparison baseline, not pristine upstream code.</a:t>
            </a:r>
          </a:p>
          <a:p xmlns:a="http://schemas.openxmlformats.org/drawingml/2006/main">
            <a:r>
              <a:t>Sources:</a:t>
            </a:r>
          </a:p>
          <a:p xmlns:a="http://schemas.openxmlformats.org/drawingml/2006/main">
            <a:r>
              <a:t>output/before-cosmos3-edge-2026-09-20/manifest.json</a:t>
            </a:r>
          </a:p>
          <a:p xmlns:a="http://schemas.openxmlformats.org/drawingml/2006/main">
            <a:r>
              <a:t>output/before-cosmos3-edge-2026-09-20/02-before-05.808s-action-camera.png</a:t>
            </a:r>
          </a:p>
          <a:p xmlns:a="http://schemas.openxmlformats.org/drawingml/2006/main">
            <a:r>
              <a:t>deployment/selected-config.json</a:t>
            </a:r>
          </a:p>
          <a:p xmlns:a="http://schemas.openxmlformats.org/drawingml/2006/main">
            <a:r>
              <a:t>research/capture-preset-comparison.md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recording and hash as in manifest. Pen frame PTS 9.841667 s, frame index 370. Full screenshot is embedded unchanged. Exact visible model output: A man with gray hair holds a pen in front of his eye as if to scratch it. The phrase “as if to scratch it” is a model-inferred action not established by the screenshot. No intent is attributed to the person. The model did identify a pen. UI reports first token 612 ms, complete answer 1.43 s, frame age 1.56 s. The live preview can be later than the sampled model input. This curated observation is not an accuracy benchmark. The evidence pack contains six original-resolution frames, including the scene, action camera, pen, toy, battery and scissors. All have exact timestamps, SHA-256 hashes and verified re-extraction.</a:t>
            </a:r>
          </a:p>
          <a:p xmlns:a="http://schemas.openxmlformats.org/drawingml/2006/main">
            <a:r>
              <a:t>Sources:</a:t>
            </a:r>
          </a:p>
          <a:p xmlns:a="http://schemas.openxmlformats.org/drawingml/2006/main">
            <a:r>
              <a:t>output/before-cosmos3-edge-2026-09-20/manifest.json</a:t>
            </a:r>
          </a:p>
          <a:p xmlns:a="http://schemas.openxmlformats.org/drawingml/2006/main">
            <a:r>
              <a:t>output/before-cosmos3-edge-2026-09-20/03-before-09.842s-pen.png</a:t>
            </a:r>
          </a:p>
          <a:p xmlns:a="http://schemas.openxmlformats.org/drawingml/2006/main">
            <a:r>
              <a:t>output/before-cosmos3-edge-2026-09-20/README.md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search preceded the Live VLM preset correction. Every measured candidate used the same frozen 512×512 geometric image, prompt, 64-token ceiling and temperature 0. Five warmups and 30 measured requests per candidate. Acceptance required at least 5% reduction in median complete-answer latency or peak system RAM, with no more than 5% regression in the other metric or p95 latency, quality equivalence, and no errors/OOM/swap. The ceiling was tightened from 12 to 5 total candidates. Four trials ran, then three consecutive non-improvements stopped the search. All-linears RTN strict quality was 13/19. MLP-only RTN scored 18/19 but introduced a new color error, failing the frozen reference-equivalence policy. Fixed clocks yielded only 3.94% latency gain and observed system swap-counter activity. The fifth compact-profile trial did not run. Shared RAM means system MemTotal minus MemAvailable and includes CPU/GPU/OS. It is distinct from model VRAM and process RSS. Table metrics are candidate-trial results; the next slide reports a separate final-service verification of the same selected engine.</a:t>
            </a:r>
          </a:p>
          <a:p xmlns:a="http://schemas.openxmlformats.org/drawingml/2006/main">
            <a:r>
              <a:t>Sources:</a:t>
            </a:r>
          </a:p>
          <a:p xmlns:a="http://schemas.openxmlformats.org/drawingml/2006/main">
            <a:r>
              <a:t>results/optimization-search-plan.json</a:t>
            </a:r>
          </a:p>
          <a:p xmlns:a="http://schemas.openxmlformats.org/drawingml/2006/main">
            <a:r>
              <a:t>results/optimization-selection.json</a:t>
            </a:r>
          </a:p>
          <a:p xmlns:a="http://schemas.openxmlformats.org/drawingml/2006/main">
            <a:r>
              <a:t>results/optimization-quality-policy.json</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results/raw/benchmark-rtn-mlp-rejected-01.jsonl</a:t>
            </a:r>
          </a:p>
          <a:p xmlns:a="http://schemas.openxmlformats.org/drawingml/2006/main">
            <a:r>
              <a:t>results/raw/benchmark-fp16-clocks-01.jsonl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configuration remained corrected FP16, input 1024, KV 2048, batch 1, encoder cache budget zero, stock dynamic 25 W. These are the separate final-service verification results, not an additional search candidate. Five warmups, 30 measured requests. p50 first text 265.54039800066676 ms; p50 complete 1825.8987585013529 ms; p95 complete 1829.9888356496922 ms. Peak system RAM unavailable 6909468672 bytes (6.434944 GiB); RSS 6342467584 bytes. The counters overlap and must not be added. Dedicated CUDA allocator peak was not collected. Final service had no observed errors/OOM/swap. Soak: 600.701 seconds, 366 successful requests. Strict geometric score remained 18/19; natural photo diagnostic was 5/9 generous or 4/9 strict, with 0/3 fully correct images. The chronology is material: final-service benchmark started 2026-09-20 07:18 UTC, soak ended about 07:29 UTC; prompt/token verification was 18:14 UTC, Live VLM preset verification 23:41 UTC; recording creation metadata is 2026-09-21 00:15:52 UTC (September 20 locally). No candidate search was repeated after default alignment. The user-designated before recording contains individual stochastic camera observations and no visible resource values or active token limit. A paired before/after optimization claim under the Live VLM defaults remains unmeasured. This revision documents existing results rather than inventing or launching a new benchmark.</a:t>
            </a:r>
          </a:p>
          <a:p xmlns:a="http://schemas.openxmlformats.org/drawingml/2006/main">
            <a:r>
              <a:t>Sources:</a:t>
            </a:r>
          </a:p>
          <a:p xmlns:a="http://schemas.openxmlformats.org/drawingml/2006/main">
            <a:r>
              <a:t>results/raw/benchmark-final-service-01.jsonl</a:t>
            </a:r>
          </a:p>
          <a:p xmlns:a="http://schemas.openxmlformats.org/drawingml/2006/main">
            <a:r>
              <a:t>results/raw/soak-final-service-01.summary.json</a:t>
            </a:r>
          </a:p>
          <a:p xmlns:a="http://schemas.openxmlformats.org/drawingml/2006/main">
            <a:r>
              <a:t>results/ui-telemetry-validation.json</a:t>
            </a:r>
          </a:p>
          <a:p xmlns:a="http://schemas.openxmlformats.org/drawingml/2006/main">
            <a:r>
              <a:t>results/browser-ui-presets.json</a:t>
            </a:r>
          </a:p>
          <a:p xmlns:a="http://schemas.openxmlformats.org/drawingml/2006/main">
            <a:r>
              <a:t>deployment/selected-config.json</a:t>
            </a:r>
          </a:p>
          <a:p xmlns:a="http://schemas.openxmlformats.org/drawingml/2006/main">
            <a:r>
              <a:t>output/before-cosmos3-edge-2026-09-20/manifest.json</a:t>
            </a:r>
          </a:p>
          <a:p xmlns:a="http://schemas.openxmlformats.org/drawingml/2006/main">
            <a:r>
              <a:t>results/natural-smoke-final-01-review.json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Slides 1–24 preserve the first version and its later comparison discussion as of the preceding delivery. This appendix records a subsequent user-requested latency goal with a newly frozen Live VLM workload. The exact user instruction is: “Improve the Cosmos3-Edge inference to get a minimum of 10% improvement each time in terms of latency. Stop improving when you can no longer get 10% improvement from the last run.” The 10% requirement comes from the user. The agent chose the three-image workload, geometric mean of per-image medians, five warmups and thirty measurements per image, exact-output controls and resource gates. The agent interpreted the stop instruction as the first confirmed measured candidate that fails the acceptance gates, with one matched repeat only when the threshold or equivalence is ambiguous. These controls were frozen before measurement and are not verbatim user requirements. The completed original search accepted improvements at a 5% threshold under 512×512, 64-token, greedy settings. Those earlier numbers are not the denominator here. The new plan was frozen at 2026-09-21T00:50:30Z. Primary metric: geometric mean of per-fixture median complete-answer latency; equal image weighting, compared with last accepted candidate. Acceptance requires at least 10% reduction and no more than 5% per-fixture median or p95 regression, identical output text/completion counts/normal stop, no errors/OOM/swap, and at least 512 MiB available shared RAM. One matched repeat is allowed only for an ambiguous threshold or equivalence. The first confirmed failure stops the search and restores the last accepted candidate. The three input JPEGs are camera-preview crops of the user's recording, resized to 1280×720 and encoded by Chromium at JPEG 0.75. They are not original sensor images or the exact historical inference inputs. Their pixels and hashes stay fixed between runs. The benchmark uses serial streaming requests through the Orin-local proxy. It includes image decode and inference but excludes browser capture/encoding, the 30-frame cadence and Wi-Fi. Prompt: Describe what you see in this image in one sentence. Native resolved sampling remains temperature 0.7, top_p 0.9 and top_k 50, using the existing seed 42 / offset 0 behavior. The candidate hypothesis is Reduce redundant work in the native top-K sampler while preserving partition, comparator, arithmetic, output and RNG semantics; profile first. Other candidates are considered only after an accepted improvement.</a:t>
            </a:r>
          </a:p>
          <a:p xmlns:a="http://schemas.openxmlformats.org/drawingml/2006/main">
            <a:r>
              <a:t>Sources:</a:t>
            </a:r>
          </a:p>
          <a:p xmlns:a="http://schemas.openxmlformats.org/drawingml/2006/main">
            <a:r>
              <a:t>results/latency10/plan.json</a:t>
            </a:r>
          </a:p>
          <a:p xmlns:a="http://schemas.openxmlformats.org/drawingml/2006/main">
            <a:r>
              <a:t>benchmarks/live-vlm-1280/manifest.json</a:t>
            </a:r>
          </a:p>
          <a:p xmlns:a="http://schemas.openxmlformats.org/drawingml/2006/main">
            <a:r>
              <a:t>results/latency10/baseline-summary.json</a:t>
            </a:r>
          </a:p>
          <a:p xmlns:a="http://schemas.openxmlformats.org/drawingml/2006/main">
            <a:r>
              <a:t>results/latency10/baseline-config.json</a:t>
            </a:r>
          </a:p>
          <a:p xmlns:a="http://schemas.openxmlformats.org/drawingml/2006/main">
            <a:r>
              <a:t>research/capture-preset-comparison.md</a:t>
            </a:r>
          </a:p>
          <a:p xmlns:a="http://schemas.openxmlformats.org/drawingml/2006/main">
            <a:r>
              <a:t>results/optimization-search-plan.json</a:t>
            </a:r>
          </a:p>
          <a:p xmlns:a="http://schemas.openxmlformats.org/drawingml/2006/main">
            <a:r>
              <a:t>research/latency10-follow-up.md</a:t>
            </a:r>
          </a:p>
          <a:p xmlns:a="http://schemas.openxmlformats.org/drawingml/2006/main">
            <a:r>
              <a:t>/Users/asotelo/Documents/ChatGPT/jetson-orin-streaming-codes/results/latency10/comparison.json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baseline group is live-vlm-fp16-baseline; the candidate group is live-vlm-fp16-retained-topk. Each image has 30 measured requests following five warmups. B/C means baseline/candidate. The table reports complete-answer median and p95, median first-visible-text timing, and actual completion tokens. A 512-token maximum is a ceiling, not the measured output length. For a mismatch, both token counts are shown rather than claiming a common output. Equal image weighting gives geometric means of 1355.4104504346024ms and 1348.9166893343772ms, a 0.47909923507989394% latency reduction. The 10% threshold for this baseline is 1219.8694053911422ms. All measured answers preserve text, token count and normal stop. The baseline initially summarized in results/latency10/baseline-summary.json had geometric mean 1355.4104504346024ms. The final comparator receipt controls these paired values, including any plan-authorized repeat. All per-fixture TTFT p95 values and exact answers remain in that receipt. The measurements do not compare against the earlier recording's rounded browser labels or the original 64-token benchmark. {"per_fixture":[{"fixture":"01-action-camera.jpg","ratios":{"p50_latency_ms":0.9927240572191822,"p95_latency_ms":0.9970684049795476},"output_equivalent":true},{"fixture":"02-pen.jpg","ratios":{"p50_latency_ms":0.9968746531882712,"p95_latency_ms":0.9997066104656184},"output_equivalent":true},{"fixture":"03-scissors.jpg","ratios":{"p50_latency_ms":0.996033153433705,"p95_latency_ms":0.9999782577576172},"output_equivalent":true}],"decision":"stop_and_restore_last_accepted"}</a:t>
            </a:r>
          </a:p>
          <a:p xmlns:a="http://schemas.openxmlformats.org/drawingml/2006/main">
            <a:r>
              <a:t>Sources:</a:t>
            </a:r>
          </a:p>
          <a:p xmlns:a="http://schemas.openxmlformats.org/drawingml/2006/main">
            <a:r>
              <a:t>/Users/asotelo/Documents/ChatGPT/jetson-orin-streaming-codes/results/latency10/comparison.json</a:t>
            </a:r>
          </a:p>
          <a:p xmlns:a="http://schemas.openxmlformats.org/drawingml/2006/main">
            <a:r>
              <a:t>results/latency10/plan.json</a:t>
            </a:r>
          </a:p>
          <a:p xmlns:a="http://schemas.openxmlformats.org/drawingml/2006/main">
            <a:r>
              <a:t>benchmarks/live-vlm-1280/manifest.json</a:t>
            </a:r>
          </a:p>
          <a:p xmlns:a="http://schemas.openxmlformats.org/drawingml/2006/main">
            <a:r>
              <a:t>results/latency10/raw/baseline-01-action-camera.jsonl</a:t>
            </a:r>
          </a:p>
          <a:p xmlns:a="http://schemas.openxmlformats.org/drawingml/2006/main">
            <a:r>
              <a:t>results/latency10/raw/baseline-02-pen.jsonl</a:t>
            </a:r>
          </a:p>
          <a:p xmlns:a="http://schemas.openxmlformats.org/drawingml/2006/main">
            <a:r>
              <a:t>results/latency10/raw/baseline-03-scissors.jsonl</a:t>
            </a:r>
          </a:p>
          <a:p xmlns:a="http://schemas.openxmlformats.org/drawingml/2006/main">
            <a:r>
              <a:t>results/latency10/raw/candidate-01-action-camera.jsonl</a:t>
            </a:r>
          </a:p>
          <a:p xmlns:a="http://schemas.openxmlformats.org/drawingml/2006/main">
            <a:r>
              <a:t>results/latency10/raw/candidate-02-pen.jsonl</a:t>
            </a:r>
          </a:p>
          <a:p xmlns:a="http://schemas.openxmlformats.org/drawingml/2006/main">
            <a:r>
              <a:t>results/latency10/raw/candidate-03-scissors.jsonl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Candidate failed the frozen acceptance gates. The stop rule retains the last accepted baseline. This is the benchmark decision, not independent evidence that a deployment or restoration command completed. Rejection reasons: ["geomean_complete_latency_gain_below_10_percent"]. Baseline failures: []. Candidate failures: []. Shared RAM is MemTotal minus MemAvailable and includes CPU, GPU, OS and applications. Process RSS overlaps with shared system RAM and must not be added to it. These are sampled extrema across warmups and measured requests; dedicated CUDA allocator or VRAM peaks were not collected. Minimum available shared RAM must remain at least 512 MiB. All measured answers preserve text, token count and normal stop. The baseline is repeatable with actual completion lengths 14 / 40 / 17 tokens for action camera/pen/scissors. Byte-identical output establishes preservation, not absolute correctness. The action-camera baseline adds an unsupported mirror claim. The pen answer adds unsupported body-side and gesture-meaning claims. The three examples do not establish representative model accuracy. The measured candidate is this task's retained-partial top-K prototype. Each CUDA thread retains its current local maximum, and only the winning index's owner rescans its partition after invalidation. The prototype preserves the eight partitions, 256 threads per block, comparison and reduction order, stage-2 arithmetic, RNG behavior, model precision and generation parameters. It caches a local intermediate within one sampler launch, not image embeddings, model responses or results across requests. The public upstream supplies the sampler and CUDA/TensorRT runtime. This task authors the prototype patch, bounded experiment and equivalence harness. The following slide separates the sampler diagnostic from the user's complete-answer goal. Serial harness concurrency is verified by the comparator. Absence of unrelated clients and queue backlog requires the separate device isolation evidence.</a:t>
            </a:r>
          </a:p>
          <a:p xmlns:a="http://schemas.openxmlformats.org/drawingml/2006/main">
            <a:r>
              <a:t>Sources:</a:t>
            </a:r>
          </a:p>
          <a:p xmlns:a="http://schemas.openxmlformats.org/drawingml/2006/main">
            <a:r>
              <a:t>/Users/asotelo/Documents/ChatGPT/jetson-orin-streaming-codes/results/latency10/comparison.json</a:t>
            </a:r>
          </a:p>
          <a:p xmlns:a="http://schemas.openxmlformats.org/drawingml/2006/main">
            <a:r>
              <a:t>results/latency10/baseline-summary.json</a:t>
            </a:r>
          </a:p>
          <a:p xmlns:a="http://schemas.openxmlformats.org/drawingml/2006/main">
            <a:r>
              <a:t>results/latency10/plan.json</a:t>
            </a:r>
          </a:p>
          <a:p xmlns:a="http://schemas.openxmlformats.org/drawingml/2006/main">
            <a:r>
              <a:t>scripts/summarize_latency10.py</a:t>
            </a:r>
          </a:p>
          <a:p xmlns:a="http://schemas.openxmlformats.org/drawingml/2006/main">
            <a:r>
              <a:t>scripts/profile_sampler.cu</a:t>
            </a:r>
          </a:p>
          <a:p xmlns:a="http://schemas.openxmlformats.org/drawingml/2006/main">
            <a:r>
              <a:t>scripts/check_sampler_equivalence.cu</a:t>
            </a:r>
          </a:p>
          <a:p xmlns:a="http://schemas.openxmlformats.org/drawingml/2006/main">
            <a:r>
              <a:t>patches/topk-retained-partial.patch</a:t>
            </a:r>
          </a:p>
          <a:p xmlns:a="http://schemas.openxmlformats.org/drawingml/2006/main">
            <a:r>
              <a:t>results/latency10/profiling/sampler-baseline.txt</a:t>
            </a:r>
          </a:p>
          <a:p xmlns:a="http://schemas.openxmlformats.org/drawingml/2006/main">
            <a:r>
              <a:t>results/latency10/profiling/sampler-candidate.txt</a:t>
            </a:r>
          </a:p>
          <a:p xmlns:a="http://schemas.openxmlformats.org/drawingml/2006/main">
            <a:r>
              <a:t>results/latency10/profiling/sampler-baseline-controlled.txt</a:t>
            </a:r>
          </a:p>
          <a:p xmlns:a="http://schemas.openxmlformats.org/drawingml/2006/main">
            <a:r>
              <a:t>results/latency10/profiling/sampler-candidate-controlled.txt</a:t>
            </a:r>
          </a:p>
          <a:p xmlns:a="http://schemas.openxmlformats.org/drawingml/2006/main">
            <a:r>
              <a:t>results/latency10/profiling/equivalence.jsonl</a:t>
            </a:r>
          </a:p>
          <a:p xmlns:a="http://schemas.openxmlformats.org/drawingml/2006/main">
            <a:r>
              <a:t>https://github.com/NVIDIA/TensorRT-Edge-LLM/blob/e8b29522938901f6df19ebeedd4b69bc8edbcd97/cpp/sampler/sampling.cu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task authored the retained-partial top-K prototype. Each thread keeps its local maximum across selections, and only the winning index's owner rescans after invalidation. The experiment preserves model weights and FP16 precision, image bytes, generation settings, the existing eight partitions and 256-thread reduction order, stage-2 arithmetic and RNG behavior. NVIDIA's public TensorRT-Edge-LLM provides the original sampler. Standalone baseline sampler diagnostic: CUDA-event mean 0.26128 ms per call across 1000 calls after 1000 warmups. Standalone candidate sampler diagnostic: CUDA-event mean 0.203009 ms per call across 1000 calls after 1000 warmups. These diagnostics use synthetic fixed FP32 logits. CUDA-event intervals include GPU work and host-submission gaps. They do not measure whole-model latency, and batch-mean quantiles are not individual-token latency quantiles. The separate greedy diagnostic does not replace the serving sampler. The displayed diagnostic pair replays both saved standalone profiler binaries under the same loaded, idle model service. These controlled runs supersede the initial timing pair for the displayed comparison. The initial baseline had the model resident while the initial candidate ran before service restart. The original receipts remain historical evidence and do not establish a controlled relative gain. The paired GPU harness reports passed across 338 FP16/FP32 cases, comparing 163328 stage-1 indices, 163328 stage-1 FP32 value bit patterns, 22996778 scratch-logit bit patterns and 1020 sampled token IDs. All recorded stage-1 comparisons and trailing guard checks passed. Fixtures include ties, uneven vocabularies, multiple batches, signed zero and nonfinite values. Nonfinite fixtures validate stage 1 only, not supported sampling behavior. This proves the recorded GPU fixture equivalence, not model accuracy or an end-to-end speedup.  The synthetic full-sampler mean fell by 22.302127985303134%, calculated from the two measured CUDA-event means. The separate complete-answer metric changed from 1355.4104504346024 ms to 1348.9166893343772 ms, a 0.47909923507989394% reduction across 90 baseline requests and 90 candidate requests. The complete-answer metric is a geometric mean of per-image medians. The sampler metric is an arithmetic mean of synthetic sampler calls. They have different denominators and scopes and must not be added, subtracted or used to infer an exact model-stage breakdown. Whole-answer timing includes image decode, vision encoding, prefill, decoding and local streamed output. The required 10% gain applies to that whole-answer metric. Candidate failed the frozen acceptance gates. The first equivalence-harness link encountered duplicate CUDA device symbols when source inclusion and the runtime archive both supplied the sampler. A recovery wrapper restored the original runtime. The corrected test build removed the redundant sampler object from a separate archive copy and preserved the serving archive. This was an agent test-build correction, not a user intervention or a speed result. The native incremental rebuild took 42.21 seconds without observed OOM or swap activity, as recorded in the build receipt. No global-optimality or representative accuracy claim follows from this bounded experiment.</a:t>
            </a:r>
          </a:p>
          <a:p xmlns:a="http://schemas.openxmlformats.org/drawingml/2006/main">
            <a:r>
              <a:t>Sources:</a:t>
            </a:r>
          </a:p>
          <a:p xmlns:a="http://schemas.openxmlformats.org/drawingml/2006/main">
            <a:r>
              <a:t>/Users/asotelo/Documents/ChatGPT/jetson-orin-streaming-codes/results/latency10/comparison.json</a:t>
            </a:r>
          </a:p>
          <a:p xmlns:a="http://schemas.openxmlformats.org/drawingml/2006/main">
            <a:r>
              <a:t>results/latency10/profiling/sampler-baseline.txt</a:t>
            </a:r>
          </a:p>
          <a:p xmlns:a="http://schemas.openxmlformats.org/drawingml/2006/main">
            <a:r>
              <a:t>results/latency10/profiling/sampler-candidate.txt</a:t>
            </a:r>
          </a:p>
          <a:p xmlns:a="http://schemas.openxmlformats.org/drawingml/2006/main">
            <a:r>
              <a:t>results/latency10/profiling/sampler-baseline-controlled.txt</a:t>
            </a:r>
          </a:p>
          <a:p xmlns:a="http://schemas.openxmlformats.org/drawingml/2006/main">
            <a:r>
              <a:t>results/latency10/profiling/sampler-candidate-controlled.txt</a:t>
            </a:r>
          </a:p>
          <a:p xmlns:a="http://schemas.openxmlformats.org/drawingml/2006/main">
            <a:r>
              <a:t>results/latency10/profiling/equivalence.jsonl</a:t>
            </a:r>
          </a:p>
          <a:p xmlns:a="http://schemas.openxmlformats.org/drawingml/2006/main">
            <a:r>
              <a:t>results/latency10/native-build/status.json</a:t>
            </a:r>
          </a:p>
          <a:p xmlns:a="http://schemas.openxmlformats.org/drawingml/2006/main">
            <a:r>
              <a:t>research/latency10-follow-up.md</a:t>
            </a:r>
          </a:p>
          <a:p xmlns:a="http://schemas.openxmlformats.org/drawingml/2006/main">
            <a:r>
              <a:t>patches/topk-retained-partial.patch</a:t>
            </a:r>
          </a:p>
          <a:p xmlns:a="http://schemas.openxmlformats.org/drawingml/2006/main">
            <a:r>
              <a:t>scripts/profile_sampler.cu</a:t>
            </a:r>
          </a:p>
          <a:p xmlns:a="http://schemas.openxmlformats.org/drawingml/2006/main">
            <a:r>
              <a:t>scripts/check_sampler_equivalence.cu</a:t>
            </a:r>
          </a:p>
          <a:p xmlns:a="http://schemas.openxmlformats.org/drawingml/2006/main">
            <a:r>
              <a:t>https://github.com/NVIDIA/TensorRT-Edge-LLM/blob/e8b29522938901f6df19ebeedd4b69bc8edbcd97/cpp/sampler/sampling.cu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is the user's designation for this recording, not a causal optimization or accuracy result. The prior controlled trial improved complete-answer latency by about 0.48%, failed the user's 10% threshold and was rejected. At recording time, the service had returned to the original corrected FP16 runtime, before the new MLP goal. The restoration receipt records 2026-09-21T01:12:44.401493+00:00, with runtime SHA-256 7917679a203010646f4412ccbb2a00bf6a97265114c5f17b5fc98574b376fc12. Three post-restoration requests matched the baseline and the functional verification passed. Those deployment receipts establish the runtime at recording time; the browser recording does not independently establish binary identity. The file title “Codex opted for accuracy” is user-supplied wording and is not evidence of an accuracy gain. The runtime at recording time already included the task's earlier correctness fixes. Historical slides 2–28 remain unchanged; the new cover identifies the current MLP deployment. These new observations do not replace their controlled benchmark. Source recording: After - Codex opted for accuracy  - ten percent goal.mov, SHA-256 7f0eb89718adba7317b37b93018243c9778503fd75c6e0cf15486c74a3eeb363. The source contains 2169 variable-rate frames at 3348×2096 over 49.196667 seconds. The statistics cover 20 distinct visible completed-response states, with session counters from 45 to 64. These are rounded UI values, not server logs, exact per-request event times or independently measured GPU durations. Telemetry sampling: 492 source frames at nominal 10 Hz; first source frame at or after each t = 0.0, 0.1, …, 49.1 s. Repeated UI updates are retained. The 12 completion-recovery frames are excluded from these range calculations., 492 source frames. Repeated screen readings can repeat the same one-second UI update, so the sample count is not a count of independent device measurements. CPU and GPU percentages include idle gaps and asynchronous polling. Shared RAM is the displayed system reading including CPU, GPU, OS and applications, not dedicated VRAM or a CUDA allocator peak. The live preview can differ from the earlier sampled image used by the model. The clip does not establish actual completion-token counts. Neither these timings nor resource ranges establish a causal before/after improvement. Exact statistics: {"latency":{"units":"milliseconds","measurement":"UI request → first visible text and request → stream end; displayed rounded values","percentile_method":"Linear interpolation at (n−1)×p (Hyndman–Fan type 7); each of the 20 completions has equal weight.","ttft_ms":{"min":715,"p50":975,"p95":1463,"max":1900,"mean":1070.2},"complete_answer_ms":{"min":1500,"p50":1980,"p95":2779,"max":2950,"mean":2060.5}},"telemetry":{"sampling_method":"492 source frames at nominal 10 Hz; first source frame at or after each t = 0.0, 0.1, …, 49.1 s. Repeated UI updates are retained. The 12 completion-recovery frames are excluded from these range calculations.","sampled_frames":492,"all_sampled_values_parsed":true,"sampling_start_pts_seconds":0,"sampling_end_pts_seconds":49.108333,"cpu_percent":{"min":0.5,"max":3.5},"gpu_percent":{"min":0,"max":99.9},"shared_ram_used_gib":{"min":6.38,"max":6.39},"shared_ram_total_gib":7.37,"shared_ram_percent":{"min":86.6,"max":86.7},"scope":"Visible system shared-RAM use; no model-only VRAM estimate."}}. Limitations: ["These are values visibly rounded by the browser UI in a user recording, not server-side timing measurements or a controlled benchmark.","Each completed response is counted once using the visible completed counter. The first completion can belong to a request that began before the clip.","CPU, GPU and shared RAM ranges come from 492 video samples at nominal 10 Hz. The UI telemetry refreshes more slowly, so repeated screen samples are not independent resource measurements and can miss peaks.","Shared RAM covers system memory used by the OS and applications, not a dedicated model VRAM allocation. It must not be added to CPU RAM as a separate pool.","Camera frame rate and skipped-frame counters are not inference throughput or failed requests.","Live preview frames can be newer than the inference input. No selected screenshot proves pixel-identical correspondence between the current preview and the displayed answer.","The selected view shows the Live VLM WebUI preset and 1280×720 camera/sent dimensions; max tokens, temperature, top-k and top-p controls are not visible in these frames.","Actual generated-token counts, exact historical request payloads, backend health, OOM events and end-to-end accuracy cannot be established from the recording.","The six curated examples are illustrations, not a random quality sample. Specific brand, color and handheld-model claims can be unsupported or vary between adjacent answers.","“After” and “opted for accuracy” are the user’s recording labels. This material does not establish a causal before/after latency gain or an accuracy gain.","This clip belongs after restoration of the original corrected FP16 runtime following the rejected sampler experiment and before the new MLP optimization goal. It does not depict the later MLP candidate."].</a:t>
            </a:r>
          </a:p>
          <a:p xmlns:a="http://schemas.openxmlformats.org/drawingml/2006/main">
            <a:r>
              <a:t>Sources:</a:t>
            </a:r>
          </a:p>
          <a:p xmlns:a="http://schemas.openxmlformats.org/drawingml/2006/main">
            <a:r>
              <a:t>output/after-cosmos3-edge-2026-09-20/manifest.json</a:t>
            </a:r>
          </a:p>
          <a:p xmlns:a="http://schemas.openxmlformats.org/drawingml/2006/main">
            <a:r>
              <a:t>output/after-cosmos3-edge-2026-09-20/statistics.json</a:t>
            </a:r>
          </a:p>
          <a:p xmlns:a="http://schemas.openxmlformats.org/drawingml/2006/main">
            <a:r>
              <a:t>results/latency10/restoration.json</a:t>
            </a:r>
          </a:p>
          <a:p xmlns:a="http://schemas.openxmlformats.org/drawingml/2006/main">
            <a:r>
              <a:t>results/latency10/restoration-verification.json</a:t>
            </a:r>
          </a:p>
          <a:p xmlns:a="http://schemas.openxmlformats.org/drawingml/2006/main">
            <a:r>
              <a:t>results/latency10/comparison.json</a:t>
            </a:r>
          </a:p>
          <a:p xmlns:a="http://schemas.openxmlformats.org/drawingml/2006/main">
            <a:r>
              <a:t>research/latency10-follow-up.md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is the user's designation for this recording, not a causal optimization or accuracy result. The prior controlled trial improved complete-answer latency by about 0.48%, failed the user's 10% threshold and was rejected. At recording time, the service had returned to the original corrected FP16 runtime, before the new MLP goal. The restoration receipt records 2026-09-21T01:12:44.401493+00:00, with runtime SHA-256 7917679a203010646f4412ccbb2a00bf6a97265114c5f17b5fc98574b376fc12. Three post-restoration requests matched the baseline and the functional verification passed. Those deployment receipts establish the runtime at recording time; the browser recording does not independently establish binary identity. The file title “Codex opted for accuracy” is user-supplied wording and is not evidence of an accuracy gain. The runtime at recording time already included the task's earlier correctness fixes. Historical slides 2–28 remain unchanged; the new cover identifies the current MLP deployment. These new observations do not replace their controlled benchmark. The full evidence PNG is embedded without cropping, pixel modification, overlays or distortion. Source PTS 14 seconds, zero-based frame 611, image SHA-256 6f41955b2477728cbefb08b5a97a080adf14000385cb7bbe3c9800ff2f446e72. Visible status: Answer complete. The UI reports first visible token 865 ms, complete answer 1.66 seconds, frame age 1.67 seconds and session completion counter 50. Exact model text: A man holds a small white action camera up to his face in a room with shelves. The response identifies a camera. This is one recorded example. The preview may be newer than the image used for the answer. The live preview may be newer than the inference input. The screenshot captures one rounded observation and does not supply a controlled latency or accuracy comparison. Any specific brand/model name or inferred intent remains model output unless independently established. Frame metadata: {"id":"after-02","title":"Action camera recognition","file":"02-after-14.000s-action-camera.png","filename":"02-after-14.000s-action-camera.png","sha256":"6f41955b2477728cbefb08b5a97a080adf14000385cb7bbe3c9800ff2f446e72","pixel_rgb_md5":"b6687e2daae4c5fe57f16ffff9cd939f","source_frame_index_zero_based":611,"source_pts":8400,"source_pts_seconds":14,"source_pts_seconds_exact":"14.000000","source_time_base":"1/600","timecode_rounded_ms":"00:14.000","width":3348,"height":2096,"status":"Answer complete","visible_first_token_ms":865,"visible_complete_answer_s":1.66,"visible_frame_age_s":1.67,"visible_completed":50,"visible_frames_sent":50,"visible_skipped_while_busy":79,"visible_model_output":"A man holds a small white action camera up to his face in a room with shelves.","visible_cpu_percent":1.3,"visible_gpu_percent":0,"visible_shared_ram_used_gib":6.39,"visible_shared_ram_total_gib":7.37,"visible_shared_ram_percent":86.7,"visual_observation":"The device has a prominent lens and front display, consistent with an action camera. The housing looks light gray or silver; white is an imprecise color description.","preview_object_matches_answer_family":true,"preview_input_identity_verified":false,"visual_assessment":"success_with_color_caveat"}.</a:t>
            </a:r>
          </a:p>
          <a:p xmlns:a="http://schemas.openxmlformats.org/drawingml/2006/main">
            <a:r>
              <a:t>Sources:</a:t>
            </a:r>
          </a:p>
          <a:p xmlns:a="http://schemas.openxmlformats.org/drawingml/2006/main">
            <a:r>
              <a:t>output/after-cosmos3-edge-2026-09-20/manifest.json</a:t>
            </a:r>
          </a:p>
          <a:p xmlns:a="http://schemas.openxmlformats.org/drawingml/2006/main">
            <a:r>
              <a:t>output/after-cosmos3-edge-2026-09-20/statistics.json</a:t>
            </a:r>
          </a:p>
          <a:p xmlns:a="http://schemas.openxmlformats.org/drawingml/2006/main">
            <a:r>
              <a:t>output/after-cosmos3-edge-2026-09-20/02-after-14.000s-action-camera.png</a:t>
            </a:r>
          </a:p>
          <a:p xmlns:a="http://schemas.openxmlformats.org/drawingml/2006/main">
            <a:r>
              <a:t>results/latency10/restoration.json</a:t>
            </a:r>
          </a:p>
          <a:p xmlns:a="http://schemas.openxmlformats.org/drawingml/2006/main">
            <a:r>
              <a:t>results/latency10/restoration-verification.json</a:t>
            </a:r>
          </a:p>
          <a:p xmlns:a="http://schemas.openxmlformats.org/drawingml/2006/main">
            <a:r>
              <a:t>results/latency10/comparison.json</a:t>
            </a:r>
          </a:p>
          <a:p xmlns:a="http://schemas.openxmlformats.org/drawingml/2006/main">
            <a:r>
              <a:t>research/latency10-follow-up.md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is the user's designation for this recording, not a causal optimization or accuracy result. The prior controlled trial improved complete-answer latency by about 0.48%, failed the user's 10% threshold and was rejected. At recording time, the service had returned to the original corrected FP16 runtime, before the new MLP goal. The restoration receipt records 2026-09-21T01:12:44.401493+00:00, with runtime SHA-256 7917679a203010646f4412ccbb2a00bf6a97265114c5f17b5fc98574b376fc12. Three post-restoration requests matched the baseline and the functional verification passed. Those deployment receipts establish the runtime at recording time; the browser recording does not independently establish binary identity. The file title “Codex opted for accuracy” is user-supplied wording and is not evidence of an accuracy gain. The runtime at recording time already included the task's earlier correctness fixes. Historical slides 2–28 remain unchanged; the new cover identifies the current MLP deployment. These new observations do not replace their controlled benchmark. The full evidence PNG is embedded without cropping, pixel modification, overlays or distortion. Source PTS 35.141667 seconds, zero-based frame 1524, image SHA-256 c02435aef3153067fa8ee3927daf3321ad93c70de411391373ed9902147e5af2. Visible status: Answer complete. The UI reports first visible token 961 ms, complete answer 1.82 seconds, frame age 1.84 seconds and session completion counter 58. Exact model text: A man holds up a white Apple Watch in a room with shelves of collectibles and storage bins. The response describes the watch shown near the camera. A successful object description does not establish an accuracy rate. The live preview may be newer than the inference input. The screenshot captures one rounded observation and does not supply a controlled latency or accuracy comparison. Any specific brand/model name or inferred intent remains model output unless independently established. Frame metadata: {"id":"after-04","title":"Watch recognition","file":"04-after-35.142s-watch.png","filename":"04-after-35.142s-watch.png","sha256":"c02435aef3153067fa8ee3927daf3321ad93c70de411391373ed9902147e5af2","pixel_rgb_md5":"30105eb7405c1dd815bf7f94c146df53","source_frame_index_zero_based":1524,"source_pts":21085,"source_pts_seconds":35.141667,"source_pts_seconds_exact":"35.141667","source_time_base":"1/600","timecode_rounded_ms":"00:35.142","width":3348,"height":2096,"status":"Answer complete","visible_first_token_ms":961,"visible_complete_answer_s":1.82,"visible_frame_age_s":1.84,"visible_completed":58,"visible_frames_sent":58,"visible_skipped_while_busy":92,"visible_model_output":"A man holds up a white Apple Watch in a room with shelves of collectibles and storage bins.","visible_cpu_percent":1,"visible_gpu_percent":0,"visible_shared_ram_used_gib":6.39,"visible_shared_ram_total_gib":7.37,"visible_shared_ram_percent":86.7,"visual_observation":"A rectangular smartwatch with a white strap is visibly held up. Watch family and strap color are supported; exact brand is not independently verified from this recording.","preview_object_matches_answer_family":true,"preview_input_identity_verified":false,"visual_assessment":"success_with_brand_limit"}.</a:t>
            </a:r>
          </a:p>
          <a:p xmlns:a="http://schemas.openxmlformats.org/drawingml/2006/main">
            <a:r>
              <a:t>Sources:</a:t>
            </a:r>
          </a:p>
          <a:p xmlns:a="http://schemas.openxmlformats.org/drawingml/2006/main">
            <a:r>
              <a:t>output/after-cosmos3-edge-2026-09-20/manifest.json</a:t>
            </a:r>
          </a:p>
          <a:p xmlns:a="http://schemas.openxmlformats.org/drawingml/2006/main">
            <a:r>
              <a:t>output/after-cosmos3-edge-2026-09-20/statistics.json</a:t>
            </a:r>
          </a:p>
          <a:p xmlns:a="http://schemas.openxmlformats.org/drawingml/2006/main">
            <a:r>
              <a:t>output/after-cosmos3-edge-2026-09-20/04-after-35.142s-watch.png</a:t>
            </a:r>
          </a:p>
          <a:p xmlns:a="http://schemas.openxmlformats.org/drawingml/2006/main">
            <a:r>
              <a:t>results/latency10/restoration.json</a:t>
            </a:r>
          </a:p>
          <a:p xmlns:a="http://schemas.openxmlformats.org/drawingml/2006/main">
            <a:r>
              <a:t>results/latency10/restoration-verification.json</a:t>
            </a:r>
          </a:p>
          <a:p xmlns:a="http://schemas.openxmlformats.org/drawingml/2006/main">
            <a:r>
              <a:t>results/latency10/comparison.json</a:t>
            </a:r>
          </a:p>
          <a:p xmlns:a="http://schemas.openxmlformats.org/drawingml/2006/main">
            <a:r>
              <a:t>research/latency10-follow-up.md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is the user's designation for this recording, not a causal optimization or accuracy result. The prior controlled trial improved complete-answer latency by about 0.48%, failed the user's 10% threshold and was rejected. At recording time, the service had returned to the original corrected FP16 runtime, before the new MLP goal. The restoration receipt records 2026-09-21T01:12:44.401493+00:00, with runtime SHA-256 7917679a203010646f4412ccbb2a00bf6a97265114c5f17b5fc98574b376fc12. Three post-restoration requests matched the baseline and the functional verification passed. Those deployment receipts establish the runtime at recording time; the browser recording does not independently establish binary identity. The file title “Codex opted for accuracy” is user-supplied wording and is not evidence of an accuracy gain. The runtime at recording time already included the task's earlier correctness fixes. Historical slides 2–28 remain unchanged; the new cover identifies the current MLP deployment. These new observations do not replace their controlled benchmark. The full evidence PNG is embedded without cropping, pixel modification, overlays or distortion. Source PTS 47.266667 seconds, zero-based frame 2076, image SHA-256 4a73cfdad94af4018ab3d896acd000cccf502e173c1b80f9728a7b7671022241. Visible status: Answer complete. The UI reports first visible token 1180 ms, complete answer 1.96 seconds, frame age 1.94 seconds and session completion counter 63. Exact model text: A man holds a Game Boy Color in front of shelves filled with toys and storage bins. The model names a specific handheld. Nearby responses use different model names. Treat the specific model name as model output, not a verified identification. The live preview may be newer than the inference input. The screenshot captures one rounded observation and does not supply a controlled latency or accuracy comparison. Any specific brand/model name or inferred intent remains model output unless independently established. Frame metadata: {"id":"after-06","title":"Handheld console specificity limitation","file":"06-after-47.267s-handheld.png","filename":"06-after-47.267s-handheld.png","sha256":"4a73cfdad94af4018ab3d896acd000cccf502e173c1b80f9728a7b7671022241","pixel_rgb_md5":"b518e2a438f89a1b6014057e52dc4711","source_frame_index_zero_based":2076,"source_pts":28360,"source_pts_seconds":47.266667,"source_pts_seconds_exact":"47.266667","source_time_base":"1/600","timecode_rounded_ms":"00:47.267","width":3348,"height":2096,"status":"Answer complete","visible_first_token_ms":1180,"visible_complete_answer_s":1.96,"visible_frame_age_s":1.94,"visible_completed":63,"visible_frames_sent":63,"visible_skipped_while_busy":99,"visible_model_output":"A man holds a Game Boy Color in front of shelves filled with toys and storage bins.","visible_cpu_percent":0.7,"visible_gpu_percent":0,"visible_shared_ram_used_gib":6.39,"visible_shared_ram_total_gib":7.37,"visible_shared_ram_percent":86.7,"visual_observation":"The visible gray object has a GAME BOY label and original-style housing, burgundy buttons, and diagonal speaker slots. The specific Color label appears inconsistent with those visible features. Exact hardware versus replica identity is not independently verified. The next completed answer at frame 2167 / 49.141667 s uses the broader label silver Game Boy.","preview_object_matches_answer_family":true,"preview_input_identity_verified":false,"visual_assessment":"apparent_subtype_error"}.</a:t>
            </a:r>
          </a:p>
          <a:p xmlns:a="http://schemas.openxmlformats.org/drawingml/2006/main">
            <a:r>
              <a:t>Sources:</a:t>
            </a:r>
          </a:p>
          <a:p xmlns:a="http://schemas.openxmlformats.org/drawingml/2006/main">
            <a:r>
              <a:t>output/after-cosmos3-edge-2026-09-20/manifest.json</a:t>
            </a:r>
          </a:p>
          <a:p xmlns:a="http://schemas.openxmlformats.org/drawingml/2006/main">
            <a:r>
              <a:t>output/after-cosmos3-edge-2026-09-20/statistics.json</a:t>
            </a:r>
          </a:p>
          <a:p xmlns:a="http://schemas.openxmlformats.org/drawingml/2006/main">
            <a:r>
              <a:t>output/after-cosmos3-edge-2026-09-20/06-after-47.267s-handheld.png</a:t>
            </a:r>
          </a:p>
          <a:p xmlns:a="http://schemas.openxmlformats.org/drawingml/2006/main">
            <a:r>
              <a:t>results/latency10/restoration.json</a:t>
            </a:r>
          </a:p>
          <a:p xmlns:a="http://schemas.openxmlformats.org/drawingml/2006/main">
            <a:r>
              <a:t>results/latency10/restoration-verification.json</a:t>
            </a:r>
          </a:p>
          <a:p xmlns:a="http://schemas.openxmlformats.org/drawingml/2006/main">
            <a:r>
              <a:t>results/latency10/comparison.json</a:t>
            </a:r>
          </a:p>
          <a:p xmlns:a="http://schemas.openxmlformats.org/drawingml/2006/main">
            <a:r>
              <a:t>research/latency10-follow-up.md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requested MLP-only RTN as the new starting point, lower latency and RAM, and to stop when a further step cannot improve p50 by 10%. The agent froze the choice of three 1280×720 images, five warmups and 30 measured requests per image, the equally weighted geometric mean of per-image median complete-answer latency, exact text/token/stop controls, a 5% per-image regression limit, 512 MiB available RAM floor, and a first-confirmed-failure stopping interpretation. The agent initially also treated 10% as deployment eligibility, then corrected that conflation after measurement: stop searching, retain a useful lower-memory configuration. The original frozen plan and failed comparison remain unchanged. No 10% latency success is claimed. These operational choices are agent decisions, not additional verbatim user requirements. The prompt is “Describe what you see in this image in one sentence.” with max tokens 512, temperature 0.7, omitted request top-p/top-k resolving to 0.9/50. Dynamic stock 25 W, input capacity 1024 and per-image capacity 512 remain. Serial local proxy requests include decoding and inference but exclude browser capture, JPEG encoding and Wi-Fi. Fixtures are screen-recording-derived camera crops, not recovered historical inference payloads. The user chose MLP-only RTN INT4 despite its known yellow-to-orange color error. The six synthetic diagnostic images still score 18/19 facts, with the same prior MLP outputs. This 64-token greedy check is separate from the 512-token Live VLM latency workload. Output preservation prevents an observed regression against this baseline; it does not establish general accuracy. Natural examples and recording answers can contain false claims. The previous FP16 phase stopped after a 0.48% candidate gain. The user subsequently asked to freeze the current version, then selected a new MLP-only starting point. The recording on slides 29–32 precedes this MLP phase. The original 5% search, later FP16 10% search and this MLP goal have separate baselines and selection rules. Historical commits identify the frozen work, but no external personal repository is used in this presentation source.</a:t>
            </a:r>
          </a:p>
          <a:p xmlns:a="http://schemas.openxmlformats.org/drawingml/2006/main">
            <a:r>
              <a:t>Sources:</a:t>
            </a:r>
          </a:p>
          <a:p xmlns:a="http://schemas.openxmlformats.org/drawingml/2006/main">
            <a:r>
              <a:t>results/mlp-goal/plan.json</a:t>
            </a:r>
          </a:p>
          <a:p xmlns:a="http://schemas.openxmlformats.org/drawingml/2006/main">
            <a:r>
              <a:t>results/mlp-goal/policy-clarification.json</a:t>
            </a:r>
          </a:p>
          <a:p xmlns:a="http://schemas.openxmlformats.org/drawingml/2006/main">
            <a:r>
              <a:t>results/mlp-goal/selection.json</a:t>
            </a:r>
          </a:p>
          <a:p xmlns:a="http://schemas.openxmlformats.org/drawingml/2006/main">
            <a:r>
              <a:t>results/mlp-goal/quality-baseline-review.json</a:t>
            </a:r>
          </a:p>
          <a:p xmlns:a="http://schemas.openxmlformats.org/drawingml/2006/main">
            <a:r>
              <a:t>GOAL.md</a:t>
            </a:r>
          </a:p>
          <a:p xmlns:a="http://schemas.openxmlformats.org/drawingml/2006/main">
            <a:r>
              <a:t>research/latency10-follow-up.md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requested MLP-only RTN as the new starting point, lower latency and RAM, and to stop when a further step cannot improve p50 by 10%. The agent froze the choice of three 1280×720 images, five warmups and 30 measured requests per image, the equally weighted geometric mean of per-image median complete-answer latency, exact text/token/stop controls, a 5% per-image regression limit, 512 MiB available RAM floor, and a first-confirmed-failure stopping interpretation. The agent initially also treated 10% as deployment eligibility, then corrected that conflation after measurement: stop searching, retain a useful lower-memory configuration. The original frozen plan and failed comparison remain unchanged. No 10% latency success is claimed. These operational choices are agent decisions, not additional verbatim user requirements. The prompt is “Describe what you see in this image in one sentence.” with max tokens 512, temperature 0.7, omitted request top-p/top-k resolving to 0.9/50. Dynamic stock 25 W, input capacity 1024 and per-image capacity 512 remain. Serial local proxy requests include decoding and inference but exclude browser capture, JPEG encoding and Wi-Fi. Fixtures are screen-recording-derived camera crops, not recovered historical inference payloads. The user chose MLP-only RTN INT4 despite its known yellow-to-orange color error. The six synthetic diagnostic images still score 18/19 facts, with the same prior MLP outputs. This 64-token greedy check is separate from the 512-token Live VLM latency workload. Output preservation prevents an observed regression against this baseline; it does not establish general accuracy. Natural examples and recording answers can contain false claims. Final comparison: {"accepted":false,"decision":"stop_and_keep_last_accepted_mlp","selected_candidate_id":"live-vlm-mlp-baseline","candidate_to_baseline_ratio":0.9881426269250084,"latency_reduction_percent":1.1857373074991573,"peak_shared_ram_candidate_to_baseline_ratio":0.9688093294721424,"per_fixture":[{"fixture":"01-action-camera.jpg","output_equivalent":true,"backend_changes":{"max_kv_cache_capacity":{"before":2048,"after":1664},"max_image_tokens":{"before":1024,"after":512},"native_extension_sha256":{"before":"7917679a203010646f4412ccbb2a00bf6a97265114c5f17b5fc98574b376fc12","after":"f9ead1dc9a9fbeb392ccd0e485817dedb8c657833bb01a1facc362248741a7a0"},"native_extension_current_sha256":{"before":"7917679a203010646f4412ccbb2a00bf6a97265114c5f17b5fc98574b376fc12","after":"f9ead1dc9a9fbeb392ccd0e485817dedb8c657833bb01a1facc362248741a7a0"}},"ratios":{"p50_latency_ms":1.0036429390787285,"p95_latency_ms":0.997850627032594}},{"fixture":"02-pen.jpg","output_equivalent":true,"backend_changes":{"max_kv_cache_capacity":{"before":2048,"after":1664},"max_image_tokens":{"before":1024,"after":512},"native_extension_sha256":{"before":"7917679a203010646f4412ccbb2a00bf6a97265114c5f17b5fc98574b376fc12","after":"f9ead1dc9a9fbeb392ccd0e485817dedb8c657833bb01a1facc362248741a7a0"},"native_extension_current_sha256":{"before":"7917679a203010646f4412ccbb2a00bf6a97265114c5f17b5fc98574b376fc12","after":"f9ead1dc9a9fbeb392ccd0e485817dedb8c657833bb01a1facc362248741a7a0"}},"ratios":{"p50_latency_ms":0.9795012844720307,"p95_latency_ms":0.9900506490888166}},{"fixture":"03-scissors.jpg","output_equivalent":true,"backend_changes":{"max_kv_cache_capacity":{"before":2048,"after":1664},"max_image_tokens":{"before":1024,"after":512},"native_extension_sha256":{"before":"7917679a203010646f4412ccbb2a00bf6a97265114c5f17b5fc98574b376fc12","after":"f9ead1dc9a9fbeb392ccd0e485817dedb8c657833bb01a1facc362248741a7a0"},"native_extension_current_sha256":{"before":"7917679a203010646f4412ccbb2a00bf6a97265114c5f17b5fc98574b376fc12","after":"f9ead1dc9a9fbeb392ccd0e485817dedb8c657833bb01a1facc362248741a7a0"}},"ratios":{"p50_latency_ms":0.9814646456426098,"p95_latency_ms":0.9910339440653367}}],"rejection_reasons":["geomean_complete_latency_gain_below_10_percent"],"memory_changes":{"candidate_vs_incumbent":{"shared_ram_unavailable":{"before_peak_bytes":5495009280,"after_peak_bytes":5323616256,"decrease_bytes":171393024,"decrease_percent":3.11906705278576},"process_rss":{"before_peak_bytes":4990783488,"after_peak_bytes":4759748608,"decrease_bytes":231034880,"decrease_percent":4.629230672007866}},"selected_vs_incumbent":{"shared_ram_unavailable":{"before_peak_bytes":5495009280,"after_peak_bytes":5495009280,"decrease_bytes":0,"decrease_percent":0},"process_rss":{"before_peak_bytes":4990783488,"after_peak_bytes":4990783488,"decrease_bytes":0,"decrease_percent":0}},"candidate_vs_initial_mlp":{"shared_ram_unavailable":{"before_peak_bytes":5495009280,"after_peak_bytes":5323616256,"decrease_bytes":171393024,"decrease_percent":3.11906705278576},"process_rss":{"before_peak_bytes":4990783488,"after_peak_bytes":4759748608,"decrease_bytes":231034880,"decrease_percent":4.629230672007866}},"selected_vs_initial_mlp":{"shared_ram_unavailable":{"before_peak_bytes":5495009280,"after_peak_bytes":5495009280,"decrease_bytes":0,"decrease_percent":0},"process_rss":{"before_peak_bytes":4990783488,"after_peak_bytes":4990783488,"decrease_bytes":0,"decrease_percent":0}}},"memory_change_definition":"Decrease in sampled peak memory; positive means lower, negative means higher. Shared RAM and RSS overlap and are never added.","memory_history_scope":"Only the supplied incumbent, candidate and optional initial MLP runs; no claim about an unprovided search history."}. Baseline ID live-vlm-mlp-baseline; candidate ID live-vlm-mlp-n4-compact. Per-fixture baseline: [{"fixture":"01-action-camera.jpg","p50_latency_ms":996.9122269976651,"p95_latency_ms":1008.729976444738,"p50_ttft_ms":473.4077429966419,"p95_ttft_ms":484.4949111517053,"completion_tokens":21,"answer":"A man holds a GoPro camera up to his face as if he is taking a selfie."},{"fixture":"02-pen.jpg","p50_latency_ms":877.0079265013919,"p95_latency_ms":882.0037088029494,"p50_ttft_ms":484.43965350452345,"p95_ttft_ms":487.6425162045052,"completion_tokens":16,"answer":"A man holds a pen in front of his face while raising three fingers."},{"fixture":"03-scissors.jpg","p50_latency_ms":878.1416690035257,"p95_latency_ms":883.2488672516774,"p50_ttft_ms":484.86015149683226,"p95_ttft_ms":489.6475982503034,"completion_tokens":16,"answer":"A man is holding a pair of scissors in front of his face."}]. Per-fixture candidate: [{"fixture":"01-action-camera.jpg","p50_latency_ms":1000.5439175074571,"p95_latency_ms":1006.5618395019555,"p50_ttft_ms":481.4108494974789,"p95_ttft_ms":486.82069834976573,"completion_tokens":21,"answer":"A man holds a GoPro camera up to his face as if he is taking a selfie."},{"fixture":"02-pen.jpg","p50_latency_ms":859.0303905002656,"p95_latency_ms":873.2283443991037,"p50_ttft_ms":468.259355504415,"p95_ttft_ms":482.63645064871525,"completion_tokens":16,"answer":"A man holds a pen in front of his face while raising three fingers."},{"fixture":"03-scissors.jpg","p50_latency_ms":861.8650019925553,"p95_latency_ms":875.3296085036709,"p50_ttft_ms":471.0603349885787,"p95_ttft_ms":483.1134517546161,"completion_tokens":16,"answer":"A man is holding a pair of scissors in front of his face."}]. Values cover 90 measured responses plus 15 excluded warmups per configuration. Memory extrema include both.</a:t>
            </a:r>
          </a:p>
          <a:p xmlns:a="http://schemas.openxmlformats.org/drawingml/2006/main">
            <a:r>
              <a:t>Sources:</a:t>
            </a:r>
          </a:p>
          <a:p xmlns:a="http://schemas.openxmlformats.org/drawingml/2006/main">
            <a:r>
              <a:t>results/mlp-goal/comparison-01.json</a:t>
            </a:r>
          </a:p>
          <a:p xmlns:a="http://schemas.openxmlformats.org/drawingml/2006/main">
            <a:r>
              <a:t>results/mlp-goal/plan.json</a:t>
            </a:r>
          </a:p>
          <a:p xmlns:a="http://schemas.openxmlformats.org/drawingml/2006/main">
            <a:r>
              <a:t>results/mlp-goal/policy-clarification.json</a:t>
            </a:r>
          </a:p>
          <a:p xmlns:a="http://schemas.openxmlformats.org/drawingml/2006/main">
            <a:r>
              <a:t>results/mlp-goal/baseline-summary.json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requested MLP-only RTN as the new starting point, lower latency and RAM, and to stop when a further step cannot improve p50 by 10%. The agent froze the choice of three 1280×720 images, five warmups and 30 measured requests per image, the equally weighted geometric mean of per-image median complete-answer latency, exact text/token/stop controls, a 5% per-image regression limit, 512 MiB available RAM floor, and a first-confirmed-failure stopping interpretation. The agent initially also treated 10% as deployment eligibility, then corrected that conflation after measurement: stop searching, retain a useful lower-memory configuration. The original frozen plan and failed comparison remain unchanged. No 10% latency success is claimed. These operational choices are agent decisions, not additional verbatim user requirements. The prompt is “Describe what you see in this image in one sentence.” with max tokens 512, temperature 0.7, omitted request top-p/top-k resolving to 0.9/50. Dynamic stock 25 W, input capacity 1024 and per-image capacity 512 remain. Serial local proxy requests include decoding and inference but exclude browser capture, JPEG encoding and Wi-Fi. Fixtures are screen-recording-derived camera crops, not recovered historical inference payloads. Baseline memory: peak system unavailable 5495009280 bytes, peak process RSS 4990783488 bytes, minimum available 2417766400 bytes. Candidate memory: peak system unavailable 5323616256 bytes, peak process RSS 4759748608 bytes, minimum available 2589159424 bytes. Memory extrema include warmup and measured requests. System unavailable RAM uses MemTotal minus MemAvailable and includes OS/apps. RSS overlaps that same physical pool and must not be added to it. Actual capacities: {"baseline":{"input":1024,"kv":2048,"images":1024,"perImage":512},"candidate":{"input":1024,"kv":1664,"images":512,"perImage":512}}. The model remains MLP-only RTN INT4 with FP16 attention, LM head, vision, projector, embeddings, activations and KV. This is one combined candidate: N4 native GEMV plus aggregate image capacity 1024 to 512 and KV capacity 2048 to 1664. The full-answer experiment does not isolate the kernel contribution from the buffer contribution to latency or RAM. Fewer reserved capacity tokens do not count as an improvement if actual image/text/output work changes. The original comparator's selected_vs fields reflect its then-frozen rejection rule. The later deployment selection retains this candidate, so candidate_vs_incumbent gives the final retained memory saving. Original memory deltas and safeguard decisions: {"candidate_vs_incumbent":{"shared_ram_unavailable":{"before_peak_bytes":5495009280,"after_peak_bytes":5323616256,"decrease_bytes":171393024,"decrease_percent":3.11906705278576},"process_rss":{"before_peak_bytes":4990783488,"after_peak_bytes":4759748608,"decrease_bytes":231034880,"decrease_percent":4.629230672007866}},"selected_vs_incumbent":{"shared_ram_unavailable":{"before_peak_bytes":5495009280,"after_peak_bytes":5495009280,"decrease_bytes":0,"decrease_percent":0},"process_rss":{"before_peak_bytes":4990783488,"after_peak_bytes":4990783488,"decrease_bytes":0,"decrease_percent":0}},"candidate_vs_initial_mlp":{"shared_ram_unavailable":{"before_peak_bytes":5495009280,"after_peak_bytes":5323616256,"decrease_bytes":171393024,"decrease_percent":3.11906705278576},"process_rss":{"before_peak_bytes":4990783488,"after_peak_bytes":4759748608,"decrease_bytes":231034880,"decrease_percent":4.629230672007866}},"selected_vs_initial_mlp":{"shared_ram_unavailable":{"before_peak_bytes":5495009280,"after_peak_bytes":5495009280,"decrease_bytes":0,"decrease_percent":0},"process_rss":{"before_peak_bytes":4990783488,"after_peak_bytes":4990783488,"decrease_bytes":0,"decrease_percent":0}}}.</a:t>
            </a:r>
          </a:p>
          <a:p xmlns:a="http://schemas.openxmlformats.org/drawingml/2006/main">
            <a:r>
              <a:t>Sources:</a:t>
            </a:r>
          </a:p>
          <a:p xmlns:a="http://schemas.openxmlformats.org/drawingml/2006/main">
            <a:r>
              <a:t>results/mlp-goal/comparison-01.json</a:t>
            </a:r>
          </a:p>
          <a:p xmlns:a="http://schemas.openxmlformats.org/drawingml/2006/main">
            <a:r>
              <a:t>results/mlp-goal/plan.json</a:t>
            </a:r>
          </a:p>
          <a:p xmlns:a="http://schemas.openxmlformats.org/drawingml/2006/main">
            <a:r>
              <a:t>results/mlp-goal/policy-clarification.json</a:t>
            </a:r>
          </a:p>
          <a:p xmlns:a="http://schemas.openxmlformats.org/drawingml/2006/main">
            <a:r>
              <a:t>results/mlp-goal/selection.json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task-authored candidate dispatches only batch-one Cosmos MLP shapes (N,K)=(9216,2048) and (2048,9216) to the existing public GEMV template with four outputs per block instead of two. It retains the upstream half2 multiply-accumulate and reduction order. NVIDIA public integration and the MIT HAN Lab kernel retain their respective attribution and licenses. Source-only review found full output coverage for these exact shapes; the GPU harness adds bitwise tests. Results: {"kind":"equivalence_summary","cases":36,"compared_fp16_values_bitwise":202752,"pass":true}. Tests use nine bounded finite/signed-zero/subnormal fixture patterns, two seeds and two shapes, with independent poisoned output buffers and guards. They do not prove correctness over every possible input. Build chronology matters: the compact engine build completed 2026-09-21T04:00:30.777989+00:00, using plugin SHA-256 f0076f9548eb53dee2e5e53e5ca91ea10f91d83010b63ae709e191fc0464aa75. The N4 native compile ran later, from 2026-09-21T04:01:24.462146+00:00 through 2026-09-21T04:01:54.139216+00:00. The subsequent inference verification loaded plugin SHA-256 302d4e8c8f579471cfcdebcb0910f20caf4228dbcc9000b60757db4780176dbe and runtime SHA-256 f9ead1dc9a9fbeb392ccd0e485817dedb8c657833bb01a1facc362248741a7a0. The older engine-build plugin hash records the build sequence and must not be mislabeled as the plugin used for measured inference. The end-to-end candidate combines this kernel change with reduced reserved capacities. Individual full-model kernel/buffer latency or memory gains were not established by separate trials. Per-case compared_fp16_bits labels a count of values; the equivalence summary correctly records FP16 values. Synthetic CUDA graph timing uses 100 warmups, 200 calls per trial and 12 trials per variant with alternating AB/BA order. Each table entry is the median across batch means, not a single-call p50. Dynamic clocks visibly change within timing traces. Reused synthetic weights and graph batches do not measure model latency or support an exact decomposition of whole-answer time. Full receipts: [{"kind":"environment","source_sha256_required":"3a55142d894fef9ae50ff8f609d385a7b2fbee9be09d73b69a3ea97fee7e595c","source_sha_checked_by_harness":false,"device":"Orin","sm":87,"multiprocessors":8,"cuda_runtime_version":13020,"cuda_driver_version":13020,"cuda_compiler_major":13,"cuda_compiler_minor":2,"batch":1,"group_size":128,"threads_per_block":256,"baseline_n_per_block":2,"candidate_n_per_block":4,"weights":"synthetic native V1 q+8 packed INT4","accumulation":"unchanged upstream half2 MAC and warp/interwarp reductions","limitation":"repeated synthetic weights; full-model latency and RAM unmeasured"},{"kind":"kernel_attributes","n_per_block":2,"registers_per_thread":40,"local_bytes_per_thread":0,"shared_bytes_per_block":512,"maximum_active_blocks_per_sm":6},{"kind":"kernel_attributes","n_per_block":4,"registers_per_thread":58,"local_bytes_per_thread":0,"shared_bytes_per_block":1024,"maximum_active_blocks_per_sm":4},{"kind":"equivalence","n":9216,"k":2048,"pattern":"signed_random","seed":12605957,"compared_fp16_bits":9216,"nonzero_outputs":9216,"output_fnv1a64":"bd65bdcddacf1d34","guards_pass":true,"bitwise_pass":true},{"kind":"equivalence","n":9216,"k":2048,"pattern":"signed_random","seed":2654435769,"compared_fp16_bits":9216,"nonzero_outputs":9216,"output_fnv1a64":"bf6a388474d901be","guards_pass":true,"bitwise_pass":true},{"kind":"equivalence","n":9216,"k":2048,"pattern":"positive_relu2","seed":12605957,"compared_fp16_bits":9216,"nonzero_outputs":9216,"output_fnv1a64":"702b27e2359de049","guards_pass":true,"bitwise_pass":true},{"kind":"equivalence","n":9216,"k":2048,"pattern":"positive_relu2","seed":2654435769,"compared_fp16_bits":9216,"nonzero_outputs":9216,"output_fnv1a64":"ad2fe4b8e17c287d","guards_pass":true,"bitwise_pass":true},{"kind":"equivalence","n":9216,"k":2048,"pattern":"sparse_boundaries","seed":12605957,"compared_fp16_bits":9216,"nonzero_outputs":9216,"output_fnv1a64":"52c9c5c1a90a834c","guards_pass":true,"bitwise_pass":true},{"kind":"equivalence","n":9216,"k":2048,"pattern":"sparse_boundaries","seed":2654435769,"compared_fp16_bits":9216,"nonzero_outputs":9216,"output_fnv1a64":"69c463b70cf8ca16","guards_pass":true,"bitwise_pass":true},{"kind":"equivalence","n":9216,"k":2048,"pattern":"alternating_cancellation","seed":12605957,"compared_fp16_bits":9216,"nonzero_outputs":0,"output_fnv1a64":"68685c488793c325","guards_pass":true,"bitwise_pass":true},{"kind":"equivalence","n":9216,"k":2048,"pattern":"alternating_cancellation","seed":2654435769,"compared_fp16_bits":9216,"nonzero_outputs":0,"output_fnv1a64":"68685c488793c325","guards_pass":true,"bitwise_pass":true},{"kind":"equivalence","n":9216,"k":2048,"pattern":"signed_zero","seed":12605957,"compared_fp16_bits":9216,"nonzero_outputs":0,"output_fnv1a64":"68685c488793c325","guards_pass":true,"bitwise_pass":true},{"kind":"equivalence","n":9216,"k":2048,"pattern":"signed_zero","seed":2654435769,"compared_fp16_bits":9216,"nonzero_outputs":0,"output_fnv1a64":"68685c488793c325","guards_pass":true,"bitwise_pass":true},{"kind":"equivalence","n":9216,"k":2048,"pattern":"zero_weights","seed":12605957,"compared_fp16_bits":9216,"nonzero_outputs":0,"output_fnv1a64":"68685c488793c325","guards_pass":true,"bitwise_pass":true},{"kind":"equivalence","n":9216,"k":2048,"pattern":"zero_weights","seed":2654435769,"compared_fp16_bits":9216,"nonzero_outputs":0,"output_fnv1a64":"68685c488793c325","guards_pass":true,"bitwise_pass":true},{"kind":"equivalence","n":9216,"k":2048,"pattern":"unit_weights","seed":12605957,"compared_fp16_bits":9216,"nonzero_outputs":9216,"output_fnv1a64":"35999ddc18b07e6e","guards_pass":true,"bitwise_pass":true},{"kind":"equivalence","n":9216,"k":2048,"pattern":"unit_weights","seed":2654435769,"compared_fp16_bits":9216,"nonzero_outputs":9216,"output_fnv1a64":"ca5b4b2edd774c18","guards_pass":true,"bitwise_pass":true},{"kind":"equivalence","n":9216,"k":2048,"pattern":"wide_finite","seed":12605957,"compared_fp16_bits":9216,"nonzero_outputs":9216,"output_fnv1a64":"d0892430da42e07c","guards_pass":true,"bitwise_pass":true},{"kind":"equivalence","n":9216,"k":2048,"pattern":"wide_finite","seed":2654435769,"compared_fp16_bits":9216,"nonzero_outputs":9216,"output_fnv1a64":"a7fc8927480d4c28","guards_pass":true,"bitwise_pass":true},{"kind":"equivalence","n":9216,"k":2048,"pattern":"subnormal_inputs","seed":12605957,"compared_fp16_bits":9216,"nonzero_outputs":9216,"output_fnv1a64":"e8c5f1cba730c955","guards_pass":true,"bitwise_pass":true},{"kind":"equivalence","n":9216,"k":2048,"pattern":"subnormal_inputs","seed":2654435769,"compared_fp16_bits":9216,"nonzero_outputs":9215,"output_fnv1a64":"bd09eea32eeefdba","guards_pass":true,"bitwise_pass":true},{"kind":"equivalence","n":2048,"k":9216,"pattern":"signed_random","seed":12605957,"compared_fp16_bits":2048,"nonzero_outputs":2048,"output_fnv1a64":"812e61b91d71e4f8","guards_pass":true,"bitwise_pass":true},{"kind":"equivalence","n":2048,"k":9216,"pattern":"signed_random","seed":2654435769,"compared_fp16_bits":2048,"nonzero_outputs":2048,"output_fnv1a64":"e163170190bbba4b","guards_pass":true,"bitwise_pass":true},{"kind":"equivalence","n":2048,"k":9216,"pattern":"positive_relu2","seed":12605957,"compared_fp16_bits":2048,"nonzero_outputs":2048,"output_fnv1a64":"62bc35d6305d805a","guards_pass":true,"bitwise_pass":true},{"kind":"equivalence","n":2048,"k":9216,"pattern":"positive_relu2","seed":2654435769,"compared_fp16_bits":2048,"nonzero_outputs":2048,"output_fnv1a64":"bdd780e017e2da65","guards_pass":true,"bitwise_pass":true},{"kind":"equivalence","n":2048,"k":9216,"pattern":"sparse_boundaries","seed":12605957,"compared_fp16_bits":2048,"nonzero_outputs":2048,"output_fnv1a64":"1f0725377d55d7dd","guards_pass":true,"bitwise_pass":true},{"kind":"equivalence","n":2048,"k":9216,"pattern":"sparse_boundaries","seed":2654435769,"compared_fp16_bits":2048,"nonzero_outputs":2048,"output_fnv1a64":"67a173058fc09cee","guards_pass":true,"bitwise_pass":true},{"kind":"equivalence","n":2048,"k":9216,"pattern":"alternating_cancellation","seed":12605957,"compared_fp16_bits":2048,"nonzero_outputs":0,"output_fnv1a64":"b93a0c83ce3b6325","guards_pass":true,"bitwise_pass":true},{"kind":"equivalence","n":2048,"k":9216,"pattern":"alternating_cancellation","seed":2654435769,"compared_fp16_bits":2048,"nonzero_outputs":0,"output_fnv1a64":"b93a0c83ce3b6325","guards_pass":true,"bitwise_pass":true},{"kind":"equivalence","n":2048,"k":9216,"pattern":"signed_zero","seed":12605957,"compared_fp16_bits":2048,"nonzero_outputs":0,"output_fnv1a64":"b93a0c83ce3b6325","guards_pass":true,"bitwise_pass":true},{"kind":"equivalence","n":2048,"k":9216,"pattern":"signed_zero","seed":2654435769,"compared_fp16_bits":2048,"nonzero_outputs":0,"output_fnv1a64":"b93a0c83ce3b6325","guards_pass":true,"bitwise_pass":true},{"kind":"equivalence","n":2048,"k":9216,"pattern":"zero_weights","seed":12605957,"compared_fp16_bits":2048,"nonzero_outputs":0,"output_fnv1a64":"b93a0c83ce3b6325","guards_pass":true,"bitwise_pass":true},{"kind":"equivalence","n":2048,"k":9216,"pattern":"zero_weights","seed":2654435769,"compared_fp16_bits":2048,"nonzero_outputs":0,"output_fnv1a64":"b93a0c83ce3b6325","guards_pass":true,"bitwise_pass":true},{"kind":"equivalence","n":2048,"k":9216,"pattern":"unit_weights","seed":12605957,"compared_fp16_bits":2048,"nonzero_outputs":2048,"output_fnv1a64":"9a7bd64d923e86de","guards_pass":true,"bitwise_pass":true},{"kind":"equivalence","n":2048,"k":9216,"pattern":"unit_weights","seed":2654435769,"compared_fp16_bits":2048,"nonzero_outputs":2048,"output_fnv1a64":"c9ab4e855bb7b82d","guards_pass":true,"bitwise_pass":true},{"kind":"equivalence","n":2048,"k":9216,"pattern":"wide_finite","seed":12605957,"compared_fp16_bits":2048,"nonzero_outputs":2048,"output_fnv1a64":"528169fcb8c8673a","guards_pass":true,"bitwise_pass":true},{"kind":"equivalence","n":2048,"k":9216,"pattern":"wide_finite","seed":2654435769,"compared_fp16_bits":2048,"nonzero_outputs":2048,"output_fnv1a64":"cc1c0a2723dffe8d","guards_pass":true,"bitwise_pass":true},{"kind":"equivalence","n":2048,"k":9216,"pattern":"subnormal_inputs","seed":12605957,"compared_fp16_bits":2048,"nonzero_outputs":2048,"output_fnv1a64":"f60647e962f449e3","guards_pass":true,"bitwise_pass":true},{"kind":"equivalence","n":2048,"k":9216,"pattern":"subnormal_inputs","seed":2654435769,"compared_fp16_bits":2048,"nonzero_outputs":2048,"output_fnv1a64":"b54b1492c631948c","guards_pass":true,"bitwise_pass":true},{"kind":"equivalence_summary","cases":36,"compared_fp16_values_bitwise":202752,"pass":true},{"kind":"timing_fixture","n":9216,"k":2048,"seed":12605957,"input_fnv1a64":"0605f7c94cde0138","packed_weight_fnv1a64":"cbbcaa977af03d6d","scales_fnv1a64":"a93a57a5a480716c"},{"kind":"timing","n":9216,"k":2048,"mode":"graph_batch","warmup_per_variant":100,"calls_per_trial":200,"trials_per_variant":12,"order":"alternating_AB_BA","baseline_ms_per_call_trials":[0.151509434,0.151556954,0.151495367,0.151523843,0.151509121,0.151471362,0.151537433,0.12654081,0.116665117,0.116667993,0.116603352,0.116376474],"candidate_ms_per_call_trials":[0.148896962,0.148924157,0.148884475,0.148862407,0.148915038,0.14887616,0.148885116,0.148830712,0.113070078,0.11306864,0.112806082,0.11276944],"baseline_median_batch_mean_ms":0.151483364,"candidate_median_batch_mean_ms":0.148869283,"median_batch_mean_reduction_percent":1.725655432},{"kind":"timing_fixture","n":2048,"k":9216,"seed":12605957,"input_fnv1a64":"80b3ebaccd0f369f","packed_weight_fnv1a64":"fd31a69409b910ad","scales_fnv1a64":"8bbd938671caa50a"},{"kind":"timing","n":2048,"k":9216,"mode":"graph_batch","warmup_per_variant":100,"calls_per_trial":200,"trials_per_variant":12,"order":"alternating_AB_BA","baseline_ms_per_call_trials":[0.126058877,0.126564637,0.126384318,0.125400484,0.125788316,0.126272008,0.126027361,0.126162082,0.125957116,0.125953123,0.125987515,0.12599808],"candidate_ms_per_call_trials":[0.11522048,0.115892798,0.116042078,0.115390241,0.115422398,0.115476482,0.115493439,0.115575522,0.115566246,0.115455039,0.115457602,0.1155072],"baseline_median_batch_mean_ms":0.12601272,"candidate_median_batch_mean_ms":0.11548496,"median_batch_mean_reduction_percent":8.354521493},{"kind":"synthetic_56_gemv_projection","baseline_ms":7.769890368,"candidate_ms":7.401918828,"saved_ms":0.367971539,"is_model_latency_measurement":false}].</a:t>
            </a:r>
          </a:p>
          <a:p xmlns:a="http://schemas.openxmlformats.org/drawingml/2006/main">
            <a:r>
              <a:t>Sources:</a:t>
            </a:r>
          </a:p>
          <a:p xmlns:a="http://schemas.openxmlformats.org/drawingml/2006/main">
            <a:r>
              <a:t>results/mlp-goal/profiling/gemv-graph.jsonl</a:t>
            </a:r>
          </a:p>
          <a:p xmlns:a="http://schemas.openxmlformats.org/drawingml/2006/main">
            <a:r>
              <a:t>results/mlp-goal/native-build/status.json</a:t>
            </a:r>
          </a:p>
          <a:p xmlns:a="http://schemas.openxmlformats.org/drawingml/2006/main">
            <a:r>
              <a:t>results/mlp-goal/compact-build/status.json</a:t>
            </a:r>
          </a:p>
          <a:p xmlns:a="http://schemas.openxmlformats.org/drawingml/2006/main">
            <a:r>
              <a:t>results/rtn-build-20260921T040030Z-41c97631.json</a:t>
            </a:r>
          </a:p>
          <a:p xmlns:a="http://schemas.openxmlformats.org/drawingml/2006/main">
            <a:r>
              <a:t>results/mlp-goal/verification.json</a:t>
            </a:r>
          </a:p>
          <a:p xmlns:a="http://schemas.openxmlformats.org/drawingml/2006/main">
            <a:r>
              <a:t>patches/int4-gemv-cosmos-mlp-n4.patch</a:t>
            </a:r>
          </a:p>
          <a:p xmlns:a="http://schemas.openxmlformats.org/drawingml/2006/main">
            <a:r>
              <a:t>scripts/profile_mlp_gemv.cu</a:t>
            </a:r>
          </a:p>
          <a:p xmlns:a="http://schemas.openxmlformats.org/drawingml/2006/main">
            <a:r>
              <a:t>https://github.com/NVIDIA/TensorRT-Edge-LLM/blob/e8b29522938901f6df19ebeedd4b69bc8edbcd97/cpp/kernels/int4GroupwiseGemmKernels/int4WoQGemvCuda.cu</a:t>
            </a:r>
          </a:p>
          <a:p xmlns:a="http://schemas.openxmlformats.org/drawingml/2006/main">
            <a:r>
              <a:t>https://github.com/mit-han-lab/llm-awq/blob/main/awq/kernels/csrc/quantization_new/gemv/gemv_cuda.cu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chose MLP-only RTN INT4 despite its known yellow-to-orange color error. The six synthetic diagnostic images still score 18/19 facts, with the same prior MLP outputs. This 64-token greedy check is separate from the 512-token Live VLM latency workload. Output preservation prevents an observed regression against this baseline; it does not establish general accuracy. Natural examples and recording answers can contain false claims. The user requested MLP-only RTN as the new starting point, lower latency and RAM, and to stop when a further step cannot improve p50 by 10%. The agent froze the choice of three 1280×720 images, five warmups and 30 measured requests per image, the equally weighted geometric mean of per-image median complete-answer latency, exact text/token/stop controls, a 5% per-image regression limit, 512 MiB available RAM floor, and a first-confirmed-failure stopping interpretation. The agent initially also treated 10% as deployment eligibility, then corrected that conflation after measurement: stop searching, retain a useful lower-memory configuration. The original frozen plan and failed comparison remain unchanged. No 10% latency success is claimed. These operational choices are agent decisions, not additional verbatim user requirements. The prompt is “Describe what you see in this image in one sentence.” with max tokens 512, temperature 0.7, omitted request top-p/top-k resolving to 0.9/50. Dynamic stock 25 W, input capacity 1024 and per-image capacity 512 remain. Serial local proxy requests include decoding and inference but exclude browser capture, JPEG encoding and Wi-Fi. Fixtures are screen-recording-derived camera crops, not recovered historical inference payloads. Policy clarification after measurement: {"created_utc":"2026-09-21T04:06:38.438870+00:00","user_instruction":"Start from RTN INT4 MLP only, improve latency and RAM footprint, stop when p50 cannot improve by10percent and load the optimized model.","original_agent_interpretation":"The frozen plan treated10percent as both a continuation threshold and a deployment eligibility threshold.","corrected_interpretation":"10percent controls whether to continue searching. Stop now, and deploy the usable measured candidate with lower RAM and no material latency or output regression.","reason":"Discarding the lower-memory MLP candidate would undo progress toward the requested footprint objective. User did not require discarding every useful improvement below10percent. This clarification does not turn1.19percent into a10percent win or authorize more marginal trials.","timing":"Clarified after first candidate measurement; originalplan andcomparison preserved without edits.","continuation_threshold_met":false,"original_comparison_accepted":false,"deployment_selected":"live-vlm-mlp-n4-compact","observed_latency_reduction_percent":1.1857373074991573,"latency_caveat":"The small observed latency difference may include measurement noise. This is a memory-saving deployment selection, not a10percent latency success.","shared_ram_decrease_bytes":171393024,"observed_regression_limits":"Every per-imagep50/p95 within frozen5percent gate; allp95values lower.","evidence":["results/mlp-goal/plan.json","results/mlp-goal/comparison-01.json","results/mlp-goal/quality-candidate-review.json"],"frozen_plan_sha256":"46378d5a97bf522b62aee8f58b35799ff5e15051ea7e4a1f51ca57f616ad7e81","comparison_sha256":"98413e511ffca12ce657dcef6c4058c2d723719ad2ddb55327b7fee111281c34"}. Selection: {"selected_candidate_id":"live-vlm-mlp-n4-compact","decision":"stop_search_and_deploy_lower_memory_mlp","reason":"10percent continuation threshold notmet. Select lower-memory equivalent MLPcandidate without further optimization trials.","selected_at_utc":"2026-09-21T04:06:38.438870+00:00","stop_rule_triggered":true}. Verification: {"verified_at_utc":"2026-09-21T04:07:23.213222+00:00","health_before":{"status":"ready","active_requests":0,"queued_requests":0},"fixtures":[{"image":"benchmarks/live-vlm-1280/01-action-camera.jpg","identical_to_baseline":true,"result":{"ttft_ms":508.19072999001946,"total_latency_ms":1109.0886250021867,"completion_tokens":21,"completion_tokens_per_second":18.934465223605187,"throughput_definition":"completion_tokens / total_request_seconds","usage":{"prompt_tokens":511,"completion_tokens":21,"total_tokens":532},"output_text":"A man holds a GoPro camera up to his face as if he is taking a selfie.","http_status":200,"finish_reason":"stop","stream_done":true,"error":null}},{"image":"benchmarks/live-vlm-1280/02-pen.jpg","identical_to_baseline":true,"result":{"ttft_ms":474.7798290045466,"total_latency_ms":864.0464010095457,"completion_tokens":16,"completion_tokens_per_second":18.51752403725739,"throughput_definition":"completion_tokens / total_request_seconds","usage":{"prompt_tokens":511,"completion_tokens":16,"total_tokens":527},"output_text":"A man holds a pen in front of his face while raising three fingers.","http_status":200,"finish_reason":"stop","stream_done":true,"error":null}},{"image":"benchmarks/live-vlm-1280/03-scissors.jpg","identical_to_baseline":true,"result":{"ttft_ms":478.8451820058981,"total_latency_ms":870.1910250092624,"completion_tokens":16,"completion_tokens_per_second":18.386767434000706,"throughput_definition":"completion_tokens / total_request_seconds","usage":{"prompt_tokens":511,"completion_tokens":16,"total_tokens":527},"output_text":"A man is holding a pair of scissors in front of his face.","http_status":200,"finish_reason":"stop","stream_done":true,"error":null}}],"selected_candidate_id":"live-vlm-mlp-n4-compact","web_url":"https://192.168.6.252:8443","metrics":{"sampled_at":"2026-09-21T04:07:25.290724+00:00","status":"ok","cpu":{"utilization_percent":5.2},"gpu":{"utilization_percent":84.4},"memory":{"used_bytes":5309173760,"total_bytes":7912775680,"utilization_percent":67.1,"shared":true,"measurement":"MemTotal - MemAvailable"},"age_ms":798,"sample_interval_ms":1000},"health_after":{"status":"ready","active_requests":0,"queued_requests":0},"services":{"cosmos-edge-backend":"MainPID=101996\nNRestarts=0\nActiveState=active\nSubState=running\n","cosmos-edge-ui":"MainPID=84351\nNRestarts=0\nActiveState=active\nSubState=running\n"},"runtime_cmdline":"/home/jetson/cosmos-edge/external/TensorRT-Edge-LLM/.venv/bin/python /home/jetson/cosmos-edge/scripts/rtn_backend.py serve --model /home/jetson/cosmos-edge/models/cosmos3-edge-rtn-mlp-int4 --cache-dir /home/jetson/cosmos-edge/data/engine-cache-mlp-compact --max-input-len 1024 --max-kv-capacity 1664 --host 127.0.0.1 --port 8000 --max-image-tokens 512 --max-image-tokens-per-image 512 ","native_sha256":"f9ead1dc9a9fbeb392ccd0e485817dedb8c657833bb01a1facc362248741a7a0","plugin_sha256":"302d4e8c8f579471cfcdebcb0910f20caf4228dbcc9000b60757db4780176dbe","runtime_maps":["ffff096e0000-ffff0a77f000 r-xp 00000000 103:01 2247552                   /home/jetson/cosmos-edge/external/TensorRT-Edge-LLM/build/libNvInfer_edgellm_plugin.so.1.0","ffff0a77f000-ffff0a78b000 ---p 0109f000 103:01 2247552                   /home/jetson/cosmos-edge/external/TensorRT-Edge-LLM/build/libNvInfer_edgellm_plugin.so.1.0","ffff0a78b000-ffff0a790000 r--p 010ab000 103:01 2247552                   /home/jetson/cosmos-edge/external/TensorRT-Edge-LLM/build/libNvInfer_edgellm_plugin.so.1.0","ffff0a790000-ffff0a79a000 rw-p 010b0000 103:01 2247552                   /home/jetson/cosmos-edge/external/TensorRT-Edge-LLM/build/libNvInfer_edgellm_plugin.so.1.0","ffff14380000-ffff15967000 r-xp 00000000 103:01 2247376                   /home/jetson/cosmos-edge/external/TensorRT-Edge-LLM/build/pybind/_edgellm_runtime.cpython-312-aarch64-linux-gnu.so","ffff15967000-ffff1597b000 ---p 015e7000 103:01 2247376                   /home/jetson/cosmos-edge/external/TensorRT-Edge-LLM/build/pybind/_edgellm_runtime.cpython-312-aarch64-linux-gnu.so","ffff1597b000-ffff15980000 r--p 015eb000 103:01 2247376                   /home/jetson/cosmos-edge/external/TensorRT-Edge-LLM/build/pybind/_edgellm_runtime.cpython-312-aarch64-linux-gnu.so","ffff15980000-ffff1598c000 rw-p 015f0000 103:01 2247376                   /home/jetson/cosmos-edge/external/TensorRT-Edge-LLM/build/pybind/_edgellm_runtime.cpython-312-aarch64-linux-gnu.so"],"status":"passed","scope":"Three selected-runtime functional requests, not a new performance benchmark."}. Browser checks: {"observed_at_utc":"2026-09-21T04:07:47.612Z","entry_url":"http://192.168.6.252:8090","checks":{"http_redirect_to_orin_https":true,"secure_camera_context":true,"live_vlm_defaults":true,"camera_stream_stop":true,"camera_restart":true,"incremental_stream":true,"defaults_reach_backend":true,"fresh_camera_frames":true,"serial_requests":true,"live_cpu_gpu_shared_ram":true,"no_browser_errors":true},"scope":"Real browser against Orin HTTPS and real model inference. Camera uses Chromium synthetic moving frames; local certificate is accepted by test context.","web_url":"https://192.168.6.252:8443/","upload_answer":"A man is holding a pair of scissors in front of his face.","upload_timings":"First visible token\n699 ms\nRequest → first text\nComplete answer\n1.17 s\nRequest → stream end\nFrame age\n1.11 s\nSince browser capture","metrics":{"sampled_at":"2026-09-21T04:08:00.348931+00:00","status":"ok","cpu":{"utilization_percent":1},"gpu":{"utilization_percent":0},"memory":{"used_bytes":5300232192,"total_bytes":7912775680,"utilization_percent":67,"shared":true,"measurement":"MemTotal - MemAvailable"},"age_ms":720,"sample_interval_ms":1000},"status":"passed","posts":[{"max_tokens":512,"temperature":0.7,"prompt":"Describe what you see in this image in one sentence.","frame_sha256":"9a99df86c3fd38c8e81bd42c5e50d1284cfd7ce7daaaa31f313fcba2ec9bbe79"},{"max_tokens":512,"temperature":0.7,"prompt":"Describe what you see in this image in one sentence.","frame_sha256":"c4a1987ce471f7b571a1d21cdb6d8edc6c1e8bf8289777e0546cf31812fd2cee"},{"max_tokens":512,"temperature":0.7,"prompt":"Describe what you see in this image in one sentence.","frame_sha256":"e3b9b42be73c99ea8de9553c4b7440aea0994643d17b2059a58f56f922b014c0"},{"max_tokens":512,"temperature":0.7,"prompt":"Describe what you see in this image in one sentence.","frame_sha256":"5def6ff5b7a03f11329e7d1be97640a76e182715deac41dac214d5b3b2c42bd0"},{"max_tokens":512,"temperature":0.7,"prompt":"Describe what you see in this image in one sentence.","frame_sha256":"76cc9124618b406f9a6c1904fd501d31275c081b922bf781a8e90ea7e2af6211"},{"max_tokens":512,"temperature":0.7,"prompt":"Describe what you see in this image in one sentence.","frame_sha256":"c4a1987ce471f7b571a1d21cdb6d8edc6c1e8bf8289777e0546cf31812fd2cee"}],"browser_errors":[],"maximum_requests_in_flight":1}. The browser uses Chromium synthetic moving frames, not a physical camera, with self-signed certificate acceptance limited to its test context. It confirms fresh image requests, Live VLM defaults, streaming, stop/restart and visible CPU/GPU/shared-RAM metrics. New selected-runtime API streaming soak: {"kind":"soak_summary","status":"passed","scope":"API streaming soak; not browser/camera validation or semantic quality grading","elapsed_seconds":600.5037185059919,"requested_seconds":600,"policy":{"minimum_duration_seconds":600,"minimum_available_bytes":536870912,"maximum_active_requests":1,"maximum_queued_requests":1,"rss_growth_baseline_window_seconds":[60,120],"rss_growth_final_window_seconds":60,"rss_growth_absolute_tolerance_bytes":67108864,"rss_growth_relative_tolerance":0.05,"growth_rule":"Fail if final-window median RSS minus baseline median exceeds max(64 MiB, 5% baseline RSS).","system_ram_growth_rule":"Report the same windows separately; system unavailable RAM is not added to RSS.","length_finish_reason_is_failure":true,"quality_rule":"No semantic grading or exact answer matching; the frozen quality screen is separate."},"request_count":569,"request_failure_count":0,"case_counts":{"01-left-right":95,"02-counts":95,"03-above-below":95,"04-inside-outside":95,"05-relative-size":95,"06-quadrants":94},"length_finish_count":0,"minimum_available_bytes":2593685504,"counter_deltas":{"swap_in_pages":0,"swap_out_pages":0,"system_oom_kills":0},"growth":{"process_rss_bytes":{"baseline_median":4751347712,"final_median":4750225408,"growth_bytes":-1122304,"baseline_samples":120,"final_samples":120,"tolerance_bytes":237567385.60000002},"system_ram_unavailable_bytes":{"baseline_median":5307822080,"final_median":5306198016,"growth_bytes":-1624064,"baseline_samples":120,"final_samples":120,"tolerance_bytes":null}},"memory":{"sampler_errors":[],"local_system_ram_unavailable_peak_bytes":5319090176,"local_process_rss_peak_bytes":4752343040,"tegrastats_ram_used_peak_bytes":5146411008,"local_swap_occupied_peak_bytes":0,"swap_activity_detected":false,"oom_detected":false,"cuda_allocator_allocated_bytes":null,"cuda_allocator_reserved_bytes":null,"cuda_allocator_note":"Requires backend instrumentation; cannot be inferred from RAM or RSS.","memory_note":"Local host observations. Jetson GPU/CPU share RAM. RAM, RSS and allocator counters overlap; do not add them or label system RAM as dedicated VRAM. Peaks are sampled, not exact."},"resource_sample_count":1199,"oom_note":"The sampled oom_kill counter is system-wide. CUDA/backend failures also reject the run as request errors; this is not CUDA allocator instrumentation.","health_sample_count":589,"peak_active_requests":1,"peak_queued_requests":0,"failure_reasons":[],"candidate_id":"live-vlm-mlp-n4-compact","completed_utc":"2026-09-21T04:18:34.602111+00:00","raw_jsonl":"results/mlp-goal/soak-final.jsonl","manifest_sha256":"39b1257e9f56b08965aa294ab99239c4881ce683c58ed550b702540e8c816085","pid_after":{"pid":101996,"start_ticks":8468816,"command":"/home/jetson/cosmos-edge/external/TensorRT-Edge-LLM/.venv/bin/python /home/jetson/cosmos-edge/scripts/rtn_backend.py serve --model /home/jetson/cosmos-edge/models/cosmos3-edge-rtn-mlp-int4 --cache-dir /home/jetson/cosmos-edge/data/engine-cache-mlp-compact --max-input-len 1024 --max-kv-capacity 1664 --host 127.0.0.1 --port 8000 --max-image-tokens 512 --max-image-tokens-per-image 512","executable":"/usr/bin/python3.12"},"provenance_after":{"backend_config_path":"/home/jetson/cosmos-edge/deployment/selected-config.json","backend_config_sha256":"aacd98c583d1be9d2335d1042f98e05f30c8c6efd477d825771db21b48875f11","backend_config":{"candidate":"live-vlm-mlp-n4-compact","model":"nvidia/Cosmos3-Edge","model_revision":"344d602b128d1bbdacb43b08d0a3626f46343e29","backend_revision":"e8b29522938901f6df19ebeedd4b69bc8edbcd97","precision":"RTN INT4 MLP weights; FP16 attention, LM head, vision, projector, embeddings, activations and KV","max_input_len":1024,"max_kv_cache_capacity":1664,"max_batch_size":1,"encoder_embedding_cache_budget_bytes":0,"text_context_reuse":false,"power_mode":"stock25W ID1","patch_sha256":{"tensorrt-edge-llm-v0.10.1-encoder-cache-budget.patch":"af1a3fc45204d23b44cd2f3c424cda461fe257a2f2f426583fa53725435899fb","cosmos3-half-pixel-position.patch":"b0ee740480efd902131dcf9691bac9f7d1be25c188ca3f79a692eb51c751ea7f","cosmos3-patch-embedding-chw.patch":"d56614bd8d413d7069a90850e7641ff9a7d4624df6aa8d47fec48de1cdea0d64","int4-gemv-cosmos-mlp-n4.patch":"4bbb7c10010cfaf4e2cede83ea104cb19456678ecdde67acf74653dadada0fc9"},"native_extension_sha256":"f9ead1dc9a9fbeb392ccd0e485817dedb8c657833bb01a1facc362248741a7a0","engine_build_receipt":"results/rtn-build-20260921T040030Z-41c97631.json","cache":"/home/jetson/cosmos-edge/data/engine-cache-mlp-compact","image_quality":"18/19 synthetic facts, exact baseline outputs on six diagnostic images and90measured LiveVLM requests; yellow-to-orange limitation remains.","quantization_scope":"mlp-only","quantized_linear_count":56,"weight_sha256":"93ac92d48d893aa45009fb327846bdd1052d03b22150ab8b64698d00a23d1854","int4_gemm_plugin_version":1,"created_utc":"2026-09-21T04:01:54.283417+00:00","clock_policy":"restored stock dynamic 25W","sampling":{"temperature":0.7,"top_p":0.9,"top_k":50,"request_top_p":"omitted","request_top_k":"omitted","native_philox_seed":42,"native_philox_offset":0},"native_extension_current_sha256":"f9ead1dc9a9fbeb392ccd0e485817dedb8c657833bb01a1facc362248741a7a0","max_image_tokens":512,"max_image_tokens_per_image":512,"plugin_sha256":"302d4e8c8f579471cfcdebcb0910f20caf4228dbcc9000b60757db4780176dbe","gemv_source_sha256":"3d47772a5d4d46ec207e6d6d3fb43acd27bcd6c872880423c74982e65e7c5708","candidate_change":"Batch-one MLP GEMV output tiling2to4 for9216x2048/2048x9216 only, aggregate visual capacity1024to512, KV2048to1664. Same per-image512/input1024/output512 limits and weights.","selected":true,"selection_evidence":"results/mlp-goal/selection.json","deployment_memory_mode":"Swap disabled; existing2GiBswapfile preserved","memory_mode_evidence":"results/deployment-memory-mode/receipt.json","served_via":"cosmos-edge-backend.service"},"backend_revision":"e8b29522938901f6df19ebeedd4b69bc8edbcd97","backend_tracked_diff_sha256":"cb6f6780b31341bf92ef1dbff1d5587a112ed679e03cb06ab311045480b045e2","soak_script_sha256":"28c61c6ec66936dfe4e24303e50fd275e71906346cdd585f908bd0bb52a0d5b2","benchmark_script_sha256":"c60461adb37ed0ead473d655aa7c266de01d98fd5ce8bbb825096d6b9cfdf18b"}}. This separate soak does not inherit the earlier FP16 stability result, validate a physical camera or grade semantic quality. Its six frozen diagnostic fixtures use their manifest settings, separate from the 512-token Live VLM latency workload. The search is bounded by the frozen user/agent stopping contract and is not a proof of global optimality. The earlier NVMe cold-start timeouts remain unresolved unless a new explicit repair receipt states otherwise. Access uses a task-local self-signed HTTPS certificate; the first visit requires browser acceptance. No trust store modification is implied. Camera functionality depends on a secure context and browser permissions.</a:t>
            </a:r>
          </a:p>
          <a:p xmlns:a="http://schemas.openxmlformats.org/drawingml/2006/main">
            <a:r>
              <a:t>Sources:</a:t>
            </a:r>
          </a:p>
          <a:p xmlns:a="http://schemas.openxmlformats.org/drawingml/2006/main">
            <a:r>
              <a:t>results/mlp-goal/selection.json</a:t>
            </a:r>
          </a:p>
          <a:p xmlns:a="http://schemas.openxmlformats.org/drawingml/2006/main">
            <a:r>
              <a:t>results/mlp-goal/policy-clarification.json</a:t>
            </a:r>
          </a:p>
          <a:p xmlns:a="http://schemas.openxmlformats.org/drawingml/2006/main">
            <a:r>
              <a:t>results/mlp-goal/verification.json</a:t>
            </a:r>
          </a:p>
          <a:p xmlns:a="http://schemas.openxmlformats.org/drawingml/2006/main">
            <a:r>
              <a:t>results/mlp-goal/browser-verification.json</a:t>
            </a:r>
          </a:p>
          <a:p xmlns:a="http://schemas.openxmlformats.org/drawingml/2006/main">
            <a:r>
              <a:t>results/mlp-goal/soak-final.summary.json</a:t>
            </a:r>
          </a:p>
          <a:p xmlns:a="http://schemas.openxmlformats.org/drawingml/2006/main">
            <a:r>
              <a:t>results/mlp-goal/comparison-01.json</a:t>
            </a:r>
          </a:p>
          <a:p xmlns:a="http://schemas.openxmlformats.org/drawingml/2006/main">
            <a:r>
              <a:t>results/mlp-goal/quality-baseline-review.json</a:t>
            </a:r>
          </a:p>
          <a:p xmlns:a="http://schemas.openxmlformats.org/drawingml/2006/main">
            <a:r>
              <a:t>results/mlp-goal/plan.json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12c26178604b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1960b85b934878" /><Relationship Type="http://schemas.openxmlformats.org/officeDocument/2006/relationships/slideLayout" Target="/ppt/slideLayouts/slideLayout1.xml" Id="R6136fd4ee0f74d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36fd4ee0f74d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26a423c1f842ac" /><Relationship Type="http://schemas.openxmlformats.org/officeDocument/2006/relationships/notesSlide" Target="/ppt/notesSlides/notesSlide1.xml" Id="Rd8f332c245ca44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c2749f787f0469c" /><Relationship Type="http://schemas.openxmlformats.org/officeDocument/2006/relationships/notesSlide" Target="/ppt/notesSlides/notesSlide2.xml" Id="R8d420d9ad12c48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484759d177a4d01" /><Relationship Type="http://schemas.openxmlformats.org/officeDocument/2006/relationships/image" Target="/ppt/media/image.png" Id="Rb5047d42d1fc4598" /><Relationship Type="http://schemas.openxmlformats.org/officeDocument/2006/relationships/notesSlide" Target="/ppt/notesSlides/notesSlide3.xml" Id="R4cc8866f50e34f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9dcbbaf36ea4d1e" /><Relationship Type="http://schemas.openxmlformats.org/officeDocument/2006/relationships/notesSlide" Target="/ppt/notesSlides/notesSlide4.xml" Id="Ra9022b0930b948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6d234d8ab0b456e" /><Relationship Type="http://schemas.openxmlformats.org/officeDocument/2006/relationships/notesSlide" Target="/ppt/notesSlides/notesSlide5.xml" Id="Rb5ea05f62faa40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7f5f15f5fbf4e5f" /><Relationship Type="http://schemas.openxmlformats.org/officeDocument/2006/relationships/image" Target="/ppt/media/image.jpeg" Id="Rb44a83c34a774114" /><Relationship Type="http://schemas.openxmlformats.org/officeDocument/2006/relationships/notesSlide" Target="/ppt/notesSlides/notesSlide6.xml" Id="R06873fe887914a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d888ea3abfd4aeb" /><Relationship Type="http://schemas.openxmlformats.org/officeDocument/2006/relationships/notesSlide" Target="/ppt/notesSlides/notesSlide7.xml" Id="R6b77dd8a5e3941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87c7544d1043b5" /><Relationship Type="http://schemas.openxmlformats.org/officeDocument/2006/relationships/notesSlide" Target="/ppt/notesSlides/notesSlide8.xml" Id="R44f987be18cf4f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dccd29e2c6949f0" /><Relationship Type="http://schemas.openxmlformats.org/officeDocument/2006/relationships/notesSlide" Target="/ppt/notesSlides/notesSlide9.xml" Id="Rc0fa1b6739f1462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5fde366dcc9473c" /><Relationship Type="http://schemas.openxmlformats.org/officeDocument/2006/relationships/notesSlide" Target="/ppt/notesSlides/notesSlide10.xml" Id="Ra384baa990ba4c2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7740e24ac064d4d" /><Relationship Type="http://schemas.openxmlformats.org/officeDocument/2006/relationships/notesSlide" Target="/ppt/notesSlides/notesSlide11.xml" Id="R3125f4f1996f46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9b6905ba9f34ab5" /><Relationship Type="http://schemas.openxmlformats.org/officeDocument/2006/relationships/notesSlide" Target="/ppt/notesSlides/notesSlide12.xml" Id="R7f0acdb20216441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44b0556676543fb" /><Relationship Type="http://schemas.openxmlformats.org/officeDocument/2006/relationships/notesSlide" Target="/ppt/notesSlides/notesSlide13.xml" Id="R4285657903e44ab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ad9621379634b36" /><Relationship Type="http://schemas.openxmlformats.org/officeDocument/2006/relationships/notesSlide" Target="/ppt/notesSlides/notesSlide14.xml" Id="Rd2e1e340c54b498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d0999dc82cc4d52" /><Relationship Type="http://schemas.openxmlformats.org/officeDocument/2006/relationships/notesSlide" Target="/ppt/notesSlides/notesSlide15.xml" Id="R2ab37d6b34674f1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2c60c0617604453" /><Relationship Type="http://schemas.openxmlformats.org/officeDocument/2006/relationships/notesSlide" Target="/ppt/notesSlides/notesSlide16.xml" Id="R9ef927fb70f0478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d2bab963456450f" /><Relationship Type="http://schemas.openxmlformats.org/officeDocument/2006/relationships/notesSlide" Target="/ppt/notesSlides/notesSlide17.xml" Id="R2832d2f83ad743d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17a9a7ce6bd4050" /><Relationship Type="http://schemas.openxmlformats.org/officeDocument/2006/relationships/notesSlide" Target="/ppt/notesSlides/notesSlide18.xml" Id="R643609efdf8e48a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cf577d69dd04a0e" /><Relationship Type="http://schemas.openxmlformats.org/officeDocument/2006/relationships/image" Target="/ppt/media/image2.png" Id="R65986096af164555" /><Relationship Type="http://schemas.openxmlformats.org/officeDocument/2006/relationships/notesSlide" Target="/ppt/notesSlides/notesSlide19.xml" Id="Rb72b68c27f0343e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bbf434eb8814dcf" /><Relationship Type="http://schemas.openxmlformats.org/officeDocument/2006/relationships/notesSlide" Target="/ppt/notesSlides/notesSlide20.xml" Id="R41478e337dcb40f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a772270f0c2414f" /><Relationship Type="http://schemas.openxmlformats.org/officeDocument/2006/relationships/image" Target="/ppt/media/image3.png" Id="Ra050eaf45bbc45fb" /><Relationship Type="http://schemas.openxmlformats.org/officeDocument/2006/relationships/notesSlide" Target="/ppt/notesSlides/notesSlide21.xml" Id="Rc881e37d31a3497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df1192438b44f84" /><Relationship Type="http://schemas.openxmlformats.org/officeDocument/2006/relationships/image" Target="/ppt/media/image4.png" Id="R097efedc5c6d4692" /><Relationship Type="http://schemas.openxmlformats.org/officeDocument/2006/relationships/notesSlide" Target="/ppt/notesSlides/notesSlide22.xml" Id="R6fb54b25f3d343b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0e11bb31a8f44c8" /><Relationship Type="http://schemas.openxmlformats.org/officeDocument/2006/relationships/notesSlide" Target="/ppt/notesSlides/notesSlide23.xml" Id="R8efcdb5167134a6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7a8063ab5054789" /><Relationship Type="http://schemas.openxmlformats.org/officeDocument/2006/relationships/notesSlide" Target="/ppt/notesSlides/notesSlide24.xml" Id="R948cfe3bd6b14a7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aa2b089cc4d41a4" /><Relationship Type="http://schemas.openxmlformats.org/officeDocument/2006/relationships/notesSlide" Target="/ppt/notesSlides/notesSlide25.xml" Id="Ra39c46600cfb4a9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878568f662042b6" /><Relationship Type="http://schemas.openxmlformats.org/officeDocument/2006/relationships/notesSlide" Target="/ppt/notesSlides/notesSlide26.xml" Id="Rd9a1ea0edcec45d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26b955019544100" /><Relationship Type="http://schemas.openxmlformats.org/officeDocument/2006/relationships/notesSlide" Target="/ppt/notesSlides/notesSlide27.xml" Id="Rb5642d6a8dee455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fbf3275db2d40ff" /><Relationship Type="http://schemas.openxmlformats.org/officeDocument/2006/relationships/notesSlide" Target="/ppt/notesSlides/notesSlide28.xml" Id="Re9acca23b0694af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6ef6cb0492c43c1" /><Relationship Type="http://schemas.openxmlformats.org/officeDocument/2006/relationships/notesSlide" Target="/ppt/notesSlides/notesSlide29.xml" Id="R8ce74d2cc53a4bd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5c7450b1ed547b6" /><Relationship Type="http://schemas.openxmlformats.org/officeDocument/2006/relationships/image" Target="/ppt/media/image5.png" Id="R492da3176bc34c9c" /><Relationship Type="http://schemas.openxmlformats.org/officeDocument/2006/relationships/notesSlide" Target="/ppt/notesSlides/notesSlide30.xml" Id="Rb7a2116d11fd4b1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207aadb15fe4555" /><Relationship Type="http://schemas.openxmlformats.org/officeDocument/2006/relationships/image" Target="/ppt/media/image6.png" Id="Rce108c39c85e4b00" /><Relationship Type="http://schemas.openxmlformats.org/officeDocument/2006/relationships/notesSlide" Target="/ppt/notesSlides/notesSlide31.xml" Id="R7b61531cb0c74d1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b8cc7d8057e4527" /><Relationship Type="http://schemas.openxmlformats.org/officeDocument/2006/relationships/image" Target="/ppt/media/image7.png" Id="R1b7702e4356949f6" /><Relationship Type="http://schemas.openxmlformats.org/officeDocument/2006/relationships/notesSlide" Target="/ppt/notesSlides/notesSlide32.xml" Id="R8c39f1de841848b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503330f0b424695" /><Relationship Type="http://schemas.openxmlformats.org/officeDocument/2006/relationships/notesSlide" Target="/ppt/notesSlides/notesSlide33.xml" Id="R373b5b2876dd4f7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42d6e888ae14d31" /><Relationship Type="http://schemas.openxmlformats.org/officeDocument/2006/relationships/notesSlide" Target="/ppt/notesSlides/notesSlide34.xml" Id="R6543c1096422411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6d41ec5faf3413a" /><Relationship Type="http://schemas.openxmlformats.org/officeDocument/2006/relationships/notesSlide" Target="/ppt/notesSlides/notesSlide35.xml" Id="Rc244713822ac49f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75820e868654a9c" /><Relationship Type="http://schemas.openxmlformats.org/officeDocument/2006/relationships/notesSlide" Target="/ppt/notesSlides/notesSlide36.xml" Id="R83ba9814e86d423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b8219fbbdf124acd" /><Relationship Type="http://schemas.openxmlformats.org/officeDocument/2006/relationships/notesSlide" Target="/ppt/notesSlides/notesSlide37.xml" Id="R02e51a5c14a84b3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844F95A-E72F-4474-9755-40728EB2D43E}"/>
              </a:ext>
            </a:extLst>
          </p:cNvPr>
          <p:cNvSpPr>
            <a:spLocks xmlns:a="http://schemas.openxmlformats.org/drawingml/2006/main" noGrp="1"/>
          </p:cNvSpPr>
          <p:nvPr/>
        </p:nvSpPr>
        <p:spPr>
          <a:xfrm xmlns:a="http://schemas.openxmlformats.org/drawingml/2006/main">
            <a:off x="685800" y="1400175"/>
            <a:ext cx="1064895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5100" b="1">
                <a:solidFill>
                  <a:srgbClr val="183542"/>
                </a:solidFill>
                <a:latin typeface="Helvetica Neue"/>
                <a:ea typeface="Helvetica Neue"/>
                <a:cs typeface="Helvetica Neue"/>
              </a:defRPr>
            </a:pPr>
            <a:r>
              <a:rPr sz="5100" b="1">
                <a:solidFill>
                  <a:srgbClr val="183542"/>
                </a:solidFill>
                <a:latin typeface="Helvetica Neue"/>
                <a:ea typeface="Helvetica Neue"/>
                <a:cs typeface="Helvetica Neue"/>
              </a:rPr>
              <a:t>Cosmos3-Edge on</a:t>
            </a:r>
          </a:p>
          <a:p xmlns:a="http://schemas.openxmlformats.org/drawingml/2006/main">
            <a:pPr>
              <a:buNone/>
              <a:defRPr sz="5100" b="1">
                <a:solidFill>
                  <a:srgbClr val="183542"/>
                </a:solidFill>
                <a:latin typeface="Helvetica Neue"/>
                <a:ea typeface="Helvetica Neue"/>
                <a:cs typeface="Helvetica Neue"/>
              </a:defRPr>
            </a:pPr>
            <a:r>
              <a:rPr sz="5100" b="1">
                <a:solidFill>
                  <a:srgbClr val="183542"/>
                </a:solidFill>
                <a:latin typeface="Helvetica Neue"/>
                <a:ea typeface="Helvetica Neue"/>
                <a:cs typeface="Helvetica Neue"/>
              </a:rPr>
              <a:t>Jetson Orin Nano</a:t>
            </a:r>
          </a:p>
        </p:txBody>
      </p:sp>
      <p:sp>
        <p:nvSpPr>
          <p:cNvPr id="2" name="">
            <a:extLst xmlns:a="http://schemas.openxmlformats.org/drawingml/2006/main">
              <a:ext uri="{FF2B5EF4-FFF2-40B4-BE49-F238E27FC236}">
                <a16:creationId xmlns:a16="http://schemas.microsoft.com/office/drawing/2014/main" id="{855E583C-3AD6-462C-8FC3-51A7A7339B67}"/>
              </a:ext>
            </a:extLst>
          </p:cNvPr>
          <p:cNvSpPr>
            <a:spLocks xmlns:a="http://schemas.openxmlformats.org/drawingml/2006/main" noGrp="1"/>
          </p:cNvSpPr>
          <p:nvPr/>
        </p:nvSpPr>
        <p:spPr>
          <a:xfrm xmlns:a="http://schemas.openxmlformats.org/drawingml/2006/main">
            <a:off x="685800" y="37338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75" b="0">
                <a:solidFill>
                  <a:srgbClr val="146875"/>
                </a:solidFill>
                <a:latin typeface="Helvetica Neue"/>
                <a:ea typeface="Helvetica Neue"/>
                <a:cs typeface="Helvetica Neue"/>
              </a:defRPr>
            </a:pPr>
            <a:r>
              <a:rPr sz="2475" b="0">
                <a:solidFill>
                  <a:srgbClr val="146875"/>
                </a:solidFill>
                <a:latin typeface="Helvetica Neue"/>
                <a:ea typeface="Helvetica Neue"/>
                <a:cs typeface="Helvetica Neue"/>
              </a:rPr>
              <a:t>Iteration history and measured findings</a:t>
            </a:r>
          </a:p>
        </p:txBody>
      </p:sp>
      <p:sp>
        <p:nvSpPr>
          <p:cNvPr id="3" name="">
            <a:extLst xmlns:a="http://schemas.openxmlformats.org/drawingml/2006/main">
              <a:ext uri="{FF2B5EF4-FFF2-40B4-BE49-F238E27FC236}">
                <a16:creationId xmlns:a16="http://schemas.microsoft.com/office/drawing/2014/main" id="{C8243B99-A28D-4DE5-A2EC-A27F777B2CDE}"/>
              </a:ext>
            </a:extLst>
          </p:cNvPr>
          <p:cNvSpPr>
            <a:spLocks xmlns:a="http://schemas.openxmlformats.org/drawingml/2006/main" noGrp="1"/>
          </p:cNvSpPr>
          <p:nvPr/>
        </p:nvSpPr>
        <p:spPr>
          <a:xfrm xmlns:a="http://schemas.openxmlformats.org/drawingml/2006/main">
            <a:off x="685800" y="45720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183542"/>
                </a:solidFill>
                <a:latin typeface="Helvetica Neue"/>
                <a:ea typeface="Helvetica Neue"/>
                <a:cs typeface="Helvetica Neue"/>
              </a:defRPr>
            </a:pPr>
            <a:r>
              <a:rPr sz="2175" b="0">
                <a:solidFill>
                  <a:srgbClr val="183542"/>
                </a:solidFill>
                <a:latin typeface="Helvetica Neue"/>
                <a:ea typeface="Helvetica Neue"/>
                <a:cs typeface="Helvetica Neue"/>
              </a:rPr>
              <a:t>Current deployment: MLP-only RTN INT4, compact buffers</a:t>
            </a:r>
          </a:p>
        </p:txBody>
      </p:sp>
      <p:sp>
        <p:nvSpPr>
          <p:cNvPr id="4" name="">
            <a:extLst xmlns:a="http://schemas.openxmlformats.org/drawingml/2006/main">
              <a:ext uri="{FF2B5EF4-FFF2-40B4-BE49-F238E27FC236}">
                <a16:creationId xmlns:a16="http://schemas.microsoft.com/office/drawing/2014/main" id="{D96FCD07-6C6E-4308-9074-1D272769A106}"/>
              </a:ext>
            </a:extLst>
          </p:cNvPr>
          <p:cNvSpPr>
            <a:spLocks xmlns:a="http://schemas.openxmlformats.org/drawingml/2006/main" noGrp="1"/>
          </p:cNvSpPr>
          <p:nvPr/>
        </p:nvSpPr>
        <p:spPr>
          <a:xfrm xmlns:a="http://schemas.openxmlformats.org/drawingml/2006/main">
            <a:off x="685800" y="59721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Updated 2026-09-20</a:t>
            </a:r>
          </a:p>
        </p:txBody>
      </p:sp>
      <p:sp>
        <p:nvSpPr>
          <p:cNvPr id="6" name="">
            <a:extLst xmlns:a="http://schemas.openxmlformats.org/drawingml/2006/main">
              <a:ext uri="{FF2B5EF4-FFF2-40B4-BE49-F238E27FC236}">
                <a16:creationId xmlns:a16="http://schemas.microsoft.com/office/drawing/2014/main" id="{C44C1D30-E558-4072-B139-F50A28A03F85}"/>
              </a:ext>
            </a:extLst>
          </p:cNvPr>
          <p:cNvSpPr>
            <a:spLocks xmlns:a="http://schemas.openxmlformats.org/drawingml/2006/main" noGrp="1"/>
          </p:cNvSpPr>
          <p:nvPr/>
        </p:nvSpPr>
        <p:spPr>
          <a:xfrm xmlns:a="http://schemas.openxmlformats.org/drawingml/2006/main">
            <a:off x="685800" y="52387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Earlier FP16 phases: slides 2–28. New MLP results: slides 33–37.</a:t>
            </a:r>
          </a:p>
        </p:txBody>
      </p:sp>
    </p:spTree>
    <p:extLst>
      <p:ext uri="{BB962C8B-B14F-4D97-AF65-F5344CB8AC3E}">
        <p14:creationId xmlns:p14="http://schemas.microsoft.com/office/powerpoint/2010/main" val="11914868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60267D-8DB9-4A92-871E-E60A4E4FBF32}"/>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Installed hardware and software</a:t>
            </a:r>
          </a:p>
        </p:txBody>
      </p:sp>
      <p:sp>
        <p:nvSpPr>
          <p:cNvPr id="2" name="">
            <a:extLst xmlns:a="http://schemas.openxmlformats.org/drawingml/2006/main">
              <a:ext uri="{FF2B5EF4-FFF2-40B4-BE49-F238E27FC236}">
                <a16:creationId xmlns:a16="http://schemas.microsoft.com/office/drawing/2014/main" id="{E44F1152-204C-4536-A012-A92F3B19B963}"/>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FA4EB11C-7245-4F03-A70B-8C96E8A82E7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a:t>
            </a:r>
          </a:p>
        </p:txBody>
      </p:sp>
      <p:graphicFrame>
        <p:nvGraphicFramePr>
          <p:cNvPr id="11" name=""/>
          <p:cNvGraphicFramePr/>
          <p:nvPr/>
        </p:nvGraphicFramePr>
        <p:xfrm>
          <a:off xmlns:a="http://schemas.openxmlformats.org/drawingml/2006/main" x="685800" y="1571625"/>
          <a:ext xmlns:a="http://schemas.openxmlformats.org/drawingml/2006/main" cx="10820400" cy="3886200"/>
        </p:xfrm>
        <a:graphic xmlns:a="http://schemas.openxmlformats.org/drawingml/2006/main">
          <a:graphicData uri="http://schemas.openxmlformats.org/drawingml/2006/table">
            <a:tbl>
              <a:tblPr firstRow="1" bandRow="0"/>
              <a:tblGrid>
                <a:gridCol w="3333750"/>
                <a:gridCol w="7486650"/>
              </a:tblGrid>
              <a:tr h="647700">
                <a:tc>
                  <a:txBody>
                    <a:bodyPr/>
                    <a:lstStyle/>
                    <a:p>
                      <a:r>
                        <a:rPr sz="1800" b="1">
                          <a:solidFill>
                            <a:srgbClr val="183542"/>
                          </a:solidFill>
                          <a:latin typeface="Helvetica Neue"/>
                          <a:ea typeface="Helvetica Neue"/>
                          <a:cs typeface="Helvetica Neue"/>
                        </a:rPr>
                        <a:t>Component</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Observed configuration</a:t>
                      </a:r>
                    </a:p>
                  </a:txBody>
                  <a:tcPr marL="142875" marR="142875" marT="85725" marB="85725" anchor="ctr">
                    <a:solidFill>
                      <a:srgbClr val="E8F0F1"/>
                    </a:solidFill>
                  </a:tcPr>
                </a:tc>
              </a:tr>
              <a:tr h="647700">
                <a:tc>
                  <a:txBody>
                    <a:bodyPr/>
                    <a:lstStyle/>
                    <a:p>
                      <a:r>
                        <a:rPr sz="1800">
                          <a:solidFill>
                            <a:srgbClr val="183542"/>
                          </a:solidFill>
                          <a:latin typeface="Helvetica Neue"/>
                          <a:ea typeface="Helvetica Neue"/>
                          <a:cs typeface="Helvetica Neue"/>
                        </a:rPr>
                        <a:t>Device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Jetson Orin Nano P3767-0005  8 GB shared RAM</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Storage and mode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WD_BLACK SN7100 1 TB</a:t>
                      </a:r>
                    </a:p>
                    <a:p>
                      <a:r>
                        <a:rPr sz="1800">
                          <a:solidFill>
                            <a:srgbClr val="183542"/>
                          </a:solidFill>
                          <a:latin typeface="Helvetica Neue"/>
                          <a:ea typeface="Helvetica Neue"/>
                          <a:cs typeface="Helvetica Neue"/>
                        </a:rPr>
                        <a:t>Stock 25 W, ID1</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Operating system</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JetPack 7.2.1, L4T 39.2.1</a:t>
                      </a:r>
                    </a:p>
                    <a:p>
                      <a:r>
                        <a:rPr sz="1800">
                          <a:solidFill>
                            <a:srgbClr val="183542"/>
                          </a:solidFill>
                          <a:latin typeface="Helvetica Neue"/>
                          <a:ea typeface="Helvetica Neue"/>
                          <a:cs typeface="Helvetica Neue"/>
                        </a:rPr>
                        <a:t>Kernel 6.8.12-1021-tegra</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Compute libraries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CUDA nvcc13.2.86, TensorRT 10.16.2.10</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Installation evidence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Verified USB-C QSPI + NVMe flash</a:t>
                      </a:r>
                    </a:p>
                    <a:p>
                      <a:r>
                        <a:rPr sz="1800">
                          <a:solidFill>
                            <a:srgbClr val="183542"/>
                          </a:solidFill>
                          <a:latin typeface="Helvetica Neue"/>
                          <a:ea typeface="Helvetica Neue"/>
                          <a:cs typeface="Helvetica Neue"/>
                        </a:rPr>
                        <a:t>Verified NVMe boot and CUDA calculation</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968798F-44D8-4A48-9B69-5A69A47C15F0}"/>
              </a:ext>
            </a:extLst>
          </p:cNvPr>
          <p:cNvSpPr>
            <a:spLocks xmlns:a="http://schemas.openxmlformats.org/drawingml/2006/main" noGrp="1"/>
          </p:cNvSpPr>
          <p:nvPr/>
        </p:nvSpPr>
        <p:spPr>
          <a:xfrm xmlns:a="http://schemas.openxmlformats.org/drawingml/2006/main">
            <a:off x="685800" y="5934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Official NVIDIA flash tools ran through an original SSH/NFS transport bridge.</a:t>
            </a:r>
          </a:p>
        </p:txBody>
      </p:sp>
    </p:spTree>
    <p:extLst>
      <p:ext uri="{BB962C8B-B14F-4D97-AF65-F5344CB8AC3E}">
        <p14:creationId xmlns:p14="http://schemas.microsoft.com/office/powerpoint/2010/main" val="19835144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E251C0-7D08-42DF-B251-078DB7B9580A}"/>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Streaming browser interface</a:t>
            </a:r>
          </a:p>
        </p:txBody>
      </p:sp>
      <p:sp>
        <p:nvSpPr>
          <p:cNvPr id="2" name="">
            <a:extLst xmlns:a="http://schemas.openxmlformats.org/drawingml/2006/main">
              <a:ext uri="{FF2B5EF4-FFF2-40B4-BE49-F238E27FC236}">
                <a16:creationId xmlns:a16="http://schemas.microsoft.com/office/drawing/2014/main" id="{90EE3215-4302-476B-A079-D98B1B6DD275}"/>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6B1CFDF1-34EF-4105-9E50-0C54733A046A}"/>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5047d42d1fc4598"/>
          <a:stretch xmlns:a="http://schemas.openxmlformats.org/drawingml/2006/main"/>
        </p:blipFill>
        <p:spPr>
          <a:xfrm xmlns:a="http://schemas.openxmlformats.org/drawingml/2006/main">
            <a:off x="1536955" y="1466850"/>
            <a:ext cx="5393816" cy="46482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5C513CE-E66C-4799-9EFA-62205FF45078}"/>
              </a:ext>
            </a:extLst>
          </p:cNvPr>
          <p:cNvSpPr>
            <a:spLocks xmlns:a="http://schemas.openxmlformats.org/drawingml/2006/main" noGrp="1"/>
          </p:cNvSpPr>
          <p:nvPr/>
        </p:nvSpPr>
        <p:spPr>
          <a:xfrm xmlns:a="http://schemas.openxmlformats.org/drawingml/2006/main">
            <a:off x="8172450" y="16764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Browser checks</a:t>
            </a:r>
          </a:p>
        </p:txBody>
      </p:sp>
      <p:sp>
        <p:nvSpPr>
          <p:cNvPr id="6" name="">
            <a:extLst xmlns:a="http://schemas.openxmlformats.org/drawingml/2006/main">
              <a:ext uri="{FF2B5EF4-FFF2-40B4-BE49-F238E27FC236}">
                <a16:creationId xmlns:a16="http://schemas.microsoft.com/office/drawing/2014/main" id="{B35A6623-9DC2-48FF-8DF1-3390F55CCACE}"/>
              </a:ext>
            </a:extLst>
          </p:cNvPr>
          <p:cNvSpPr>
            <a:spLocks xmlns:a="http://schemas.openxmlformats.org/drawingml/2006/main" noGrp="1"/>
          </p:cNvSpPr>
          <p:nvPr/>
        </p:nvSpPr>
        <p:spPr>
          <a:xfrm xmlns:a="http://schemas.openxmlformats.org/drawingml/2006/main">
            <a:off x="8172450" y="2171700"/>
            <a:ext cx="3333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Streaming: Pass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Stop and restart: Pass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Synthetic camera: Pass</a:t>
            </a:r>
          </a:p>
        </p:txBody>
      </p:sp>
      <p:sp>
        <p:nvSpPr>
          <p:cNvPr id="7" name="">
            <a:extLst xmlns:a="http://schemas.openxmlformats.org/drawingml/2006/main">
              <a:ext uri="{FF2B5EF4-FFF2-40B4-BE49-F238E27FC236}">
                <a16:creationId xmlns:a16="http://schemas.microsoft.com/office/drawing/2014/main" id="{C2E5A4A6-11B3-41CF-8AEB-CBC8FD111911}"/>
              </a:ext>
            </a:extLst>
          </p:cNvPr>
          <p:cNvSpPr>
            <a:spLocks xmlns:a="http://schemas.openxmlformats.org/drawingml/2006/main" noGrp="1"/>
          </p:cNvSpPr>
          <p:nvPr/>
        </p:nvSpPr>
        <p:spPr>
          <a:xfrm xmlns:a="http://schemas.openxmlformats.org/drawingml/2006/main">
            <a:off x="8172450" y="38195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Web access</a:t>
            </a:r>
          </a:p>
        </p:txBody>
      </p:sp>
      <p:sp>
        <p:nvSpPr>
          <p:cNvPr id="8" name="">
            <a:extLst xmlns:a="http://schemas.openxmlformats.org/drawingml/2006/main">
              <a:ext uri="{FF2B5EF4-FFF2-40B4-BE49-F238E27FC236}">
                <a16:creationId xmlns:a16="http://schemas.microsoft.com/office/drawing/2014/main" id="{0EE1E9E6-0DB2-43C4-AC83-AC50574E7AA6}"/>
              </a:ext>
            </a:extLst>
          </p:cNvPr>
          <p:cNvSpPr>
            <a:spLocks xmlns:a="http://schemas.openxmlformats.org/drawingml/2006/main" noGrp="1"/>
          </p:cNvSpPr>
          <p:nvPr/>
        </p:nvSpPr>
        <p:spPr>
          <a:xfrm xmlns:a="http://schemas.openxmlformats.org/drawingml/2006/main">
            <a:off x="8172450" y="4314825"/>
            <a:ext cx="33337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http://localhost:8090</a:t>
            </a:r>
          </a:p>
          <a:p xmlns:a="http://schemas.openxmlformats.org/drawingml/2006/main">
            <a:r>
              <a:t/>
            </a:r>
          </a:p>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Actual Orin service through the Mac SSH tunnel</a:t>
            </a:r>
          </a:p>
        </p:txBody>
      </p:sp>
    </p:spTree>
    <p:extLst>
      <p:ext uri="{BB962C8B-B14F-4D97-AF65-F5344CB8AC3E}">
        <p14:creationId xmlns:p14="http://schemas.microsoft.com/office/powerpoint/2010/main" val="11254266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698CDB-5E12-4C9A-B49D-C27BA6C9F0D0}"/>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Request and inference path</a:t>
            </a:r>
          </a:p>
        </p:txBody>
      </p:sp>
      <p:sp>
        <p:nvSpPr>
          <p:cNvPr id="2" name="">
            <a:extLst xmlns:a="http://schemas.openxmlformats.org/drawingml/2006/main">
              <a:ext uri="{FF2B5EF4-FFF2-40B4-BE49-F238E27FC236}">
                <a16:creationId xmlns:a16="http://schemas.microsoft.com/office/drawing/2014/main" id="{BA11A3E3-7E29-4DF4-99B3-5B9637264B57}"/>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B9743E93-2338-4BFD-B3AB-C75CBBF6C35F}"/>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4</a:t>
            </a:r>
          </a:p>
        </p:txBody>
      </p:sp>
      <p:graphicFrame>
        <p:nvGraphicFramePr>
          <p:cNvPr id="11" name=""/>
          <p:cNvGraphicFramePr/>
          <p:nvPr/>
        </p:nvGraphicFramePr>
        <p:xfrm>
          <a:off xmlns:a="http://schemas.openxmlformats.org/drawingml/2006/main" x="685800" y="1571625"/>
          <a:ext xmlns:a="http://schemas.openxmlformats.org/drawingml/2006/main" cx="10820400" cy="4038600"/>
        </p:xfrm>
        <a:graphic xmlns:a="http://schemas.openxmlformats.org/drawingml/2006/main">
          <a:graphicData uri="http://schemas.openxmlformats.org/drawingml/2006/table">
            <a:tbl>
              <a:tblPr firstRow="1" bandRow="0"/>
              <a:tblGrid>
                <a:gridCol w="2381250"/>
                <a:gridCol w="5857875"/>
                <a:gridCol w="2581275"/>
              </a:tblGrid>
              <a:tr h="673100">
                <a:tc>
                  <a:txBody>
                    <a:bodyPr/>
                    <a:lstStyle/>
                    <a:p>
                      <a:r>
                        <a:rPr sz="1800" b="1">
                          <a:solidFill>
                            <a:srgbClr val="183542"/>
                          </a:solidFill>
                          <a:latin typeface="Helvetica Neue"/>
                          <a:ea typeface="Helvetica Neue"/>
                          <a:cs typeface="Helvetica Neue"/>
                        </a:rPr>
                        <a:t>Stage</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Responsibility</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Source</a:t>
                      </a:r>
                    </a:p>
                  </a:txBody>
                  <a:tcPr marL="142875" marR="142875" marT="85725" marB="85725" anchor="ctr">
                    <a:solidFill>
                      <a:srgbClr val="E8F0F1"/>
                    </a:solidFill>
                  </a:tcPr>
                </a:tc>
              </a:tr>
              <a:tr h="673100">
                <a:tc>
                  <a:txBody>
                    <a:bodyPr/>
                    <a:lstStyle/>
                    <a:p>
                      <a:r>
                        <a:rPr sz="1800">
                          <a:solidFill>
                            <a:srgbClr val="183542"/>
                          </a:solidFill>
                          <a:latin typeface="Helvetica Neue"/>
                          <a:ea typeface="Helvetica Neue"/>
                          <a:cs typeface="Helvetica Neue"/>
                        </a:rPr>
                        <a:t>Browser</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Capture JPEG, prompt and sampling settings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Original UI</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Orin HTTP proxy</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Forward one request and stream SSE events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Original proxy</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Resident backend</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Decode image, run vision and language engines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TensorRT Edge-LLM</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Checkpoint</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Learned image and language behavior</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NVIDIA Cosmos3-Edge</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Browser response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Incremental text, timing and cancellation</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Original UI</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6C8964B-46D2-406B-B1A2-15BA1D4A3DBF}"/>
              </a:ext>
            </a:extLst>
          </p:cNvPr>
          <p:cNvSpPr>
            <a:spLocks xmlns:a="http://schemas.openxmlformats.org/drawingml/2006/main" noGrp="1"/>
          </p:cNvSpPr>
          <p:nvPr/>
        </p:nvSpPr>
        <p:spPr>
          <a:xfrm xmlns:a="http://schemas.openxmlformats.org/drawingml/2006/main">
            <a:off x="685800" y="59150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566773"/>
                </a:solidFill>
                <a:latin typeface="Helvetica Neue"/>
                <a:ea typeface="Helvetica Neue"/>
                <a:cs typeface="Helvetica Neue"/>
              </a:defRPr>
            </a:pPr>
            <a:r>
              <a:rPr sz="1875" b="0">
                <a:solidFill>
                  <a:srgbClr val="566773"/>
                </a:solidFill>
                <a:latin typeface="Helvetica Neue"/>
                <a:ea typeface="Helvetica Neue"/>
                <a:cs typeface="Helvetica Neue"/>
              </a:rPr>
              <a:t>The webpage runs on the Orin. Access through a tunnel remains a transport detail.</a:t>
            </a:r>
          </a:p>
        </p:txBody>
      </p:sp>
    </p:spTree>
    <p:extLst>
      <p:ext uri="{BB962C8B-B14F-4D97-AF65-F5344CB8AC3E}">
        <p14:creationId xmlns:p14="http://schemas.microsoft.com/office/powerpoint/2010/main" val="12089203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E2D8D9-4882-4699-8D98-3E441070BAD5}"/>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Compatibility and correctness repairs</a:t>
            </a:r>
          </a:p>
        </p:txBody>
      </p:sp>
      <p:sp>
        <p:nvSpPr>
          <p:cNvPr id="2" name="">
            <a:extLst xmlns:a="http://schemas.openxmlformats.org/drawingml/2006/main">
              <a:ext uri="{FF2B5EF4-FFF2-40B4-BE49-F238E27FC236}">
                <a16:creationId xmlns:a16="http://schemas.microsoft.com/office/drawing/2014/main" id="{AD4E62B6-638C-4DD8-B1E1-E805931B2E5F}"/>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21A21B1D-86B3-444E-83AC-1EE3CE3AEB0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5</a:t>
            </a:r>
          </a:p>
        </p:txBody>
      </p:sp>
      <p:graphicFrame>
        <p:nvGraphicFramePr>
          <p:cNvPr id="11" name=""/>
          <p:cNvGraphicFramePr/>
          <p:nvPr/>
        </p:nvGraphicFramePr>
        <p:xfrm>
          <a:off xmlns:a="http://schemas.openxmlformats.org/drawingml/2006/main" x="685800" y="1571625"/>
          <a:ext xmlns:a="http://schemas.openxmlformats.org/drawingml/2006/main" cx="10820400" cy="3905250"/>
        </p:xfrm>
        <a:graphic xmlns:a="http://schemas.openxmlformats.org/drawingml/2006/main">
          <a:graphicData uri="http://schemas.openxmlformats.org/drawingml/2006/table">
            <a:tbl>
              <a:tblPr firstRow="1" bandRow="0"/>
              <a:tblGrid>
                <a:gridCol w="3562350"/>
                <a:gridCol w="7258050"/>
              </a:tblGrid>
              <a:tr h="781050">
                <a:tc>
                  <a:txBody>
                    <a:bodyPr/>
                    <a:lstStyle/>
                    <a:p>
                      <a:r>
                        <a:rPr sz="1875" b="1">
                          <a:solidFill>
                            <a:srgbClr val="183542"/>
                          </a:solidFill>
                          <a:latin typeface="Helvetica Neue"/>
                          <a:ea typeface="Helvetica Neue"/>
                          <a:cs typeface="Helvetica Neue"/>
                        </a:rPr>
                        <a:t>Observed defect</a:t>
                      </a:r>
                    </a:p>
                  </a:txBody>
                  <a:tcPr marL="142875" marR="142875" marT="85725" marB="85725" anchor="ctr">
                    <a:solidFill>
                      <a:srgbClr val="E8F0F1"/>
                    </a:solidFill>
                  </a:tcPr>
                </a:tc>
                <a:tc>
                  <a:txBody>
                    <a:bodyPr/>
                    <a:lstStyle/>
                    <a:p>
                      <a:r>
                        <a:rPr sz="1875" b="1">
                          <a:solidFill>
                            <a:srgbClr val="183542"/>
                          </a:solidFill>
                          <a:latin typeface="Helvetica Neue"/>
                          <a:ea typeface="Helvetica Neue"/>
                          <a:cs typeface="Helvetica Neue"/>
                        </a:rPr>
                        <a:t>Task contribution using public conventions</a:t>
                      </a:r>
                    </a:p>
                  </a:txBody>
                  <a:tcPr marL="142875" marR="142875" marT="85725" marB="85725" anchor="ctr">
                    <a:solidFill>
                      <a:srgbClr val="E8F0F1"/>
                    </a:solidFill>
                  </a:tcPr>
                </a:tc>
              </a:tr>
              <a:tr h="781050">
                <a:tc>
                  <a:txBody>
                    <a:bodyPr/>
                    <a:lstStyle/>
                    <a:p>
                      <a:r>
                        <a:rPr sz="1875">
                          <a:solidFill>
                            <a:srgbClr val="183542"/>
                          </a:solidFill>
                          <a:latin typeface="Helvetica Neue"/>
                          <a:ea typeface="Helvetica Neue"/>
                          <a:cs typeface="Helvetica Neue"/>
                        </a:rPr>
                        <a:t>Generated runtime sidecars</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Restore existing RoPE aliases and image/video delimiters</a:t>
                      </a:r>
                    </a:p>
                  </a:txBody>
                  <a:tcPr marL="142875" marR="142875" marT="85725" marB="85725" anchor="ctr">
                    <a:solidFill>
                      <a:srgbClr val="FFFFFF"/>
                    </a:solidFill>
                  </a:tcPr>
                </a:tc>
              </a:tr>
              <a:tr h="781050">
                <a:tc>
                  <a:txBody>
                    <a:bodyPr/>
                    <a:lstStyle/>
                    <a:p>
                      <a:r>
                        <a:rPr sz="1875">
                          <a:solidFill>
                            <a:srgbClr val="183542"/>
                          </a:solidFill>
                          <a:latin typeface="Helvetica Neue"/>
                          <a:ea typeface="Helvetica Neue"/>
                          <a:cs typeface="Helvetica Neue"/>
                        </a:rPr>
                        <a:t>HWC weights with CHW pixels</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Apply the public exporter’s patch-weight column permutation</a:t>
                      </a:r>
                    </a:p>
                  </a:txBody>
                  <a:tcPr marL="142875" marR="142875" marT="85725" marB="85725" anchor="ctr">
                    <a:solidFill>
                      <a:srgbClr val="FFFFFF"/>
                    </a:solidFill>
                  </a:tcPr>
                </a:tc>
              </a:tr>
              <a:tr h="781050">
                <a:tc>
                  <a:txBody>
                    <a:bodyPr/>
                    <a:lstStyle/>
                    <a:p>
                      <a:r>
                        <a:rPr sz="1875">
                          <a:solidFill>
                            <a:srgbClr val="183542"/>
                          </a:solidFill>
                          <a:latin typeface="Helvetica Neue"/>
                          <a:ea typeface="Helvetica Neue"/>
                          <a:cs typeface="Helvetica Neue"/>
                        </a:rPr>
                        <a:t>Position interpolation</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Select the Cosmos half-pixel convention in the existing kernel</a:t>
                      </a:r>
                    </a:p>
                  </a:txBody>
                  <a:tcPr marL="142875" marR="142875" marT="85725" marB="85725" anchor="ctr">
                    <a:solidFill>
                      <a:srgbClr val="FFFFFF"/>
                    </a:solidFill>
                  </a:tcPr>
                </a:tc>
              </a:tr>
              <a:tr h="781050">
                <a:tc>
                  <a:txBody>
                    <a:bodyPr/>
                    <a:lstStyle/>
                    <a:p>
                      <a:r>
                        <a:rPr sz="1875">
                          <a:solidFill>
                            <a:srgbClr val="183542"/>
                          </a:solidFill>
                          <a:latin typeface="Helvetica Neue"/>
                          <a:ea typeface="Helvetica Neue"/>
                          <a:cs typeface="Helvetica Neue"/>
                        </a:rPr>
                        <a:t>Independent image cache</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Expose its existing byte budget and set it to zero for measurement</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279CDEB-7664-4E7A-8432-23481343BE1A}"/>
              </a:ext>
            </a:extLst>
          </p:cNvPr>
          <p:cNvSpPr>
            <a:spLocks xmlns:a="http://schemas.openxmlformats.org/drawingml/2006/main" noGrp="1"/>
          </p:cNvSpPr>
          <p:nvPr/>
        </p:nvSpPr>
        <p:spPr>
          <a:xfrm xmlns:a="http://schemas.openxmlformats.org/drawingml/2006/main">
            <a:off x="685800" y="57912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NVIDIA supplies the model, runtime and underlying conventions. This task repairs their integration.</a:t>
            </a:r>
          </a:p>
        </p:txBody>
      </p:sp>
    </p:spTree>
    <p:extLst>
      <p:ext uri="{BB962C8B-B14F-4D97-AF65-F5344CB8AC3E}">
        <p14:creationId xmlns:p14="http://schemas.microsoft.com/office/powerpoint/2010/main" val="8758196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E994DE4-6D06-4AF3-8181-C2FB23E4AB02}"/>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Quality checks and their limits</a:t>
            </a:r>
          </a:p>
        </p:txBody>
      </p:sp>
      <p:sp>
        <p:nvSpPr>
          <p:cNvPr id="2" name="">
            <a:extLst xmlns:a="http://schemas.openxmlformats.org/drawingml/2006/main">
              <a:ext uri="{FF2B5EF4-FFF2-40B4-BE49-F238E27FC236}">
                <a16:creationId xmlns:a16="http://schemas.microsoft.com/office/drawing/2014/main" id="{C420477C-7B26-455E-9C1A-3EDC6565F8B7}"/>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EE91B4AA-BA78-4996-B6E3-760842CD58A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6</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44a83c34a774114"/>
          <a:stretch xmlns:a="http://schemas.openxmlformats.org/drawingml/2006/main"/>
        </p:blipFill>
        <p:spPr>
          <a:xfrm xmlns:a="http://schemas.openxmlformats.org/drawingml/2006/main">
            <a:off x="1495425" y="1600200"/>
            <a:ext cx="2647950" cy="26479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C44763F-43F3-453A-BD71-74D7D6617B19}"/>
              </a:ext>
            </a:extLst>
          </p:cNvPr>
          <p:cNvSpPr>
            <a:spLocks xmlns:a="http://schemas.openxmlformats.org/drawingml/2006/main" noGrp="1"/>
          </p:cNvSpPr>
          <p:nvPr/>
        </p:nvSpPr>
        <p:spPr>
          <a:xfrm xmlns:a="http://schemas.openxmlformats.org/drawingml/2006/main">
            <a:off x="685800" y="4419600"/>
            <a:ext cx="426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965A20"/>
                </a:solidFill>
                <a:latin typeface="Helvetica Neue"/>
                <a:ea typeface="Helvetica Neue"/>
                <a:cs typeface="Helvetica Neue"/>
              </a:defRPr>
            </a:pPr>
            <a:r>
              <a:rPr sz="2175" b="1">
                <a:solidFill>
                  <a:srgbClr val="965A20"/>
                </a:solidFill>
                <a:latin typeface="Helvetica Neue"/>
                <a:ea typeface="Helvetica Neue"/>
                <a:cs typeface="Helvetica Neue"/>
              </a:rPr>
              <a:t>Natural photos</a:t>
            </a:r>
          </a:p>
        </p:txBody>
      </p:sp>
      <p:sp>
        <p:nvSpPr>
          <p:cNvPr id="6" name="">
            <a:extLst xmlns:a="http://schemas.openxmlformats.org/drawingml/2006/main">
              <a:ext uri="{FF2B5EF4-FFF2-40B4-BE49-F238E27FC236}">
                <a16:creationId xmlns:a16="http://schemas.microsoft.com/office/drawing/2014/main" id="{7A482A80-3C0A-4867-8B0E-E08F58595AA5}"/>
              </a:ext>
            </a:extLst>
          </p:cNvPr>
          <p:cNvSpPr>
            <a:spLocks xmlns:a="http://schemas.openxmlformats.org/drawingml/2006/main" noGrp="1"/>
          </p:cNvSpPr>
          <p:nvPr/>
        </p:nvSpPr>
        <p:spPr>
          <a:xfrm xmlns:a="http://schemas.openxmlformats.org/drawingml/2006/main">
            <a:off x="685800" y="4867275"/>
            <a:ext cx="42672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5/9 with partial credit.</a:t>
            </a:r>
          </a:p>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0/3 fully correct photos.</a:t>
            </a:r>
          </a:p>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Official reference also 5/9.</a:t>
            </a:r>
          </a:p>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2/3 answers match exactly.</a:t>
            </a:r>
          </a:p>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Cause remains unassigned.</a:t>
            </a:r>
          </a:p>
        </p:txBody>
      </p:sp>
      <p:sp>
        <p:nvSpPr>
          <p:cNvPr id="7" name="">
            <a:extLst xmlns:a="http://schemas.openxmlformats.org/drawingml/2006/main">
              <a:ext uri="{FF2B5EF4-FFF2-40B4-BE49-F238E27FC236}">
                <a16:creationId xmlns:a16="http://schemas.microsoft.com/office/drawing/2014/main" id="{554E2322-6533-4414-BFA2-E919B62641BB}"/>
              </a:ext>
            </a:extLst>
          </p:cNvPr>
          <p:cNvSpPr>
            <a:spLocks xmlns:a="http://schemas.openxmlformats.org/drawingml/2006/main" noGrp="1"/>
          </p:cNvSpPr>
          <p:nvPr/>
        </p:nvSpPr>
        <p:spPr>
          <a:xfrm xmlns:a="http://schemas.openxmlformats.org/drawingml/2006/main">
            <a:off x="5410200" y="1552575"/>
            <a:ext cx="6096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46875"/>
                </a:solidFill>
                <a:latin typeface="Helvetica Neue"/>
                <a:ea typeface="Helvetica Neue"/>
                <a:cs typeface="Helvetica Neue"/>
              </a:defRPr>
            </a:pPr>
            <a:r>
              <a:rPr sz="3225" b="1">
                <a:solidFill>
                  <a:srgbClr val="146875"/>
                </a:solidFill>
                <a:latin typeface="Helvetica Neue"/>
                <a:ea typeface="Helvetica Neue"/>
                <a:cs typeface="Helvetica Neue"/>
              </a:rPr>
              <a:t>18 / 19 synthetic facts</a:t>
            </a:r>
          </a:p>
        </p:txBody>
      </p:sp>
      <p:sp>
        <p:nvSpPr>
          <p:cNvPr id="8" name="">
            <a:extLst xmlns:a="http://schemas.openxmlformats.org/drawingml/2006/main">
              <a:ext uri="{FF2B5EF4-FFF2-40B4-BE49-F238E27FC236}">
                <a16:creationId xmlns:a16="http://schemas.microsoft.com/office/drawing/2014/main" id="{5A26529C-D826-47FD-848A-651BDA45659A}"/>
              </a:ext>
            </a:extLst>
          </p:cNvPr>
          <p:cNvSpPr>
            <a:spLocks xmlns:a="http://schemas.openxmlformats.org/drawingml/2006/main" noGrp="1"/>
          </p:cNvSpPr>
          <p:nvPr/>
        </p:nvSpPr>
        <p:spPr>
          <a:xfrm xmlns:a="http://schemas.openxmlformats.org/drawingml/2006/main">
            <a:off x="5410200" y="2457450"/>
            <a:ext cx="609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Strict screen: Fail</a:t>
            </a:r>
          </a:p>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Reference equivalence: Accepted</a:t>
            </a:r>
          </a:p>
        </p:txBody>
      </p:sp>
      <p:sp>
        <p:nvSpPr>
          <p:cNvPr id="9" name="">
            <a:extLst xmlns:a="http://schemas.openxmlformats.org/drawingml/2006/main">
              <a:ext uri="{FF2B5EF4-FFF2-40B4-BE49-F238E27FC236}">
                <a16:creationId xmlns:a16="http://schemas.microsoft.com/office/drawing/2014/main" id="{432F804B-BAEB-4F07-A4A8-C80B256049F2}"/>
              </a:ext>
            </a:extLst>
          </p:cNvPr>
          <p:cNvSpPr>
            <a:spLocks xmlns:a="http://schemas.openxmlformats.org/drawingml/2006/main" noGrp="1"/>
          </p:cNvSpPr>
          <p:nvPr/>
        </p:nvSpPr>
        <p:spPr>
          <a:xfrm xmlns:a="http://schemas.openxmlformats.org/drawingml/2006/main">
            <a:off x="5410200" y="3533775"/>
            <a:ext cx="609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183542"/>
                </a:solidFill>
                <a:latin typeface="Helvetica Neue"/>
                <a:ea typeface="Helvetica Neue"/>
                <a:cs typeface="Helvetica Neue"/>
              </a:defRPr>
            </a:pPr>
            <a:r>
              <a:rPr sz="2325" b="1">
                <a:solidFill>
                  <a:srgbClr val="183542"/>
                </a:solidFill>
                <a:latin typeface="Helvetica Neue"/>
                <a:ea typeface="Helvetica Neue"/>
                <a:cs typeface="Helvetica Neue"/>
              </a:rPr>
              <a:t>Both paths describe the flat circles as spheres.</a:t>
            </a:r>
          </a:p>
        </p:txBody>
      </p:sp>
      <p:sp>
        <p:nvSpPr>
          <p:cNvPr id="10" name="">
            <a:extLst xmlns:a="http://schemas.openxmlformats.org/drawingml/2006/main">
              <a:ext uri="{FF2B5EF4-FFF2-40B4-BE49-F238E27FC236}">
                <a16:creationId xmlns:a16="http://schemas.microsoft.com/office/drawing/2014/main" id="{7DF82EB8-F40E-41B2-8497-236E2A300588}"/>
              </a:ext>
            </a:extLst>
          </p:cNvPr>
          <p:cNvSpPr>
            <a:spLocks xmlns:a="http://schemas.openxmlformats.org/drawingml/2006/main" noGrp="1"/>
          </p:cNvSpPr>
          <p:nvPr/>
        </p:nvSpPr>
        <p:spPr>
          <a:xfrm xmlns:a="http://schemas.openxmlformats.org/drawingml/2006/main">
            <a:off x="5410200" y="4476750"/>
            <a:ext cx="6096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566773"/>
                </a:solidFill>
                <a:latin typeface="Helvetica Neue"/>
                <a:ea typeface="Helvetica Neue"/>
                <a:cs typeface="Helvetica Neue"/>
              </a:defRPr>
            </a:pPr>
            <a:r>
              <a:rPr sz="1950" b="0">
                <a:solidFill>
                  <a:srgbClr val="566773"/>
                </a:solidFill>
                <a:latin typeface="Helvetica Neue"/>
                <a:ea typeface="Helvetica Neue"/>
                <a:cs typeface="Helvetica Neue"/>
              </a:rPr>
              <a:t>Official answer identical: Yes</a:t>
            </a:r>
          </a:p>
          <a:p xmlns:a="http://schemas.openxmlformats.org/drawingml/2006/main">
            <a:pPr>
              <a:buNone/>
              <a:defRPr sz="1950" b="0">
                <a:solidFill>
                  <a:srgbClr val="566773"/>
                </a:solidFill>
                <a:latin typeface="Helvetica Neue"/>
                <a:ea typeface="Helvetica Neue"/>
                <a:cs typeface="Helvetica Neue"/>
              </a:defRPr>
            </a:pPr>
            <a:r>
              <a:rPr sz="1950" b="0">
                <a:solidFill>
                  <a:srgbClr val="566773"/>
                </a:solidFill>
                <a:latin typeface="Helvetica Neue"/>
                <a:ea typeface="Helvetica Neue"/>
                <a:cs typeface="Helvetica Neue"/>
              </a:rPr>
              <a:t>All previously correct facts must remain correct. No additional false claim is permitted.</a:t>
            </a:r>
          </a:p>
        </p:txBody>
      </p:sp>
    </p:spTree>
    <p:extLst>
      <p:ext uri="{BB962C8B-B14F-4D97-AF65-F5344CB8AC3E}">
        <p14:creationId xmlns:p14="http://schemas.microsoft.com/office/powerpoint/2010/main" val="19163599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669EB01-3938-4585-A8ED-34D0020D8444}"/>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Measurement workload and stopping rule</a:t>
            </a:r>
          </a:p>
        </p:txBody>
      </p:sp>
      <p:sp>
        <p:nvSpPr>
          <p:cNvPr id="2" name="">
            <a:extLst xmlns:a="http://schemas.openxmlformats.org/drawingml/2006/main">
              <a:ext uri="{FF2B5EF4-FFF2-40B4-BE49-F238E27FC236}">
                <a16:creationId xmlns:a16="http://schemas.microsoft.com/office/drawing/2014/main" id="{EDED4253-B7CC-4022-9516-4D3023249619}"/>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41CE1C2A-3A77-462E-808E-719849143C86}"/>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DAF88498-9E02-47EC-8CCA-88116D532C2A}"/>
              </a:ext>
            </a:extLst>
          </p:cNvPr>
          <p:cNvSpPr>
            <a:spLocks xmlns:a="http://schemas.openxmlformats.org/drawingml/2006/main" noGrp="1"/>
          </p:cNvSpPr>
          <p:nvPr/>
        </p:nvSpPr>
        <p:spPr>
          <a:xfrm xmlns:a="http://schemas.openxmlformats.org/drawingml/2006/main">
            <a:off x="685800" y="1619250"/>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Fixed workload</a:t>
            </a:r>
          </a:p>
        </p:txBody>
      </p:sp>
      <p:sp>
        <p:nvSpPr>
          <p:cNvPr id="5" name="">
            <a:extLst xmlns:a="http://schemas.openxmlformats.org/drawingml/2006/main">
              <a:ext uri="{FF2B5EF4-FFF2-40B4-BE49-F238E27FC236}">
                <a16:creationId xmlns:a16="http://schemas.microsoft.com/office/drawing/2014/main" id="{0BC87CA6-9099-4FEB-8C32-A4489B71C357}"/>
              </a:ext>
            </a:extLst>
          </p:cNvPr>
          <p:cNvSpPr>
            <a:spLocks xmlns:a="http://schemas.openxmlformats.org/drawingml/2006/main" noGrp="1"/>
          </p:cNvSpPr>
          <p:nvPr/>
        </p:nvSpPr>
        <p:spPr>
          <a:xfrm xmlns:a="http://schemas.openxmlformats.org/drawingml/2006/main">
            <a:off x="685800" y="2114550"/>
            <a:ext cx="50958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512 × 512 JPEG</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Output ceiling: 64 tokens</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Temperature 0, top_p 1</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5 warmups, 30 measured requests</a:t>
            </a:r>
          </a:p>
        </p:txBody>
      </p:sp>
      <p:sp>
        <p:nvSpPr>
          <p:cNvPr id="6" name="">
            <a:extLst xmlns:a="http://schemas.openxmlformats.org/drawingml/2006/main">
              <a:ext uri="{FF2B5EF4-FFF2-40B4-BE49-F238E27FC236}">
                <a16:creationId xmlns:a16="http://schemas.microsoft.com/office/drawing/2014/main" id="{006F8518-4F0B-4045-AE66-B9042F45EEEB}"/>
              </a:ext>
            </a:extLst>
          </p:cNvPr>
          <p:cNvSpPr>
            <a:spLocks xmlns:a="http://schemas.openxmlformats.org/drawingml/2006/main" noGrp="1"/>
          </p:cNvSpPr>
          <p:nvPr/>
        </p:nvSpPr>
        <p:spPr>
          <a:xfrm xmlns:a="http://schemas.openxmlformats.org/drawingml/2006/main">
            <a:off x="6486525" y="1619250"/>
            <a:ext cx="5019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Baseline runtime profile</a:t>
            </a:r>
          </a:p>
        </p:txBody>
      </p:sp>
      <p:sp>
        <p:nvSpPr>
          <p:cNvPr id="7" name="">
            <a:extLst xmlns:a="http://schemas.openxmlformats.org/drawingml/2006/main">
              <a:ext uri="{FF2B5EF4-FFF2-40B4-BE49-F238E27FC236}">
                <a16:creationId xmlns:a16="http://schemas.microsoft.com/office/drawing/2014/main" id="{2493C68E-00B7-4043-85DF-A607C831F3CA}"/>
              </a:ext>
            </a:extLst>
          </p:cNvPr>
          <p:cNvSpPr>
            <a:spLocks xmlns:a="http://schemas.openxmlformats.org/drawingml/2006/main" noGrp="1"/>
          </p:cNvSpPr>
          <p:nvPr/>
        </p:nvSpPr>
        <p:spPr>
          <a:xfrm xmlns:a="http://schemas.openxmlformats.org/drawingml/2006/main">
            <a:off x="6486525" y="2114550"/>
            <a:ext cx="50196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Input 1024, KV 2048, batch 1</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Encoder cache: 0 bytes</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Text context reuse: Off</a:t>
            </a:r>
          </a:p>
        </p:txBody>
      </p:sp>
      <p:sp>
        <p:nvSpPr>
          <p:cNvPr id="8" name="">
            <a:extLst xmlns:a="http://schemas.openxmlformats.org/drawingml/2006/main">
              <a:ext uri="{FF2B5EF4-FFF2-40B4-BE49-F238E27FC236}">
                <a16:creationId xmlns:a16="http://schemas.microsoft.com/office/drawing/2014/main" id="{833C219B-3453-4713-B94F-CC9ED1E6E911}"/>
              </a:ext>
            </a:extLst>
          </p:cNvPr>
          <p:cNvSpPr>
            <a:spLocks xmlns:a="http://schemas.openxmlformats.org/drawingml/2006/main" noGrp="1"/>
          </p:cNvSpPr>
          <p:nvPr/>
        </p:nvSpPr>
        <p:spPr>
          <a:xfrm xmlns:a="http://schemas.openxmlformats.org/drawingml/2006/main">
            <a:off x="685800" y="41719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146875"/>
                </a:solidFill>
                <a:latin typeface="Helvetica Neue"/>
                <a:ea typeface="Helvetica Neue"/>
                <a:cs typeface="Helvetica Neue"/>
              </a:defRPr>
            </a:pPr>
            <a:r>
              <a:rPr sz="2325" b="1">
                <a:solidFill>
                  <a:srgbClr val="146875"/>
                </a:solidFill>
                <a:latin typeface="Helvetica Neue"/>
                <a:ea typeface="Helvetica Neue"/>
                <a:cs typeface="Helvetica Neue"/>
              </a:rPr>
              <a:t>At most 5 candidates. Stop after 3 consecutive non-improvements.</a:t>
            </a:r>
          </a:p>
        </p:txBody>
      </p:sp>
      <p:sp>
        <p:nvSpPr>
          <p:cNvPr id="9" name="">
            <a:extLst xmlns:a="http://schemas.openxmlformats.org/drawingml/2006/main">
              <a:ext uri="{FF2B5EF4-FFF2-40B4-BE49-F238E27FC236}">
                <a16:creationId xmlns:a16="http://schemas.microsoft.com/office/drawing/2014/main" id="{F3A36CD6-75C9-4C12-83E9-4E44269342A2}"/>
              </a:ext>
            </a:extLst>
          </p:cNvPr>
          <p:cNvSpPr>
            <a:spLocks xmlns:a="http://schemas.openxmlformats.org/drawingml/2006/main" noGrp="1"/>
          </p:cNvSpPr>
          <p:nvPr/>
        </p:nvSpPr>
        <p:spPr>
          <a:xfrm xmlns:a="http://schemas.openxmlformats.org/drawingml/2006/main">
            <a:off x="685800" y="5038725"/>
            <a:ext cx="108204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Require at least 5% lower p50 latency or peak memory, with no greater than 5% regression in the counterpart or p95 latency. Reject errors, OOM and swapping.</a:t>
            </a:r>
          </a:p>
        </p:txBody>
      </p:sp>
    </p:spTree>
    <p:extLst>
      <p:ext uri="{BB962C8B-B14F-4D97-AF65-F5344CB8AC3E}">
        <p14:creationId xmlns:p14="http://schemas.microsoft.com/office/powerpoint/2010/main" val="16533901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3BFFB84-74AB-4A22-AE17-794C64699C91}"/>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Measured FP16 baseline</a:t>
            </a:r>
          </a:p>
        </p:txBody>
      </p:sp>
      <p:sp>
        <p:nvSpPr>
          <p:cNvPr id="2" name="">
            <a:extLst xmlns:a="http://schemas.openxmlformats.org/drawingml/2006/main">
              <a:ext uri="{FF2B5EF4-FFF2-40B4-BE49-F238E27FC236}">
                <a16:creationId xmlns:a16="http://schemas.microsoft.com/office/drawing/2014/main" id="{F97C772F-BDC7-4180-8340-C204005AAE3C}"/>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2123010F-518D-4F37-A27D-8C5D38703F7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8</a:t>
            </a:r>
          </a:p>
        </p:txBody>
      </p:sp>
      <p:graphicFrame>
        <p:nvGraphicFramePr>
          <p:cNvPr id="14" name=""/>
          <p:cNvGraphicFramePr/>
          <p:nvPr/>
        </p:nvGraphicFramePr>
        <p:xfrm>
          <a:off xmlns:a="http://schemas.openxmlformats.org/drawingml/2006/main" x="685800" y="1571625"/>
          <a:ext xmlns:a="http://schemas.openxmlformats.org/drawingml/2006/main" cx="7867650" cy="2171700"/>
        </p:xfrm>
        <a:graphic xmlns:a="http://schemas.openxmlformats.org/drawingml/2006/main">
          <a:graphicData uri="http://schemas.openxmlformats.org/drawingml/2006/table">
            <a:tbl>
              <a:tblPr firstRow="1" bandRow="0"/>
              <a:tblGrid>
                <a:gridCol w="3429000"/>
                <a:gridCol w="2219325"/>
                <a:gridCol w="2219325"/>
              </a:tblGrid>
              <a:tr h="723900">
                <a:tc>
                  <a:txBody>
                    <a:bodyPr/>
                    <a:lstStyle/>
                    <a:p>
                      <a:r>
                        <a:rPr sz="2025" b="1">
                          <a:solidFill>
                            <a:srgbClr val="183542"/>
                          </a:solidFill>
                          <a:latin typeface="Helvetica Neue"/>
                          <a:ea typeface="Helvetica Neue"/>
                          <a:cs typeface="Helvetica Neue"/>
                        </a:rPr>
                        <a:t>Latency</a:t>
                      </a:r>
                    </a:p>
                  </a:txBody>
                  <a:tcPr marL="142875" marR="142875" marT="85725" marB="85725" anchor="ctr">
                    <a:solidFill>
                      <a:srgbClr val="E8F0F1"/>
                    </a:solidFill>
                  </a:tcPr>
                </a:tc>
                <a:tc>
                  <a:txBody>
                    <a:bodyPr/>
                    <a:lstStyle/>
                    <a:p>
                      <a:r>
                        <a:rPr sz="2025" b="1">
                          <a:solidFill>
                            <a:srgbClr val="183542"/>
                          </a:solidFill>
                          <a:latin typeface="Helvetica Neue"/>
                          <a:ea typeface="Helvetica Neue"/>
                          <a:cs typeface="Helvetica Neue"/>
                        </a:rPr>
                        <a:t>p50</a:t>
                      </a:r>
                    </a:p>
                  </a:txBody>
                  <a:tcPr marL="142875" marR="142875" marT="85725" marB="85725" anchor="ctr">
                    <a:solidFill>
                      <a:srgbClr val="E8F0F1"/>
                    </a:solidFill>
                  </a:tcPr>
                </a:tc>
                <a:tc>
                  <a:txBody>
                    <a:bodyPr/>
                    <a:lstStyle/>
                    <a:p>
                      <a:r>
                        <a:rPr sz="2025" b="1">
                          <a:solidFill>
                            <a:srgbClr val="183542"/>
                          </a:solidFill>
                          <a:latin typeface="Helvetica Neue"/>
                          <a:ea typeface="Helvetica Neue"/>
                          <a:cs typeface="Helvetica Neue"/>
                        </a:rPr>
                        <a:t>p95</a:t>
                      </a:r>
                    </a:p>
                  </a:txBody>
                  <a:tcPr marL="142875" marR="142875" marT="85725" marB="85725" anchor="ctr">
                    <a:solidFill>
                      <a:srgbClr val="E8F0F1"/>
                    </a:solidFill>
                  </a:tcPr>
                </a:tc>
              </a:tr>
              <a:tr h="723900">
                <a:tc>
                  <a:txBody>
                    <a:bodyPr/>
                    <a:lstStyle/>
                    <a:p>
                      <a:r>
                        <a:rPr sz="2025">
                          <a:solidFill>
                            <a:srgbClr val="183542"/>
                          </a:solidFill>
                          <a:latin typeface="Helvetica Neue"/>
                          <a:ea typeface="Helvetica Neue"/>
                          <a:cs typeface="Helvetica Neue"/>
                        </a:rPr>
                        <a:t>First visible text</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266.3 ms</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271.7 ms</a:t>
                      </a:r>
                    </a:p>
                  </a:txBody>
                  <a:tcPr marL="142875" marR="142875" marT="85725" marB="85725" anchor="ctr">
                    <a:solidFill>
                      <a:srgbClr val="FFFFFF"/>
                    </a:solidFill>
                  </a:tcPr>
                </a:tc>
              </a:tr>
              <a:tr h="723900">
                <a:tc>
                  <a:txBody>
                    <a:bodyPr/>
                    <a:lstStyle/>
                    <a:p>
                      <a:r>
                        <a:rPr sz="2025">
                          <a:solidFill>
                            <a:srgbClr val="183542"/>
                          </a:solidFill>
                          <a:latin typeface="Helvetica Neue"/>
                          <a:ea typeface="Helvetica Neue"/>
                          <a:cs typeface="Helvetica Neue"/>
                        </a:rPr>
                        <a:t>Complete answer</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1830.4 ms</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1834.9 ms</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9340BF7-F81E-4203-913B-D4EE847272BB}"/>
              </a:ext>
            </a:extLst>
          </p:cNvPr>
          <p:cNvSpPr>
            <a:spLocks xmlns:a="http://schemas.openxmlformats.org/drawingml/2006/main" noGrp="1"/>
          </p:cNvSpPr>
          <p:nvPr/>
        </p:nvSpPr>
        <p:spPr>
          <a:xfrm xmlns:a="http://schemas.openxmlformats.org/drawingml/2006/main">
            <a:off x="9039225" y="1666875"/>
            <a:ext cx="2466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75" b="1">
                <a:solidFill>
                  <a:srgbClr val="146875"/>
                </a:solidFill>
                <a:latin typeface="Helvetica Neue"/>
                <a:ea typeface="Helvetica Neue"/>
                <a:cs typeface="Helvetica Neue"/>
              </a:defRPr>
            </a:pPr>
            <a:r>
              <a:rPr sz="2775" b="1">
                <a:solidFill>
                  <a:srgbClr val="146875"/>
                </a:solidFill>
                <a:latin typeface="Helvetica Neue"/>
                <a:ea typeface="Helvetica Neue"/>
                <a:cs typeface="Helvetica Neue"/>
              </a:rPr>
              <a:t>20.21 tokens/s</a:t>
            </a:r>
          </a:p>
        </p:txBody>
      </p:sp>
      <p:sp>
        <p:nvSpPr>
          <p:cNvPr id="6" name="">
            <a:extLst xmlns:a="http://schemas.openxmlformats.org/drawingml/2006/main">
              <a:ext uri="{FF2B5EF4-FFF2-40B4-BE49-F238E27FC236}">
                <a16:creationId xmlns:a16="http://schemas.microsoft.com/office/drawing/2014/main" id="{A25EEDA1-1FAF-4B69-967A-B0BCF17CCC7B}"/>
              </a:ext>
            </a:extLst>
          </p:cNvPr>
          <p:cNvSpPr>
            <a:spLocks xmlns:a="http://schemas.openxmlformats.org/drawingml/2006/main" noGrp="1"/>
          </p:cNvSpPr>
          <p:nvPr/>
        </p:nvSpPr>
        <p:spPr>
          <a:xfrm xmlns:a="http://schemas.openxmlformats.org/drawingml/2006/main">
            <a:off x="9039225" y="2495550"/>
            <a:ext cx="24669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End-to-end throughput</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37 completion tokens</a:t>
            </a:r>
          </a:p>
        </p:txBody>
      </p:sp>
      <p:sp>
        <p:nvSpPr>
          <p:cNvPr id="7" name="">
            <a:extLst xmlns:a="http://schemas.openxmlformats.org/drawingml/2006/main">
              <a:ext uri="{FF2B5EF4-FFF2-40B4-BE49-F238E27FC236}">
                <a16:creationId xmlns:a16="http://schemas.microsoft.com/office/drawing/2014/main" id="{9142E6A6-EF56-4C73-93C1-85399BBC8429}"/>
              </a:ext>
            </a:extLst>
          </p:cNvPr>
          <p:cNvSpPr>
            <a:spLocks xmlns:a="http://schemas.openxmlformats.org/drawingml/2006/main" noGrp="1"/>
          </p:cNvSpPr>
          <p:nvPr/>
        </p:nvSpPr>
        <p:spPr>
          <a:xfrm xmlns:a="http://schemas.openxmlformats.org/drawingml/2006/main">
            <a:off x="685800" y="428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0">
                <a:solidFill>
                  <a:srgbClr val="146875"/>
                </a:solidFill>
                <a:latin typeface="Helvetica Neue"/>
                <a:ea typeface="Helvetica Neue"/>
                <a:cs typeface="Helvetica Neue"/>
              </a:defRPr>
            </a:pPr>
            <a:r>
              <a:rPr sz="2325" b="0">
                <a:solidFill>
                  <a:srgbClr val="146875"/>
                </a:solidFill>
                <a:latin typeface="Helvetica Neue"/>
                <a:ea typeface="Helvetica Neue"/>
                <a:cs typeface="Helvetica Neue"/>
              </a:rPr>
              <a:t>Shared RAM unavailable peak: 6.38 GiB</a:t>
            </a:r>
          </a:p>
          <a:p xmlns:a="http://schemas.openxmlformats.org/drawingml/2006/main">
            <a:pPr>
              <a:buNone/>
              <a:defRPr sz="2325" b="0">
                <a:solidFill>
                  <a:srgbClr val="146875"/>
                </a:solidFill>
                <a:latin typeface="Helvetica Neue"/>
                <a:ea typeface="Helvetica Neue"/>
                <a:cs typeface="Helvetica Neue"/>
              </a:defRPr>
            </a:pPr>
            <a:r>
              <a:rPr sz="2325" b="0">
                <a:solidFill>
                  <a:srgbClr val="146875"/>
                </a:solidFill>
                <a:latin typeface="Helvetica Neue"/>
                <a:ea typeface="Helvetica Neue"/>
                <a:cs typeface="Helvetica Neue"/>
              </a:rPr>
              <a:t>Process RSS peak: 5.90 GiB</a:t>
            </a:r>
          </a:p>
        </p:txBody>
      </p:sp>
      <p:sp>
        <p:nvSpPr>
          <p:cNvPr id="8" name="">
            <a:extLst xmlns:a="http://schemas.openxmlformats.org/drawingml/2006/main">
              <a:ext uri="{FF2B5EF4-FFF2-40B4-BE49-F238E27FC236}">
                <a16:creationId xmlns:a16="http://schemas.microsoft.com/office/drawing/2014/main" id="{8BFF5846-5CD9-414E-B355-83216E15B1DA}"/>
              </a:ext>
            </a:extLst>
          </p:cNvPr>
          <p:cNvSpPr>
            <a:spLocks xmlns:a="http://schemas.openxmlformats.org/drawingml/2006/main" noGrp="1"/>
          </p:cNvSpPr>
          <p:nvPr/>
        </p:nvSpPr>
        <p:spPr>
          <a:xfrm xmlns:a="http://schemas.openxmlformats.org/drawingml/2006/main">
            <a:off x="685800" y="564832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566773"/>
                </a:solidFill>
                <a:latin typeface="Helvetica Neue"/>
                <a:ea typeface="Helvetica Neue"/>
                <a:cs typeface="Helvetica Neue"/>
              </a:defRPr>
            </a:pPr>
            <a:r>
              <a:rPr sz="2025" b="0">
                <a:solidFill>
                  <a:srgbClr val="566773"/>
                </a:solidFill>
                <a:latin typeface="Helvetica Neue"/>
                <a:ea typeface="Helvetica Neue"/>
                <a:cs typeface="Helvetica Neue"/>
              </a:rPr>
              <a:t>Errors: 0    OOM: No    Swap activity: No</a:t>
            </a:r>
          </a:p>
        </p:txBody>
      </p:sp>
    </p:spTree>
    <p:extLst>
      <p:ext uri="{BB962C8B-B14F-4D97-AF65-F5344CB8AC3E}">
        <p14:creationId xmlns:p14="http://schemas.microsoft.com/office/powerpoint/2010/main" val="4293575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50F2599-5256-4979-A07C-220028787E39}"/>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Original CPU INT4 conversion</a:t>
            </a:r>
          </a:p>
        </p:txBody>
      </p:sp>
      <p:sp>
        <p:nvSpPr>
          <p:cNvPr id="2" name="">
            <a:extLst xmlns:a="http://schemas.openxmlformats.org/drawingml/2006/main">
              <a:ext uri="{FF2B5EF4-FFF2-40B4-BE49-F238E27FC236}">
                <a16:creationId xmlns:a16="http://schemas.microsoft.com/office/drawing/2014/main" id="{D149536D-7A99-4677-ABF5-1940C4F7AC8E}"/>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3489B445-9BC9-43CD-A0D4-074E14A5155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9</a:t>
            </a:r>
          </a:p>
        </p:txBody>
      </p:sp>
      <p:sp>
        <p:nvSpPr>
          <p:cNvPr id="4" name="">
            <a:extLst xmlns:a="http://schemas.openxmlformats.org/drawingml/2006/main">
              <a:ext uri="{FF2B5EF4-FFF2-40B4-BE49-F238E27FC236}">
                <a16:creationId xmlns:a16="http://schemas.microsoft.com/office/drawing/2014/main" id="{4DCCC6CB-6293-415B-B1CF-0CE3A439ACD7}"/>
              </a:ext>
            </a:extLst>
          </p:cNvPr>
          <p:cNvSpPr>
            <a:spLocks xmlns:a="http://schemas.openxmlformats.org/drawingml/2006/main" noGrp="1"/>
          </p:cNvSpPr>
          <p:nvPr/>
        </p:nvSpPr>
        <p:spPr>
          <a:xfrm xmlns:a="http://schemas.openxmlformats.org/drawingml/2006/main">
            <a:off x="685800" y="1533525"/>
            <a:ext cx="4905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350" b="1">
                <a:solidFill>
                  <a:srgbClr val="146875"/>
                </a:solidFill>
                <a:latin typeface="Helvetica Neue"/>
                <a:ea typeface="Helvetica Neue"/>
                <a:cs typeface="Helvetica Neue"/>
              </a:defRPr>
            </a:pPr>
            <a:r>
              <a:rPr sz="4350" b="1">
                <a:solidFill>
                  <a:srgbClr val="146875"/>
                </a:solidFill>
                <a:latin typeface="Helvetica Neue"/>
                <a:ea typeface="Helvetica Neue"/>
                <a:cs typeface="Helvetica Neue"/>
              </a:rPr>
              <a:t>2.22 GiB</a:t>
            </a:r>
          </a:p>
        </p:txBody>
      </p:sp>
      <p:sp>
        <p:nvSpPr>
          <p:cNvPr id="5" name="">
            <a:extLst xmlns:a="http://schemas.openxmlformats.org/drawingml/2006/main">
              <a:ext uri="{FF2B5EF4-FFF2-40B4-BE49-F238E27FC236}">
                <a16:creationId xmlns:a16="http://schemas.microsoft.com/office/drawing/2014/main" id="{584B9B8C-A4AE-4D5F-8692-777A1CBC09F8}"/>
              </a:ext>
            </a:extLst>
          </p:cNvPr>
          <p:cNvSpPr>
            <a:spLocks xmlns:a="http://schemas.openxmlformats.org/drawingml/2006/main" noGrp="1"/>
          </p:cNvSpPr>
          <p:nvPr/>
        </p:nvSpPr>
        <p:spPr>
          <a:xfrm xmlns:a="http://schemas.openxmlformats.org/drawingml/2006/main">
            <a:off x="685800" y="2476500"/>
            <a:ext cx="4905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566773"/>
                </a:solidFill>
                <a:latin typeface="Helvetica Neue"/>
                <a:ea typeface="Helvetica Neue"/>
                <a:cs typeface="Helvetica Neue"/>
              </a:defRPr>
            </a:pPr>
            <a:r>
              <a:rPr sz="2175" b="0">
                <a:solidFill>
                  <a:srgbClr val="566773"/>
                </a:solidFill>
                <a:latin typeface="Helvetica Neue"/>
                <a:ea typeface="Helvetica Neue"/>
                <a:cs typeface="Helvetica Neue"/>
              </a:rPr>
              <a:t>Checkpoint file on disk</a:t>
            </a:r>
          </a:p>
        </p:txBody>
      </p:sp>
      <p:sp>
        <p:nvSpPr>
          <p:cNvPr id="6" name="">
            <a:extLst xmlns:a="http://schemas.openxmlformats.org/drawingml/2006/main">
              <a:ext uri="{FF2B5EF4-FFF2-40B4-BE49-F238E27FC236}">
                <a16:creationId xmlns:a16="http://schemas.microsoft.com/office/drawing/2014/main" id="{44E339FA-5CDE-496C-8FF0-F54A5746B5F9}"/>
              </a:ext>
            </a:extLst>
          </p:cNvPr>
          <p:cNvSpPr>
            <a:spLocks xmlns:a="http://schemas.openxmlformats.org/drawingml/2006/main" noGrp="1"/>
          </p:cNvSpPr>
          <p:nvPr/>
        </p:nvSpPr>
        <p:spPr>
          <a:xfrm xmlns:a="http://schemas.openxmlformats.org/drawingml/2006/main">
            <a:off x="685800" y="3381375"/>
            <a:ext cx="49530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169 language linear modules</a:t>
            </a:r>
          </a:p>
          <a:p xmlns:a="http://schemas.openxmlformats.org/drawingml/2006/main">
            <a:pPr>
              <a:buNone/>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Group size 128</a:t>
            </a:r>
          </a:p>
          <a:p xmlns:a="http://schemas.openxmlformats.org/drawingml/2006/main">
            <a:pPr>
              <a:buNone/>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Native INT4 V1 kernels</a:t>
            </a:r>
          </a:p>
        </p:txBody>
      </p:sp>
      <p:sp>
        <p:nvSpPr>
          <p:cNvPr id="7" name="">
            <a:extLst xmlns:a="http://schemas.openxmlformats.org/drawingml/2006/main">
              <a:ext uri="{FF2B5EF4-FFF2-40B4-BE49-F238E27FC236}">
                <a16:creationId xmlns:a16="http://schemas.microsoft.com/office/drawing/2014/main" id="{C1FF6765-6287-4171-B7E4-1EA22715ECBC}"/>
              </a:ext>
            </a:extLst>
          </p:cNvPr>
          <p:cNvSpPr>
            <a:spLocks xmlns:a="http://schemas.openxmlformats.org/drawingml/2006/main" noGrp="1"/>
          </p:cNvSpPr>
          <p:nvPr/>
        </p:nvSpPr>
        <p:spPr>
          <a:xfrm xmlns:a="http://schemas.openxmlformats.org/drawingml/2006/main">
            <a:off x="6467475" y="1619250"/>
            <a:ext cx="5038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First trial: all language linears</a:t>
            </a:r>
          </a:p>
        </p:txBody>
      </p:sp>
      <p:sp>
        <p:nvSpPr>
          <p:cNvPr id="8" name="">
            <a:extLst xmlns:a="http://schemas.openxmlformats.org/drawingml/2006/main">
              <a:ext uri="{FF2B5EF4-FFF2-40B4-BE49-F238E27FC236}">
                <a16:creationId xmlns:a16="http://schemas.microsoft.com/office/drawing/2014/main" id="{14FAC391-12B1-49B7-8B46-33A7F3C21740}"/>
              </a:ext>
            </a:extLst>
          </p:cNvPr>
          <p:cNvSpPr>
            <a:spLocks xmlns:a="http://schemas.openxmlformats.org/drawingml/2006/main" noGrp="1"/>
          </p:cNvSpPr>
          <p:nvPr/>
        </p:nvSpPr>
        <p:spPr>
          <a:xfrm xmlns:a="http://schemas.openxmlformats.org/drawingml/2006/main">
            <a:off x="6467475" y="2114550"/>
            <a:ext cx="503872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Uncalibrated RTN quantizes language linear weights and the LM head. Vision, projector and embedding tensors stay FP16.</a:t>
            </a:r>
          </a:p>
        </p:txBody>
      </p:sp>
      <p:sp>
        <p:nvSpPr>
          <p:cNvPr id="9" name="">
            <a:extLst xmlns:a="http://schemas.openxmlformats.org/drawingml/2006/main">
              <a:ext uri="{FF2B5EF4-FFF2-40B4-BE49-F238E27FC236}">
                <a16:creationId xmlns:a16="http://schemas.microsoft.com/office/drawing/2014/main" id="{913E15C6-B31B-4F00-B31F-C5B0A7EF91B6}"/>
              </a:ext>
            </a:extLst>
          </p:cNvPr>
          <p:cNvSpPr>
            <a:spLocks xmlns:a="http://schemas.openxmlformats.org/drawingml/2006/main" noGrp="1"/>
          </p:cNvSpPr>
          <p:nvPr/>
        </p:nvSpPr>
        <p:spPr>
          <a:xfrm xmlns:a="http://schemas.openxmlformats.org/drawingml/2006/main">
            <a:off x="6467475" y="3981450"/>
            <a:ext cx="5038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GPTQ-compatible storage</a:t>
            </a:r>
          </a:p>
        </p:txBody>
      </p:sp>
      <p:sp>
        <p:nvSpPr>
          <p:cNvPr id="10" name="">
            <a:extLst xmlns:a="http://schemas.openxmlformats.org/drawingml/2006/main">
              <a:ext uri="{FF2B5EF4-FFF2-40B4-BE49-F238E27FC236}">
                <a16:creationId xmlns:a16="http://schemas.microsoft.com/office/drawing/2014/main" id="{D771BD1E-8CA4-4CF5-BFA0-C206F06E8B0E}"/>
              </a:ext>
            </a:extLst>
          </p:cNvPr>
          <p:cNvSpPr>
            <a:spLocks xmlns:a="http://schemas.openxmlformats.org/drawingml/2006/main" noGrp="1"/>
          </p:cNvSpPr>
          <p:nvPr/>
        </p:nvSpPr>
        <p:spPr>
          <a:xfrm xmlns:a="http://schemas.openxmlformats.org/drawingml/2006/main">
            <a:off x="6467475" y="4476750"/>
            <a:ext cx="503872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The storage layout lets the pinned builder load RTN values. It makes no claim of GPTQ or AWQ optimization.</a:t>
            </a:r>
          </a:p>
        </p:txBody>
      </p:sp>
      <p:sp>
        <p:nvSpPr>
          <p:cNvPr id="11" name="">
            <a:extLst xmlns:a="http://schemas.openxmlformats.org/drawingml/2006/main">
              <a:ext uri="{FF2B5EF4-FFF2-40B4-BE49-F238E27FC236}">
                <a16:creationId xmlns:a16="http://schemas.microsoft.com/office/drawing/2014/main" id="{5B84323C-7408-4AB7-8B42-BED87E8C520C}"/>
              </a:ext>
            </a:extLst>
          </p:cNvPr>
          <p:cNvSpPr>
            <a:spLocks xmlns:a="http://schemas.openxmlformats.org/drawingml/2006/main" noGrp="1"/>
          </p:cNvSpPr>
          <p:nvPr/>
        </p:nvSpPr>
        <p:spPr>
          <a:xfrm xmlns:a="http://schemas.openxmlformats.org/drawingml/2006/main">
            <a:off x="685800" y="59531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Checkpoint size is distinct from measured resident RAM, allocation and latency.</a:t>
            </a:r>
          </a:p>
        </p:txBody>
      </p:sp>
    </p:spTree>
    <p:extLst>
      <p:ext uri="{BB962C8B-B14F-4D97-AF65-F5344CB8AC3E}">
        <p14:creationId xmlns:p14="http://schemas.microsoft.com/office/powerpoint/2010/main" val="8691068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7F621C-6F7D-4F1E-A03C-92AE376E514B}"/>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Baseline, first INT4 trial and selection</a:t>
            </a:r>
          </a:p>
        </p:txBody>
      </p:sp>
      <p:sp>
        <p:nvSpPr>
          <p:cNvPr id="2" name="">
            <a:extLst xmlns:a="http://schemas.openxmlformats.org/drawingml/2006/main">
              <a:ext uri="{FF2B5EF4-FFF2-40B4-BE49-F238E27FC236}">
                <a16:creationId xmlns:a16="http://schemas.microsoft.com/office/drawing/2014/main" id="{1612F3F3-7938-40EF-B6D3-3E80F51A0073}"/>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1780A633-6F97-4509-AEC5-A8FCDA2E440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10</a:t>
            </a:r>
          </a:p>
        </p:txBody>
      </p:sp>
      <p:graphicFrame>
        <p:nvGraphicFramePr>
          <p:cNvPr id="12" name=""/>
          <p:cNvGraphicFramePr/>
          <p:nvPr/>
        </p:nvGraphicFramePr>
        <p:xfrm>
          <a:off xmlns:a="http://schemas.openxmlformats.org/drawingml/2006/main" x="685800" y="1571625"/>
          <a:ext xmlns:a="http://schemas.openxmlformats.org/drawingml/2006/main" cx="10820400" cy="3714750"/>
        </p:xfrm>
        <a:graphic xmlns:a="http://schemas.openxmlformats.org/drawingml/2006/main">
          <a:graphicData uri="http://schemas.openxmlformats.org/drawingml/2006/table">
            <a:tbl>
              <a:tblPr firstRow="1" bandRow="0"/>
              <a:tblGrid>
                <a:gridCol w="3048000"/>
                <a:gridCol w="2590800"/>
                <a:gridCol w="2590800"/>
                <a:gridCol w="2590800"/>
              </a:tblGrid>
              <a:tr h="619125">
                <a:tc>
                  <a:txBody>
                    <a:bodyPr/>
                    <a:lstStyle/>
                    <a:p>
                      <a:r>
                        <a:rPr sz="1650" b="1">
                          <a:solidFill>
                            <a:srgbClr val="183542"/>
                          </a:solidFill>
                          <a:latin typeface="Helvetica Neue"/>
                          <a:ea typeface="Helvetica Neue"/>
                          <a:cs typeface="Helvetica Neue"/>
                        </a:rPr>
                        <a:t>Metric</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FP16 baseline</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First RTN: rejected</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Final selected</a:t>
                      </a:r>
                    </a:p>
                  </a:txBody>
                  <a:tcPr marL="142875" marR="142875" marT="85725" marB="85725" anchor="ctr">
                    <a:solidFill>
                      <a:srgbClr val="E8F0F1"/>
                    </a:solidFill>
                  </a:tcPr>
                </a:tc>
              </a:tr>
              <a:tr h="619125">
                <a:tc>
                  <a:txBody>
                    <a:bodyPr/>
                    <a:lstStyle/>
                    <a:p>
                      <a:r>
                        <a:rPr sz="1650">
                          <a:solidFill>
                            <a:srgbClr val="183542"/>
                          </a:solidFill>
                          <a:latin typeface="Helvetica Neue"/>
                          <a:ea typeface="Helvetica Neue"/>
                          <a:cs typeface="Helvetica Neue"/>
                        </a:rPr>
                        <a:t>TTFT p50 / p95</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266.3 ms / 271.7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266.7 ms / 269.6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265.5 ms / 267.4 ms</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Answer p50 / p95</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1830.4 ms / 1834.9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1228.8 ms / 1234.2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1825.9 ms / 1830.0 ms</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Shared RAM peak¹</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6.38 GiB</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4.20 GiB</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6.43 GiB</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Strict quality facts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13/19</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18/19</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Reference equivalence</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Pass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Fail</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Pass</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D715862-0F7B-4453-B8E8-A66ABEE2A9B3}"/>
              </a:ext>
            </a:extLst>
          </p:cNvPr>
          <p:cNvSpPr>
            <a:spLocks xmlns:a="http://schemas.openxmlformats.org/drawingml/2006/main" noGrp="1"/>
          </p:cNvSpPr>
          <p:nvPr/>
        </p:nvSpPr>
        <p:spPr>
          <a:xfrm xmlns:a="http://schemas.openxmlformats.org/drawingml/2006/main">
            <a:off x="685800" y="54673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Selected: fp16-corrected-i1024-kv2048</a:t>
            </a:r>
          </a:p>
        </p:txBody>
      </p:sp>
      <p:sp>
        <p:nvSpPr>
          <p:cNvPr id="6" name="">
            <a:extLst xmlns:a="http://schemas.openxmlformats.org/drawingml/2006/main">
              <a:ext uri="{FF2B5EF4-FFF2-40B4-BE49-F238E27FC236}">
                <a16:creationId xmlns:a16="http://schemas.microsoft.com/office/drawing/2014/main" id="{C8BEE034-399E-46ED-9E6B-D9855E1CECF1}"/>
              </a:ext>
            </a:extLst>
          </p:cNvPr>
          <p:cNvSpPr>
            <a:spLocks xmlns:a="http://schemas.openxmlformats.org/drawingml/2006/main" noGrp="1"/>
          </p:cNvSpPr>
          <p:nvPr/>
        </p:nvSpPr>
        <p:spPr>
          <a:xfrm xmlns:a="http://schemas.openxmlformats.org/drawingml/2006/main">
            <a:off x="685800" y="59721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¹ System RAM unavailable. Quality rejection takes precedence over latency or memory gains.</a:t>
            </a:r>
          </a:p>
        </p:txBody>
      </p:sp>
    </p:spTree>
    <p:extLst>
      <p:ext uri="{BB962C8B-B14F-4D97-AF65-F5344CB8AC3E}">
        <p14:creationId xmlns:p14="http://schemas.microsoft.com/office/powerpoint/2010/main" val="15717560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A9867D-9B84-4604-A32A-48D36D126451}"/>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Bounded search and memory constraints</a:t>
            </a:r>
          </a:p>
        </p:txBody>
      </p:sp>
      <p:sp>
        <p:nvSpPr>
          <p:cNvPr id="2" name="">
            <a:extLst xmlns:a="http://schemas.openxmlformats.org/drawingml/2006/main">
              <a:ext uri="{FF2B5EF4-FFF2-40B4-BE49-F238E27FC236}">
                <a16:creationId xmlns:a16="http://schemas.microsoft.com/office/drawing/2014/main" id="{F3B3233A-1682-451C-ABAB-18F5D787902E}"/>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5E75A50F-2732-43BE-9167-34A0F16DD95B}"/>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11</a:t>
            </a:r>
          </a:p>
        </p:txBody>
      </p:sp>
      <p:graphicFrame>
        <p:nvGraphicFramePr>
          <p:cNvPr id="12" name=""/>
          <p:cNvGraphicFramePr/>
          <p:nvPr/>
        </p:nvGraphicFramePr>
        <p:xfrm>
          <a:off xmlns:a="http://schemas.openxmlformats.org/drawingml/2006/main" x="685800" y="1571625"/>
          <a:ext xmlns:a="http://schemas.openxmlformats.org/drawingml/2006/main" cx="10820400" cy="3105150"/>
        </p:xfrm>
        <a:graphic xmlns:a="http://schemas.openxmlformats.org/drawingml/2006/main">
          <a:graphicData uri="http://schemas.openxmlformats.org/drawingml/2006/table">
            <a:tbl>
              <a:tblPr firstRow="1" bandRow="0"/>
              <a:tblGrid>
                <a:gridCol w="3495675"/>
                <a:gridCol w="1762125"/>
                <a:gridCol w="1143000"/>
                <a:gridCol w="2209800"/>
                <a:gridCol w="2209800"/>
              </a:tblGrid>
              <a:tr h="621030">
                <a:tc>
                  <a:txBody>
                    <a:bodyPr/>
                    <a:lstStyle/>
                    <a:p>
                      <a:r>
                        <a:rPr sz="1725" b="1">
                          <a:solidFill>
                            <a:srgbClr val="183542"/>
                          </a:solidFill>
                          <a:latin typeface="Helvetica Neue"/>
                          <a:ea typeface="Helvetica Neue"/>
                          <a:cs typeface="Helvetica Neue"/>
                        </a:rPr>
                        <a:t>Candidate</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Result</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Facts</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p50 answer</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RAM peak¹</a:t>
                      </a:r>
                    </a:p>
                  </a:txBody>
                  <a:tcPr marL="142875" marR="142875" marT="85725" marB="85725" anchor="ctr">
                    <a:solidFill>
                      <a:srgbClr val="E8F0F1"/>
                    </a:solidFill>
                  </a:tcPr>
                </a:tc>
              </a:tr>
              <a:tr h="621030">
                <a:tc>
                  <a:txBody>
                    <a:bodyPr/>
                    <a:lstStyle/>
                    <a:p>
                      <a:r>
                        <a:rPr sz="1725">
                          <a:solidFill>
                            <a:srgbClr val="183542"/>
                          </a:solidFill>
                          <a:latin typeface="Helvetica Neue"/>
                          <a:ea typeface="Helvetica Neue"/>
                          <a:cs typeface="Helvetica Neue"/>
                        </a:rPr>
                        <a:t>FP16 reference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Selected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1830.4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6.38 GiB</a:t>
                      </a:r>
                    </a:p>
                  </a:txBody>
                  <a:tcPr marL="142875" marR="142875" marT="85725" marB="85725" anchor="ctr">
                    <a:solidFill>
                      <a:srgbClr val="FFFFFF"/>
                    </a:solidFill>
                  </a:tcPr>
                </a:tc>
              </a:tr>
              <a:tr h="621030">
                <a:tc>
                  <a:txBody>
                    <a:bodyPr/>
                    <a:lstStyle/>
                    <a:p>
                      <a:r>
                        <a:rPr sz="1725">
                          <a:solidFill>
                            <a:srgbClr val="183542"/>
                          </a:solidFill>
                          <a:latin typeface="Helvetica Neue"/>
                          <a:ea typeface="Helvetica Neue"/>
                          <a:cs typeface="Helvetica Neue"/>
                        </a:rPr>
                        <a:t>RTN INT4 all linears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Rejected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13/19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1228.8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4.20 GiB</a:t>
                      </a:r>
                    </a:p>
                  </a:txBody>
                  <a:tcPr marL="142875" marR="142875" marT="85725" marB="85725" anchor="ctr">
                    <a:solidFill>
                      <a:srgbClr val="FFFFFF"/>
                    </a:solidFill>
                  </a:tcPr>
                </a:tc>
              </a:tr>
              <a:tr h="621030">
                <a:tc>
                  <a:txBody>
                    <a:bodyPr/>
                    <a:lstStyle/>
                    <a:p>
                      <a:r>
                        <a:rPr sz="1725">
                          <a:solidFill>
                            <a:srgbClr val="183542"/>
                          </a:solidFill>
                          <a:latin typeface="Helvetica Neue"/>
                          <a:ea typeface="Helvetica Neue"/>
                          <a:cs typeface="Helvetica Neue"/>
                        </a:rPr>
                        <a:t>RTN INT4 MLP only</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Rejected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1026.6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5.01 GiB</a:t>
                      </a:r>
                    </a:p>
                  </a:txBody>
                  <a:tcPr marL="142875" marR="142875" marT="85725" marB="85725" anchor="ctr">
                    <a:solidFill>
                      <a:srgbClr val="FFFFFF"/>
                    </a:solidFill>
                  </a:tcPr>
                </a:tc>
              </a:tr>
              <a:tr h="621030">
                <a:tc>
                  <a:txBody>
                    <a:bodyPr/>
                    <a:lstStyle/>
                    <a:p>
                      <a:r>
                        <a:rPr sz="1725">
                          <a:solidFill>
                            <a:srgbClr val="183542"/>
                          </a:solidFill>
                          <a:latin typeface="Helvetica Neue"/>
                          <a:ea typeface="Helvetica Neue"/>
                          <a:cs typeface="Helvetica Neue"/>
                        </a:rPr>
                        <a:t>FP16 fixed clocks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Rejected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1758.3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6.35 GiB</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CBB17D0-2142-4E9F-BB5C-DEA92832698C}"/>
              </a:ext>
            </a:extLst>
          </p:cNvPr>
          <p:cNvSpPr>
            <a:spLocks xmlns:a="http://schemas.openxmlformats.org/drawingml/2006/main" noGrp="1"/>
          </p:cNvSpPr>
          <p:nvPr/>
        </p:nvSpPr>
        <p:spPr>
          <a:xfrm xmlns:a="http://schemas.openxmlformats.org/drawingml/2006/main">
            <a:off x="685800" y="4905375"/>
            <a:ext cx="10820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146875"/>
                </a:solidFill>
                <a:latin typeface="Helvetica Neue"/>
                <a:ea typeface="Helvetica Neue"/>
                <a:cs typeface="Helvetica Neue"/>
              </a:defRPr>
            </a:pPr>
            <a:r>
              <a:rPr sz="1950" b="0">
                <a:solidFill>
                  <a:srgbClr val="146875"/>
                </a:solidFill>
                <a:latin typeface="Helvetica Neue"/>
                <a:ea typeface="Helvetica Neue"/>
                <a:cs typeface="Helvetica Neue"/>
              </a:rPr>
              <a:t>Linux exposes 7.37 GiB shared physical RAM. Selected process RSS peak: 5.91 GiB.</a:t>
            </a:r>
          </a:p>
        </p:txBody>
      </p:sp>
      <p:sp>
        <p:nvSpPr>
          <p:cNvPr id="6" name="">
            <a:extLst xmlns:a="http://schemas.openxmlformats.org/drawingml/2006/main">
              <a:ext uri="{FF2B5EF4-FFF2-40B4-BE49-F238E27FC236}">
                <a16:creationId xmlns:a16="http://schemas.microsoft.com/office/drawing/2014/main" id="{AF347A8D-D30D-4EEF-9B2F-12FC7E14A572}"/>
              </a:ext>
            </a:extLst>
          </p:cNvPr>
          <p:cNvSpPr>
            <a:spLocks xmlns:a="http://schemas.openxmlformats.org/drawingml/2006/main" noGrp="1"/>
          </p:cNvSpPr>
          <p:nvPr/>
        </p:nvSpPr>
        <p:spPr>
          <a:xfrm xmlns:a="http://schemas.openxmlformats.org/drawingml/2006/main">
            <a:off x="685800" y="5724525"/>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¹ MemTotal − MemAvailable overlaps process RSS. Never add them.</a:t>
            </a:r>
          </a:p>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CUDA allocator telemetry: not collected. Disk sizes measure storage.</a:t>
            </a:r>
          </a:p>
        </p:txBody>
      </p:sp>
    </p:spTree>
    <p:extLst>
      <p:ext uri="{BB962C8B-B14F-4D97-AF65-F5344CB8AC3E}">
        <p14:creationId xmlns:p14="http://schemas.microsoft.com/office/powerpoint/2010/main" val="8893288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F9B79B3-C3CC-439E-8176-D1AE28ED43A4}"/>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Selected configuration and sustained run</a:t>
            </a:r>
          </a:p>
        </p:txBody>
      </p:sp>
      <p:sp>
        <p:nvSpPr>
          <p:cNvPr id="2" name="">
            <a:extLst xmlns:a="http://schemas.openxmlformats.org/drawingml/2006/main">
              <a:ext uri="{FF2B5EF4-FFF2-40B4-BE49-F238E27FC236}">
                <a16:creationId xmlns:a16="http://schemas.microsoft.com/office/drawing/2014/main" id="{E9D11E52-04A7-4983-BF01-0ECE082FE9DC}"/>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01DE917F-F595-409A-9497-A12CE30E1DF3}"/>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307C5DC8-59A6-4F7A-BF3E-83A7E1A5C3E9}"/>
              </a:ext>
            </a:extLst>
          </p:cNvPr>
          <p:cNvSpPr>
            <a:spLocks xmlns:a="http://schemas.openxmlformats.org/drawingml/2006/main" noGrp="1"/>
          </p:cNvSpPr>
          <p:nvPr/>
        </p:nvSpPr>
        <p:spPr>
          <a:xfrm xmlns:a="http://schemas.openxmlformats.org/drawingml/2006/main">
            <a:off x="685800" y="15621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46875"/>
                </a:solidFill>
                <a:latin typeface="Helvetica Neue"/>
                <a:ea typeface="Helvetica Neue"/>
                <a:cs typeface="Helvetica Neue"/>
              </a:defRPr>
            </a:pPr>
            <a:r>
              <a:rPr sz="2700" b="1">
                <a:solidFill>
                  <a:srgbClr val="146875"/>
                </a:solidFill>
                <a:latin typeface="Helvetica Neue"/>
                <a:ea typeface="Helvetica Neue"/>
                <a:cs typeface="Helvetica Neue"/>
              </a:rPr>
              <a:t>fp16-corrected-i1024-kv2048</a:t>
            </a:r>
          </a:p>
        </p:txBody>
      </p:sp>
      <p:sp>
        <p:nvSpPr>
          <p:cNvPr id="5" name="">
            <a:extLst xmlns:a="http://schemas.openxmlformats.org/drawingml/2006/main">
              <a:ext uri="{FF2B5EF4-FFF2-40B4-BE49-F238E27FC236}">
                <a16:creationId xmlns:a16="http://schemas.microsoft.com/office/drawing/2014/main" id="{7ED56856-97D1-4FE3-AE0D-DED0D9E917EE}"/>
              </a:ext>
            </a:extLst>
          </p:cNvPr>
          <p:cNvSpPr>
            <a:spLocks xmlns:a="http://schemas.openxmlformats.org/drawingml/2006/main" noGrp="1"/>
          </p:cNvSpPr>
          <p:nvPr/>
        </p:nvSpPr>
        <p:spPr>
          <a:xfrm xmlns:a="http://schemas.openxmlformats.org/drawingml/2006/main">
            <a:off x="685800" y="22002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FP16 preserves reference quality. Both INT4 variants add errors; fixed clocks miss the 5% gain and swap gate.</a:t>
            </a:r>
          </a:p>
        </p:txBody>
      </p:sp>
      <p:sp>
        <p:nvSpPr>
          <p:cNvPr id="6" name="">
            <a:extLst xmlns:a="http://schemas.openxmlformats.org/drawingml/2006/main">
              <a:ext uri="{FF2B5EF4-FFF2-40B4-BE49-F238E27FC236}">
                <a16:creationId xmlns:a16="http://schemas.microsoft.com/office/drawing/2014/main" id="{F4149C92-D7A4-489F-9D5F-0C6F82ACC4C8}"/>
              </a:ext>
            </a:extLst>
          </p:cNvPr>
          <p:cNvSpPr>
            <a:spLocks xmlns:a="http://schemas.openxmlformats.org/drawingml/2006/main" noGrp="1"/>
          </p:cNvSpPr>
          <p:nvPr/>
        </p:nvSpPr>
        <p:spPr>
          <a:xfrm xmlns:a="http://schemas.openxmlformats.org/drawingml/2006/main">
            <a:off x="685800" y="281940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FP16 · dynamic stock 25 W · swap disabled</a:t>
            </a:r>
          </a:p>
        </p:txBody>
      </p:sp>
      <p:sp>
        <p:nvSpPr>
          <p:cNvPr id="7" name="">
            <a:extLst xmlns:a="http://schemas.openxmlformats.org/drawingml/2006/main">
              <a:ext uri="{FF2B5EF4-FFF2-40B4-BE49-F238E27FC236}">
                <a16:creationId xmlns:a16="http://schemas.microsoft.com/office/drawing/2014/main" id="{E241020C-2E5B-485E-8065-4C6BE5F92154}"/>
              </a:ext>
            </a:extLst>
          </p:cNvPr>
          <p:cNvSpPr>
            <a:spLocks xmlns:a="http://schemas.openxmlformats.org/drawingml/2006/main" noGrp="1"/>
          </p:cNvSpPr>
          <p:nvPr/>
        </p:nvSpPr>
        <p:spPr>
          <a:xfrm xmlns:a="http://schemas.openxmlformats.org/drawingml/2006/main">
            <a:off x="685800" y="33909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46875"/>
                </a:solidFill>
                <a:latin typeface="Helvetica Neue"/>
                <a:ea typeface="Helvetica Neue"/>
                <a:cs typeface="Helvetica Neue"/>
              </a:defRPr>
            </a:pPr>
            <a:r>
              <a:rPr sz="1725" b="0">
                <a:solidFill>
                  <a:srgbClr val="146875"/>
                </a:solidFill>
                <a:latin typeface="Helvetica Neue"/>
                <a:ea typeface="Helvetica Neue"/>
                <a:cs typeface="Helvetica Neue"/>
              </a:rPr>
              <a:t>FP16 retained. Final service verification is separate from the four search trials.</a:t>
            </a:r>
          </a:p>
        </p:txBody>
      </p:sp>
      <p:graphicFrame>
        <p:nvGraphicFramePr>
          <p:cNvPr id="19" name=""/>
          <p:cNvGraphicFramePr/>
          <p:nvPr/>
        </p:nvGraphicFramePr>
        <p:xfrm>
          <a:off xmlns:a="http://schemas.openxmlformats.org/drawingml/2006/main" x="685800" y="3867150"/>
          <a:ext xmlns:a="http://schemas.openxmlformats.org/drawingml/2006/main" cx="10820400" cy="1714500"/>
        </p:xfrm>
        <a:graphic xmlns:a="http://schemas.openxmlformats.org/drawingml/2006/main">
          <a:graphicData uri="http://schemas.openxmlformats.org/drawingml/2006/table">
            <a:tbl>
              <a:tblPr firstRow="1" bandRow="0"/>
              <a:tblGrid>
                <a:gridCol w="5324475"/>
                <a:gridCol w="5495925"/>
              </a:tblGrid>
              <a:tr h="428625">
                <a:tc>
                  <a:txBody>
                    <a:bodyPr/>
                    <a:lstStyle/>
                    <a:p>
                      <a:r>
                        <a:rPr sz="1725" b="1">
                          <a:solidFill>
                            <a:srgbClr val="183542"/>
                          </a:solidFill>
                          <a:latin typeface="Helvetica Neue"/>
                          <a:ea typeface="Helvetica Neue"/>
                          <a:cs typeface="Helvetica Neue"/>
                        </a:rPr>
                        <a:t>Sustained-run check</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Observed result</a:t>
                      </a:r>
                    </a:p>
                  </a:txBody>
                  <a:tcPr marL="142875" marR="142875" marT="85725" marB="85725" anchor="ctr">
                    <a:solidFill>
                      <a:srgbClr val="E8F0F1"/>
                    </a:solidFill>
                  </a:tcPr>
                </a:tc>
              </a:tr>
              <a:tr h="428625">
                <a:tc>
                  <a:txBody>
                    <a:bodyPr/>
                    <a:lstStyle/>
                    <a:p>
                      <a:r>
                        <a:rPr sz="1725">
                          <a:solidFill>
                            <a:srgbClr val="183542"/>
                          </a:solidFill>
                          <a:latin typeface="Helvetica Neue"/>
                          <a:ea typeface="Helvetica Neue"/>
                          <a:cs typeface="Helvetica Neue"/>
                        </a:rPr>
                        <a:t>Duration and successful requests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601 seconds / 366 requests</a:t>
                      </a:r>
                    </a:p>
                  </a:txBody>
                  <a:tcPr marL="142875" marR="142875" marT="85725" marB="85725" anchor="ctr">
                    <a:solidFill>
                      <a:srgbClr val="FFFFFF"/>
                    </a:solidFill>
                  </a:tcPr>
                </a:tc>
              </a:tr>
              <a:tr h="428625">
                <a:tc>
                  <a:txBody>
                    <a:bodyPr/>
                    <a:lstStyle/>
                    <a:p>
                      <a:r>
                        <a:rPr sz="1725">
                          <a:solidFill>
                            <a:srgbClr val="183542"/>
                          </a:solidFill>
                          <a:latin typeface="Helvetica Neue"/>
                          <a:ea typeface="Helvetica Neue"/>
                          <a:cs typeface="Helvetica Neue"/>
                        </a:rPr>
                        <a:t>Minimum MemAvailable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0.94 GiB</a:t>
                      </a:r>
                    </a:p>
                  </a:txBody>
                  <a:tcPr marL="142875" marR="142875" marT="85725" marB="85725" anchor="ctr">
                    <a:solidFill>
                      <a:srgbClr val="FFFFFF"/>
                    </a:solidFill>
                  </a:tcPr>
                </a:tc>
              </a:tr>
              <a:tr h="428625">
                <a:tc>
                  <a:txBody>
                    <a:bodyPr/>
                    <a:lstStyle/>
                    <a:p>
                      <a:r>
                        <a:rPr sz="1725">
                          <a:solidFill>
                            <a:srgbClr val="183542"/>
                          </a:solidFill>
                          <a:latin typeface="Helvetica Neue"/>
                          <a:ea typeface="Helvetica Neue"/>
                          <a:cs typeface="Helvetica Neue"/>
                        </a:rPr>
                        <a:t>Errors / OOM / swap</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0 / No / No</a:t>
                      </a:r>
                    </a:p>
                  </a:txBody>
                  <a:tcPr marL="142875" marR="142875" marT="85725" marB="85725"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B39D625B-2BE2-4D79-87BE-285503FC52EF}"/>
              </a:ext>
            </a:extLst>
          </p:cNvPr>
          <p:cNvSpPr>
            <a:spLocks xmlns:a="http://schemas.openxmlformats.org/drawingml/2006/main" noGrp="1"/>
          </p:cNvSpPr>
          <p:nvPr/>
        </p:nvSpPr>
        <p:spPr>
          <a:xfrm xmlns:a="http://schemas.openxmlformats.org/drawingml/2006/main">
            <a:off x="685800" y="59436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Candidates considered: 4. Stop reason: Stopped after three consecutive non-improvements.</a:t>
            </a:r>
          </a:p>
        </p:txBody>
      </p:sp>
    </p:spTree>
    <p:extLst>
      <p:ext uri="{BB962C8B-B14F-4D97-AF65-F5344CB8AC3E}">
        <p14:creationId xmlns:p14="http://schemas.microsoft.com/office/powerpoint/2010/main" val="7565377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8537E5-C82F-43CF-8A5F-AD77293A47C4}"/>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Upstream contributions and licenses</a:t>
            </a:r>
          </a:p>
        </p:txBody>
      </p:sp>
      <p:sp>
        <p:nvSpPr>
          <p:cNvPr id="2" name="">
            <a:extLst xmlns:a="http://schemas.openxmlformats.org/drawingml/2006/main">
              <a:ext uri="{FF2B5EF4-FFF2-40B4-BE49-F238E27FC236}">
                <a16:creationId xmlns:a16="http://schemas.microsoft.com/office/drawing/2014/main" id="{642E6B80-23FC-4DF0-8DBB-5A3CC98E54EB}"/>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C16C768D-868C-48A9-8257-E7B9D1DFF842}"/>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13</a:t>
            </a:r>
          </a:p>
        </p:txBody>
      </p:sp>
      <p:graphicFrame>
        <p:nvGraphicFramePr>
          <p:cNvPr id="12" name=""/>
          <p:cNvGraphicFramePr/>
          <p:nvPr/>
        </p:nvGraphicFramePr>
        <p:xfrm>
          <a:off xmlns:a="http://schemas.openxmlformats.org/drawingml/2006/main" x="685800" y="1571625"/>
          <a:ext xmlns:a="http://schemas.openxmlformats.org/drawingml/2006/main" cx="10820400" cy="3314700"/>
        </p:xfrm>
        <a:graphic xmlns:a="http://schemas.openxmlformats.org/drawingml/2006/main">
          <a:graphicData uri="http://schemas.openxmlformats.org/drawingml/2006/table">
            <a:tbl>
              <a:tblPr firstRow="1" bandRow="0"/>
              <a:tblGrid>
                <a:gridCol w="3876675"/>
                <a:gridCol w="4686300"/>
                <a:gridCol w="2257425"/>
              </a:tblGrid>
              <a:tr h="552450">
                <a:tc>
                  <a:txBody>
                    <a:bodyPr/>
                    <a:lstStyle/>
                    <a:p>
                      <a:r>
                        <a:rPr sz="1650" b="1">
                          <a:solidFill>
                            <a:srgbClr val="183542"/>
                          </a:solidFill>
                          <a:latin typeface="Helvetica Neue"/>
                          <a:ea typeface="Helvetica Neue"/>
                          <a:cs typeface="Helvetica Neue"/>
                        </a:rPr>
                        <a:t>Project / team</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Contribution</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Terms</a:t>
                      </a:r>
                    </a:p>
                  </a:txBody>
                  <a:tcPr marL="142875" marR="142875" marT="85725" marB="85725" anchor="ctr">
                    <a:solidFill>
                      <a:srgbClr val="E8F0F1"/>
                    </a:solidFill>
                  </a:tcPr>
                </a:tc>
              </a:tr>
              <a:tr h="552450">
                <a:tc>
                  <a:txBody>
                    <a:bodyPr/>
                    <a:lstStyle/>
                    <a:p>
                      <a:r>
                        <a:rPr sz="1650">
                          <a:solidFill>
                            <a:srgbClr val="183542"/>
                          </a:solidFill>
                          <a:latin typeface="Helvetica Neue"/>
                          <a:ea typeface="Helvetica Neue"/>
                          <a:cs typeface="Helvetica Neue"/>
                        </a:rPr>
                        <a:t>NVIDIA Cosmos3-Edge</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Pretrained model and tokenizer</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OpenMDW-1.1</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TensorRT Edge-LLM</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Runtime, builders and kernels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Apache-2.0</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live-vlm-webui contributors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Public interaction reference</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Apache-2.0</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PyTorch / Transformers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Official-model reference execution</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Component licenses</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Original task integration</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UI, transport, repairs, measurements, RTN</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Apache-2.0</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677A33E-296A-4D15-9C1C-1E6CDC354FE1}"/>
              </a:ext>
            </a:extLst>
          </p:cNvPr>
          <p:cNvSpPr>
            <a:spLocks xmlns:a="http://schemas.openxmlformats.org/drawingml/2006/main" noGrp="1"/>
          </p:cNvSpPr>
          <p:nvPr/>
        </p:nvSpPr>
        <p:spPr>
          <a:xfrm xmlns:a="http://schemas.openxmlformats.org/drawingml/2006/main">
            <a:off x="685800" y="50482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Public repository contributors</a:t>
            </a:r>
          </a:p>
        </p:txBody>
      </p:sp>
      <p:sp>
        <p:nvSpPr>
          <p:cNvPr id="6" name="">
            <a:extLst xmlns:a="http://schemas.openxmlformats.org/drawingml/2006/main">
              <a:ext uri="{FF2B5EF4-FFF2-40B4-BE49-F238E27FC236}">
                <a16:creationId xmlns:a16="http://schemas.microsoft.com/office/drawing/2014/main" id="{2C95ACF4-73D1-4A27-9A0B-7CEA8018AAC6}"/>
              </a:ext>
            </a:extLst>
          </p:cNvPr>
          <p:cNvSpPr>
            <a:spLocks xmlns:a="http://schemas.openxmlformats.org/drawingml/2006/main" noGrp="1"/>
          </p:cNvSpPr>
          <p:nvPr/>
        </p:nvSpPr>
        <p:spPr>
          <a:xfrm xmlns:a="http://schemas.openxmlformats.org/drawingml/2006/main">
            <a:off x="685800" y="55054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UI: tokk-nv, chitoku</a:t>
            </a:r>
          </a:p>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Runtime: nvluxiaoz, ever-wong, jhalabi-nv, nvxingkaiz, JCalafato, poweiw</a:t>
            </a:r>
          </a:p>
        </p:txBody>
      </p:sp>
    </p:spTree>
    <p:extLst>
      <p:ext uri="{BB962C8B-B14F-4D97-AF65-F5344CB8AC3E}">
        <p14:creationId xmlns:p14="http://schemas.microsoft.com/office/powerpoint/2010/main" val="78938404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939C6D-5680-4B68-AB40-063488846D17}"/>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Limits and reproduction</a:t>
            </a:r>
          </a:p>
        </p:txBody>
      </p:sp>
      <p:sp>
        <p:nvSpPr>
          <p:cNvPr id="2" name="">
            <a:extLst xmlns:a="http://schemas.openxmlformats.org/drawingml/2006/main">
              <a:ext uri="{FF2B5EF4-FFF2-40B4-BE49-F238E27FC236}">
                <a16:creationId xmlns:a16="http://schemas.microsoft.com/office/drawing/2014/main" id="{AC0F33AC-9097-4E2D-8E86-9E61954B6005}"/>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63096F3A-9AB8-40C3-9852-C0065CCFAFBF}"/>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A8F506D3-14F6-410D-B41B-9234DA06D5BF}"/>
              </a:ext>
            </a:extLst>
          </p:cNvPr>
          <p:cNvSpPr>
            <a:spLocks xmlns:a="http://schemas.openxmlformats.org/drawingml/2006/main" noGrp="1"/>
          </p:cNvSpPr>
          <p:nvPr/>
        </p:nvSpPr>
        <p:spPr>
          <a:xfrm xmlns:a="http://schemas.openxmlformats.org/drawingml/2006/main">
            <a:off x="685800" y="1581150"/>
            <a:ext cx="5019675"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Quality: 18/19 synthetic facts; natural photos 5/9 with partial credit, 0/3 fully correct.</a:t>
            </a:r>
          </a:p>
          <a:p xmlns:a="http://schemas.openxmlformats.org/drawingml/2006/main">
            <a:r>
              <a:t/>
            </a:r>
          </a:p>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Streaming checks passed. Natural-video and temporal understanding remain untested.</a:t>
            </a:r>
          </a:p>
          <a:p xmlns:a="http://schemas.openxmlformats.org/drawingml/2006/main">
            <a:r>
              <a:t/>
            </a:r>
          </a:p>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Small inputs are padded around a documented position-interpolation limit.</a:t>
            </a:r>
          </a:p>
          <a:p xmlns:a="http://schemas.openxmlformats.org/drawingml/2006/main">
            <a:r>
              <a:t/>
            </a:r>
          </a:p>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RAM and RSS overlap. CUDA allocator peak was not collected.</a:t>
            </a:r>
          </a:p>
          <a:p xmlns:a="http://schemas.openxmlformats.org/drawingml/2006/main">
            <a:r>
              <a:t/>
            </a:r>
          </a:p>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NVMe timeouts recur at cold load. Service recovers; storage issue remains unresolved.</a:t>
            </a:r>
          </a:p>
        </p:txBody>
      </p:sp>
      <p:sp>
        <p:nvSpPr>
          <p:cNvPr id="5" name="">
            <a:extLst xmlns:a="http://schemas.openxmlformats.org/drawingml/2006/main">
              <a:ext uri="{FF2B5EF4-FFF2-40B4-BE49-F238E27FC236}">
                <a16:creationId xmlns:a16="http://schemas.microsoft.com/office/drawing/2014/main" id="{64A06B59-61B3-42F7-93DE-EB3499D38F3B}"/>
              </a:ext>
            </a:extLst>
          </p:cNvPr>
          <p:cNvSpPr>
            <a:spLocks xmlns:a="http://schemas.openxmlformats.org/drawingml/2006/main" noGrp="1"/>
          </p:cNvSpPr>
          <p:nvPr/>
        </p:nvSpPr>
        <p:spPr>
          <a:xfrm xmlns:a="http://schemas.openxmlformats.org/drawingml/2006/main">
            <a:off x="6296025" y="1600200"/>
            <a:ext cx="5210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Build selected engines</a:t>
            </a:r>
          </a:p>
        </p:txBody>
      </p:sp>
      <p:sp>
        <p:nvSpPr>
          <p:cNvPr id="6" name="">
            <a:extLst xmlns:a="http://schemas.openxmlformats.org/drawingml/2006/main">
              <a:ext uri="{FF2B5EF4-FFF2-40B4-BE49-F238E27FC236}">
                <a16:creationId xmlns:a16="http://schemas.microsoft.com/office/drawing/2014/main" id="{1C43618D-1B18-48D0-AE80-A0EAE3FFCE21}"/>
              </a:ext>
            </a:extLst>
          </p:cNvPr>
          <p:cNvSpPr>
            <a:spLocks xmlns:a="http://schemas.openxmlformats.org/drawingml/2006/main" noGrp="1"/>
          </p:cNvSpPr>
          <p:nvPr/>
        </p:nvSpPr>
        <p:spPr>
          <a:xfrm xmlns:a="http://schemas.openxmlformats.org/drawingml/2006/main">
            <a:off x="6296025" y="2095500"/>
            <a:ext cx="52101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Native runtime + engine build:</a:t>
            </a:r>
          </a:p>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docs/backend-build.md</a:t>
            </a:r>
          </a:p>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Section 4, selected FP16</a:t>
            </a:r>
          </a:p>
        </p:txBody>
      </p:sp>
      <p:sp>
        <p:nvSpPr>
          <p:cNvPr id="7" name="">
            <a:extLst xmlns:a="http://schemas.openxmlformats.org/drawingml/2006/main">
              <a:ext uri="{FF2B5EF4-FFF2-40B4-BE49-F238E27FC236}">
                <a16:creationId xmlns:a16="http://schemas.microsoft.com/office/drawing/2014/main" id="{6732F9E8-B3E9-43F6-8287-6330B967226F}"/>
              </a:ext>
            </a:extLst>
          </p:cNvPr>
          <p:cNvSpPr>
            <a:spLocks xmlns:a="http://schemas.openxmlformats.org/drawingml/2006/main" noGrp="1"/>
          </p:cNvSpPr>
          <p:nvPr/>
        </p:nvSpPr>
        <p:spPr>
          <a:xfrm xmlns:a="http://schemas.openxmlformats.org/drawingml/2006/main">
            <a:off x="6296025" y="3143250"/>
            <a:ext cx="5210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Serve on the Orin</a:t>
            </a:r>
          </a:p>
        </p:txBody>
      </p:sp>
      <p:sp>
        <p:nvSpPr>
          <p:cNvPr id="8" name="">
            <a:extLst xmlns:a="http://schemas.openxmlformats.org/drawingml/2006/main">
              <a:ext uri="{FF2B5EF4-FFF2-40B4-BE49-F238E27FC236}">
                <a16:creationId xmlns:a16="http://schemas.microsoft.com/office/drawing/2014/main" id="{ACBE9B11-C085-416D-8341-98BB5E717F95}"/>
              </a:ext>
            </a:extLst>
          </p:cNvPr>
          <p:cNvSpPr>
            <a:spLocks xmlns:a="http://schemas.openxmlformats.org/drawingml/2006/main" noGrp="1"/>
          </p:cNvSpPr>
          <p:nvPr/>
        </p:nvSpPr>
        <p:spPr>
          <a:xfrm xmlns:a="http://schemas.openxmlformats.org/drawingml/2006/main">
            <a:off x="6296025" y="3638550"/>
            <a:ext cx="52101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sudo systemctl start cosmos-edge-backend cosmos-edge-ui</a:t>
            </a:r>
          </a:p>
        </p:txBody>
      </p:sp>
      <p:sp>
        <p:nvSpPr>
          <p:cNvPr id="9" name="">
            <a:extLst xmlns:a="http://schemas.openxmlformats.org/drawingml/2006/main">
              <a:ext uri="{FF2B5EF4-FFF2-40B4-BE49-F238E27FC236}">
                <a16:creationId xmlns:a16="http://schemas.microsoft.com/office/drawing/2014/main" id="{E08C9D96-B395-4FBF-9411-E717F33D1AB9}"/>
              </a:ext>
            </a:extLst>
          </p:cNvPr>
          <p:cNvSpPr>
            <a:spLocks xmlns:a="http://schemas.openxmlformats.org/drawingml/2006/main" noGrp="1"/>
          </p:cNvSpPr>
          <p:nvPr/>
        </p:nvSpPr>
        <p:spPr>
          <a:xfrm xmlns:a="http://schemas.openxmlformats.org/drawingml/2006/main">
            <a:off x="6296025" y="4591050"/>
            <a:ext cx="5210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Repeat the measured workload</a:t>
            </a:r>
          </a:p>
        </p:txBody>
      </p:sp>
      <p:sp>
        <p:nvSpPr>
          <p:cNvPr id="10" name="">
            <a:extLst xmlns:a="http://schemas.openxmlformats.org/drawingml/2006/main">
              <a:ext uri="{FF2B5EF4-FFF2-40B4-BE49-F238E27FC236}">
                <a16:creationId xmlns:a16="http://schemas.microsoft.com/office/drawing/2014/main" id="{995CCC26-A2AA-4362-8B5B-C91923180603}"/>
              </a:ext>
            </a:extLst>
          </p:cNvPr>
          <p:cNvSpPr>
            <a:spLocks xmlns:a="http://schemas.openxmlformats.org/drawingml/2006/main" noGrp="1"/>
          </p:cNvSpPr>
          <p:nvPr/>
        </p:nvSpPr>
        <p:spPr>
          <a:xfrm xmlns:a="http://schemas.openxmlformats.org/drawingml/2006/main">
            <a:off x="6296025" y="5086350"/>
            <a:ext cx="52101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scripts/benchmark.py</a:t>
            </a:r>
          </a:p>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Invocation and fixed settings:</a:t>
            </a:r>
          </a:p>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research/benchmark-method.md</a:t>
            </a:r>
          </a:p>
        </p:txBody>
      </p:sp>
    </p:spTree>
    <p:extLst>
      <p:ext uri="{BB962C8B-B14F-4D97-AF65-F5344CB8AC3E}">
        <p14:creationId xmlns:p14="http://schemas.microsoft.com/office/powerpoint/2010/main" val="142632106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C007B91-F2E2-4F9C-BDB2-DFAA48CFF47C}"/>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Original goal and agent stopping policy</a:t>
            </a:r>
          </a:p>
        </p:txBody>
      </p:sp>
      <p:sp>
        <p:nvSpPr>
          <p:cNvPr id="2" name="">
            <a:extLst xmlns:a="http://schemas.openxmlformats.org/drawingml/2006/main">
              <a:ext uri="{FF2B5EF4-FFF2-40B4-BE49-F238E27FC236}">
                <a16:creationId xmlns:a16="http://schemas.microsoft.com/office/drawing/2014/main" id="{A8A29B02-753F-4A90-AF5E-2F72B79777D1}"/>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123FA088-03C0-405F-BE75-F9FC1BAB7F92}"/>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A6D3C93F-6BE8-4AD1-83C4-D551128B9ABB}"/>
              </a:ext>
            </a:extLst>
          </p:cNvPr>
          <p:cNvSpPr>
            <a:spLocks xmlns:a="http://schemas.openxmlformats.org/drawingml/2006/main" noGrp="1"/>
          </p:cNvSpPr>
          <p:nvPr/>
        </p:nvSpPr>
        <p:spPr>
          <a:xfrm xmlns:a="http://schemas.openxmlformats.org/drawingml/2006/main">
            <a:off x="685800" y="157162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User-defined goal</a:t>
            </a:r>
          </a:p>
        </p:txBody>
      </p:sp>
      <p:sp>
        <p:nvSpPr>
          <p:cNvPr id="5" name="">
            <a:extLst xmlns:a="http://schemas.openxmlformats.org/drawingml/2006/main">
              <a:ext uri="{FF2B5EF4-FFF2-40B4-BE49-F238E27FC236}">
                <a16:creationId xmlns:a16="http://schemas.microsoft.com/office/drawing/2014/main" id="{68DE459D-E75B-41DD-A55B-F98D008E191C}"/>
              </a:ext>
            </a:extLst>
          </p:cNvPr>
          <p:cNvSpPr>
            <a:spLocks xmlns:a="http://schemas.openxmlformats.org/drawingml/2006/main" noGrp="1"/>
          </p:cNvSpPr>
          <p:nvPr/>
        </p:nvSpPr>
        <p:spPr>
          <a:xfrm xmlns:a="http://schemas.openxmlformats.org/drawingml/2006/main">
            <a:off x="685800" y="2066925"/>
            <a:ext cx="4953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Install JetPack through USB-C.</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Run Cosmos3-Edge with TRT-Edge-LLM.</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Serve streaming vision on the Orin.</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Measure memory and latency.</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Present findings and public-source credits.</a:t>
            </a:r>
          </a:p>
        </p:txBody>
      </p:sp>
      <p:sp>
        <p:nvSpPr>
          <p:cNvPr id="6" name="">
            <a:extLst xmlns:a="http://schemas.openxmlformats.org/drawingml/2006/main">
              <a:ext uri="{FF2B5EF4-FFF2-40B4-BE49-F238E27FC236}">
                <a16:creationId xmlns:a16="http://schemas.microsoft.com/office/drawing/2014/main" id="{A5ACA0CE-D9A2-4749-B45D-544BAE0EBB36}"/>
              </a:ext>
            </a:extLst>
          </p:cNvPr>
          <p:cNvSpPr>
            <a:spLocks xmlns:a="http://schemas.openxmlformats.org/drawingml/2006/main" noGrp="1"/>
          </p:cNvSpPr>
          <p:nvPr/>
        </p:nvSpPr>
        <p:spPr>
          <a:xfrm xmlns:a="http://schemas.openxmlformats.org/drawingml/2006/main">
            <a:off x="685800" y="4467225"/>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146875"/>
                </a:solidFill>
                <a:latin typeface="Helvetica Neue"/>
                <a:ea typeface="Helvetica Neue"/>
                <a:cs typeface="Helvetica Neue"/>
              </a:defRPr>
            </a:pPr>
            <a:r>
              <a:rPr sz="2325" b="1">
                <a:solidFill>
                  <a:srgbClr val="146875"/>
                </a:solidFill>
                <a:latin typeface="Helvetica Neue"/>
                <a:ea typeface="Helvetica Neue"/>
                <a:cs typeface="Helvetica Neue"/>
              </a:rPr>
              <a:t>“so you don’t keep iterating on marginal gains”</a:t>
            </a:r>
          </a:p>
        </p:txBody>
      </p:sp>
      <p:sp>
        <p:nvSpPr>
          <p:cNvPr id="7" name="">
            <a:extLst xmlns:a="http://schemas.openxmlformats.org/drawingml/2006/main">
              <a:ext uri="{FF2B5EF4-FFF2-40B4-BE49-F238E27FC236}">
                <a16:creationId xmlns:a16="http://schemas.microsoft.com/office/drawing/2014/main" id="{F5DD196A-E28F-4A99-B483-D27604A26D5B}"/>
              </a:ext>
            </a:extLst>
          </p:cNvPr>
          <p:cNvSpPr>
            <a:spLocks xmlns:a="http://schemas.openxmlformats.org/drawingml/2006/main" noGrp="1"/>
          </p:cNvSpPr>
          <p:nvPr/>
        </p:nvSpPr>
        <p:spPr>
          <a:xfrm xmlns:a="http://schemas.openxmlformats.org/drawingml/2006/main">
            <a:off x="685800" y="562927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User request for a finite search</a:t>
            </a:r>
          </a:p>
        </p:txBody>
      </p:sp>
      <p:graphicFrame>
        <p:nvGraphicFramePr>
          <p:cNvPr id="18" name=""/>
          <p:cNvGraphicFramePr/>
          <p:nvPr/>
        </p:nvGraphicFramePr>
        <p:xfrm>
          <a:off xmlns:a="http://schemas.openxmlformats.org/drawingml/2006/main" x="5981700" y="1571625"/>
          <a:ext xmlns:a="http://schemas.openxmlformats.org/drawingml/2006/main" cx="5524500" cy="4400550"/>
        </p:xfrm>
        <a:graphic xmlns:a="http://schemas.openxmlformats.org/drawingml/2006/main">
          <a:graphicData uri="http://schemas.openxmlformats.org/drawingml/2006/table">
            <a:tbl>
              <a:tblPr firstRow="1" bandRow="0"/>
              <a:tblGrid>
                <a:gridCol w="2571750"/>
                <a:gridCol w="2952750"/>
              </a:tblGrid>
              <a:tr h="733425">
                <a:tc>
                  <a:txBody>
                    <a:bodyPr/>
                    <a:lstStyle/>
                    <a:p>
                      <a:r>
                        <a:rPr sz="1725" b="1">
                          <a:solidFill>
                            <a:srgbClr val="183542"/>
                          </a:solidFill>
                          <a:latin typeface="Helvetica Neue"/>
                          <a:ea typeface="Helvetica Neue"/>
                          <a:cs typeface="Helvetica Neue"/>
                        </a:rPr>
                        <a:t>Agent-chosen policy</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Recorded limit</a:t>
                      </a:r>
                    </a:p>
                  </a:txBody>
                  <a:tcPr marL="142875" marR="142875" marT="85725" marB="85725" anchor="ctr">
                    <a:solidFill>
                      <a:srgbClr val="E8F0F1"/>
                    </a:solidFill>
                  </a:tcPr>
                </a:tc>
              </a:tr>
              <a:tr h="733425">
                <a:tc>
                  <a:txBody>
                    <a:bodyPr/>
                    <a:lstStyle/>
                    <a:p>
                      <a:r>
                        <a:rPr sz="1725">
                          <a:solidFill>
                            <a:srgbClr val="183542"/>
                          </a:solidFill>
                          <a:latin typeface="Helvetica Neue"/>
                          <a:ea typeface="Helvetica Neue"/>
                          <a:cs typeface="Helvetica Neue"/>
                        </a:rPr>
                        <a:t>Search ceiling</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12 initially, then 5</a:t>
                      </a:r>
                    </a:p>
                  </a:txBody>
                  <a:tcPr marL="142875" marR="142875" marT="85725" marB="85725" anchor="ctr">
                    <a:solidFill>
                      <a:srgbClr val="FFFFFF"/>
                    </a:solidFill>
                  </a:tcPr>
                </a:tc>
              </a:tr>
              <a:tr h="733425">
                <a:tc>
                  <a:txBody>
                    <a:bodyPr/>
                    <a:lstStyle/>
                    <a:p>
                      <a:r>
                        <a:rPr sz="1725">
                          <a:solidFill>
                            <a:srgbClr val="183542"/>
                          </a:solidFill>
                          <a:latin typeface="Helvetica Neue"/>
                          <a:ea typeface="Helvetica Neue"/>
                          <a:cs typeface="Helvetica Neue"/>
                        </a:rPr>
                        <a:t>Each measured trial</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5 warmups + 30 requests</a:t>
                      </a:r>
                    </a:p>
                  </a:txBody>
                  <a:tcPr marL="142875" marR="142875" marT="85725" marB="85725" anchor="ctr">
                    <a:solidFill>
                      <a:srgbClr val="FFFFFF"/>
                    </a:solidFill>
                  </a:tcPr>
                </a:tc>
              </a:tr>
              <a:tr h="733425">
                <a:tc>
                  <a:txBody>
                    <a:bodyPr/>
                    <a:lstStyle/>
                    <a:p>
                      <a:r>
                        <a:rPr sz="1725">
                          <a:solidFill>
                            <a:srgbClr val="183542"/>
                          </a:solidFill>
                          <a:latin typeface="Helvetica Neue"/>
                          <a:ea typeface="Helvetica Neue"/>
                          <a:cs typeface="Helvetica Neue"/>
                        </a:rPr>
                        <a:t>Required gain</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At least 5%, with quality checks</a:t>
                      </a:r>
                    </a:p>
                  </a:txBody>
                  <a:tcPr marL="142875" marR="142875" marT="85725" marB="85725" anchor="ctr">
                    <a:solidFill>
                      <a:srgbClr val="FFFFFF"/>
                    </a:solidFill>
                  </a:tcPr>
                </a:tc>
              </a:tr>
              <a:tr h="733425">
                <a:tc>
                  <a:txBody>
                    <a:bodyPr/>
                    <a:lstStyle/>
                    <a:p>
                      <a:r>
                        <a:rPr sz="1725">
                          <a:solidFill>
                            <a:srgbClr val="183542"/>
                          </a:solidFill>
                          <a:latin typeface="Helvetica Neue"/>
                          <a:ea typeface="Helvetica Neue"/>
                          <a:cs typeface="Helvetica Neue"/>
                        </a:rPr>
                        <a:t>Early stop</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3 consecutive non-improvements</a:t>
                      </a:r>
                    </a:p>
                  </a:txBody>
                  <a:tcPr marL="142875" marR="142875" marT="85725" marB="85725" anchor="ctr">
                    <a:solidFill>
                      <a:srgbClr val="FFFFFF"/>
                    </a:solidFill>
                  </a:tcPr>
                </a:tc>
              </a:tr>
              <a:tr h="733425">
                <a:tc>
                  <a:txBody>
                    <a:bodyPr/>
                    <a:lstStyle/>
                    <a:p>
                      <a:r>
                        <a:rPr sz="1725">
                          <a:solidFill>
                            <a:srgbClr val="183542"/>
                          </a:solidFill>
                          <a:latin typeface="Helvetica Neue"/>
                          <a:ea typeface="Helvetica Neue"/>
                          <a:cs typeface="Helvetica Neue"/>
                        </a:rPr>
                        <a:t>Actual outcome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4 trials, corrected FP16 retained</a:t>
                      </a:r>
                    </a:p>
                  </a:txBody>
                  <a:tcPr marL="142875" marR="142875" marT="85725" marB="85725" anchor="ctr">
                    <a:solidFill>
                      <a:srgbClr val="FFFFFF"/>
                    </a:solidFill>
                  </a:tcPr>
                </a:tc>
              </a:tr>
            </a:tbl>
          </a:graphicData>
        </a:graphic>
      </p:graphicFrame>
    </p:spTree>
    <p:extLst>
      <p:ext uri="{BB962C8B-B14F-4D97-AF65-F5344CB8AC3E}">
        <p14:creationId xmlns:p14="http://schemas.microsoft.com/office/powerpoint/2010/main" val="8710816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5C5963-42BA-4C34-B2BE-91ABE19B7D1E}"/>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User steering and progress oversight</a:t>
            </a:r>
          </a:p>
        </p:txBody>
      </p:sp>
      <p:sp>
        <p:nvSpPr>
          <p:cNvPr id="2" name="">
            <a:extLst xmlns:a="http://schemas.openxmlformats.org/drawingml/2006/main">
              <a:ext uri="{FF2B5EF4-FFF2-40B4-BE49-F238E27FC236}">
                <a16:creationId xmlns:a16="http://schemas.microsoft.com/office/drawing/2014/main" id="{ADBD5A4C-6656-4681-82EC-66DC393D03C1}"/>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AF12073C-8A65-4B9E-9C67-8D5F001E92F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5F965A33-F068-48CA-BD2F-B0E1EAC41E0D}"/>
              </a:ext>
            </a:extLst>
          </p:cNvPr>
          <p:cNvSpPr>
            <a:spLocks xmlns:a="http://schemas.openxmlformats.org/drawingml/2006/main" noGrp="1"/>
          </p:cNvSpPr>
          <p:nvPr/>
        </p:nvSpPr>
        <p:spPr>
          <a:xfrm xmlns:a="http://schemas.openxmlformats.org/drawingml/2006/main">
            <a:off x="685800" y="160020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Progress oversight</a:t>
            </a:r>
          </a:p>
        </p:txBody>
      </p:sp>
      <p:sp>
        <p:nvSpPr>
          <p:cNvPr id="5" name="">
            <a:extLst xmlns:a="http://schemas.openxmlformats.org/drawingml/2006/main">
              <a:ext uri="{FF2B5EF4-FFF2-40B4-BE49-F238E27FC236}">
                <a16:creationId xmlns:a16="http://schemas.microsoft.com/office/drawing/2014/main" id="{59D969E9-FDD8-48DA-9B94-5C6A53BED900}"/>
              </a:ext>
            </a:extLst>
          </p:cNvPr>
          <p:cNvSpPr>
            <a:spLocks xmlns:a="http://schemas.openxmlformats.org/drawingml/2006/main" noGrp="1"/>
          </p:cNvSpPr>
          <p:nvPr/>
        </p:nvSpPr>
        <p:spPr>
          <a:xfrm xmlns:a="http://schemas.openxmlformats.org/drawingml/2006/main">
            <a:off x="685800" y="20955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“Did you install jetpack via the usb-c?”</a:t>
            </a:r>
          </a:p>
          <a:p xmlns:a="http://schemas.openxmlformats.org/drawingml/2006/main">
            <a:pPr>
              <a:buNone/>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“what have you done thus far?”</a:t>
            </a:r>
          </a:p>
        </p:txBody>
      </p:sp>
      <p:sp>
        <p:nvSpPr>
          <p:cNvPr id="6" name="">
            <a:extLst xmlns:a="http://schemas.openxmlformats.org/drawingml/2006/main">
              <a:ext uri="{FF2B5EF4-FFF2-40B4-BE49-F238E27FC236}">
                <a16:creationId xmlns:a16="http://schemas.microsoft.com/office/drawing/2014/main" id="{4C4EB2D0-6E55-4574-98B1-25133E7056D5}"/>
              </a:ext>
            </a:extLst>
          </p:cNvPr>
          <p:cNvSpPr>
            <a:spLocks xmlns:a="http://schemas.openxmlformats.org/drawingml/2006/main" noGrp="1"/>
          </p:cNvSpPr>
          <p:nvPr/>
        </p:nvSpPr>
        <p:spPr>
          <a:xfrm xmlns:a="http://schemas.openxmlformats.org/drawingml/2006/main">
            <a:off x="685800" y="31432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Connectivity reports from the user</a:t>
            </a:r>
          </a:p>
        </p:txBody>
      </p:sp>
      <p:sp>
        <p:nvSpPr>
          <p:cNvPr id="7" name="">
            <a:extLst xmlns:a="http://schemas.openxmlformats.org/drawingml/2006/main">
              <a:ext uri="{FF2B5EF4-FFF2-40B4-BE49-F238E27FC236}">
                <a16:creationId xmlns:a16="http://schemas.microsoft.com/office/drawing/2014/main" id="{AA187D92-9629-4B6D-BB0D-A4F2954BA6D0}"/>
              </a:ext>
            </a:extLst>
          </p:cNvPr>
          <p:cNvSpPr>
            <a:spLocks xmlns:a="http://schemas.openxmlformats.org/drawingml/2006/main" noGrp="1"/>
          </p:cNvSpPr>
          <p:nvPr/>
        </p:nvSpPr>
        <p:spPr>
          <a:xfrm xmlns:a="http://schemas.openxmlformats.org/drawingml/2006/main">
            <a:off x="685800" y="36385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“can you work on wifi or do you want ethernet”</a:t>
            </a:r>
          </a:p>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“giving the GPU ethernet back and you on wifi”</a:t>
            </a:r>
          </a:p>
        </p:txBody>
      </p:sp>
      <p:sp>
        <p:nvSpPr>
          <p:cNvPr id="8" name="">
            <a:extLst xmlns:a="http://schemas.openxmlformats.org/drawingml/2006/main">
              <a:ext uri="{FF2B5EF4-FFF2-40B4-BE49-F238E27FC236}">
                <a16:creationId xmlns:a16="http://schemas.microsoft.com/office/drawing/2014/main" id="{B0422F41-D75C-4A9A-BAA3-6DF358701019}"/>
              </a:ext>
            </a:extLst>
          </p:cNvPr>
          <p:cNvSpPr>
            <a:spLocks xmlns:a="http://schemas.openxmlformats.org/drawingml/2006/main" noGrp="1"/>
          </p:cNvSpPr>
          <p:nvPr/>
        </p:nvSpPr>
        <p:spPr>
          <a:xfrm xmlns:a="http://schemas.openxmlformats.org/drawingml/2006/main">
            <a:off x="685800" y="476250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Optional GPU access</a:t>
            </a:r>
          </a:p>
        </p:txBody>
      </p:sp>
      <p:sp>
        <p:nvSpPr>
          <p:cNvPr id="9" name="">
            <a:extLst xmlns:a="http://schemas.openxmlformats.org/drawingml/2006/main">
              <a:ext uri="{FF2B5EF4-FFF2-40B4-BE49-F238E27FC236}">
                <a16:creationId xmlns:a16="http://schemas.microsoft.com/office/drawing/2014/main" id="{4C77E1AC-56F5-4001-927A-7955C1935750}"/>
              </a:ext>
            </a:extLst>
          </p:cNvPr>
          <p:cNvSpPr>
            <a:spLocks xmlns:a="http://schemas.openxmlformats.org/drawingml/2006/main" noGrp="1"/>
          </p:cNvSpPr>
          <p:nvPr/>
        </p:nvSpPr>
        <p:spPr>
          <a:xfrm xmlns:a="http://schemas.openxmlformats.org/drawingml/2006/main">
            <a:off x="685800" y="525780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“Isolate your work from anything else on that computer.”</a:t>
            </a:r>
          </a:p>
          <a:p xmlns:a="http://schemas.openxmlformats.org/drawingml/2006/main">
            <a:pPr>
              <a:buNone/>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Agent authentication failed. No remote workspace or auxiliary GPU use.</a:t>
            </a:r>
          </a:p>
        </p:txBody>
      </p:sp>
    </p:spTree>
    <p:extLst>
      <p:ext uri="{BB962C8B-B14F-4D97-AF65-F5344CB8AC3E}">
        <p14:creationId xmlns:p14="http://schemas.microsoft.com/office/powerpoint/2010/main" val="90025355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8355FB-5CCC-4625-AFA5-7CDA36AD71D3}"/>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Human readiness and verified agent actions</a:t>
            </a:r>
          </a:p>
        </p:txBody>
      </p:sp>
      <p:sp>
        <p:nvSpPr>
          <p:cNvPr id="2" name="">
            <a:extLst xmlns:a="http://schemas.openxmlformats.org/drawingml/2006/main">
              <a:ext uri="{FF2B5EF4-FFF2-40B4-BE49-F238E27FC236}">
                <a16:creationId xmlns:a16="http://schemas.microsoft.com/office/drawing/2014/main" id="{801C66E6-2F67-4F37-8834-7B7C95B674B4}"/>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396524ED-6436-4E50-910A-D8114917C80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17</a:t>
            </a:r>
          </a:p>
        </p:txBody>
      </p:sp>
      <p:graphicFrame>
        <p:nvGraphicFramePr>
          <p:cNvPr id="11" name=""/>
          <p:cNvGraphicFramePr/>
          <p:nvPr/>
        </p:nvGraphicFramePr>
        <p:xfrm>
          <a:off xmlns:a="http://schemas.openxmlformats.org/drawingml/2006/main" x="685800" y="1562100"/>
          <a:ext xmlns:a="http://schemas.openxmlformats.org/drawingml/2006/main" cx="10820400" cy="3752850"/>
        </p:xfrm>
        <a:graphic xmlns:a="http://schemas.openxmlformats.org/drawingml/2006/main">
          <a:graphicData uri="http://schemas.openxmlformats.org/drawingml/2006/table">
            <a:tbl>
              <a:tblPr firstRow="1" bandRow="0"/>
              <a:tblGrid>
                <a:gridCol w="2095500"/>
                <a:gridCol w="4000500"/>
                <a:gridCol w="4724400"/>
              </a:tblGrid>
              <a:tr h="938213">
                <a:tc>
                  <a:txBody>
                    <a:bodyPr/>
                    <a:lstStyle/>
                    <a:p>
                      <a:r>
                        <a:rPr sz="1800" b="1">
                          <a:solidFill>
                            <a:srgbClr val="183542"/>
                          </a:solidFill>
                          <a:latin typeface="Helvetica Neue"/>
                          <a:ea typeface="Helvetica Neue"/>
                          <a:cs typeface="Helvetica Neue"/>
                        </a:rPr>
                        <a:t>Stage</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Human report or request</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Verified agent action</a:t>
                      </a:r>
                    </a:p>
                  </a:txBody>
                  <a:tcPr marL="142875" marR="142875" marT="85725" marB="85725" anchor="ctr">
                    <a:solidFill>
                      <a:srgbClr val="E8F0F1"/>
                    </a:solidFill>
                  </a:tcPr>
                </a:tc>
              </a:tr>
              <a:tr h="938213">
                <a:tc>
                  <a:txBody>
                    <a:bodyPr/>
                    <a:lstStyle/>
                    <a:p>
                      <a:r>
                        <a:rPr sz="1800">
                          <a:solidFill>
                            <a:srgbClr val="183542"/>
                          </a:solidFill>
                          <a:latin typeface="Helvetica Neue"/>
                          <a:ea typeface="Helvetica Neue"/>
                          <a:cs typeface="Helvetica Neue"/>
                        </a:rPr>
                        <a:t>Recovery entry</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FC REC–GND reported</a:t>
                      </a:r>
                    </a:p>
                    <a:p>
                      <a:r>
                        <a:rPr sz="1800">
                          <a:solidFill>
                            <a:srgbClr val="183542"/>
                          </a:solidFill>
                          <a:latin typeface="Helvetica Neue"/>
                          <a:ea typeface="Helvetica Neue"/>
                          <a:cs typeface="Helvetica Neue"/>
                        </a:rPr>
                        <a:t>“done”: readiness confirmation</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Detect APX, read EEPROM, upload RAM recovery</a:t>
                      </a:r>
                    </a:p>
                  </a:txBody>
                  <a:tcPr marL="142875" marR="142875" marT="85725" marB="85725" anchor="ctr">
                    <a:solidFill>
                      <a:srgbClr val="FFFFFF"/>
                    </a:solidFill>
                  </a:tcPr>
                </a:tc>
              </a:tr>
              <a:tr h="938213">
                <a:tc>
                  <a:txBody>
                    <a:bodyPr/>
                    <a:lstStyle/>
                    <a:p>
                      <a:r>
                        <a:rPr sz="1800">
                          <a:solidFill>
                            <a:srgbClr val="183542"/>
                          </a:solidFill>
                          <a:latin typeface="Helvetica Neue"/>
                          <a:ea typeface="Helvetica Neue"/>
                          <a:cs typeface="Helvetica Neue"/>
                        </a:rPr>
                        <a:t>USB access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Accessory approval requested if a prompt appeared</a:t>
                      </a:r>
                    </a:p>
                    <a:p>
                      <a:r>
                        <a:rPr sz="1800">
                          <a:solidFill>
                            <a:srgbClr val="183542"/>
                          </a:solidFill>
                          <a:latin typeface="Helvetica Neue"/>
                          <a:ea typeface="Helvetica Neue"/>
                          <a:cs typeface="Helvetica Neue"/>
                        </a:rPr>
                        <a:t>Approval unconfirmed</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Use native USB SSH and an NFS bridge</a:t>
                      </a:r>
                    </a:p>
                    <a:p>
                      <a:r>
                        <a:rPr sz="1800">
                          <a:solidFill>
                            <a:srgbClr val="183542"/>
                          </a:solidFill>
                          <a:latin typeface="Helvetica Neue"/>
                          <a:ea typeface="Helvetica Neue"/>
                          <a:cs typeface="Helvetica Neue"/>
                        </a:rPr>
                        <a:t>Complete official QSPI/NVMe flash</a:t>
                      </a:r>
                    </a:p>
                  </a:txBody>
                  <a:tcPr marL="142875" marR="142875" marT="85725" marB="85725" anchor="ctr">
                    <a:solidFill>
                      <a:srgbClr val="FFFFFF"/>
                    </a:solidFill>
                  </a:tcPr>
                </a:tc>
              </a:tr>
              <a:tr h="938213">
                <a:tc>
                  <a:txBody>
                    <a:bodyPr/>
                    <a:lstStyle/>
                    <a:p>
                      <a:r>
                        <a:rPr sz="1800">
                          <a:solidFill>
                            <a:srgbClr val="183542"/>
                          </a:solidFill>
                          <a:latin typeface="Helvetica Neue"/>
                          <a:ea typeface="Helvetica Neue"/>
                          <a:cs typeface="Helvetica Neue"/>
                        </a:rPr>
                        <a:t>Normal boot</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“the jumper isn’t in”</a:t>
                      </a:r>
                    </a:p>
                    <a:p>
                      <a:r>
                        <a:rPr sz="1800">
                          <a:solidFill>
                            <a:srgbClr val="183542"/>
                          </a:solidFill>
                          <a:latin typeface="Helvetica Neue"/>
                          <a:ea typeface="Helvetica Neue"/>
                          <a:cs typeface="Helvetica Neue"/>
                        </a:rPr>
                        <a:t>Reported state, no action timestamp</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Verify NVMe boot and task-key SSH</a:t>
                      </a:r>
                    </a:p>
                    <a:p>
                      <a:r>
                        <a:rPr sz="1800">
                          <a:solidFill>
                            <a:srgbClr val="183542"/>
                          </a:solidFill>
                          <a:latin typeface="Helvetica Neue"/>
                          <a:ea typeface="Helvetica Neue"/>
                          <a:cs typeface="Helvetica Neue"/>
                        </a:rPr>
                        <a:t>Run CUDA and expand storage</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087E5BB-DD20-4E56-8228-18E78B593C42}"/>
              </a:ext>
            </a:extLst>
          </p:cNvPr>
          <p:cNvSpPr>
            <a:spLocks xmlns:a="http://schemas.openxmlformats.org/drawingml/2006/main" noGrp="1"/>
          </p:cNvSpPr>
          <p:nvPr/>
        </p:nvSpPr>
        <p:spPr>
          <a:xfrm xmlns:a="http://schemas.openxmlformats.org/drawingml/2006/main">
            <a:off x="685800" y="58102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Agent preparation continued while hardware readiness was unresolved.</a:t>
            </a:r>
          </a:p>
        </p:txBody>
      </p:sp>
    </p:spTree>
    <p:extLst>
      <p:ext uri="{BB962C8B-B14F-4D97-AF65-F5344CB8AC3E}">
        <p14:creationId xmlns:p14="http://schemas.microsoft.com/office/powerpoint/2010/main" val="60819642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4AEB60-A7AE-404E-9BDC-40EBE46130B8}"/>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First-version boundary and later follow-ups</a:t>
            </a:r>
          </a:p>
        </p:txBody>
      </p:sp>
      <p:sp>
        <p:nvSpPr>
          <p:cNvPr id="2" name="">
            <a:extLst xmlns:a="http://schemas.openxmlformats.org/drawingml/2006/main">
              <a:ext uri="{FF2B5EF4-FFF2-40B4-BE49-F238E27FC236}">
                <a16:creationId xmlns:a16="http://schemas.microsoft.com/office/drawing/2014/main" id="{6163D948-13EC-4CFB-BA90-905DDA1F30BD}"/>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D2C920CE-5478-4355-A17C-2BE3700D9FBC}"/>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EA4F2BE2-14C3-4D4A-9610-36F3E13D3B7D}"/>
              </a:ext>
            </a:extLst>
          </p:cNvPr>
          <p:cNvSpPr>
            <a:spLocks xmlns:a="http://schemas.openxmlformats.org/drawingml/2006/main" noGrp="1"/>
          </p:cNvSpPr>
          <p:nvPr/>
        </p:nvSpPr>
        <p:spPr>
          <a:xfrm xmlns:a="http://schemas.openxmlformats.org/drawingml/2006/main">
            <a:off x="685800" y="14382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First version: Orin inference, four trials and the soak. Benchmark ceiling stays 64 tokens.</a:t>
            </a:r>
          </a:p>
        </p:txBody>
      </p:sp>
      <p:graphicFrame>
        <p:nvGraphicFramePr>
          <p:cNvPr id="13" name=""/>
          <p:cNvGraphicFramePr/>
          <p:nvPr/>
        </p:nvGraphicFramePr>
        <p:xfrm>
          <a:off xmlns:a="http://schemas.openxmlformats.org/drawingml/2006/main" x="685800" y="2286000"/>
          <a:ext xmlns:a="http://schemas.openxmlformats.org/drawingml/2006/main" cx="10820400" cy="3381375"/>
        </p:xfrm>
        <a:graphic xmlns:a="http://schemas.openxmlformats.org/drawingml/2006/main">
          <a:graphicData uri="http://schemas.openxmlformats.org/drawingml/2006/table">
            <a:tbl>
              <a:tblPr firstRow="1" bandRow="0"/>
              <a:tblGrid>
                <a:gridCol w="3667125"/>
                <a:gridCol w="7153275"/>
              </a:tblGrid>
              <a:tr h="676275">
                <a:tc>
                  <a:txBody>
                    <a:bodyPr/>
                    <a:lstStyle/>
                    <a:p>
                      <a:r>
                        <a:rPr sz="1725" b="1">
                          <a:solidFill>
                            <a:srgbClr val="183542"/>
                          </a:solidFill>
                          <a:latin typeface="Helvetica Neue"/>
                          <a:ea typeface="Helvetica Neue"/>
                          <a:cs typeface="Helvetica Neue"/>
                        </a:rPr>
                        <a:t>After the first version</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Verified follow-up status</a:t>
                      </a:r>
                    </a:p>
                  </a:txBody>
                  <a:tcPr marL="142875" marR="142875" marT="85725" marB="85725" anchor="ctr">
                    <a:solidFill>
                      <a:srgbClr val="E8F0F1"/>
                    </a:solidFill>
                  </a:tcPr>
                </a:tc>
              </a:tr>
              <a:tr h="676275">
                <a:tc>
                  <a:txBody>
                    <a:bodyPr/>
                    <a:lstStyle/>
                    <a:p>
                      <a:r>
                        <a:rPr sz="1725">
                          <a:solidFill>
                            <a:srgbClr val="183542"/>
                          </a:solidFill>
                          <a:latin typeface="Helvetica Neue"/>
                          <a:ea typeface="Helvetica Neue"/>
                          <a:cs typeface="Helvetica Neue"/>
                        </a:rPr>
                        <a:t>CPU / GPU / memory UI</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Added and verified. RAM is shared system memory.</a:t>
                      </a:r>
                    </a:p>
                  </a:txBody>
                  <a:tcPr marL="142875" marR="142875" marT="85725" marB="85725" anchor="ctr">
                    <a:solidFill>
                      <a:srgbClr val="FFFFFF"/>
                    </a:solidFill>
                  </a:tcPr>
                </a:tc>
              </a:tr>
              <a:tr h="676275">
                <a:tc>
                  <a:txBody>
                    <a:bodyPr/>
                    <a:lstStyle/>
                    <a:p>
                      <a:r>
                        <a:rPr sz="1725">
                          <a:solidFill>
                            <a:srgbClr val="183542"/>
                          </a:solidFill>
                          <a:latin typeface="Helvetica Neue"/>
                          <a:ea typeface="Helvetica Neue"/>
                          <a:cs typeface="Helvetica Neue"/>
                        </a:rPr>
                        <a:t>Upstream prompt + token limit</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Matched the sample prompt and 512-token UI default.</a:t>
                      </a:r>
                    </a:p>
                  </a:txBody>
                  <a:tcPr marL="142875" marR="142875" marT="85725" marB="85725" anchor="ctr">
                    <a:solidFill>
                      <a:srgbClr val="FFFFFF"/>
                    </a:solidFill>
                  </a:tcPr>
                </a:tc>
              </a:tr>
              <a:tr h="676275">
                <a:tc>
                  <a:txBody>
                    <a:bodyPr/>
                    <a:lstStyle/>
                    <a:p>
                      <a:r>
                        <a:rPr sz="1725">
                          <a:solidFill>
                            <a:srgbClr val="183542"/>
                          </a:solidFill>
                          <a:latin typeface="Helvetica Neue"/>
                          <a:ea typeface="Helvetica Neue"/>
                          <a:cs typeface="Helvetica Neue"/>
                        </a:rPr>
                        <a:t>Direct Orin webpage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https://192.168.6.252:8443</a:t>
                      </a:r>
                    </a:p>
                    <a:p>
                      <a:r>
                        <a:rPr sz="1725">
                          <a:solidFill>
                            <a:srgbClr val="183542"/>
                          </a:solidFill>
                          <a:latin typeface="Helvetica Neue"/>
                          <a:ea typeface="Helvetica Neue"/>
                          <a:cs typeface="Helvetica Neue"/>
                        </a:rPr>
                        <a:t>HTTP now redirects to HTTPS for camera access.</a:t>
                      </a:r>
                    </a:p>
                  </a:txBody>
                  <a:tcPr marL="142875" marR="142875" marT="85725" marB="85725" anchor="ctr">
                    <a:solidFill>
                      <a:srgbClr val="FFFFFF"/>
                    </a:solidFill>
                  </a:tcPr>
                </a:tc>
              </a:tr>
              <a:tr h="676275">
                <a:tc>
                  <a:txBody>
                    <a:bodyPr/>
                    <a:lstStyle/>
                    <a:p>
                      <a:r>
                        <a:rPr sz="1725">
                          <a:solidFill>
                            <a:srgbClr val="183542"/>
                          </a:solidFill>
                          <a:latin typeface="Helvetica Neue"/>
                          <a:ea typeface="Helvetica Neue"/>
                          <a:cs typeface="Helvetica Neue"/>
                        </a:rPr>
                        <a:t>Capture comparison toggle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Live VLM now defaults to full source / every 30 frames.</a:t>
                      </a:r>
                    </a:p>
                    <a:p>
                      <a:r>
                        <a:rPr sz="1725">
                          <a:solidFill>
                            <a:srgbClr val="183542"/>
                          </a:solidFill>
                          <a:latin typeface="Helvetica Neue"/>
                          <a:ea typeface="Helvetica Neue"/>
                          <a:cs typeface="Helvetica Neue"/>
                        </a:rPr>
                        <a:t>Lightweight retains the earlier capture settings.</a:t>
                      </a:r>
                    </a:p>
                  </a:txBody>
                  <a:tcPr marL="142875" marR="142875" marT="85725" marB="8572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07D087A-97D9-48EF-93E4-85B626E87C5E}"/>
              </a:ext>
            </a:extLst>
          </p:cNvPr>
          <p:cNvSpPr>
            <a:spLocks xmlns:a="http://schemas.openxmlformats.org/drawingml/2006/main" noGrp="1"/>
          </p:cNvSpPr>
          <p:nvPr/>
        </p:nvSpPr>
        <p:spPr>
          <a:xfrm xmlns:a="http://schemas.openxmlformats.org/drawingml/2006/main">
            <a:off x="685800" y="602932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0">
                <a:solidFill>
                  <a:srgbClr val="566773"/>
                </a:solidFill>
                <a:latin typeface="Helvetica Neue"/>
                <a:ea typeface="Helvetica Neue"/>
                <a:cs typeface="Helvetica Neue"/>
              </a:defRPr>
            </a:pPr>
            <a:r>
              <a:rPr sz="1575" b="0">
                <a:solidFill>
                  <a:srgbClr val="566773"/>
                </a:solidFill>
                <a:latin typeface="Helvetica Neue"/>
                <a:ea typeface="Helvetica Neue"/>
                <a:cs typeface="Helvetica Neue"/>
              </a:rPr>
              <a:t>Camera access requires accepting the local certificate and granting permission.</a:t>
            </a:r>
          </a:p>
        </p:txBody>
      </p:sp>
    </p:spTree>
    <p:extLst>
      <p:ext uri="{BB962C8B-B14F-4D97-AF65-F5344CB8AC3E}">
        <p14:creationId xmlns:p14="http://schemas.microsoft.com/office/powerpoint/2010/main" val="4082743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F7D195-943B-440F-92D7-7DCCF9BC2163}"/>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My initial assumptions and their limits</a:t>
            </a:r>
          </a:p>
        </p:txBody>
      </p:sp>
      <p:sp>
        <p:nvSpPr>
          <p:cNvPr id="2" name="">
            <a:extLst xmlns:a="http://schemas.openxmlformats.org/drawingml/2006/main">
              <a:ext uri="{FF2B5EF4-FFF2-40B4-BE49-F238E27FC236}">
                <a16:creationId xmlns:a16="http://schemas.microsoft.com/office/drawing/2014/main" id="{087DFCE4-82BD-4C56-B92E-D0EB1553514E}"/>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90E30BEF-AC42-4E5E-9F6D-55FA02E94B80}"/>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19</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5986096af164555"/>
          <a:stretch xmlns:a="http://schemas.openxmlformats.org/drawingml/2006/main"/>
        </p:blipFill>
        <p:spPr>
          <a:xfrm xmlns:a="http://schemas.openxmlformats.org/drawingml/2006/main">
            <a:off x="686402" y="1504950"/>
            <a:ext cx="5285170" cy="43529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CF5B75C-C301-4B61-8447-1FC9475D95BC}"/>
              </a:ext>
            </a:extLst>
          </p:cNvPr>
          <p:cNvSpPr>
            <a:spLocks xmlns:a="http://schemas.openxmlformats.org/drawingml/2006/main" noGrp="1"/>
          </p:cNvSpPr>
          <p:nvPr/>
        </p:nvSpPr>
        <p:spPr>
          <a:xfrm xmlns:a="http://schemas.openxmlformats.org/drawingml/2006/main">
            <a:off x="6400800" y="1552575"/>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My starting choices</a:t>
            </a:r>
          </a:p>
        </p:txBody>
      </p:sp>
      <p:sp>
        <p:nvSpPr>
          <p:cNvPr id="6" name="">
            <a:extLst xmlns:a="http://schemas.openxmlformats.org/drawingml/2006/main">
              <a:ext uri="{FF2B5EF4-FFF2-40B4-BE49-F238E27FC236}">
                <a16:creationId xmlns:a16="http://schemas.microsoft.com/office/drawing/2014/main" id="{759272F6-31C6-4EEE-8E2F-5999024603F9}"/>
              </a:ext>
            </a:extLst>
          </p:cNvPr>
          <p:cNvSpPr>
            <a:spLocks xmlns:a="http://schemas.openxmlformats.org/drawingml/2006/main" noGrp="1"/>
          </p:cNvSpPr>
          <p:nvPr/>
        </p:nvSpPr>
        <p:spPr>
          <a:xfrm xmlns:a="http://schemas.openxmlformats.org/drawingml/2006/main">
            <a:off x="6400800" y="2009775"/>
            <a:ext cx="5105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640×480 camera, ideal 15 FPS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512 px longest side, 1 s interval</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64 output tokens, temperature 0</a:t>
            </a:r>
          </a:p>
        </p:txBody>
      </p:sp>
      <p:sp>
        <p:nvSpPr>
          <p:cNvPr id="7" name="">
            <a:extLst xmlns:a="http://schemas.openxmlformats.org/drawingml/2006/main">
              <a:ext uri="{FF2B5EF4-FFF2-40B4-BE49-F238E27FC236}">
                <a16:creationId xmlns:a16="http://schemas.microsoft.com/office/drawing/2014/main" id="{7C66F5C0-1761-4C3D-B377-608EF516B24F}"/>
              </a:ext>
            </a:extLst>
          </p:cNvPr>
          <p:cNvSpPr>
            <a:spLocks xmlns:a="http://schemas.openxmlformats.org/drawingml/2006/main" noGrp="1"/>
          </p:cNvSpPr>
          <p:nvPr/>
        </p:nvSpPr>
        <p:spPr>
          <a:xfrm xmlns:a="http://schemas.openxmlformats.org/drawingml/2006/main">
            <a:off x="6400800" y="3267075"/>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Working hypothesis</a:t>
            </a:r>
          </a:p>
        </p:txBody>
      </p:sp>
      <p:sp>
        <p:nvSpPr>
          <p:cNvPr id="8" name="">
            <a:extLst xmlns:a="http://schemas.openxmlformats.org/drawingml/2006/main">
              <a:ext uri="{FF2B5EF4-FFF2-40B4-BE49-F238E27FC236}">
                <a16:creationId xmlns:a16="http://schemas.microsoft.com/office/drawing/2014/main" id="{2833EF6E-08E9-49F2-8673-0012F0BC9468}"/>
              </a:ext>
            </a:extLst>
          </p:cNvPr>
          <p:cNvSpPr>
            <a:spLocks xmlns:a="http://schemas.openxmlformats.org/drawingml/2006/main" noGrp="1"/>
          </p:cNvSpPr>
          <p:nvPr/>
        </p:nvSpPr>
        <p:spPr>
          <a:xfrm xmlns:a="http://schemas.openxmlformats.org/drawingml/2006/main">
            <a:off x="6400800" y="3724275"/>
            <a:ext cx="5105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Capped frames and resident inference would reduce backlog and setup overhead.</a:t>
            </a:r>
          </a:p>
        </p:txBody>
      </p:sp>
      <p:sp>
        <p:nvSpPr>
          <p:cNvPr id="9" name="">
            <a:extLst xmlns:a="http://schemas.openxmlformats.org/drawingml/2006/main">
              <a:ext uri="{FF2B5EF4-FFF2-40B4-BE49-F238E27FC236}">
                <a16:creationId xmlns:a16="http://schemas.microsoft.com/office/drawing/2014/main" id="{C9CD2CC3-7BA9-4384-9A86-627244CA1F8F}"/>
              </a:ext>
            </a:extLst>
          </p:cNvPr>
          <p:cNvSpPr>
            <a:spLocks xmlns:a="http://schemas.openxmlformats.org/drawingml/2006/main" noGrp="1"/>
          </p:cNvSpPr>
          <p:nvPr/>
        </p:nvSpPr>
        <p:spPr>
          <a:xfrm xmlns:a="http://schemas.openxmlformats.org/drawingml/2006/main">
            <a:off x="6400800" y="4686300"/>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Comparison gap</a:t>
            </a:r>
          </a:p>
        </p:txBody>
      </p:sp>
      <p:sp>
        <p:nvSpPr>
          <p:cNvPr id="10" name="">
            <a:extLst xmlns:a="http://schemas.openxmlformats.org/drawingml/2006/main">
              <a:ext uri="{FF2B5EF4-FFF2-40B4-BE49-F238E27FC236}">
                <a16:creationId xmlns:a16="http://schemas.microsoft.com/office/drawing/2014/main" id="{F5950F1E-6D41-4378-9147-D736D3258263}"/>
              </a:ext>
            </a:extLst>
          </p:cNvPr>
          <p:cNvSpPr>
            <a:spLocks xmlns:a="http://schemas.openxmlformats.org/drawingml/2006/main" noGrp="1"/>
          </p:cNvSpPr>
          <p:nvPr/>
        </p:nvSpPr>
        <p:spPr>
          <a:xfrm xmlns:a="http://schemas.openxmlformats.org/drawingml/2006/main">
            <a:off x="6400800" y="514350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I had not matched Live VLM’s default workload before running the search.</a:t>
            </a:r>
          </a:p>
        </p:txBody>
      </p:sp>
      <p:sp>
        <p:nvSpPr>
          <p:cNvPr id="11" name="">
            <a:extLst xmlns:a="http://schemas.openxmlformats.org/drawingml/2006/main">
              <a:ext uri="{FF2B5EF4-FFF2-40B4-BE49-F238E27FC236}">
                <a16:creationId xmlns:a16="http://schemas.microsoft.com/office/drawing/2014/main" id="{4D355B8A-7F75-4234-B60B-158158106D5D}"/>
              </a:ext>
            </a:extLst>
          </p:cNvPr>
          <p:cNvSpPr>
            <a:spLocks xmlns:a="http://schemas.openxmlformats.org/drawingml/2006/main" noGrp="1"/>
          </p:cNvSpPr>
          <p:nvPr/>
        </p:nvSpPr>
        <p:spPr>
          <a:xfrm xmlns:a="http://schemas.openxmlformats.org/drawingml/2006/main">
            <a:off x="685800" y="60102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0">
                <a:solidFill>
                  <a:srgbClr val="566773"/>
                </a:solidFill>
                <a:latin typeface="Helvetica Neue"/>
                <a:ea typeface="Helvetica Neue"/>
                <a:cs typeface="Helvetica Neue"/>
              </a:defRPr>
            </a:pPr>
            <a:r>
              <a:rPr sz="1650" b="0">
                <a:solidFill>
                  <a:srgbClr val="566773"/>
                </a:solidFill>
                <a:latin typeface="Helvetica Neue"/>
                <a:ea typeface="Helvetica Neue"/>
                <a:cs typeface="Helvetica Neue"/>
              </a:rPr>
              <a:t>Initial preview before backend readiness. The claimed overhead benefit was a hypothesis.</a:t>
            </a:r>
          </a:p>
        </p:txBody>
      </p:sp>
    </p:spTree>
    <p:extLst>
      <p:ext uri="{BB962C8B-B14F-4D97-AF65-F5344CB8AC3E}">
        <p14:creationId xmlns:p14="http://schemas.microsoft.com/office/powerpoint/2010/main" val="172955768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8F4F6E-2931-4EBE-A2C6-1DDDE4154280}"/>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Your steering changed the comparison settings</a:t>
            </a:r>
          </a:p>
        </p:txBody>
      </p:sp>
      <p:sp>
        <p:nvSpPr>
          <p:cNvPr id="2" name="">
            <a:extLst xmlns:a="http://schemas.openxmlformats.org/drawingml/2006/main">
              <a:ext uri="{FF2B5EF4-FFF2-40B4-BE49-F238E27FC236}">
                <a16:creationId xmlns:a16="http://schemas.microsoft.com/office/drawing/2014/main" id="{112EE749-1756-4821-9EF8-4D92EE981A3C}"/>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E476F57F-C5DD-4786-9B4C-BD465D79E68A}"/>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20</a:t>
            </a:r>
          </a:p>
        </p:txBody>
      </p:sp>
      <p:sp>
        <p:nvSpPr>
          <p:cNvPr id="4" name="">
            <a:extLst xmlns:a="http://schemas.openxmlformats.org/drawingml/2006/main">
              <a:ext uri="{FF2B5EF4-FFF2-40B4-BE49-F238E27FC236}">
                <a16:creationId xmlns:a16="http://schemas.microsoft.com/office/drawing/2014/main" id="{E2D14282-6D93-49F9-A959-5E8C3CE99825}"/>
              </a:ext>
            </a:extLst>
          </p:cNvPr>
          <p:cNvSpPr>
            <a:spLocks xmlns:a="http://schemas.openxmlformats.org/drawingml/2006/main" noGrp="1"/>
          </p:cNvSpPr>
          <p:nvPr/>
        </p:nvSpPr>
        <p:spPr>
          <a:xfrm xmlns:a="http://schemas.openxmlformats.org/drawingml/2006/main">
            <a:off x="685800" y="138112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146875"/>
                </a:solidFill>
                <a:latin typeface="Helvetica Neue"/>
                <a:ea typeface="Helvetica Neue"/>
                <a:cs typeface="Helvetica Neue"/>
              </a:defRPr>
            </a:pPr>
            <a:r>
              <a:rPr sz="2250" b="1">
                <a:solidFill>
                  <a:srgbClr val="146875"/>
                </a:solidFill>
                <a:latin typeface="Helvetica Neue"/>
                <a:ea typeface="Helvetica Neue"/>
                <a:cs typeface="Helvetica Neue"/>
              </a:rPr>
              <a:t>“Make the Live VLM WebUI default”</a:t>
            </a:r>
          </a:p>
        </p:txBody>
      </p:sp>
      <p:graphicFrame>
        <p:nvGraphicFramePr>
          <p:cNvPr id="14" name=""/>
          <p:cNvGraphicFramePr/>
          <p:nvPr/>
        </p:nvGraphicFramePr>
        <p:xfrm>
          <a:off xmlns:a="http://schemas.openxmlformats.org/drawingml/2006/main" x="685800" y="1952625"/>
          <a:ext xmlns:a="http://schemas.openxmlformats.org/drawingml/2006/main" cx="10820400" cy="3467100"/>
        </p:xfrm>
        <a:graphic xmlns:a="http://schemas.openxmlformats.org/drawingml/2006/main">
          <a:graphicData uri="http://schemas.openxmlformats.org/drawingml/2006/table">
            <a:tbl>
              <a:tblPr firstRow="1" bandRow="0"/>
              <a:tblGrid>
                <a:gridCol w="2381250"/>
                <a:gridCol w="3781425"/>
                <a:gridCol w="4657725"/>
              </a:tblGrid>
              <a:tr h="495300">
                <a:tc>
                  <a:txBody>
                    <a:bodyPr/>
                    <a:lstStyle/>
                    <a:p>
                      <a:r>
                        <a:rPr sz="1725" b="1">
                          <a:solidFill>
                            <a:srgbClr val="183542"/>
                          </a:solidFill>
                          <a:latin typeface="Helvetica Neue"/>
                          <a:ea typeface="Helvetica Neue"/>
                          <a:cs typeface="Helvetica Neue"/>
                        </a:rPr>
                        <a:t>Setting</a:t>
                      </a:r>
                    </a:p>
                  </a:txBody>
                  <a:tcPr marL="142875" marR="142875" marT="76200" marB="76200" anchor="ctr">
                    <a:solidFill>
                      <a:srgbClr val="E8F0F1"/>
                    </a:solidFill>
                  </a:tcPr>
                </a:tc>
                <a:tc>
                  <a:txBody>
                    <a:bodyPr/>
                    <a:lstStyle/>
                    <a:p>
                      <a:r>
                        <a:rPr sz="1725" b="1">
                          <a:solidFill>
                            <a:srgbClr val="183542"/>
                          </a:solidFill>
                          <a:latin typeface="Helvetica Neue"/>
                          <a:ea typeface="Helvetica Neue"/>
                          <a:cs typeface="Helvetica Neue"/>
                        </a:rPr>
                        <a:t>My initial defaults</a:t>
                      </a:r>
                    </a:p>
                  </a:txBody>
                  <a:tcPr marL="142875" marR="142875" marT="76200" marB="76200" anchor="ctr">
                    <a:solidFill>
                      <a:srgbClr val="E8F0F1"/>
                    </a:solidFill>
                  </a:tcPr>
                </a:tc>
                <a:tc>
                  <a:txBody>
                    <a:bodyPr/>
                    <a:lstStyle/>
                    <a:p>
                      <a:r>
                        <a:rPr sz="1725" b="1">
                          <a:solidFill>
                            <a:srgbClr val="183542"/>
                          </a:solidFill>
                          <a:latin typeface="Helvetica Neue"/>
                          <a:ea typeface="Helvetica Neue"/>
                          <a:cs typeface="Helvetica Neue"/>
                        </a:rPr>
                        <a:t>Defaults after your steering</a:t>
                      </a:r>
                    </a:p>
                  </a:txBody>
                  <a:tcPr marL="142875" marR="142875" marT="76200" marB="76200" anchor="ctr">
                    <a:solidFill>
                      <a:srgbClr val="E8F0F1"/>
                    </a:solidFill>
                  </a:tcPr>
                </a:tc>
              </a:tr>
              <a:tr h="495300">
                <a:tc>
                  <a:txBody>
                    <a:bodyPr/>
                    <a:lstStyle/>
                    <a:p>
                      <a:r>
                        <a:rPr sz="1725">
                          <a:solidFill>
                            <a:srgbClr val="183542"/>
                          </a:solidFill>
                          <a:latin typeface="Helvetica Neue"/>
                          <a:ea typeface="Helvetica Neue"/>
                          <a:cs typeface="Helvetica Neue"/>
                        </a:rPr>
                        <a:t>Camera request</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640×480, ideal 15 FPS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1280×720, no FPS constraint</a:t>
                      </a:r>
                    </a:p>
                  </a:txBody>
                  <a:tcPr marL="142875" marR="142875" marT="76200" marB="76200" anchor="ctr">
                    <a:solidFill>
                      <a:srgbClr val="FFFFFF"/>
                    </a:solidFill>
                  </a:tcPr>
                </a:tc>
              </a:tr>
              <a:tr h="495300">
                <a:tc>
                  <a:txBody>
                    <a:bodyPr/>
                    <a:lstStyle/>
                    <a:p>
                      <a:r>
                        <a:rPr sz="1725">
                          <a:solidFill>
                            <a:srgbClr val="183542"/>
                          </a:solidFill>
                          <a:latin typeface="Helvetica Neue"/>
                          <a:ea typeface="Helvetica Neue"/>
                          <a:cs typeface="Helvetica Neue"/>
                        </a:rPr>
                        <a:t>Sent image</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512 px longest side</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Preserve full source dimensions</a:t>
                      </a:r>
                    </a:p>
                  </a:txBody>
                  <a:tcPr marL="142875" marR="142875" marT="76200" marB="76200" anchor="ctr">
                    <a:solidFill>
                      <a:srgbClr val="FFFFFF"/>
                    </a:solidFill>
                  </a:tcPr>
                </a:tc>
              </a:tr>
              <a:tr h="495300">
                <a:tc>
                  <a:txBody>
                    <a:bodyPr/>
                    <a:lstStyle/>
                    <a:p>
                      <a:r>
                        <a:rPr sz="1725">
                          <a:solidFill>
                            <a:srgbClr val="183542"/>
                          </a:solidFill>
                          <a:latin typeface="Helvetica Neue"/>
                          <a:ea typeface="Helvetica Neue"/>
                          <a:cs typeface="Helvetica Neue"/>
                        </a:rPr>
                        <a:t>Capture cadence</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 s minimum, after answer</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Every 30 frames, skip while busy</a:t>
                      </a:r>
                    </a:p>
                  </a:txBody>
                  <a:tcPr marL="142875" marR="142875" marT="76200" marB="76200" anchor="ctr">
                    <a:solidFill>
                      <a:srgbClr val="FFFFFF"/>
                    </a:solidFill>
                  </a:tcPr>
                </a:tc>
              </a:tr>
              <a:tr h="495300">
                <a:tc>
                  <a:txBody>
                    <a:bodyPr/>
                    <a:lstStyle/>
                    <a:p>
                      <a:r>
                        <a:rPr sz="1725">
                          <a:solidFill>
                            <a:srgbClr val="183542"/>
                          </a:solidFill>
                          <a:latin typeface="Helvetica Neue"/>
                          <a:ea typeface="Helvetica Neue"/>
                          <a:cs typeface="Helvetica Neue"/>
                        </a:rPr>
                        <a:t>JPEG quality</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Browser 0.8</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Browser 0.75, nominal match</a:t>
                      </a:r>
                    </a:p>
                  </a:txBody>
                  <a:tcPr marL="142875" marR="142875" marT="76200" marB="76200" anchor="ctr">
                    <a:solidFill>
                      <a:srgbClr val="FFFFFF"/>
                    </a:solidFill>
                  </a:tcPr>
                </a:tc>
              </a:tr>
              <a:tr h="495300">
                <a:tc>
                  <a:txBody>
                    <a:bodyPr/>
                    <a:lstStyle/>
                    <a:p>
                      <a:r>
                        <a:rPr sz="1725">
                          <a:solidFill>
                            <a:srgbClr val="183542"/>
                          </a:solidFill>
                          <a:latin typeface="Helvetica Neue"/>
                          <a:ea typeface="Helvetica Neue"/>
                          <a:cs typeface="Helvetica Neue"/>
                        </a:rPr>
                        <a:t>Output ceiling</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64 tokens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512 tokens</a:t>
                      </a:r>
                    </a:p>
                  </a:txBody>
                  <a:tcPr marL="142875" marR="142875" marT="76200" marB="76200" anchor="ctr">
                    <a:solidFill>
                      <a:srgbClr val="FFFFFF"/>
                    </a:solidFill>
                  </a:tcPr>
                </a:tc>
              </a:tr>
              <a:tr h="495300">
                <a:tc>
                  <a:txBody>
                    <a:bodyPr/>
                    <a:lstStyle/>
                    <a:p>
                      <a:r>
                        <a:rPr sz="1725">
                          <a:solidFill>
                            <a:srgbClr val="183542"/>
                          </a:solidFill>
                          <a:latin typeface="Helvetica Neue"/>
                          <a:ea typeface="Helvetica Neue"/>
                          <a:cs typeface="Helvetica Neue"/>
                        </a:rPr>
                        <a:t>Generation</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Temperature 0, greedy</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Temperature 0.7</a:t>
                      </a:r>
                    </a:p>
                  </a:txBody>
                  <a:tcPr marL="142875" marR="142875"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D7DE6C0-CCAB-4EA1-9918-C7F88C825D55}"/>
              </a:ext>
            </a:extLst>
          </p:cNvPr>
          <p:cNvSpPr>
            <a:spLocks xmlns:a="http://schemas.openxmlformats.org/drawingml/2006/main" noGrp="1"/>
          </p:cNvSpPr>
          <p:nvPr/>
        </p:nvSpPr>
        <p:spPr>
          <a:xfrm xmlns:a="http://schemas.openxmlformats.org/drawingml/2006/main">
            <a:off x="685800" y="5657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Prompt now: “Describe what you see in this image in one sentence.”</a:t>
            </a:r>
          </a:p>
        </p:txBody>
      </p:sp>
      <p:sp>
        <p:nvSpPr>
          <p:cNvPr id="7" name="">
            <a:extLst xmlns:a="http://schemas.openxmlformats.org/drawingml/2006/main">
              <a:ext uri="{FF2B5EF4-FFF2-40B4-BE49-F238E27FC236}">
                <a16:creationId xmlns:a16="http://schemas.microsoft.com/office/drawing/2014/main" id="{D4ADAEC4-5A8D-483A-B3AC-9344D0639BCB}"/>
              </a:ext>
            </a:extLst>
          </p:cNvPr>
          <p:cNvSpPr>
            <a:spLocks xmlns:a="http://schemas.openxmlformats.org/drawingml/2006/main" noGrp="1"/>
          </p:cNvSpPr>
          <p:nvPr/>
        </p:nvSpPr>
        <p:spPr>
          <a:xfrm xmlns:a="http://schemas.openxmlformats.org/drawingml/2006/main">
            <a:off x="685800" y="60579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0">
                <a:solidFill>
                  <a:srgbClr val="566773"/>
                </a:solidFill>
                <a:latin typeface="Helvetica Neue"/>
                <a:ea typeface="Helvetica Neue"/>
                <a:cs typeface="Helvetica Neue"/>
              </a:defRPr>
            </a:pPr>
            <a:r>
              <a:rPr sz="1575" b="0">
                <a:solidFill>
                  <a:srgbClr val="566773"/>
                </a:solidFill>
                <a:latin typeface="Helvetica Neue"/>
                <a:ea typeface="Helvetica Neue"/>
                <a:cs typeface="Helvetica Neue"/>
              </a:rPr>
              <a:t>The toggle retains Lightweight. Encoding, transport and timing boundaries still differ.</a:t>
            </a:r>
          </a:p>
        </p:txBody>
      </p:sp>
    </p:spTree>
    <p:extLst>
      <p:ext uri="{BB962C8B-B14F-4D97-AF65-F5344CB8AC3E}">
        <p14:creationId xmlns:p14="http://schemas.microsoft.com/office/powerpoint/2010/main" val="49624411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D4D53C9-C461-44F6-8006-53A06FE0F05F}"/>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Recorded “before”: Live VLM default preset</a:t>
            </a:r>
          </a:p>
        </p:txBody>
      </p:sp>
      <p:sp>
        <p:nvSpPr>
          <p:cNvPr id="2" name="">
            <a:extLst xmlns:a="http://schemas.openxmlformats.org/drawingml/2006/main">
              <a:ext uri="{FF2B5EF4-FFF2-40B4-BE49-F238E27FC236}">
                <a16:creationId xmlns:a16="http://schemas.microsoft.com/office/drawing/2014/main" id="{9519E4C6-18D4-4123-87BF-CEE4644704D0}"/>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6D7D4591-ED69-4EFD-8D8E-C2D113A69A04}"/>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21</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050eaf45bbc45fb"/>
          <a:stretch xmlns:a="http://schemas.openxmlformats.org/drawingml/2006/main"/>
        </p:blipFill>
        <p:spPr>
          <a:xfrm xmlns:a="http://schemas.openxmlformats.org/drawingml/2006/main">
            <a:off x="690181" y="1562100"/>
            <a:ext cx="7515988" cy="4705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E20F7AE-22D5-4686-88CD-E9471DB9B2B3}"/>
              </a:ext>
            </a:extLst>
          </p:cNvPr>
          <p:cNvSpPr>
            <a:spLocks xmlns:a="http://schemas.openxmlformats.org/drawingml/2006/main" noGrp="1"/>
          </p:cNvSpPr>
          <p:nvPr/>
        </p:nvSpPr>
        <p:spPr>
          <a:xfrm xmlns:a="http://schemas.openxmlformats.org/drawingml/2006/main">
            <a:off x="8591550" y="1600200"/>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Clip 00:00:05.808</a:t>
            </a:r>
          </a:p>
        </p:txBody>
      </p:sp>
      <p:sp>
        <p:nvSpPr>
          <p:cNvPr id="6" name="">
            <a:extLst xmlns:a="http://schemas.openxmlformats.org/drawingml/2006/main">
              <a:ext uri="{FF2B5EF4-FFF2-40B4-BE49-F238E27FC236}">
                <a16:creationId xmlns:a16="http://schemas.microsoft.com/office/drawing/2014/main" id="{9987D5D2-B510-4054-A990-31B098F2A932}"/>
              </a:ext>
            </a:extLst>
          </p:cNvPr>
          <p:cNvSpPr>
            <a:spLocks xmlns:a="http://schemas.openxmlformats.org/drawingml/2006/main" noGrp="1"/>
          </p:cNvSpPr>
          <p:nvPr/>
        </p:nvSpPr>
        <p:spPr>
          <a:xfrm xmlns:a="http://schemas.openxmlformats.org/drawingml/2006/main">
            <a:off x="8591550" y="2057400"/>
            <a:ext cx="29146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1280×720 sent</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30.0 FPS camera label</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Live VLM default selected</a:t>
            </a:r>
          </a:p>
        </p:txBody>
      </p:sp>
      <p:sp>
        <p:nvSpPr>
          <p:cNvPr id="7" name="">
            <a:extLst xmlns:a="http://schemas.openxmlformats.org/drawingml/2006/main">
              <a:ext uri="{FF2B5EF4-FFF2-40B4-BE49-F238E27FC236}">
                <a16:creationId xmlns:a16="http://schemas.microsoft.com/office/drawing/2014/main" id="{F6B32CBF-C570-4392-8A48-2046157E8075}"/>
              </a:ext>
            </a:extLst>
          </p:cNvPr>
          <p:cNvSpPr>
            <a:spLocks xmlns:a="http://schemas.openxmlformats.org/drawingml/2006/main" noGrp="1"/>
          </p:cNvSpPr>
          <p:nvPr/>
        </p:nvSpPr>
        <p:spPr>
          <a:xfrm xmlns:a="http://schemas.openxmlformats.org/drawingml/2006/main">
            <a:off x="8591550" y="3467100"/>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Visible timing</a:t>
            </a:r>
          </a:p>
        </p:txBody>
      </p:sp>
      <p:sp>
        <p:nvSpPr>
          <p:cNvPr id="8" name="">
            <a:extLst xmlns:a="http://schemas.openxmlformats.org/drawingml/2006/main">
              <a:ext uri="{FF2B5EF4-FFF2-40B4-BE49-F238E27FC236}">
                <a16:creationId xmlns:a16="http://schemas.microsoft.com/office/drawing/2014/main" id="{5FFD5F68-EC76-4026-B457-F4515C8D6604}"/>
              </a:ext>
            </a:extLst>
          </p:cNvPr>
          <p:cNvSpPr>
            <a:spLocks xmlns:a="http://schemas.openxmlformats.org/drawingml/2006/main" noGrp="1"/>
          </p:cNvSpPr>
          <p:nvPr/>
        </p:nvSpPr>
        <p:spPr>
          <a:xfrm xmlns:a="http://schemas.openxmlformats.org/drawingml/2006/main">
            <a:off x="8591550" y="3924300"/>
            <a:ext cx="2914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First text: 812 ms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Complete: 1.44 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Frame age: 1.55 s</a:t>
            </a:r>
          </a:p>
        </p:txBody>
      </p:sp>
      <p:sp>
        <p:nvSpPr>
          <p:cNvPr id="9" name="">
            <a:extLst xmlns:a="http://schemas.openxmlformats.org/drawingml/2006/main">
              <a:ext uri="{FF2B5EF4-FFF2-40B4-BE49-F238E27FC236}">
                <a16:creationId xmlns:a16="http://schemas.microsoft.com/office/drawing/2014/main" id="{A1740246-381A-45A2-A9E8-048899EBDD77}"/>
              </a:ext>
            </a:extLst>
          </p:cNvPr>
          <p:cNvSpPr>
            <a:spLocks xmlns:a="http://schemas.openxmlformats.org/drawingml/2006/main" noGrp="1"/>
          </p:cNvSpPr>
          <p:nvPr/>
        </p:nvSpPr>
        <p:spPr>
          <a:xfrm xmlns:a="http://schemas.openxmlformats.org/drawingml/2006/main">
            <a:off x="8591550" y="5276850"/>
            <a:ext cx="2914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Resource values and the token limit are outside the viewport.</a:t>
            </a:r>
          </a:p>
        </p:txBody>
      </p:sp>
    </p:spTree>
    <p:extLst>
      <p:ext uri="{BB962C8B-B14F-4D97-AF65-F5344CB8AC3E}">
        <p14:creationId xmlns:p14="http://schemas.microsoft.com/office/powerpoint/2010/main" val="5440459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6ADE427-BEBF-4A55-8432-A241D04754A2}"/>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The “before” evidence includes model limits</a:t>
            </a:r>
          </a:p>
        </p:txBody>
      </p:sp>
      <p:sp>
        <p:nvSpPr>
          <p:cNvPr id="2" name="">
            <a:extLst xmlns:a="http://schemas.openxmlformats.org/drawingml/2006/main">
              <a:ext uri="{FF2B5EF4-FFF2-40B4-BE49-F238E27FC236}">
                <a16:creationId xmlns:a16="http://schemas.microsoft.com/office/drawing/2014/main" id="{9A684B37-AD6E-41B6-A35E-E8537420F507}"/>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E89CCFA2-E304-4F8C-985D-97F74D77088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97efedc5c6d4692"/>
          <a:stretch xmlns:a="http://schemas.openxmlformats.org/drawingml/2006/main"/>
        </p:blipFill>
        <p:spPr>
          <a:xfrm xmlns:a="http://schemas.openxmlformats.org/drawingml/2006/main">
            <a:off x="690181" y="1562100"/>
            <a:ext cx="7515988" cy="4705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95AD8AE-616F-4008-A4AC-586567B2F3B5}"/>
              </a:ext>
            </a:extLst>
          </p:cNvPr>
          <p:cNvSpPr>
            <a:spLocks xmlns:a="http://schemas.openxmlformats.org/drawingml/2006/main" noGrp="1"/>
          </p:cNvSpPr>
          <p:nvPr/>
        </p:nvSpPr>
        <p:spPr>
          <a:xfrm xmlns:a="http://schemas.openxmlformats.org/drawingml/2006/main">
            <a:off x="8591550" y="1600200"/>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Clip 00:00:09.842</a:t>
            </a:r>
          </a:p>
        </p:txBody>
      </p:sp>
      <p:sp>
        <p:nvSpPr>
          <p:cNvPr id="6" name="">
            <a:extLst xmlns:a="http://schemas.openxmlformats.org/drawingml/2006/main">
              <a:ext uri="{FF2B5EF4-FFF2-40B4-BE49-F238E27FC236}">
                <a16:creationId xmlns:a16="http://schemas.microsoft.com/office/drawing/2014/main" id="{AD8FA4A1-708C-41BA-847B-B6EE31D1F4B3}"/>
              </a:ext>
            </a:extLst>
          </p:cNvPr>
          <p:cNvSpPr>
            <a:spLocks xmlns:a="http://schemas.openxmlformats.org/drawingml/2006/main" noGrp="1"/>
          </p:cNvSpPr>
          <p:nvPr/>
        </p:nvSpPr>
        <p:spPr>
          <a:xfrm xmlns:a="http://schemas.openxmlformats.org/drawingml/2006/main">
            <a:off x="8591550" y="2057400"/>
            <a:ext cx="29146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First text: 612 ms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Complete: 1.43 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Frame age: 1.56 s</a:t>
            </a:r>
          </a:p>
        </p:txBody>
      </p:sp>
      <p:sp>
        <p:nvSpPr>
          <p:cNvPr id="7" name="">
            <a:extLst xmlns:a="http://schemas.openxmlformats.org/drawingml/2006/main">
              <a:ext uri="{FF2B5EF4-FFF2-40B4-BE49-F238E27FC236}">
                <a16:creationId xmlns:a16="http://schemas.microsoft.com/office/drawing/2014/main" id="{63FB284C-4A21-4D68-BC87-81BD724C9BB9}"/>
              </a:ext>
            </a:extLst>
          </p:cNvPr>
          <p:cNvSpPr>
            <a:spLocks xmlns:a="http://schemas.openxmlformats.org/drawingml/2006/main" noGrp="1"/>
          </p:cNvSpPr>
          <p:nvPr/>
        </p:nvSpPr>
        <p:spPr>
          <a:xfrm xmlns:a="http://schemas.openxmlformats.org/drawingml/2006/main">
            <a:off x="8591550" y="3438525"/>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Inferred action</a:t>
            </a:r>
          </a:p>
        </p:txBody>
      </p:sp>
      <p:sp>
        <p:nvSpPr>
          <p:cNvPr id="8" name="">
            <a:extLst xmlns:a="http://schemas.openxmlformats.org/drawingml/2006/main">
              <a:ext uri="{FF2B5EF4-FFF2-40B4-BE49-F238E27FC236}">
                <a16:creationId xmlns:a16="http://schemas.microsoft.com/office/drawing/2014/main" id="{750D085B-20C3-4739-9F1A-1B8C1A72349A}"/>
              </a:ext>
            </a:extLst>
          </p:cNvPr>
          <p:cNvSpPr>
            <a:spLocks xmlns:a="http://schemas.openxmlformats.org/drawingml/2006/main" noGrp="1"/>
          </p:cNvSpPr>
          <p:nvPr/>
        </p:nvSpPr>
        <p:spPr>
          <a:xfrm xmlns:a="http://schemas.openxmlformats.org/drawingml/2006/main">
            <a:off x="8591550" y="3895725"/>
            <a:ext cx="291465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The answer adds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“as if to scratch it”.</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The image does not establish that action.</a:t>
            </a:r>
          </a:p>
        </p:txBody>
      </p:sp>
      <p:sp>
        <p:nvSpPr>
          <p:cNvPr id="9" name="">
            <a:extLst xmlns:a="http://schemas.openxmlformats.org/drawingml/2006/main">
              <a:ext uri="{FF2B5EF4-FFF2-40B4-BE49-F238E27FC236}">
                <a16:creationId xmlns:a16="http://schemas.microsoft.com/office/drawing/2014/main" id="{2AC91AB6-32CF-4B1C-85E4-673B1B5C86FE}"/>
              </a:ext>
            </a:extLst>
          </p:cNvPr>
          <p:cNvSpPr>
            <a:spLocks xmlns:a="http://schemas.openxmlformats.org/drawingml/2006/main" noGrp="1"/>
          </p:cNvSpPr>
          <p:nvPr/>
        </p:nvSpPr>
        <p:spPr>
          <a:xfrm xmlns:a="http://schemas.openxmlformats.org/drawingml/2006/main">
            <a:off x="8591550" y="5581650"/>
            <a:ext cx="2914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Individual observation. No accuracy rate inferred.</a:t>
            </a:r>
          </a:p>
        </p:txBody>
      </p:sp>
    </p:spTree>
    <p:extLst>
      <p:ext uri="{BB962C8B-B14F-4D97-AF65-F5344CB8AC3E}">
        <p14:creationId xmlns:p14="http://schemas.microsoft.com/office/powerpoint/2010/main" val="62136946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BDE006-DE65-459F-837D-06D03DD19779}"/>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The goal seek retained corrected FP16</a:t>
            </a:r>
          </a:p>
        </p:txBody>
      </p:sp>
      <p:sp>
        <p:nvSpPr>
          <p:cNvPr id="2" name="">
            <a:extLst xmlns:a="http://schemas.openxmlformats.org/drawingml/2006/main">
              <a:ext uri="{FF2B5EF4-FFF2-40B4-BE49-F238E27FC236}">
                <a16:creationId xmlns:a16="http://schemas.microsoft.com/office/drawing/2014/main" id="{1E3DB2CB-9A81-4185-A91F-61602BF839AA}"/>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110BD879-EAAC-405B-B295-7DBB4EB24F94}"/>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23</a:t>
            </a:r>
          </a:p>
        </p:txBody>
      </p:sp>
      <p:sp>
        <p:nvSpPr>
          <p:cNvPr id="4" name="">
            <a:extLst xmlns:a="http://schemas.openxmlformats.org/drawingml/2006/main">
              <a:ext uri="{FF2B5EF4-FFF2-40B4-BE49-F238E27FC236}">
                <a16:creationId xmlns:a16="http://schemas.microsoft.com/office/drawing/2014/main" id="{417941D8-6AC7-49C8-B481-95FC87823E05}"/>
              </a:ext>
            </a:extLst>
          </p:cNvPr>
          <p:cNvSpPr>
            <a:spLocks xmlns:a="http://schemas.openxmlformats.org/drawingml/2006/main" noGrp="1"/>
          </p:cNvSpPr>
          <p:nvPr/>
        </p:nvSpPr>
        <p:spPr>
          <a:xfrm xmlns:a="http://schemas.openxmlformats.org/drawingml/2006/main">
            <a:off x="685800" y="13620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Earlier fixed workload: 512×512, 64-token ceiling, temperature 0</a:t>
            </a:r>
          </a:p>
        </p:txBody>
      </p:sp>
      <p:graphicFrame>
        <p:nvGraphicFramePr>
          <p:cNvPr id="13" name=""/>
          <p:cNvGraphicFramePr/>
          <p:nvPr/>
        </p:nvGraphicFramePr>
        <p:xfrm>
          <a:off xmlns:a="http://schemas.openxmlformats.org/drawingml/2006/main" x="685800" y="1990725"/>
          <a:ext xmlns:a="http://schemas.openxmlformats.org/drawingml/2006/main" cx="10820400" cy="3429000"/>
        </p:xfrm>
        <a:graphic xmlns:a="http://schemas.openxmlformats.org/drawingml/2006/main">
          <a:graphicData uri="http://schemas.openxmlformats.org/drawingml/2006/table">
            <a:tbl>
              <a:tblPr firstRow="1" bandRow="0"/>
              <a:tblGrid>
                <a:gridCol w="2714625"/>
                <a:gridCol w="1666875"/>
                <a:gridCol w="2095500"/>
                <a:gridCol w="4343400"/>
              </a:tblGrid>
              <a:tr h="685800">
                <a:tc>
                  <a:txBody>
                    <a:bodyPr/>
                    <a:lstStyle/>
                    <a:p>
                      <a:r>
                        <a:rPr sz="1725" b="1">
                          <a:solidFill>
                            <a:srgbClr val="183542"/>
                          </a:solidFill>
                          <a:latin typeface="Helvetica Neue"/>
                          <a:ea typeface="Helvetica Neue"/>
                          <a:cs typeface="Helvetica Neue"/>
                        </a:rPr>
                        <a:t>Candidate</a:t>
                      </a:r>
                    </a:p>
                  </a:txBody>
                  <a:tcPr marL="142875" marR="142875" marT="76200" marB="76200" anchor="ctr">
                    <a:solidFill>
                      <a:srgbClr val="E8F0F1"/>
                    </a:solidFill>
                  </a:tcPr>
                </a:tc>
                <a:tc>
                  <a:txBody>
                    <a:bodyPr/>
                    <a:lstStyle/>
                    <a:p>
                      <a:r>
                        <a:rPr sz="1725" b="1">
                          <a:solidFill>
                            <a:srgbClr val="183542"/>
                          </a:solidFill>
                          <a:latin typeface="Helvetica Neue"/>
                          <a:ea typeface="Helvetica Neue"/>
                          <a:cs typeface="Helvetica Neue"/>
                        </a:rPr>
                        <a:t>p50 answer</a:t>
                      </a:r>
                    </a:p>
                  </a:txBody>
                  <a:tcPr marL="142875" marR="142875" marT="76200" marB="76200" anchor="ctr">
                    <a:solidFill>
                      <a:srgbClr val="E8F0F1"/>
                    </a:solidFill>
                  </a:tcPr>
                </a:tc>
                <a:tc>
                  <a:txBody>
                    <a:bodyPr/>
                    <a:lstStyle/>
                    <a:p>
                      <a:r>
                        <a:rPr sz="1725" b="1">
                          <a:solidFill>
                            <a:srgbClr val="183542"/>
                          </a:solidFill>
                          <a:latin typeface="Helvetica Neue"/>
                          <a:ea typeface="Helvetica Neue"/>
                          <a:cs typeface="Helvetica Neue"/>
                        </a:rPr>
                        <a:t>Peak shared RAM</a:t>
                      </a:r>
                    </a:p>
                  </a:txBody>
                  <a:tcPr marL="142875" marR="142875" marT="76200" marB="76200" anchor="ctr">
                    <a:solidFill>
                      <a:srgbClr val="E8F0F1"/>
                    </a:solidFill>
                  </a:tcPr>
                </a:tc>
                <a:tc>
                  <a:txBody>
                    <a:bodyPr/>
                    <a:lstStyle/>
                    <a:p>
                      <a:r>
                        <a:rPr sz="1725" b="1">
                          <a:solidFill>
                            <a:srgbClr val="183542"/>
                          </a:solidFill>
                          <a:latin typeface="Helvetica Neue"/>
                          <a:ea typeface="Helvetica Neue"/>
                          <a:cs typeface="Helvetica Neue"/>
                        </a:rPr>
                        <a:t>Decision</a:t>
                      </a:r>
                    </a:p>
                  </a:txBody>
                  <a:tcPr marL="142875" marR="142875" marT="76200" marB="76200" anchor="ctr">
                    <a:solidFill>
                      <a:srgbClr val="E8F0F1"/>
                    </a:solidFill>
                  </a:tcPr>
                </a:tc>
              </a:tr>
              <a:tr h="685800">
                <a:tc>
                  <a:txBody>
                    <a:bodyPr/>
                    <a:lstStyle/>
                    <a:p>
                      <a:r>
                        <a:rPr sz="1725">
                          <a:solidFill>
                            <a:srgbClr val="183542"/>
                          </a:solidFill>
                          <a:latin typeface="Helvetica Neue"/>
                          <a:ea typeface="Helvetica Neue"/>
                          <a:cs typeface="Helvetica Neue"/>
                        </a:rPr>
                        <a:t>FP16 reference</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1.830 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6.382 GiB</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Retained: reference-equivalent, 18/19 strict</a:t>
                      </a:r>
                    </a:p>
                  </a:txBody>
                  <a:tcPr marL="142875" marR="142875" marT="76200" marB="76200" anchor="ctr">
                    <a:solidFill>
                      <a:srgbClr val="FFFFFF"/>
                    </a:solidFill>
                  </a:tcPr>
                </a:tc>
              </a:tr>
              <a:tr h="685800">
                <a:tc>
                  <a:txBody>
                    <a:bodyPr/>
                    <a:lstStyle/>
                    <a:p>
                      <a:r>
                        <a:rPr sz="1725">
                          <a:solidFill>
                            <a:srgbClr val="183542"/>
                          </a:solidFill>
                          <a:latin typeface="Helvetica Neue"/>
                          <a:ea typeface="Helvetica Neue"/>
                          <a:cs typeface="Helvetica Neue"/>
                        </a:rPr>
                        <a:t>RTN INT4 all linears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1.229 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4.195 GiB</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Rejected: quality fell to 13/19</a:t>
                      </a:r>
                    </a:p>
                  </a:txBody>
                  <a:tcPr marL="142875" marR="142875" marT="76200" marB="76200" anchor="ctr">
                    <a:solidFill>
                      <a:srgbClr val="FFFFFF"/>
                    </a:solidFill>
                  </a:tcPr>
                </a:tc>
              </a:tr>
              <a:tr h="685800">
                <a:tc>
                  <a:txBody>
                    <a:bodyPr/>
                    <a:lstStyle/>
                    <a:p>
                      <a:r>
                        <a:rPr sz="1725">
                          <a:solidFill>
                            <a:srgbClr val="183542"/>
                          </a:solidFill>
                          <a:latin typeface="Helvetica Neue"/>
                          <a:ea typeface="Helvetica Neue"/>
                          <a:cs typeface="Helvetica Neue"/>
                        </a:rPr>
                        <a:t>RTN INT4 MLP only</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1.027 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5.014 GiB</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Rejected: new color error at 18/19</a:t>
                      </a:r>
                    </a:p>
                  </a:txBody>
                  <a:tcPr marL="142875" marR="142875" marT="76200" marB="76200" anchor="ctr">
                    <a:solidFill>
                      <a:srgbClr val="FFFFFF"/>
                    </a:solidFill>
                  </a:tcPr>
                </a:tc>
              </a:tr>
              <a:tr h="685800">
                <a:tc>
                  <a:txBody>
                    <a:bodyPr/>
                    <a:lstStyle/>
                    <a:p>
                      <a:r>
                        <a:rPr sz="1725">
                          <a:solidFill>
                            <a:srgbClr val="183542"/>
                          </a:solidFill>
                          <a:latin typeface="Helvetica Neue"/>
                          <a:ea typeface="Helvetica Neue"/>
                          <a:cs typeface="Helvetica Neue"/>
                        </a:rPr>
                        <a:t>FP16 fixed clocks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1.758 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6.353 GiB</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Rejected: &lt;5% gain and swap activity</a:t>
                      </a:r>
                    </a:p>
                  </a:txBody>
                  <a:tcPr marL="142875" marR="142875"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D1AAE99-C48A-4ECF-8A48-7B5DA03014A4}"/>
              </a:ext>
            </a:extLst>
          </p:cNvPr>
          <p:cNvSpPr>
            <a:spLocks xmlns:a="http://schemas.openxmlformats.org/drawingml/2006/main" noGrp="1"/>
          </p:cNvSpPr>
          <p:nvPr/>
        </p:nvSpPr>
        <p:spPr>
          <a:xfrm xmlns:a="http://schemas.openxmlformats.org/drawingml/2006/main">
            <a:off x="685800" y="57245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1">
                <a:solidFill>
                  <a:srgbClr val="146875"/>
                </a:solidFill>
                <a:latin typeface="Helvetica Neue"/>
                <a:ea typeface="Helvetica Neue"/>
                <a:cs typeface="Helvetica Neue"/>
              </a:defRPr>
            </a:pPr>
            <a:r>
              <a:rPr sz="2025" b="1">
                <a:solidFill>
                  <a:srgbClr val="146875"/>
                </a:solidFill>
                <a:latin typeface="Helvetica Neue"/>
                <a:ea typeface="Helvetica Neue"/>
                <a:cs typeface="Helvetica Neue"/>
              </a:rPr>
              <a:t>Stop rule: 3 consecutive non-improvements. Four trials completed. No further trial ran.</a:t>
            </a:r>
          </a:p>
        </p:txBody>
      </p:sp>
    </p:spTree>
    <p:extLst>
      <p:ext uri="{BB962C8B-B14F-4D97-AF65-F5344CB8AC3E}">
        <p14:creationId xmlns:p14="http://schemas.microsoft.com/office/powerpoint/2010/main" val="149857049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7CEF96-A151-444D-8B51-AB94CAB14A21}"/>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Results after goal seek and the comparison limit</a:t>
            </a:r>
          </a:p>
        </p:txBody>
      </p:sp>
      <p:sp>
        <p:nvSpPr>
          <p:cNvPr id="2" name="">
            <a:extLst xmlns:a="http://schemas.openxmlformats.org/drawingml/2006/main">
              <a:ext uri="{FF2B5EF4-FFF2-40B4-BE49-F238E27FC236}">
                <a16:creationId xmlns:a16="http://schemas.microsoft.com/office/drawing/2014/main" id="{9F8388B6-9905-4798-844F-3FBC4901D9F8}"/>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D03B939E-80EB-4942-BC4E-98045F12D30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24</a:t>
            </a:r>
          </a:p>
        </p:txBody>
      </p:sp>
      <p:sp>
        <p:nvSpPr>
          <p:cNvPr id="4" name="">
            <a:extLst xmlns:a="http://schemas.openxmlformats.org/drawingml/2006/main">
              <a:ext uri="{FF2B5EF4-FFF2-40B4-BE49-F238E27FC236}">
                <a16:creationId xmlns:a16="http://schemas.microsoft.com/office/drawing/2014/main" id="{5F891FCB-5ED0-425F-8E71-9ADA8BC06619}"/>
              </a:ext>
            </a:extLst>
          </p:cNvPr>
          <p:cNvSpPr>
            <a:spLocks xmlns:a="http://schemas.openxmlformats.org/drawingml/2006/main" noGrp="1"/>
          </p:cNvSpPr>
          <p:nvPr/>
        </p:nvSpPr>
        <p:spPr>
          <a:xfrm xmlns:a="http://schemas.openxmlformats.org/drawingml/2006/main">
            <a:off x="685800" y="1362075"/>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146875"/>
                </a:solidFill>
                <a:latin typeface="Helvetica Neue"/>
                <a:ea typeface="Helvetica Neue"/>
                <a:cs typeface="Helvetica Neue"/>
              </a:defRPr>
            </a:pPr>
            <a:r>
              <a:rPr sz="2250" b="1">
                <a:solidFill>
                  <a:srgbClr val="146875"/>
                </a:solidFill>
                <a:latin typeface="Helvetica Neue"/>
                <a:ea typeface="Helvetica Neue"/>
                <a:cs typeface="Helvetica Neue"/>
              </a:rPr>
              <a:t>No candidate earned an accepted improvement. Corrected FP16 remains selected.</a:t>
            </a:r>
          </a:p>
        </p:txBody>
      </p:sp>
      <p:graphicFrame>
        <p:nvGraphicFramePr>
          <p:cNvPr id="14" name=""/>
          <p:cNvGraphicFramePr/>
          <p:nvPr/>
        </p:nvGraphicFramePr>
        <p:xfrm>
          <a:off xmlns:a="http://schemas.openxmlformats.org/drawingml/2006/main" x="685800" y="2247900"/>
          <a:ext xmlns:a="http://schemas.openxmlformats.org/drawingml/2006/main" cx="10820400" cy="2476500"/>
        </p:xfrm>
        <a:graphic xmlns:a="http://schemas.openxmlformats.org/drawingml/2006/main">
          <a:graphicData uri="http://schemas.openxmlformats.org/drawingml/2006/table">
            <a:tbl>
              <a:tblPr firstRow="1" bandRow="0"/>
              <a:tblGrid>
                <a:gridCol w="4762500"/>
                <a:gridCol w="6057900"/>
              </a:tblGrid>
              <a:tr h="619125">
                <a:tc>
                  <a:txBody>
                    <a:bodyPr/>
                    <a:lstStyle/>
                    <a:p>
                      <a:r>
                        <a:rPr sz="1950" b="1">
                          <a:solidFill>
                            <a:srgbClr val="183542"/>
                          </a:solidFill>
                          <a:latin typeface="Helvetica Neue"/>
                          <a:ea typeface="Helvetica Neue"/>
                          <a:cs typeface="Helvetica Neue"/>
                        </a:rPr>
                        <a:t>Final service verification</a:t>
                      </a:r>
                    </a:p>
                  </a:txBody>
                  <a:tcPr marL="142875" marR="142875" marT="76200" marB="76200" anchor="ctr">
                    <a:solidFill>
                      <a:srgbClr val="E8F0F1"/>
                    </a:solidFill>
                  </a:tcPr>
                </a:tc>
                <a:tc>
                  <a:txBody>
                    <a:bodyPr/>
                    <a:lstStyle/>
                    <a:p>
                      <a:r>
                        <a:rPr sz="1950" b="1">
                          <a:solidFill>
                            <a:srgbClr val="183542"/>
                          </a:solidFill>
                          <a:latin typeface="Helvetica Neue"/>
                          <a:ea typeface="Helvetica Neue"/>
                          <a:cs typeface="Helvetica Neue"/>
                        </a:rPr>
                        <a:t>Measured result</a:t>
                      </a:r>
                    </a:p>
                  </a:txBody>
                  <a:tcPr marL="142875" marR="142875" marT="76200" marB="76200" anchor="ctr">
                    <a:solidFill>
                      <a:srgbClr val="E8F0F1"/>
                    </a:solidFill>
                  </a:tcPr>
                </a:tc>
              </a:tr>
              <a:tr h="619125">
                <a:tc>
                  <a:txBody>
                    <a:bodyPr/>
                    <a:lstStyle/>
                    <a:p>
                      <a:r>
                        <a:rPr sz="1950">
                          <a:solidFill>
                            <a:srgbClr val="183542"/>
                          </a:solidFill>
                          <a:latin typeface="Helvetica Neue"/>
                          <a:ea typeface="Helvetica Neue"/>
                          <a:cs typeface="Helvetica Neue"/>
                        </a:rPr>
                        <a:t>p50 first text / complete answer</a:t>
                      </a:r>
                    </a:p>
                  </a:txBody>
                  <a:tcPr marL="142875" marR="142875" marT="76200" marB="76200" anchor="ctr">
                    <a:solidFill>
                      <a:srgbClr val="FFFFFF"/>
                    </a:solidFill>
                  </a:tcPr>
                </a:tc>
                <a:tc>
                  <a:txBody>
                    <a:bodyPr/>
                    <a:lstStyle/>
                    <a:p>
                      <a:r>
                        <a:rPr sz="1950">
                          <a:solidFill>
                            <a:srgbClr val="183542"/>
                          </a:solidFill>
                          <a:latin typeface="Helvetica Neue"/>
                          <a:ea typeface="Helvetica Neue"/>
                          <a:cs typeface="Helvetica Neue"/>
                        </a:rPr>
                        <a:t>265.5 ms / 1.826 s</a:t>
                      </a:r>
                    </a:p>
                  </a:txBody>
                  <a:tcPr marL="142875" marR="142875" marT="76200" marB="76200" anchor="ctr">
                    <a:solidFill>
                      <a:srgbClr val="FFFFFF"/>
                    </a:solidFill>
                  </a:tcPr>
                </a:tc>
              </a:tr>
              <a:tr h="619125">
                <a:tc>
                  <a:txBody>
                    <a:bodyPr/>
                    <a:lstStyle/>
                    <a:p>
                      <a:r>
                        <a:rPr sz="1950">
                          <a:solidFill>
                            <a:srgbClr val="183542"/>
                          </a:solidFill>
                          <a:latin typeface="Helvetica Neue"/>
                          <a:ea typeface="Helvetica Neue"/>
                          <a:cs typeface="Helvetica Neue"/>
                        </a:rPr>
                        <a:t>Peak shared system RAM</a:t>
                      </a:r>
                    </a:p>
                  </a:txBody>
                  <a:tcPr marL="142875" marR="142875" marT="76200" marB="76200" anchor="ctr">
                    <a:solidFill>
                      <a:srgbClr val="FFFFFF"/>
                    </a:solidFill>
                  </a:tcPr>
                </a:tc>
                <a:tc>
                  <a:txBody>
                    <a:bodyPr/>
                    <a:lstStyle/>
                    <a:p>
                      <a:r>
                        <a:rPr sz="1950">
                          <a:solidFill>
                            <a:srgbClr val="183542"/>
                          </a:solidFill>
                          <a:latin typeface="Helvetica Neue"/>
                          <a:ea typeface="Helvetica Neue"/>
                          <a:cs typeface="Helvetica Neue"/>
                        </a:rPr>
                        <a:t>6.435 GiB, includes CPU/GPU/OS</a:t>
                      </a:r>
                    </a:p>
                  </a:txBody>
                  <a:tcPr marL="142875" marR="142875" marT="76200" marB="76200" anchor="ctr">
                    <a:solidFill>
                      <a:srgbClr val="FFFFFF"/>
                    </a:solidFill>
                  </a:tcPr>
                </a:tc>
              </a:tr>
              <a:tr h="619125">
                <a:tc>
                  <a:txBody>
                    <a:bodyPr/>
                    <a:lstStyle/>
                    <a:p>
                      <a:r>
                        <a:rPr sz="1950">
                          <a:solidFill>
                            <a:srgbClr val="183542"/>
                          </a:solidFill>
                          <a:latin typeface="Helvetica Neue"/>
                          <a:ea typeface="Helvetica Neue"/>
                          <a:cs typeface="Helvetica Neue"/>
                        </a:rPr>
                        <a:t>API soak</a:t>
                      </a:r>
                    </a:p>
                  </a:txBody>
                  <a:tcPr marL="142875" marR="142875" marT="76200" marB="76200" anchor="ctr">
                    <a:solidFill>
                      <a:srgbClr val="FFFFFF"/>
                    </a:solidFill>
                  </a:tcPr>
                </a:tc>
                <a:tc>
                  <a:txBody>
                    <a:bodyPr/>
                    <a:lstStyle/>
                    <a:p>
                      <a:r>
                        <a:rPr sz="1950">
                          <a:solidFill>
                            <a:srgbClr val="183542"/>
                          </a:solidFill>
                          <a:latin typeface="Helvetica Neue"/>
                          <a:ea typeface="Helvetica Neue"/>
                          <a:cs typeface="Helvetica Neue"/>
                        </a:rPr>
                        <a:t>366 successful requests across 600.7 s</a:t>
                      </a:r>
                    </a:p>
                  </a:txBody>
                  <a:tcPr marL="142875" marR="142875"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1B08978-ED0F-44FB-842F-8B1B3711D66A}"/>
              </a:ext>
            </a:extLst>
          </p:cNvPr>
          <p:cNvSpPr>
            <a:spLocks xmlns:a="http://schemas.openxmlformats.org/drawingml/2006/main" noGrp="1"/>
          </p:cNvSpPr>
          <p:nvPr/>
        </p:nvSpPr>
        <p:spPr>
          <a:xfrm xmlns:a="http://schemas.openxmlformats.org/drawingml/2006/main">
            <a:off x="685800" y="50387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Chronology: optimization search, then your default-setting correction, then the recording.</a:t>
            </a:r>
          </a:p>
        </p:txBody>
      </p:sp>
      <p:sp>
        <p:nvSpPr>
          <p:cNvPr id="7" name="">
            <a:extLst xmlns:a="http://schemas.openxmlformats.org/drawingml/2006/main">
              <a:ext uri="{FF2B5EF4-FFF2-40B4-BE49-F238E27FC236}">
                <a16:creationId xmlns:a16="http://schemas.microsoft.com/office/drawing/2014/main" id="{073DCCA5-5C13-44EA-BEBC-E9807E83CFC7}"/>
              </a:ext>
            </a:extLst>
          </p:cNvPr>
          <p:cNvSpPr>
            <a:spLocks xmlns:a="http://schemas.openxmlformats.org/drawingml/2006/main" noGrp="1"/>
          </p:cNvSpPr>
          <p:nvPr/>
        </p:nvSpPr>
        <p:spPr>
          <a:xfrm xmlns:a="http://schemas.openxmlformats.org/drawingml/2006/main">
            <a:off x="685800" y="577215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A paired optimization result under the Live VLM defaults remains unmeasured.</a:t>
            </a:r>
          </a:p>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The earlier 64-token benchmark cannot quantify a gain over your later recording.</a:t>
            </a:r>
          </a:p>
        </p:txBody>
      </p:sp>
    </p:spTree>
    <p:extLst>
      <p:ext uri="{BB962C8B-B14F-4D97-AF65-F5344CB8AC3E}">
        <p14:creationId xmlns:p14="http://schemas.microsoft.com/office/powerpoint/2010/main" val="39091631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7E90E2-CF73-41A1-9BB3-1F0BD2F8C9E5}"/>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A new 10% latency goal</a:t>
            </a:r>
          </a:p>
        </p:txBody>
      </p:sp>
      <p:sp>
        <p:nvSpPr>
          <p:cNvPr id="2" name="">
            <a:extLst xmlns:a="http://schemas.openxmlformats.org/drawingml/2006/main">
              <a:ext uri="{FF2B5EF4-FFF2-40B4-BE49-F238E27FC236}">
                <a16:creationId xmlns:a16="http://schemas.microsoft.com/office/drawing/2014/main" id="{E69D15AC-DC4D-4AB5-9EC2-21541C79567F}"/>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10% latency goal, 2026-09-21 UTC</a:t>
            </a:r>
          </a:p>
        </p:txBody>
      </p:sp>
      <p:sp>
        <p:nvSpPr>
          <p:cNvPr id="3" name="">
            <a:extLst xmlns:a="http://schemas.openxmlformats.org/drawingml/2006/main">
              <a:ext uri="{FF2B5EF4-FFF2-40B4-BE49-F238E27FC236}">
                <a16:creationId xmlns:a16="http://schemas.microsoft.com/office/drawing/2014/main" id="{D6AE2C0C-09C8-4E9B-9E5A-3A86739CA3E0}"/>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25</a:t>
            </a:r>
          </a:p>
        </p:txBody>
      </p:sp>
      <p:sp>
        <p:nvSpPr>
          <p:cNvPr id="4" name="">
            <a:extLst xmlns:a="http://schemas.openxmlformats.org/drawingml/2006/main">
              <a:ext uri="{FF2B5EF4-FFF2-40B4-BE49-F238E27FC236}">
                <a16:creationId xmlns:a16="http://schemas.microsoft.com/office/drawing/2014/main" id="{91F17E6A-10BF-4EB0-8C83-28A06365C265}"/>
              </a:ext>
            </a:extLst>
          </p:cNvPr>
          <p:cNvSpPr>
            <a:spLocks xmlns:a="http://schemas.openxmlformats.org/drawingml/2006/main" noGrp="1"/>
          </p:cNvSpPr>
          <p:nvPr/>
        </p:nvSpPr>
        <p:spPr>
          <a:xfrm xmlns:a="http://schemas.openxmlformats.org/drawingml/2006/main">
            <a:off x="685800" y="13620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146875"/>
                </a:solidFill>
                <a:latin typeface="Helvetica Neue"/>
                <a:ea typeface="Helvetica Neue"/>
                <a:cs typeface="Helvetica Neue"/>
              </a:defRPr>
            </a:pPr>
            <a:r>
              <a:rPr sz="2250" b="1">
                <a:solidFill>
                  <a:srgbClr val="146875"/>
                </a:solidFill>
                <a:latin typeface="Helvetica Neue"/>
                <a:ea typeface="Helvetica Neue"/>
                <a:cs typeface="Helvetica Neue"/>
              </a:rPr>
              <a:t>New phase after your Live VLM default correction</a:t>
            </a:r>
          </a:p>
        </p:txBody>
      </p:sp>
      <p:graphicFrame>
        <p:nvGraphicFramePr>
          <p:cNvPr id="14" name=""/>
          <p:cNvGraphicFramePr/>
          <p:nvPr/>
        </p:nvGraphicFramePr>
        <p:xfrm>
          <a:off xmlns:a="http://schemas.openxmlformats.org/drawingml/2006/main" x="685800" y="1952625"/>
          <a:ext xmlns:a="http://schemas.openxmlformats.org/drawingml/2006/main" cx="10820400" cy="3257550"/>
        </p:xfrm>
        <a:graphic xmlns:a="http://schemas.openxmlformats.org/drawingml/2006/main">
          <a:graphicData uri="http://schemas.openxmlformats.org/drawingml/2006/table">
            <a:tbl>
              <a:tblPr firstRow="1" bandRow="0"/>
              <a:tblGrid>
                <a:gridCol w="2400300"/>
                <a:gridCol w="8420100"/>
              </a:tblGrid>
              <a:tr h="542925">
                <a:tc>
                  <a:txBody>
                    <a:bodyPr/>
                    <a:lstStyle/>
                    <a:p>
                      <a:r>
                        <a:rPr sz="1725" b="1">
                          <a:solidFill>
                            <a:srgbClr val="183542"/>
                          </a:solidFill>
                          <a:latin typeface="Helvetica Neue"/>
                          <a:ea typeface="Helvetica Neue"/>
                          <a:cs typeface="Helvetica Neue"/>
                        </a:rPr>
                        <a:t>Control</a:t>
                      </a:r>
                    </a:p>
                  </a:txBody>
                  <a:tcPr marL="133350" marR="133350" marT="76200" marB="76200" anchor="ctr">
                    <a:solidFill>
                      <a:srgbClr val="E8F0F1"/>
                    </a:solidFill>
                  </a:tcPr>
                </a:tc>
                <a:tc>
                  <a:txBody>
                    <a:bodyPr/>
                    <a:lstStyle/>
                    <a:p>
                      <a:r>
                        <a:rPr sz="1725" b="1">
                          <a:solidFill>
                            <a:srgbClr val="183542"/>
                          </a:solidFill>
                          <a:latin typeface="Helvetica Neue"/>
                          <a:ea typeface="Helvetica Neue"/>
                          <a:cs typeface="Helvetica Neue"/>
                        </a:rPr>
                        <a:t>Frozen comparison</a:t>
                      </a:r>
                    </a:p>
                  </a:txBody>
                  <a:tcPr marL="133350" marR="133350" marT="76200" marB="76200" anchor="ctr">
                    <a:solidFill>
                      <a:srgbClr val="E8F0F1"/>
                    </a:solidFill>
                  </a:tcPr>
                </a:tc>
              </a:tr>
              <a:tr h="542925">
                <a:tc>
                  <a:txBody>
                    <a:bodyPr/>
                    <a:lstStyle/>
                    <a:p>
                      <a:r>
                        <a:rPr sz="1725">
                          <a:solidFill>
                            <a:srgbClr val="183542"/>
                          </a:solidFill>
                          <a:latin typeface="Helvetica Neue"/>
                          <a:ea typeface="Helvetica Neue"/>
                          <a:cs typeface="Helvetica Neue"/>
                        </a:rPr>
                        <a:t>Images</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3 recording-derived JPEGs, each 1280×720, JPEG 0.75</a:t>
                      </a:r>
                    </a:p>
                  </a:txBody>
                  <a:tcPr marL="133350" marR="133350" marT="76200" marB="76200" anchor="ctr">
                    <a:solidFill>
                      <a:srgbClr val="FFFFFF"/>
                    </a:solidFill>
                  </a:tcPr>
                </a:tc>
              </a:tr>
              <a:tr h="542925">
                <a:tc>
                  <a:txBody>
                    <a:bodyPr/>
                    <a:lstStyle/>
                    <a:p>
                      <a:r>
                        <a:rPr sz="1725">
                          <a:solidFill>
                            <a:srgbClr val="183542"/>
                          </a:solidFill>
                          <a:latin typeface="Helvetica Neue"/>
                          <a:ea typeface="Helvetica Neue"/>
                          <a:cs typeface="Helvetica Neue"/>
                        </a:rPr>
                        <a:t>Generation</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512-token ceiling, temperature 0.7, top-p 0.9, top-k 50</a:t>
                      </a:r>
                    </a:p>
                  </a:txBody>
                  <a:tcPr marL="133350" marR="133350" marT="76200" marB="76200" anchor="ctr">
                    <a:solidFill>
                      <a:srgbClr val="FFFFFF"/>
                    </a:solidFill>
                  </a:tcPr>
                </a:tc>
              </a:tr>
              <a:tr h="542925">
                <a:tc>
                  <a:txBody>
                    <a:bodyPr/>
                    <a:lstStyle/>
                    <a:p>
                      <a:r>
                        <a:rPr sz="1725">
                          <a:solidFill>
                            <a:srgbClr val="183542"/>
                          </a:solidFill>
                          <a:latin typeface="Helvetica Neue"/>
                          <a:ea typeface="Helvetica Neue"/>
                          <a:cs typeface="Helvetica Neue"/>
                        </a:rPr>
                        <a:t>Runtime</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Corrected FP16, input 1024, KV 2048, dynamic stock 25 W</a:t>
                      </a:r>
                    </a:p>
                  </a:txBody>
                  <a:tcPr marL="133350" marR="133350" marT="76200" marB="76200" anchor="ctr">
                    <a:solidFill>
                      <a:srgbClr val="FFFFFF"/>
                    </a:solidFill>
                  </a:tcPr>
                </a:tc>
              </a:tr>
              <a:tr h="542925">
                <a:tc>
                  <a:txBody>
                    <a:bodyPr/>
                    <a:lstStyle/>
                    <a:p>
                      <a:r>
                        <a:rPr sz="1725">
                          <a:solidFill>
                            <a:srgbClr val="183542"/>
                          </a:solidFill>
                          <a:latin typeface="Helvetica Neue"/>
                          <a:ea typeface="Helvetica Neue"/>
                          <a:cs typeface="Helvetica Neue"/>
                        </a:rPr>
                        <a:t>Measurement</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5 warmups + 30 measured requests per image, one active</a:t>
                      </a:r>
                    </a:p>
                  </a:txBody>
                  <a:tcPr marL="133350" marR="133350" marT="76200" marB="76200" anchor="ctr">
                    <a:solidFill>
                      <a:srgbClr val="FFFFFF"/>
                    </a:solidFill>
                  </a:tcPr>
                </a:tc>
              </a:tr>
              <a:tr h="542925">
                <a:tc>
                  <a:txBody>
                    <a:bodyPr/>
                    <a:lstStyle/>
                    <a:p>
                      <a:r>
                        <a:rPr sz="1725">
                          <a:solidFill>
                            <a:srgbClr val="183542"/>
                          </a:solidFill>
                          <a:latin typeface="Helvetica Neue"/>
                          <a:ea typeface="Helvetica Neue"/>
                          <a:cs typeface="Helvetica Neue"/>
                        </a:rPr>
                        <a:t>Accept / stop</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≥10% median-latency gain across images. First confirmed failure stops.</a:t>
                      </a:r>
                    </a:p>
                  </a:txBody>
                  <a:tcPr marL="133350" marR="133350"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305CAFB-618B-4B41-B395-0A129ACF62B9}"/>
              </a:ext>
            </a:extLst>
          </p:cNvPr>
          <p:cNvSpPr>
            <a:spLocks xmlns:a="http://schemas.openxmlformats.org/drawingml/2006/main" noGrp="1"/>
          </p:cNvSpPr>
          <p:nvPr/>
        </p:nvSpPr>
        <p:spPr>
          <a:xfrm xmlns:a="http://schemas.openxmlformats.org/drawingml/2006/main">
            <a:off x="685800" y="547687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1">
                <a:solidFill>
                  <a:srgbClr val="146875"/>
                </a:solidFill>
                <a:latin typeface="Helvetica Neue"/>
                <a:ea typeface="Helvetica Neue"/>
                <a:cs typeface="Helvetica Neue"/>
              </a:defRPr>
            </a:pPr>
            <a:r>
              <a:rPr sz="1950" b="1">
                <a:solidFill>
                  <a:srgbClr val="146875"/>
                </a:solidFill>
                <a:latin typeface="Helvetica Neue"/>
                <a:ea typeface="Helvetica Neue"/>
                <a:cs typeface="Helvetica Neue"/>
              </a:rPr>
              <a:t>Same answer text, token count and normal stop required. Encoder cache stays off.</a:t>
            </a:r>
          </a:p>
        </p:txBody>
      </p:sp>
      <p:sp>
        <p:nvSpPr>
          <p:cNvPr id="7" name="">
            <a:extLst xmlns:a="http://schemas.openxmlformats.org/drawingml/2006/main">
              <a:ext uri="{FF2B5EF4-FFF2-40B4-BE49-F238E27FC236}">
                <a16:creationId xmlns:a16="http://schemas.microsoft.com/office/drawing/2014/main" id="{1E6DAB58-C88A-49E1-9248-E7F5D4EE90A3}"/>
              </a:ext>
            </a:extLst>
          </p:cNvPr>
          <p:cNvSpPr>
            <a:spLocks xmlns:a="http://schemas.openxmlformats.org/drawingml/2006/main" noGrp="1"/>
          </p:cNvSpPr>
          <p:nvPr/>
        </p:nvSpPr>
        <p:spPr>
          <a:xfrm xmlns:a="http://schemas.openxmlformats.org/drawingml/2006/main">
            <a:off x="685800" y="59531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Local API timing excludes browser capture and Wi-Fi. The earlier 5% search is complete.</a:t>
            </a:r>
          </a:p>
        </p:txBody>
      </p:sp>
    </p:spTree>
    <p:extLst>
      <p:ext uri="{BB962C8B-B14F-4D97-AF65-F5344CB8AC3E}">
        <p14:creationId xmlns:p14="http://schemas.microsoft.com/office/powerpoint/2010/main" val="3242136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4248890-A1E0-4FC2-A6A5-F55D197D2732}"/>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Paired results under the Live VLM defaults</a:t>
            </a:r>
          </a:p>
        </p:txBody>
      </p:sp>
      <p:sp>
        <p:nvSpPr>
          <p:cNvPr id="2" name="">
            <a:extLst xmlns:a="http://schemas.openxmlformats.org/drawingml/2006/main">
              <a:ext uri="{FF2B5EF4-FFF2-40B4-BE49-F238E27FC236}">
                <a16:creationId xmlns:a16="http://schemas.microsoft.com/office/drawing/2014/main" id="{7358200C-19E9-4DF3-9DE2-83186F55CD43}"/>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10% latency goal, 2026-09-21 UTC</a:t>
            </a:r>
          </a:p>
        </p:txBody>
      </p:sp>
      <p:sp>
        <p:nvSpPr>
          <p:cNvPr id="3" name="">
            <a:extLst xmlns:a="http://schemas.openxmlformats.org/drawingml/2006/main">
              <a:ext uri="{FF2B5EF4-FFF2-40B4-BE49-F238E27FC236}">
                <a16:creationId xmlns:a16="http://schemas.microsoft.com/office/drawing/2014/main" id="{9757A626-707C-45E4-B08D-3E0BC840C2CD}"/>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26</a:t>
            </a:r>
          </a:p>
        </p:txBody>
      </p:sp>
      <p:sp>
        <p:nvSpPr>
          <p:cNvPr id="4" name="">
            <a:extLst xmlns:a="http://schemas.openxmlformats.org/drawingml/2006/main">
              <a:ext uri="{FF2B5EF4-FFF2-40B4-BE49-F238E27FC236}">
                <a16:creationId xmlns:a16="http://schemas.microsoft.com/office/drawing/2014/main" id="{5C49FEC2-6B0A-457A-8275-279A64F44094}"/>
              </a:ext>
            </a:extLst>
          </p:cNvPr>
          <p:cNvSpPr>
            <a:spLocks xmlns:a="http://schemas.openxmlformats.org/drawingml/2006/main" noGrp="1"/>
          </p:cNvSpPr>
          <p:nvPr/>
        </p:nvSpPr>
        <p:spPr>
          <a:xfrm xmlns:a="http://schemas.openxmlformats.org/drawingml/2006/main">
            <a:off x="685800" y="13620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Identical frozen JPEGs, prompt and output ceiling</a:t>
            </a:r>
          </a:p>
        </p:txBody>
      </p:sp>
      <p:graphicFrame>
        <p:nvGraphicFramePr>
          <p:cNvPr id="15" name=""/>
          <p:cNvGraphicFramePr/>
          <p:nvPr/>
        </p:nvGraphicFramePr>
        <p:xfrm>
          <a:off xmlns:a="http://schemas.openxmlformats.org/drawingml/2006/main" x="685800" y="1971675"/>
          <a:ext xmlns:a="http://schemas.openxmlformats.org/drawingml/2006/main" cx="10820400" cy="2895600"/>
        </p:xfrm>
        <a:graphic xmlns:a="http://schemas.openxmlformats.org/drawingml/2006/main">
          <a:graphicData uri="http://schemas.openxmlformats.org/drawingml/2006/table">
            <a:tbl>
              <a:tblPr firstRow="1" bandRow="0"/>
              <a:tblGrid>
                <a:gridCol w="1714500"/>
                <a:gridCol w="1066800"/>
                <a:gridCol w="2181225"/>
                <a:gridCol w="2181225"/>
                <a:gridCol w="2190750"/>
                <a:gridCol w="1485900"/>
              </a:tblGrid>
              <a:tr h="723900">
                <a:tc>
                  <a:txBody>
                    <a:bodyPr/>
                    <a:lstStyle/>
                    <a:p>
                      <a:r>
                        <a:rPr sz="1650" b="1">
                          <a:solidFill>
                            <a:srgbClr val="183542"/>
                          </a:solidFill>
                          <a:latin typeface="Helvetica Neue"/>
                          <a:ea typeface="Helvetica Neue"/>
                          <a:cs typeface="Helvetica Neue"/>
                        </a:rPr>
                        <a:t>Image</a:t>
                      </a:r>
                    </a:p>
                  </a:txBody>
                  <a:tcPr marL="133350" marR="133350" marT="76200" marB="76200" anchor="ctr">
                    <a:solidFill>
                      <a:srgbClr val="E8F0F1"/>
                    </a:solidFill>
                  </a:tcPr>
                </a:tc>
                <a:tc>
                  <a:txBody>
                    <a:bodyPr/>
                    <a:lstStyle/>
                    <a:p>
                      <a:r>
                        <a:rPr sz="1650" b="1">
                          <a:solidFill>
                            <a:srgbClr val="183542"/>
                          </a:solidFill>
                          <a:latin typeface="Helvetica Neue"/>
                          <a:ea typeface="Helvetica Neue"/>
                          <a:cs typeface="Helvetica Neue"/>
                        </a:rPr>
                        <a:t>Tokens</a:t>
                      </a:r>
                    </a:p>
                    <a:p>
                      <a:r>
                        <a:rPr sz="1650" b="1">
                          <a:solidFill>
                            <a:srgbClr val="183542"/>
                          </a:solidFill>
                          <a:latin typeface="Helvetica Neue"/>
                          <a:ea typeface="Helvetica Neue"/>
                          <a:cs typeface="Helvetica Neue"/>
                        </a:rPr>
                        <a:t>B / C</a:t>
                      </a:r>
                    </a:p>
                  </a:txBody>
                  <a:tcPr marL="133350" marR="133350" marT="76200" marB="76200" anchor="ctr">
                    <a:solidFill>
                      <a:srgbClr val="E8F0F1"/>
                    </a:solidFill>
                  </a:tcPr>
                </a:tc>
                <a:tc>
                  <a:txBody>
                    <a:bodyPr/>
                    <a:lstStyle/>
                    <a:p>
                      <a:r>
                        <a:rPr sz="1650" b="1">
                          <a:solidFill>
                            <a:srgbClr val="183542"/>
                          </a:solidFill>
                          <a:latin typeface="Helvetica Neue"/>
                          <a:ea typeface="Helvetica Neue"/>
                          <a:cs typeface="Helvetica Neue"/>
                        </a:rPr>
                        <a:t>Base answer</a:t>
                      </a:r>
                    </a:p>
                    <a:p>
                      <a:r>
                        <a:rPr sz="1650" b="1">
                          <a:solidFill>
                            <a:srgbClr val="183542"/>
                          </a:solidFill>
                          <a:latin typeface="Helvetica Neue"/>
                          <a:ea typeface="Helvetica Neue"/>
                          <a:cs typeface="Helvetica Neue"/>
                        </a:rPr>
                        <a:t>p50 / p95 ms</a:t>
                      </a:r>
                    </a:p>
                  </a:txBody>
                  <a:tcPr marL="133350" marR="133350" marT="76200" marB="76200" anchor="ctr">
                    <a:solidFill>
                      <a:srgbClr val="E8F0F1"/>
                    </a:solidFill>
                  </a:tcPr>
                </a:tc>
                <a:tc>
                  <a:txBody>
                    <a:bodyPr/>
                    <a:lstStyle/>
                    <a:p>
                      <a:r>
                        <a:rPr sz="1650" b="1">
                          <a:solidFill>
                            <a:srgbClr val="183542"/>
                          </a:solidFill>
                          <a:latin typeface="Helvetica Neue"/>
                          <a:ea typeface="Helvetica Neue"/>
                          <a:cs typeface="Helvetica Neue"/>
                        </a:rPr>
                        <a:t>Trial answer</a:t>
                      </a:r>
                    </a:p>
                    <a:p>
                      <a:r>
                        <a:rPr sz="1650" b="1">
                          <a:solidFill>
                            <a:srgbClr val="183542"/>
                          </a:solidFill>
                          <a:latin typeface="Helvetica Neue"/>
                          <a:ea typeface="Helvetica Neue"/>
                          <a:cs typeface="Helvetica Neue"/>
                        </a:rPr>
                        <a:t>p50 / p95 ms</a:t>
                      </a:r>
                    </a:p>
                  </a:txBody>
                  <a:tcPr marL="133350" marR="133350" marT="76200" marB="76200" anchor="ctr">
                    <a:solidFill>
                      <a:srgbClr val="E8F0F1"/>
                    </a:solidFill>
                  </a:tcPr>
                </a:tc>
                <a:tc>
                  <a:txBody>
                    <a:bodyPr/>
                    <a:lstStyle/>
                    <a:p>
                      <a:r>
                        <a:rPr sz="1650" b="1">
                          <a:solidFill>
                            <a:srgbClr val="183542"/>
                          </a:solidFill>
                          <a:latin typeface="Helvetica Neue"/>
                          <a:ea typeface="Helvetica Neue"/>
                          <a:cs typeface="Helvetica Neue"/>
                        </a:rPr>
                        <a:t>TTFT p50</a:t>
                      </a:r>
                    </a:p>
                    <a:p>
                      <a:r>
                        <a:rPr sz="1650" b="1">
                          <a:solidFill>
                            <a:srgbClr val="183542"/>
                          </a:solidFill>
                          <a:latin typeface="Helvetica Neue"/>
                          <a:ea typeface="Helvetica Neue"/>
                          <a:cs typeface="Helvetica Neue"/>
                        </a:rPr>
                        <a:t>B / C ms</a:t>
                      </a:r>
                    </a:p>
                  </a:txBody>
                  <a:tcPr marL="133350" marR="133350" marT="76200" marB="76200" anchor="ctr">
                    <a:solidFill>
                      <a:srgbClr val="E8F0F1"/>
                    </a:solidFill>
                  </a:tcPr>
                </a:tc>
                <a:tc>
                  <a:txBody>
                    <a:bodyPr/>
                    <a:lstStyle/>
                    <a:p>
                      <a:r>
                        <a:rPr sz="1650" b="1">
                          <a:solidFill>
                            <a:srgbClr val="183542"/>
                          </a:solidFill>
                          <a:latin typeface="Helvetica Neue"/>
                          <a:ea typeface="Helvetica Neue"/>
                          <a:cs typeface="Helvetica Neue"/>
                        </a:rPr>
                        <a:t>p50 gain</a:t>
                      </a:r>
                    </a:p>
                  </a:txBody>
                  <a:tcPr marL="133350" marR="133350" marT="76200" marB="76200" anchor="ctr">
                    <a:solidFill>
                      <a:srgbClr val="E8F0F1"/>
                    </a:solidFill>
                  </a:tcPr>
                </a:tc>
              </a:tr>
              <a:tr h="723900">
                <a:tc>
                  <a:txBody>
                    <a:bodyPr/>
                    <a:lstStyle/>
                    <a:p>
                      <a:r>
                        <a:rPr sz="1650">
                          <a:solidFill>
                            <a:srgbClr val="183542"/>
                          </a:solidFill>
                          <a:latin typeface="Helvetica Neue"/>
                          <a:ea typeface="Helvetica Neue"/>
                          <a:cs typeface="Helvetica Neue"/>
                        </a:rPr>
                        <a:t>Action camera</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14 / 14</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1004.6 / 1016.3</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997.3 / 1013.3</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432.9 / 427.8</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0.73%</a:t>
                      </a:r>
                    </a:p>
                  </a:txBody>
                  <a:tcPr marL="133350" marR="133350" marT="76200" marB="76200" anchor="ctr">
                    <a:solidFill>
                      <a:srgbClr val="FFFFFF"/>
                    </a:solidFill>
                  </a:tcPr>
                </a:tc>
              </a:tr>
              <a:tr h="723900">
                <a:tc>
                  <a:txBody>
                    <a:bodyPr/>
                    <a:lstStyle/>
                    <a:p>
                      <a:r>
                        <a:rPr sz="1650">
                          <a:solidFill>
                            <a:srgbClr val="183542"/>
                          </a:solidFill>
                          <a:latin typeface="Helvetica Neue"/>
                          <a:ea typeface="Helvetica Neue"/>
                          <a:cs typeface="Helvetica Neue"/>
                        </a:rPr>
                        <a:t>Pen</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40 / 40</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2151.1 / 2167.4</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2144.4 / 2166.8</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442.6 / 441.1</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0.31%</a:t>
                      </a:r>
                    </a:p>
                  </a:txBody>
                  <a:tcPr marL="133350" marR="133350" marT="76200" marB="76200" anchor="ctr">
                    <a:solidFill>
                      <a:srgbClr val="FFFFFF"/>
                    </a:solidFill>
                  </a:tcPr>
                </a:tc>
              </a:tr>
              <a:tr h="723900">
                <a:tc>
                  <a:txBody>
                    <a:bodyPr/>
                    <a:lstStyle/>
                    <a:p>
                      <a:r>
                        <a:rPr sz="1650">
                          <a:solidFill>
                            <a:srgbClr val="183542"/>
                          </a:solidFill>
                          <a:latin typeface="Helvetica Neue"/>
                          <a:ea typeface="Helvetica Neue"/>
                          <a:cs typeface="Helvetica Neue"/>
                        </a:rPr>
                        <a:t>Scissors</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17 / 17</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1152.3 / 1162.3</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1147.7 / 1162.3</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450.7 / 446.4</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0.40%</a:t>
                      </a:r>
                    </a:p>
                  </a:txBody>
                  <a:tcPr marL="133350" marR="133350"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BA02623-2664-43BA-93BD-573E7F4FB0A2}"/>
              </a:ext>
            </a:extLst>
          </p:cNvPr>
          <p:cNvSpPr>
            <a:spLocks xmlns:a="http://schemas.openxmlformats.org/drawingml/2006/main" noGrp="1"/>
          </p:cNvSpPr>
          <p:nvPr/>
        </p:nvSpPr>
        <p:spPr>
          <a:xfrm xmlns:a="http://schemas.openxmlformats.org/drawingml/2006/main">
            <a:off x="685800" y="51720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Across-image median metric: 1355.4 ms baseline, 1348.9 ms trial</a:t>
            </a:r>
          </a:p>
        </p:txBody>
      </p:sp>
      <p:sp>
        <p:nvSpPr>
          <p:cNvPr id="7" name="">
            <a:extLst xmlns:a="http://schemas.openxmlformats.org/drawingml/2006/main">
              <a:ext uri="{FF2B5EF4-FFF2-40B4-BE49-F238E27FC236}">
                <a16:creationId xmlns:a16="http://schemas.microsoft.com/office/drawing/2014/main" id="{575F01F0-0AE0-4AA5-837F-CC45AA0DED60}"/>
              </a:ext>
            </a:extLst>
          </p:cNvPr>
          <p:cNvSpPr>
            <a:spLocks xmlns:a="http://schemas.openxmlformats.org/drawingml/2006/main" noGrp="1"/>
          </p:cNvSpPr>
          <p:nvPr/>
        </p:nvSpPr>
        <p:spPr>
          <a:xfrm xmlns:a="http://schemas.openxmlformats.org/drawingml/2006/main">
            <a:off x="685800" y="56197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1">
                <a:solidFill>
                  <a:srgbClr val="965A20"/>
                </a:solidFill>
                <a:latin typeface="Helvetica Neue"/>
                <a:ea typeface="Helvetica Neue"/>
                <a:cs typeface="Helvetica Neue"/>
              </a:defRPr>
            </a:pPr>
            <a:r>
              <a:rPr sz="1950" b="1">
                <a:solidFill>
                  <a:srgbClr val="965A20"/>
                </a:solidFill>
                <a:latin typeface="Helvetica Neue"/>
                <a:ea typeface="Helvetica Neue"/>
                <a:cs typeface="Helvetica Neue"/>
              </a:rPr>
              <a:t>0.48% reduction. The required 10% threshold is 1219.9 ms or less.</a:t>
            </a:r>
          </a:p>
        </p:txBody>
      </p:sp>
      <p:sp>
        <p:nvSpPr>
          <p:cNvPr id="8" name="">
            <a:extLst xmlns:a="http://schemas.openxmlformats.org/drawingml/2006/main">
              <a:ext uri="{FF2B5EF4-FFF2-40B4-BE49-F238E27FC236}">
                <a16:creationId xmlns:a16="http://schemas.microsoft.com/office/drawing/2014/main" id="{568CC68E-A35B-453E-A6D4-56F419410904}"/>
              </a:ext>
            </a:extLst>
          </p:cNvPr>
          <p:cNvSpPr>
            <a:spLocks xmlns:a="http://schemas.openxmlformats.org/drawingml/2006/main" noGrp="1"/>
          </p:cNvSpPr>
          <p:nvPr/>
        </p:nvSpPr>
        <p:spPr>
          <a:xfrm xmlns:a="http://schemas.openxmlformats.org/drawingml/2006/main">
            <a:off x="685800" y="6048375"/>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0">
                <a:solidFill>
                  <a:srgbClr val="566773"/>
                </a:solidFill>
                <a:latin typeface="Helvetica Neue"/>
                <a:ea typeface="Helvetica Neue"/>
                <a:cs typeface="Helvetica Neue"/>
              </a:defRPr>
            </a:pPr>
            <a:r>
              <a:rPr sz="1575" b="0">
                <a:solidFill>
                  <a:srgbClr val="566773"/>
                </a:solidFill>
                <a:latin typeface="Helvetica Neue"/>
                <a:ea typeface="Helvetica Neue"/>
                <a:cs typeface="Helvetica Neue"/>
              </a:rPr>
              <a:t>Metric: geometric mean of the three per-image medians. B / C = baseline / candidate.</a:t>
            </a:r>
          </a:p>
        </p:txBody>
      </p:sp>
    </p:spTree>
    <p:extLst>
      <p:ext uri="{BB962C8B-B14F-4D97-AF65-F5344CB8AC3E}">
        <p14:creationId xmlns:p14="http://schemas.microsoft.com/office/powerpoint/2010/main" val="31037480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786D6E3-C7E2-4A10-A746-54B6590D45A3}"/>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Trial decision and shared-memory limits</a:t>
            </a:r>
          </a:p>
        </p:txBody>
      </p:sp>
      <p:sp>
        <p:nvSpPr>
          <p:cNvPr id="2" name="">
            <a:extLst xmlns:a="http://schemas.openxmlformats.org/drawingml/2006/main">
              <a:ext uri="{FF2B5EF4-FFF2-40B4-BE49-F238E27FC236}">
                <a16:creationId xmlns:a16="http://schemas.microsoft.com/office/drawing/2014/main" id="{637B5E00-01EF-41F4-A6B4-12E92F14F378}"/>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10% latency goal, 2026-09-21 UTC</a:t>
            </a:r>
          </a:p>
        </p:txBody>
      </p:sp>
      <p:sp>
        <p:nvSpPr>
          <p:cNvPr id="3" name="">
            <a:extLst xmlns:a="http://schemas.openxmlformats.org/drawingml/2006/main">
              <a:ext uri="{FF2B5EF4-FFF2-40B4-BE49-F238E27FC236}">
                <a16:creationId xmlns:a16="http://schemas.microsoft.com/office/drawing/2014/main" id="{93F422EB-7E8B-4864-9AB7-1FF2E833CAC3}"/>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27</a:t>
            </a:r>
          </a:p>
        </p:txBody>
      </p:sp>
      <p:sp>
        <p:nvSpPr>
          <p:cNvPr id="4" name="">
            <a:extLst xmlns:a="http://schemas.openxmlformats.org/drawingml/2006/main">
              <a:ext uri="{FF2B5EF4-FFF2-40B4-BE49-F238E27FC236}">
                <a16:creationId xmlns:a16="http://schemas.microsoft.com/office/drawing/2014/main" id="{7D8BCDF8-CA91-4130-8B73-8C3EB40181E1}"/>
              </a:ext>
            </a:extLst>
          </p:cNvPr>
          <p:cNvSpPr>
            <a:spLocks xmlns:a="http://schemas.openxmlformats.org/drawingml/2006/main" noGrp="1"/>
          </p:cNvSpPr>
          <p:nvPr/>
        </p:nvSpPr>
        <p:spPr>
          <a:xfrm xmlns:a="http://schemas.openxmlformats.org/drawingml/2006/main">
            <a:off x="685800" y="13620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965A20"/>
                </a:solidFill>
                <a:latin typeface="Helvetica Neue"/>
                <a:ea typeface="Helvetica Neue"/>
                <a:cs typeface="Helvetica Neue"/>
              </a:defRPr>
            </a:pPr>
            <a:r>
              <a:rPr sz="2250" b="1">
                <a:solidFill>
                  <a:srgbClr val="965A20"/>
                </a:solidFill>
                <a:latin typeface="Helvetica Neue"/>
                <a:ea typeface="Helvetica Neue"/>
                <a:cs typeface="Helvetica Neue"/>
              </a:rPr>
              <a:t>Candidate failed the frozen acceptance gates</a:t>
            </a:r>
          </a:p>
        </p:txBody>
      </p:sp>
      <p:sp>
        <p:nvSpPr>
          <p:cNvPr id="5" name="">
            <a:extLst xmlns:a="http://schemas.openxmlformats.org/drawingml/2006/main">
              <a:ext uri="{FF2B5EF4-FFF2-40B4-BE49-F238E27FC236}">
                <a16:creationId xmlns:a16="http://schemas.microsoft.com/office/drawing/2014/main" id="{39E4BAE7-AEBC-4B8E-9840-2F0257B0A2AF}"/>
              </a:ext>
            </a:extLst>
          </p:cNvPr>
          <p:cNvSpPr>
            <a:spLocks xmlns:a="http://schemas.openxmlformats.org/drawingml/2006/main" noGrp="1"/>
          </p:cNvSpPr>
          <p:nvPr/>
        </p:nvSpPr>
        <p:spPr>
          <a:xfrm xmlns:a="http://schemas.openxmlformats.org/drawingml/2006/main">
            <a:off x="685800" y="18573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46875"/>
                </a:solidFill>
                <a:latin typeface="Helvetica Neue"/>
                <a:ea typeface="Helvetica Neue"/>
                <a:cs typeface="Helvetica Neue"/>
              </a:defRPr>
            </a:pPr>
            <a:r>
              <a:rPr sz="1725" b="0">
                <a:solidFill>
                  <a:srgbClr val="146875"/>
                </a:solidFill>
                <a:latin typeface="Helvetica Neue"/>
                <a:ea typeface="Helvetica Neue"/>
                <a:cs typeface="Helvetica Neue"/>
              </a:rPr>
              <a:t>Task-authored retained-partial top-K prototype. Model precision and sampling stay fixed.</a:t>
            </a:r>
          </a:p>
        </p:txBody>
      </p:sp>
      <p:graphicFrame>
        <p:nvGraphicFramePr>
          <p:cNvPr id="17" name=""/>
          <p:cNvGraphicFramePr/>
          <p:nvPr/>
        </p:nvGraphicFramePr>
        <p:xfrm>
          <a:off xmlns:a="http://schemas.openxmlformats.org/drawingml/2006/main" x="685800" y="2324100"/>
          <a:ext xmlns:a="http://schemas.openxmlformats.org/drawingml/2006/main" cx="10820400" cy="2524125"/>
        </p:xfrm>
        <a:graphic xmlns:a="http://schemas.openxmlformats.org/drawingml/2006/main">
          <a:graphicData uri="http://schemas.openxmlformats.org/drawingml/2006/table">
            <a:tbl>
              <a:tblPr firstRow="1" bandRow="0"/>
              <a:tblGrid>
                <a:gridCol w="4495800"/>
                <a:gridCol w="3162300"/>
                <a:gridCol w="3162300"/>
              </a:tblGrid>
              <a:tr h="504825">
                <a:tc>
                  <a:txBody>
                    <a:bodyPr/>
                    <a:lstStyle/>
                    <a:p>
                      <a:r>
                        <a:rPr sz="1725" b="1">
                          <a:solidFill>
                            <a:srgbClr val="183542"/>
                          </a:solidFill>
                          <a:latin typeface="Helvetica Neue"/>
                          <a:ea typeface="Helvetica Neue"/>
                          <a:cs typeface="Helvetica Neue"/>
                        </a:rPr>
                        <a:t>Sampled memory / output</a:t>
                      </a:r>
                    </a:p>
                  </a:txBody>
                  <a:tcPr marL="133350" marR="133350" marT="76200" marB="76200" anchor="ctr">
                    <a:solidFill>
                      <a:srgbClr val="E8F0F1"/>
                    </a:solidFill>
                  </a:tcPr>
                </a:tc>
                <a:tc>
                  <a:txBody>
                    <a:bodyPr/>
                    <a:lstStyle/>
                    <a:p>
                      <a:r>
                        <a:rPr sz="1725" b="1">
                          <a:solidFill>
                            <a:srgbClr val="183542"/>
                          </a:solidFill>
                          <a:latin typeface="Helvetica Neue"/>
                          <a:ea typeface="Helvetica Neue"/>
                          <a:cs typeface="Helvetica Neue"/>
                        </a:rPr>
                        <a:t>Baseline</a:t>
                      </a:r>
                    </a:p>
                  </a:txBody>
                  <a:tcPr marL="133350" marR="133350" marT="76200" marB="76200" anchor="ctr">
                    <a:solidFill>
                      <a:srgbClr val="E8F0F1"/>
                    </a:solidFill>
                  </a:tcPr>
                </a:tc>
                <a:tc>
                  <a:txBody>
                    <a:bodyPr/>
                    <a:lstStyle/>
                    <a:p>
                      <a:r>
                        <a:rPr sz="1725" b="1">
                          <a:solidFill>
                            <a:srgbClr val="183542"/>
                          </a:solidFill>
                          <a:latin typeface="Helvetica Neue"/>
                          <a:ea typeface="Helvetica Neue"/>
                          <a:cs typeface="Helvetica Neue"/>
                        </a:rPr>
                        <a:t>Candidate</a:t>
                      </a:r>
                    </a:p>
                  </a:txBody>
                  <a:tcPr marL="133350" marR="133350" marT="76200" marB="76200" anchor="ctr">
                    <a:solidFill>
                      <a:srgbClr val="E8F0F1"/>
                    </a:solidFill>
                  </a:tcPr>
                </a:tc>
              </a:tr>
              <a:tr h="504825">
                <a:tc>
                  <a:txBody>
                    <a:bodyPr/>
                    <a:lstStyle/>
                    <a:p>
                      <a:r>
                        <a:rPr sz="1725">
                          <a:solidFill>
                            <a:srgbClr val="183542"/>
                          </a:solidFill>
                          <a:latin typeface="Helvetica Neue"/>
                          <a:ea typeface="Helvetica Neue"/>
                          <a:cs typeface="Helvetica Neue"/>
                        </a:rPr>
                        <a:t>Peak shared system RAM</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6.443 GiB</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6.420 GiB</a:t>
                      </a:r>
                    </a:p>
                  </a:txBody>
                  <a:tcPr marL="133350" marR="133350" marT="76200" marB="76200" anchor="ctr">
                    <a:solidFill>
                      <a:srgbClr val="FFFFFF"/>
                    </a:solidFill>
                  </a:tcPr>
                </a:tc>
              </a:tr>
              <a:tr h="504825">
                <a:tc>
                  <a:txBody>
                    <a:bodyPr/>
                    <a:lstStyle/>
                    <a:p>
                      <a:r>
                        <a:rPr sz="1725">
                          <a:solidFill>
                            <a:srgbClr val="183542"/>
                          </a:solidFill>
                          <a:latin typeface="Helvetica Neue"/>
                          <a:ea typeface="Helvetica Neue"/>
                          <a:cs typeface="Helvetica Neue"/>
                        </a:rPr>
                        <a:t>Peak process RSS</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5.909 GiB</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5.897 GiB</a:t>
                      </a:r>
                    </a:p>
                  </a:txBody>
                  <a:tcPr marL="133350" marR="133350" marT="76200" marB="76200" anchor="ctr">
                    <a:solidFill>
                      <a:srgbClr val="FFFFFF"/>
                    </a:solidFill>
                  </a:tcPr>
                </a:tc>
              </a:tr>
              <a:tr h="504825">
                <a:tc>
                  <a:txBody>
                    <a:bodyPr/>
                    <a:lstStyle/>
                    <a:p>
                      <a:r>
                        <a:rPr sz="1725">
                          <a:solidFill>
                            <a:srgbClr val="183542"/>
                          </a:solidFill>
                          <a:latin typeface="Helvetica Neue"/>
                          <a:ea typeface="Helvetica Neue"/>
                          <a:cs typeface="Helvetica Neue"/>
                        </a:rPr>
                        <a:t>Minimum available RAM</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0.926 GiB</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0.949 GiB</a:t>
                      </a:r>
                    </a:p>
                  </a:txBody>
                  <a:tcPr marL="133350" marR="133350" marT="76200" marB="76200" anchor="ctr">
                    <a:solidFill>
                      <a:srgbClr val="FFFFFF"/>
                    </a:solidFill>
                  </a:tcPr>
                </a:tc>
              </a:tr>
              <a:tr h="504825">
                <a:tc>
                  <a:txBody>
                    <a:bodyPr/>
                    <a:lstStyle/>
                    <a:p>
                      <a:r>
                        <a:rPr sz="1725">
                          <a:solidFill>
                            <a:srgbClr val="183542"/>
                          </a:solidFill>
                          <a:latin typeface="Helvetica Neue"/>
                          <a:ea typeface="Helvetica Neue"/>
                          <a:cs typeface="Helvetica Neue"/>
                        </a:rPr>
                        <a:t>Output preservation</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Repeatable reference</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Exact text / tokens / stop</a:t>
                      </a:r>
                    </a:p>
                  </a:txBody>
                  <a:tcPr marL="133350" marR="133350" marT="76200" marB="7620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94834EE-8230-4197-881F-357CEE436FE3}"/>
              </a:ext>
            </a:extLst>
          </p:cNvPr>
          <p:cNvSpPr>
            <a:spLocks xmlns:a="http://schemas.openxmlformats.org/drawingml/2006/main" noGrp="1"/>
          </p:cNvSpPr>
          <p:nvPr/>
        </p:nvSpPr>
        <p:spPr>
          <a:xfrm xmlns:a="http://schemas.openxmlformats.org/drawingml/2006/main">
            <a:off x="685800" y="50196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The stop rule retains the last accepted baseline.</a:t>
            </a:r>
          </a:p>
        </p:txBody>
      </p:sp>
      <p:sp>
        <p:nvSpPr>
          <p:cNvPr id="8" name="">
            <a:extLst xmlns:a="http://schemas.openxmlformats.org/drawingml/2006/main">
              <a:ext uri="{FF2B5EF4-FFF2-40B4-BE49-F238E27FC236}">
                <a16:creationId xmlns:a16="http://schemas.microsoft.com/office/drawing/2014/main" id="{E3515CDB-B692-4072-A5B9-927C8CFDF597}"/>
              </a:ext>
            </a:extLst>
          </p:cNvPr>
          <p:cNvSpPr>
            <a:spLocks xmlns:a="http://schemas.openxmlformats.org/drawingml/2006/main" noGrp="1"/>
          </p:cNvSpPr>
          <p:nvPr/>
        </p:nvSpPr>
        <p:spPr>
          <a:xfrm xmlns:a="http://schemas.openxmlformats.org/drawingml/2006/main">
            <a:off x="685800" y="548640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RAM includes CPU, GPU and OS. RSS overlaps. No dedicated VRAM peak was measured.</a:t>
            </a:r>
          </a:p>
        </p:txBody>
      </p:sp>
      <p:sp>
        <p:nvSpPr>
          <p:cNvPr id="9" name="">
            <a:extLst xmlns:a="http://schemas.openxmlformats.org/drawingml/2006/main">
              <a:ext uri="{FF2B5EF4-FFF2-40B4-BE49-F238E27FC236}">
                <a16:creationId xmlns:a16="http://schemas.microsoft.com/office/drawing/2014/main" id="{2D12545F-EEAD-4BE6-9B69-B75EAE49D942}"/>
              </a:ext>
            </a:extLst>
          </p:cNvPr>
          <p:cNvSpPr>
            <a:spLocks xmlns:a="http://schemas.openxmlformats.org/drawingml/2006/main" noGrp="1"/>
          </p:cNvSpPr>
          <p:nvPr/>
        </p:nvSpPr>
        <p:spPr>
          <a:xfrm xmlns:a="http://schemas.openxmlformats.org/drawingml/2006/main">
            <a:off x="685800" y="59245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965A20"/>
                </a:solidFill>
                <a:latin typeface="Helvetica Neue"/>
                <a:ea typeface="Helvetica Neue"/>
                <a:cs typeface="Helvetica Neue"/>
              </a:defRPr>
            </a:pPr>
            <a:r>
              <a:rPr sz="1800" b="0">
                <a:solidFill>
                  <a:srgbClr val="965A20"/>
                </a:solidFill>
                <a:latin typeface="Helvetica Neue"/>
                <a:ea typeface="Helvetica Neue"/>
                <a:cs typeface="Helvetica Neue"/>
              </a:rPr>
              <a:t>Preserved answers still contain unsupported mirror and gesture claims.</a:t>
            </a:r>
          </a:p>
        </p:txBody>
      </p:sp>
    </p:spTree>
    <p:extLst>
      <p:ext uri="{BB962C8B-B14F-4D97-AF65-F5344CB8AC3E}">
        <p14:creationId xmlns:p14="http://schemas.microsoft.com/office/powerpoint/2010/main" val="15383941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5DFEDC6-8149-487D-A52B-357F8380623E}"/>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Sampler gain and whole-answer latency</a:t>
            </a:r>
          </a:p>
        </p:txBody>
      </p:sp>
      <p:sp>
        <p:nvSpPr>
          <p:cNvPr id="2" name="">
            <a:extLst xmlns:a="http://schemas.openxmlformats.org/drawingml/2006/main">
              <a:ext uri="{FF2B5EF4-FFF2-40B4-BE49-F238E27FC236}">
                <a16:creationId xmlns:a16="http://schemas.microsoft.com/office/drawing/2014/main" id="{E0512FDF-ACC3-498B-AB6F-BC5E6A929CA9}"/>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10% latency goal, 2026-09-21 UTC</a:t>
            </a:r>
          </a:p>
        </p:txBody>
      </p:sp>
      <p:sp>
        <p:nvSpPr>
          <p:cNvPr id="3" name="">
            <a:extLst xmlns:a="http://schemas.openxmlformats.org/drawingml/2006/main">
              <a:ext uri="{FF2B5EF4-FFF2-40B4-BE49-F238E27FC236}">
                <a16:creationId xmlns:a16="http://schemas.microsoft.com/office/drawing/2014/main" id="{F4081EB0-C3FA-4156-BBBF-FD1CD78ADDA1}"/>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28</a:t>
            </a:r>
          </a:p>
        </p:txBody>
      </p:sp>
      <p:sp>
        <p:nvSpPr>
          <p:cNvPr id="4" name="">
            <a:extLst xmlns:a="http://schemas.openxmlformats.org/drawingml/2006/main">
              <a:ext uri="{FF2B5EF4-FFF2-40B4-BE49-F238E27FC236}">
                <a16:creationId xmlns:a16="http://schemas.microsoft.com/office/drawing/2014/main" id="{A758AB5C-0322-4B9C-A7A4-809C269E33E7}"/>
              </a:ext>
            </a:extLst>
          </p:cNvPr>
          <p:cNvSpPr>
            <a:spLocks xmlns:a="http://schemas.openxmlformats.org/drawingml/2006/main" noGrp="1"/>
          </p:cNvSpPr>
          <p:nvPr/>
        </p:nvSpPr>
        <p:spPr>
          <a:xfrm xmlns:a="http://schemas.openxmlformats.org/drawingml/2006/main">
            <a:off x="685800" y="13620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Task-authored top-K prototype, unchanged model precision and sampling</a:t>
            </a:r>
          </a:p>
        </p:txBody>
      </p:sp>
      <p:graphicFrame>
        <p:nvGraphicFramePr>
          <p:cNvPr id="15" name=""/>
          <p:cNvGraphicFramePr/>
          <p:nvPr/>
        </p:nvGraphicFramePr>
        <p:xfrm>
          <a:off xmlns:a="http://schemas.openxmlformats.org/drawingml/2006/main" x="685800" y="2076450"/>
          <a:ext xmlns:a="http://schemas.openxmlformats.org/drawingml/2006/main" cx="10820400" cy="2171700"/>
        </p:xfrm>
        <a:graphic xmlns:a="http://schemas.openxmlformats.org/drawingml/2006/main">
          <a:graphicData uri="http://schemas.openxmlformats.org/drawingml/2006/table">
            <a:tbl>
              <a:tblPr firstRow="1" bandRow="0"/>
              <a:tblGrid>
                <a:gridCol w="4419600"/>
                <a:gridCol w="2133600"/>
                <a:gridCol w="2133600"/>
                <a:gridCol w="2133600"/>
              </a:tblGrid>
              <a:tr h="723900">
                <a:tc>
                  <a:txBody>
                    <a:bodyPr/>
                    <a:lstStyle/>
                    <a:p>
                      <a:r>
                        <a:rPr sz="1800" b="1">
                          <a:solidFill>
                            <a:srgbClr val="183542"/>
                          </a:solidFill>
                          <a:latin typeface="Helvetica Neue"/>
                          <a:ea typeface="Helvetica Neue"/>
                          <a:cs typeface="Helvetica Neue"/>
                        </a:rPr>
                        <a:t>Measurement scope</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Baseline</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Candidate</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Reduction</a:t>
                      </a:r>
                    </a:p>
                  </a:txBody>
                  <a:tcPr marL="133350" marR="133350" marT="76200" marB="76200" anchor="ctr">
                    <a:solidFill>
                      <a:srgbClr val="E8F0F1"/>
                    </a:solidFill>
                  </a:tcPr>
                </a:tc>
              </a:tr>
              <a:tr h="723900">
                <a:tc>
                  <a:txBody>
                    <a:bodyPr/>
                    <a:lstStyle/>
                    <a:p>
                      <a:r>
                        <a:rPr sz="1800">
                          <a:solidFill>
                            <a:srgbClr val="183542"/>
                          </a:solidFill>
                          <a:latin typeface="Helvetica Neue"/>
                          <a:ea typeface="Helvetica Neue"/>
                          <a:cs typeface="Helvetica Neue"/>
                        </a:rPr>
                        <a:t>Synthetic full sampler</a:t>
                      </a:r>
                    </a:p>
                    <a:p>
                      <a:r>
                        <a:rPr sz="1800">
                          <a:solidFill>
                            <a:srgbClr val="183542"/>
                          </a:solidFill>
                          <a:latin typeface="Helvetica Neue"/>
                          <a:ea typeface="Helvetica Neue"/>
                          <a:cs typeface="Helvetica Neue"/>
                        </a:rPr>
                        <a:t>mean, ms per call</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0.261280</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0.203009</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22.30%</a:t>
                      </a:r>
                    </a:p>
                  </a:txBody>
                  <a:tcPr marL="133350" marR="133350" marT="76200" marB="76200" anchor="ctr">
                    <a:solidFill>
                      <a:srgbClr val="FFFFFF"/>
                    </a:solidFill>
                  </a:tcPr>
                </a:tc>
              </a:tr>
              <a:tr h="723900">
                <a:tc>
                  <a:txBody>
                    <a:bodyPr/>
                    <a:lstStyle/>
                    <a:p>
                      <a:r>
                        <a:rPr sz="1800">
                          <a:solidFill>
                            <a:srgbClr val="183542"/>
                          </a:solidFill>
                          <a:latin typeface="Helvetica Neue"/>
                          <a:ea typeface="Helvetica Neue"/>
                          <a:cs typeface="Helvetica Neue"/>
                        </a:rPr>
                        <a:t>Whole-answer metric</a:t>
                      </a:r>
                    </a:p>
                    <a:p>
                      <a:r>
                        <a:rPr sz="1800">
                          <a:solidFill>
                            <a:srgbClr val="183542"/>
                          </a:solidFill>
                          <a:latin typeface="Helvetica Neue"/>
                          <a:ea typeface="Helvetica Neue"/>
                          <a:cs typeface="Helvetica Neue"/>
                        </a:rPr>
                        <a:t>ms across images</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1355.4</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1348.9</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0.48%</a:t>
                      </a:r>
                    </a:p>
                  </a:txBody>
                  <a:tcPr marL="133350" marR="133350"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46C82A9-9905-40B8-A76B-85570486FB5C}"/>
              </a:ext>
            </a:extLst>
          </p:cNvPr>
          <p:cNvSpPr>
            <a:spLocks xmlns:a="http://schemas.openxmlformats.org/drawingml/2006/main" noGrp="1"/>
          </p:cNvSpPr>
          <p:nvPr/>
        </p:nvSpPr>
        <p:spPr>
          <a:xfrm xmlns:a="http://schemas.openxmlformats.org/drawingml/2006/main">
            <a:off x="685800" y="44958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1,000 / 1,000 synthetic calls. 90 / 90 whole-answer requests. Baseline / candidate.</a:t>
            </a:r>
          </a:p>
        </p:txBody>
      </p:sp>
      <p:sp>
        <p:nvSpPr>
          <p:cNvPr id="7" name="">
            <a:extLst xmlns:a="http://schemas.openxmlformats.org/drawingml/2006/main">
              <a:ext uri="{FF2B5EF4-FFF2-40B4-BE49-F238E27FC236}">
                <a16:creationId xmlns:a16="http://schemas.microsoft.com/office/drawing/2014/main" id="{85B20CFD-F2F9-40D3-957A-A31AF453B5FC}"/>
              </a:ext>
            </a:extLst>
          </p:cNvPr>
          <p:cNvSpPr>
            <a:spLocks xmlns:a="http://schemas.openxmlformats.org/drawingml/2006/main" noGrp="1"/>
          </p:cNvSpPr>
          <p:nvPr/>
        </p:nvSpPr>
        <p:spPr>
          <a:xfrm xmlns:a="http://schemas.openxmlformats.org/drawingml/2006/main">
            <a:off x="685800" y="50292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GPU equivalence passed: 338 cases, 1,020 sampled tokens.</a:t>
            </a:r>
          </a:p>
        </p:txBody>
      </p:sp>
      <p:sp>
        <p:nvSpPr>
          <p:cNvPr id="8" name="">
            <a:extLst xmlns:a="http://schemas.openxmlformats.org/drawingml/2006/main">
              <a:ext uri="{FF2B5EF4-FFF2-40B4-BE49-F238E27FC236}">
                <a16:creationId xmlns:a16="http://schemas.microsoft.com/office/drawing/2014/main" id="{E0D7C57A-CF8A-4ED7-85DB-601FD54D5FE9}"/>
              </a:ext>
            </a:extLst>
          </p:cNvPr>
          <p:cNvSpPr>
            <a:spLocks xmlns:a="http://schemas.openxmlformats.org/drawingml/2006/main" noGrp="1"/>
          </p:cNvSpPr>
          <p:nvPr/>
        </p:nvSpPr>
        <p:spPr>
          <a:xfrm xmlns:a="http://schemas.openxmlformats.org/drawingml/2006/main">
            <a:off x="685800" y="56197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The user’s 10% requirement applies to complete answers.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Sampler timing does not establish the latency of other model stages.</a:t>
            </a:r>
          </a:p>
        </p:txBody>
      </p:sp>
    </p:spTree>
    <p:extLst>
      <p:ext uri="{BB962C8B-B14F-4D97-AF65-F5344CB8AC3E}">
        <p14:creationId xmlns:p14="http://schemas.microsoft.com/office/powerpoint/2010/main" val="32775912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E7552D-72F6-40A5-90BE-4BE6A877E145}"/>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Statistics from the “after” recording</a:t>
            </a:r>
          </a:p>
        </p:txBody>
      </p:sp>
      <p:sp>
        <p:nvSpPr>
          <p:cNvPr id="2" name="">
            <a:extLst xmlns:a="http://schemas.openxmlformats.org/drawingml/2006/main">
              <a:ext uri="{FF2B5EF4-FFF2-40B4-BE49-F238E27FC236}">
                <a16:creationId xmlns:a16="http://schemas.microsoft.com/office/drawing/2014/main" id="{6EE65AD5-C966-4702-A265-01C7373A86E6}"/>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User-designated after recording, 2026-09-20</a:t>
            </a:r>
          </a:p>
        </p:txBody>
      </p:sp>
      <p:sp>
        <p:nvSpPr>
          <p:cNvPr id="3" name="">
            <a:extLst xmlns:a="http://schemas.openxmlformats.org/drawingml/2006/main">
              <a:ext uri="{FF2B5EF4-FFF2-40B4-BE49-F238E27FC236}">
                <a16:creationId xmlns:a16="http://schemas.microsoft.com/office/drawing/2014/main" id="{7BA759AA-7EDE-4575-A350-48D6C401B02B}"/>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29</a:t>
            </a:r>
          </a:p>
        </p:txBody>
      </p:sp>
      <p:sp>
        <p:nvSpPr>
          <p:cNvPr id="4" name="">
            <a:extLst xmlns:a="http://schemas.openxmlformats.org/drawingml/2006/main">
              <a:ext uri="{FF2B5EF4-FFF2-40B4-BE49-F238E27FC236}">
                <a16:creationId xmlns:a16="http://schemas.microsoft.com/office/drawing/2014/main" id="{1CFC81E9-D42A-4E84-9401-456D26621E0C}"/>
              </a:ext>
            </a:extLst>
          </p:cNvPr>
          <p:cNvSpPr>
            <a:spLocks xmlns:a="http://schemas.openxmlformats.org/drawingml/2006/main" noGrp="1"/>
          </p:cNvSpPr>
          <p:nvPr/>
        </p:nvSpPr>
        <p:spPr>
          <a:xfrm xmlns:a="http://schemas.openxmlformats.org/drawingml/2006/main">
            <a:off x="685800" y="13620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49.197 seconds of recorded browser observations</a:t>
            </a:r>
          </a:p>
        </p:txBody>
      </p:sp>
      <p:graphicFrame>
        <p:nvGraphicFramePr>
          <p:cNvPr id="12" name=""/>
          <p:cNvGraphicFramePr/>
          <p:nvPr/>
        </p:nvGraphicFramePr>
        <p:xfrm>
          <a:off xmlns:a="http://schemas.openxmlformats.org/drawingml/2006/main" x="685800" y="1952625"/>
          <a:ext xmlns:a="http://schemas.openxmlformats.org/drawingml/2006/main" cx="10820400" cy="3257550"/>
        </p:xfrm>
        <a:graphic xmlns:a="http://schemas.openxmlformats.org/drawingml/2006/main">
          <a:graphicData uri="http://schemas.openxmlformats.org/drawingml/2006/table">
            <a:tbl>
              <a:tblPr firstRow="1" bandRow="0"/>
              <a:tblGrid>
                <a:gridCol w="3352800"/>
                <a:gridCol w="7467600"/>
              </a:tblGrid>
              <a:tr h="542925">
                <a:tc>
                  <a:txBody>
                    <a:bodyPr/>
                    <a:lstStyle/>
                    <a:p>
                      <a:r>
                        <a:rPr sz="1800" b="1">
                          <a:solidFill>
                            <a:srgbClr val="183542"/>
                          </a:solidFill>
                          <a:latin typeface="Helvetica Neue"/>
                          <a:ea typeface="Helvetica Neue"/>
                          <a:cs typeface="Helvetica Neue"/>
                        </a:rPr>
                        <a:t>Visible reading</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Recorded observation</a:t>
                      </a:r>
                    </a:p>
                  </a:txBody>
                  <a:tcPr marL="133350" marR="133350" marT="76200" marB="76200" anchor="ctr">
                    <a:solidFill>
                      <a:srgbClr val="E8F0F1"/>
                    </a:solidFill>
                  </a:tcPr>
                </a:tc>
              </a:tr>
              <a:tr h="542925">
                <a:tc>
                  <a:txBody>
                    <a:bodyPr/>
                    <a:lstStyle/>
                    <a:p>
                      <a:r>
                        <a:rPr sz="1800">
                          <a:solidFill>
                            <a:srgbClr val="183542"/>
                          </a:solidFill>
                          <a:latin typeface="Helvetica Neue"/>
                          <a:ea typeface="Helvetica Neue"/>
                          <a:cs typeface="Helvetica Neue"/>
                        </a:rPr>
                        <a:t>Completed responses</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20 distinct states, counters 45–64</a:t>
                      </a:r>
                    </a:p>
                  </a:txBody>
                  <a:tcPr marL="133350" marR="133350" marT="76200" marB="76200" anchor="ctr">
                    <a:solidFill>
                      <a:srgbClr val="FFFFFF"/>
                    </a:solidFill>
                  </a:tcPr>
                </a:tc>
              </a:tr>
              <a:tr h="542925">
                <a:tc>
                  <a:txBody>
                    <a:bodyPr/>
                    <a:lstStyle/>
                    <a:p>
                      <a:r>
                        <a:rPr sz="1800">
                          <a:solidFill>
                            <a:srgbClr val="183542"/>
                          </a:solidFill>
                          <a:latin typeface="Helvetica Neue"/>
                          <a:ea typeface="Helvetica Neue"/>
                          <a:cs typeface="Helvetica Neue"/>
                        </a:rPr>
                        <a:t>First visible token</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Median 975 ms, range 715–1,900 ms</a:t>
                      </a:r>
                    </a:p>
                  </a:txBody>
                  <a:tcPr marL="133350" marR="133350" marT="76200" marB="76200" anchor="ctr">
                    <a:solidFill>
                      <a:srgbClr val="FFFFFF"/>
                    </a:solidFill>
                  </a:tcPr>
                </a:tc>
              </a:tr>
              <a:tr h="542925">
                <a:tc>
                  <a:txBody>
                    <a:bodyPr/>
                    <a:lstStyle/>
                    <a:p>
                      <a:r>
                        <a:rPr sz="1800">
                          <a:solidFill>
                            <a:srgbClr val="183542"/>
                          </a:solidFill>
                          <a:latin typeface="Helvetica Neue"/>
                          <a:ea typeface="Helvetica Neue"/>
                          <a:cs typeface="Helvetica Neue"/>
                        </a:rPr>
                        <a:t>Complete answer</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Median 1.98 s, range 1.50–2.95 s</a:t>
                      </a:r>
                    </a:p>
                  </a:txBody>
                  <a:tcPr marL="133350" marR="133350" marT="76200" marB="76200" anchor="ctr">
                    <a:solidFill>
                      <a:srgbClr val="FFFFFF"/>
                    </a:solidFill>
                  </a:tcPr>
                </a:tc>
              </a:tr>
              <a:tr h="542925">
                <a:tc>
                  <a:txBody>
                    <a:bodyPr/>
                    <a:lstStyle/>
                    <a:p>
                      <a:r>
                        <a:rPr sz="1800">
                          <a:solidFill>
                            <a:srgbClr val="183542"/>
                          </a:solidFill>
                          <a:latin typeface="Helvetica Neue"/>
                          <a:ea typeface="Helvetica Neue"/>
                          <a:cs typeface="Helvetica Neue"/>
                        </a:rPr>
                        <a:t>CPU / GPU readings</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CPU 0.5–3.5%, GPU 0.0–99.9%</a:t>
                      </a:r>
                    </a:p>
                  </a:txBody>
                  <a:tcPr marL="133350" marR="133350" marT="76200" marB="76200" anchor="ctr">
                    <a:solidFill>
                      <a:srgbClr val="FFFFFF"/>
                    </a:solidFill>
                  </a:tcPr>
                </a:tc>
              </a:tr>
              <a:tr h="542925">
                <a:tc>
                  <a:txBody>
                    <a:bodyPr/>
                    <a:lstStyle/>
                    <a:p>
                      <a:r>
                        <a:rPr sz="1800">
                          <a:solidFill>
                            <a:srgbClr val="183542"/>
                          </a:solidFill>
                          <a:latin typeface="Helvetica Neue"/>
                          <a:ea typeface="Helvetica Neue"/>
                          <a:cs typeface="Helvetica Neue"/>
                        </a:rPr>
                        <a:t>Shared system RAM</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6.38–6.39 GiB of 7.37 GiB</a:t>
                      </a:r>
                    </a:p>
                  </a:txBody>
                  <a:tcPr marL="133350" marR="133350"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234231B-6169-484B-9880-4DDFD8C78D17}"/>
              </a:ext>
            </a:extLst>
          </p:cNvPr>
          <p:cNvSpPr>
            <a:spLocks xmlns:a="http://schemas.openxmlformats.org/drawingml/2006/main" noGrp="1"/>
          </p:cNvSpPr>
          <p:nvPr/>
        </p:nvSpPr>
        <p:spPr>
          <a:xfrm xmlns:a="http://schemas.openxmlformats.org/drawingml/2006/main">
            <a:off x="685800" y="55149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146875"/>
                </a:solidFill>
                <a:latin typeface="Helvetica Neue"/>
                <a:ea typeface="Helvetica Neue"/>
                <a:cs typeface="Helvetica Neue"/>
              </a:defRPr>
            </a:pPr>
            <a:r>
              <a:rPr sz="1875" b="1">
                <a:solidFill>
                  <a:srgbClr val="146875"/>
                </a:solidFill>
                <a:latin typeface="Helvetica Neue"/>
                <a:ea typeface="Helvetica Neue"/>
                <a:cs typeface="Helvetica Neue"/>
              </a:rPr>
              <a:t>At recording time: restored FP16, before the new MLP optimization goal.</a:t>
            </a:r>
          </a:p>
        </p:txBody>
      </p:sp>
      <p:sp>
        <p:nvSpPr>
          <p:cNvPr id="7" name="">
            <a:extLst xmlns:a="http://schemas.openxmlformats.org/drawingml/2006/main">
              <a:ext uri="{FF2B5EF4-FFF2-40B4-BE49-F238E27FC236}">
                <a16:creationId xmlns:a16="http://schemas.microsoft.com/office/drawing/2014/main" id="{48248CD4-78A0-4DFA-A6EE-62CD1C679EFC}"/>
              </a:ext>
            </a:extLst>
          </p:cNvPr>
          <p:cNvSpPr>
            <a:spLocks xmlns:a="http://schemas.openxmlformats.org/drawingml/2006/main" noGrp="1"/>
          </p:cNvSpPr>
          <p:nvPr/>
        </p:nvSpPr>
        <p:spPr>
          <a:xfrm xmlns:a="http://schemas.openxmlformats.org/drawingml/2006/main">
            <a:off x="685800" y="59721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Rounded browser readings. No causal latency or accuracy gain follows from this recording.</a:t>
            </a:r>
          </a:p>
        </p:txBody>
      </p:sp>
    </p:spTree>
    <p:extLst>
      <p:ext uri="{BB962C8B-B14F-4D97-AF65-F5344CB8AC3E}">
        <p14:creationId xmlns:p14="http://schemas.microsoft.com/office/powerpoint/2010/main" val="135919388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39062C-ED32-4111-8556-069CDBB46FB9}"/>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After recording: action camera</a:t>
            </a:r>
          </a:p>
        </p:txBody>
      </p:sp>
      <p:sp>
        <p:nvSpPr>
          <p:cNvPr id="2" name="">
            <a:extLst xmlns:a="http://schemas.openxmlformats.org/drawingml/2006/main">
              <a:ext uri="{FF2B5EF4-FFF2-40B4-BE49-F238E27FC236}">
                <a16:creationId xmlns:a16="http://schemas.microsoft.com/office/drawing/2014/main" id="{F094CE01-D40C-4BA0-8E97-CF4D409C583A}"/>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User-designated after recording, 2026-09-20</a:t>
            </a:r>
          </a:p>
        </p:txBody>
      </p:sp>
      <p:sp>
        <p:nvSpPr>
          <p:cNvPr id="3" name="">
            <a:extLst xmlns:a="http://schemas.openxmlformats.org/drawingml/2006/main">
              <a:ext uri="{FF2B5EF4-FFF2-40B4-BE49-F238E27FC236}">
                <a16:creationId xmlns:a16="http://schemas.microsoft.com/office/drawing/2014/main" id="{89DBCB22-DC7F-442E-A71B-950154FB36A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30</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92da3176bc34c9c"/>
          <a:stretch xmlns:a="http://schemas.openxmlformats.org/drawingml/2006/main"/>
        </p:blipFill>
        <p:spPr>
          <a:xfrm xmlns:a="http://schemas.openxmlformats.org/drawingml/2006/main">
            <a:off x="685800" y="1535545"/>
            <a:ext cx="7524750" cy="471083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9335E8D-3614-4AF9-81A9-0215457E2EC4}"/>
              </a:ext>
            </a:extLst>
          </p:cNvPr>
          <p:cNvSpPr>
            <a:spLocks xmlns:a="http://schemas.openxmlformats.org/drawingml/2006/main" noGrp="1"/>
          </p:cNvSpPr>
          <p:nvPr/>
        </p:nvSpPr>
        <p:spPr>
          <a:xfrm xmlns:a="http://schemas.openxmlformats.org/drawingml/2006/main">
            <a:off x="8591550" y="1562100"/>
            <a:ext cx="2914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Clip 00:14.000</a:t>
            </a:r>
          </a:p>
        </p:txBody>
      </p:sp>
      <p:sp>
        <p:nvSpPr>
          <p:cNvPr id="6" name="">
            <a:extLst xmlns:a="http://schemas.openxmlformats.org/drawingml/2006/main">
              <a:ext uri="{FF2B5EF4-FFF2-40B4-BE49-F238E27FC236}">
                <a16:creationId xmlns:a16="http://schemas.microsoft.com/office/drawing/2014/main" id="{F3CAECB8-F3A3-4700-80D3-6F04520147FB}"/>
              </a:ext>
            </a:extLst>
          </p:cNvPr>
          <p:cNvSpPr>
            <a:spLocks xmlns:a="http://schemas.openxmlformats.org/drawingml/2006/main" noGrp="1"/>
          </p:cNvSpPr>
          <p:nvPr/>
        </p:nvSpPr>
        <p:spPr>
          <a:xfrm xmlns:a="http://schemas.openxmlformats.org/drawingml/2006/main">
            <a:off x="8591550" y="2047875"/>
            <a:ext cx="29146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First text: 865 ms</a:t>
            </a:r>
          </a:p>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Complete: 1.66 s</a:t>
            </a:r>
          </a:p>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Frame age: 1.67 s</a:t>
            </a:r>
          </a:p>
        </p:txBody>
      </p:sp>
      <p:sp>
        <p:nvSpPr>
          <p:cNvPr id="7" name="">
            <a:extLst xmlns:a="http://schemas.openxmlformats.org/drawingml/2006/main">
              <a:ext uri="{FF2B5EF4-FFF2-40B4-BE49-F238E27FC236}">
                <a16:creationId xmlns:a16="http://schemas.microsoft.com/office/drawing/2014/main" id="{A5CFA6DB-C993-44F5-81F4-F6127A8852FB}"/>
              </a:ext>
            </a:extLst>
          </p:cNvPr>
          <p:cNvSpPr>
            <a:spLocks xmlns:a="http://schemas.openxmlformats.org/drawingml/2006/main" noGrp="1"/>
          </p:cNvSpPr>
          <p:nvPr/>
        </p:nvSpPr>
        <p:spPr>
          <a:xfrm xmlns:a="http://schemas.openxmlformats.org/drawingml/2006/main">
            <a:off x="8591550" y="3390900"/>
            <a:ext cx="29146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The response identifies a camera. This is one recorded example.</a:t>
            </a:r>
          </a:p>
        </p:txBody>
      </p:sp>
      <p:sp>
        <p:nvSpPr>
          <p:cNvPr id="8" name="">
            <a:extLst xmlns:a="http://schemas.openxmlformats.org/drawingml/2006/main">
              <a:ext uri="{FF2B5EF4-FFF2-40B4-BE49-F238E27FC236}">
                <a16:creationId xmlns:a16="http://schemas.microsoft.com/office/drawing/2014/main" id="{F5577C2D-82D9-44DD-B8E7-3B508B87036D}"/>
              </a:ext>
            </a:extLst>
          </p:cNvPr>
          <p:cNvSpPr>
            <a:spLocks xmlns:a="http://schemas.openxmlformats.org/drawingml/2006/main" noGrp="1"/>
          </p:cNvSpPr>
          <p:nvPr/>
        </p:nvSpPr>
        <p:spPr>
          <a:xfrm xmlns:a="http://schemas.openxmlformats.org/drawingml/2006/main">
            <a:off x="8591550" y="5114925"/>
            <a:ext cx="29146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The preview may be newer than the image used for the answer.</a:t>
            </a:r>
          </a:p>
        </p:txBody>
      </p:sp>
    </p:spTree>
    <p:extLst>
      <p:ext uri="{BB962C8B-B14F-4D97-AF65-F5344CB8AC3E}">
        <p14:creationId xmlns:p14="http://schemas.microsoft.com/office/powerpoint/2010/main" val="176504749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D25A9F5-FB08-4126-8DF0-E4336CD55777}"/>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After recording: wristwatch</a:t>
            </a:r>
          </a:p>
        </p:txBody>
      </p:sp>
      <p:sp>
        <p:nvSpPr>
          <p:cNvPr id="2" name="">
            <a:extLst xmlns:a="http://schemas.openxmlformats.org/drawingml/2006/main">
              <a:ext uri="{FF2B5EF4-FFF2-40B4-BE49-F238E27FC236}">
                <a16:creationId xmlns:a16="http://schemas.microsoft.com/office/drawing/2014/main" id="{01E6F3FA-C2E6-411F-89C3-1EC0DE8D21E9}"/>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User-designated after recording, 2026-09-20</a:t>
            </a:r>
          </a:p>
        </p:txBody>
      </p:sp>
      <p:sp>
        <p:nvSpPr>
          <p:cNvPr id="3" name="">
            <a:extLst xmlns:a="http://schemas.openxmlformats.org/drawingml/2006/main">
              <a:ext uri="{FF2B5EF4-FFF2-40B4-BE49-F238E27FC236}">
                <a16:creationId xmlns:a16="http://schemas.microsoft.com/office/drawing/2014/main" id="{C43909F0-1E7C-40BE-AB59-60B4AEC2DA0C}"/>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31</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e108c39c85e4b00"/>
          <a:stretch xmlns:a="http://schemas.openxmlformats.org/drawingml/2006/main"/>
        </p:blipFill>
        <p:spPr>
          <a:xfrm xmlns:a="http://schemas.openxmlformats.org/drawingml/2006/main">
            <a:off x="685800" y="1535545"/>
            <a:ext cx="7524750" cy="471083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2A306A5-33C7-45D4-B880-DC9ED68D23D6}"/>
              </a:ext>
            </a:extLst>
          </p:cNvPr>
          <p:cNvSpPr>
            <a:spLocks xmlns:a="http://schemas.openxmlformats.org/drawingml/2006/main" noGrp="1"/>
          </p:cNvSpPr>
          <p:nvPr/>
        </p:nvSpPr>
        <p:spPr>
          <a:xfrm xmlns:a="http://schemas.openxmlformats.org/drawingml/2006/main">
            <a:off x="8591550" y="1562100"/>
            <a:ext cx="2914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Clip 00:35.142</a:t>
            </a:r>
          </a:p>
        </p:txBody>
      </p:sp>
      <p:sp>
        <p:nvSpPr>
          <p:cNvPr id="6" name="">
            <a:extLst xmlns:a="http://schemas.openxmlformats.org/drawingml/2006/main">
              <a:ext uri="{FF2B5EF4-FFF2-40B4-BE49-F238E27FC236}">
                <a16:creationId xmlns:a16="http://schemas.microsoft.com/office/drawing/2014/main" id="{BBD8B05B-7B44-4795-BC7F-EEB668E81554}"/>
              </a:ext>
            </a:extLst>
          </p:cNvPr>
          <p:cNvSpPr>
            <a:spLocks xmlns:a="http://schemas.openxmlformats.org/drawingml/2006/main" noGrp="1"/>
          </p:cNvSpPr>
          <p:nvPr/>
        </p:nvSpPr>
        <p:spPr>
          <a:xfrm xmlns:a="http://schemas.openxmlformats.org/drawingml/2006/main">
            <a:off x="8591550" y="2047875"/>
            <a:ext cx="29146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First text: 961 ms</a:t>
            </a:r>
          </a:p>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Complete: 1.82 s</a:t>
            </a:r>
          </a:p>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Frame age: 1.84 s</a:t>
            </a:r>
          </a:p>
        </p:txBody>
      </p:sp>
      <p:sp>
        <p:nvSpPr>
          <p:cNvPr id="7" name="">
            <a:extLst xmlns:a="http://schemas.openxmlformats.org/drawingml/2006/main">
              <a:ext uri="{FF2B5EF4-FFF2-40B4-BE49-F238E27FC236}">
                <a16:creationId xmlns:a16="http://schemas.microsoft.com/office/drawing/2014/main" id="{570238FC-B9B8-4225-8F8F-7ADAA7E4A2F7}"/>
              </a:ext>
            </a:extLst>
          </p:cNvPr>
          <p:cNvSpPr>
            <a:spLocks xmlns:a="http://schemas.openxmlformats.org/drawingml/2006/main" noGrp="1"/>
          </p:cNvSpPr>
          <p:nvPr/>
        </p:nvSpPr>
        <p:spPr>
          <a:xfrm xmlns:a="http://schemas.openxmlformats.org/drawingml/2006/main">
            <a:off x="8591550" y="3390900"/>
            <a:ext cx="29146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The response describes the watch shown near the camera.</a:t>
            </a:r>
          </a:p>
        </p:txBody>
      </p:sp>
      <p:sp>
        <p:nvSpPr>
          <p:cNvPr id="8" name="">
            <a:extLst xmlns:a="http://schemas.openxmlformats.org/drawingml/2006/main">
              <a:ext uri="{FF2B5EF4-FFF2-40B4-BE49-F238E27FC236}">
                <a16:creationId xmlns:a16="http://schemas.microsoft.com/office/drawing/2014/main" id="{FD95BEEF-CAE2-4311-9264-D856245BC952}"/>
              </a:ext>
            </a:extLst>
          </p:cNvPr>
          <p:cNvSpPr>
            <a:spLocks xmlns:a="http://schemas.openxmlformats.org/drawingml/2006/main" noGrp="1"/>
          </p:cNvSpPr>
          <p:nvPr/>
        </p:nvSpPr>
        <p:spPr>
          <a:xfrm xmlns:a="http://schemas.openxmlformats.org/drawingml/2006/main">
            <a:off x="8591550" y="5114925"/>
            <a:ext cx="29146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A successful object description does not establish an accuracy rate.</a:t>
            </a:r>
          </a:p>
        </p:txBody>
      </p:sp>
    </p:spTree>
    <p:extLst>
      <p:ext uri="{BB962C8B-B14F-4D97-AF65-F5344CB8AC3E}">
        <p14:creationId xmlns:p14="http://schemas.microsoft.com/office/powerpoint/2010/main" val="65169670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CA63061-F199-43DC-970A-32AB48B45D4A}"/>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After recording: handheld identification</a:t>
            </a:r>
          </a:p>
        </p:txBody>
      </p:sp>
      <p:sp>
        <p:nvSpPr>
          <p:cNvPr id="2" name="">
            <a:extLst xmlns:a="http://schemas.openxmlformats.org/drawingml/2006/main">
              <a:ext uri="{FF2B5EF4-FFF2-40B4-BE49-F238E27FC236}">
                <a16:creationId xmlns:a16="http://schemas.microsoft.com/office/drawing/2014/main" id="{5B717D24-091C-49F2-AD8F-2068C3201E72}"/>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User-designated after recording, 2026-09-20</a:t>
            </a:r>
          </a:p>
        </p:txBody>
      </p:sp>
      <p:sp>
        <p:nvSpPr>
          <p:cNvPr id="3" name="">
            <a:extLst xmlns:a="http://schemas.openxmlformats.org/drawingml/2006/main">
              <a:ext uri="{FF2B5EF4-FFF2-40B4-BE49-F238E27FC236}">
                <a16:creationId xmlns:a16="http://schemas.microsoft.com/office/drawing/2014/main" id="{F0061CED-59D0-44DA-B917-2B7B0798EFF9}"/>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32</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b7702e4356949f6"/>
          <a:stretch xmlns:a="http://schemas.openxmlformats.org/drawingml/2006/main"/>
        </p:blipFill>
        <p:spPr>
          <a:xfrm xmlns:a="http://schemas.openxmlformats.org/drawingml/2006/main">
            <a:off x="685800" y="1535545"/>
            <a:ext cx="7524750" cy="471083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0EFBA01-DCB5-4C21-88AE-47CD32C5203E}"/>
              </a:ext>
            </a:extLst>
          </p:cNvPr>
          <p:cNvSpPr>
            <a:spLocks xmlns:a="http://schemas.openxmlformats.org/drawingml/2006/main" noGrp="1"/>
          </p:cNvSpPr>
          <p:nvPr/>
        </p:nvSpPr>
        <p:spPr>
          <a:xfrm xmlns:a="http://schemas.openxmlformats.org/drawingml/2006/main">
            <a:off x="8591550" y="1562100"/>
            <a:ext cx="2914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Clip 00:47.267</a:t>
            </a:r>
          </a:p>
        </p:txBody>
      </p:sp>
      <p:sp>
        <p:nvSpPr>
          <p:cNvPr id="6" name="">
            <a:extLst xmlns:a="http://schemas.openxmlformats.org/drawingml/2006/main">
              <a:ext uri="{FF2B5EF4-FFF2-40B4-BE49-F238E27FC236}">
                <a16:creationId xmlns:a16="http://schemas.microsoft.com/office/drawing/2014/main" id="{F787E642-AA07-4D01-8829-DBDFBE044499}"/>
              </a:ext>
            </a:extLst>
          </p:cNvPr>
          <p:cNvSpPr>
            <a:spLocks xmlns:a="http://schemas.openxmlformats.org/drawingml/2006/main" noGrp="1"/>
          </p:cNvSpPr>
          <p:nvPr/>
        </p:nvSpPr>
        <p:spPr>
          <a:xfrm xmlns:a="http://schemas.openxmlformats.org/drawingml/2006/main">
            <a:off x="8591550" y="2047875"/>
            <a:ext cx="29146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First text: 1,180 ms</a:t>
            </a:r>
          </a:p>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Complete: 1.96 s</a:t>
            </a:r>
          </a:p>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Frame age: 1.94 s</a:t>
            </a:r>
          </a:p>
        </p:txBody>
      </p:sp>
      <p:sp>
        <p:nvSpPr>
          <p:cNvPr id="7" name="">
            <a:extLst xmlns:a="http://schemas.openxmlformats.org/drawingml/2006/main">
              <a:ext uri="{FF2B5EF4-FFF2-40B4-BE49-F238E27FC236}">
                <a16:creationId xmlns:a16="http://schemas.microsoft.com/office/drawing/2014/main" id="{F073BDA6-1859-4052-BB0E-1442C43FB94E}"/>
              </a:ext>
            </a:extLst>
          </p:cNvPr>
          <p:cNvSpPr>
            <a:spLocks xmlns:a="http://schemas.openxmlformats.org/drawingml/2006/main" noGrp="1"/>
          </p:cNvSpPr>
          <p:nvPr/>
        </p:nvSpPr>
        <p:spPr>
          <a:xfrm xmlns:a="http://schemas.openxmlformats.org/drawingml/2006/main">
            <a:off x="8591550" y="3390900"/>
            <a:ext cx="29146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The model names a specific handheld. Nearby responses use different model names.</a:t>
            </a:r>
          </a:p>
        </p:txBody>
      </p:sp>
      <p:sp>
        <p:nvSpPr>
          <p:cNvPr id="8" name="">
            <a:extLst xmlns:a="http://schemas.openxmlformats.org/drawingml/2006/main">
              <a:ext uri="{FF2B5EF4-FFF2-40B4-BE49-F238E27FC236}">
                <a16:creationId xmlns:a16="http://schemas.microsoft.com/office/drawing/2014/main" id="{7DECF1A9-FB93-4AF8-AD26-B3CF7E5E0928}"/>
              </a:ext>
            </a:extLst>
          </p:cNvPr>
          <p:cNvSpPr>
            <a:spLocks xmlns:a="http://schemas.openxmlformats.org/drawingml/2006/main" noGrp="1"/>
          </p:cNvSpPr>
          <p:nvPr/>
        </p:nvSpPr>
        <p:spPr>
          <a:xfrm xmlns:a="http://schemas.openxmlformats.org/drawingml/2006/main">
            <a:off x="8591550" y="5114925"/>
            <a:ext cx="29146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965A20"/>
                </a:solidFill>
                <a:latin typeface="Helvetica Neue"/>
                <a:ea typeface="Helvetica Neue"/>
                <a:cs typeface="Helvetica Neue"/>
              </a:defRPr>
            </a:pPr>
            <a:r>
              <a:rPr sz="1725" b="0">
                <a:solidFill>
                  <a:srgbClr val="965A20"/>
                </a:solidFill>
                <a:latin typeface="Helvetica Neue"/>
                <a:ea typeface="Helvetica Neue"/>
                <a:cs typeface="Helvetica Neue"/>
              </a:rPr>
              <a:t>Treat the specific model name as model output, not a verified identification.</a:t>
            </a:r>
          </a:p>
        </p:txBody>
      </p:sp>
    </p:spTree>
    <p:extLst>
      <p:ext uri="{BB962C8B-B14F-4D97-AF65-F5344CB8AC3E}">
        <p14:creationId xmlns:p14="http://schemas.microsoft.com/office/powerpoint/2010/main" val="171813589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352CAE-7AD6-490D-945F-2ACA2E2CAD83}"/>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New MLP goal after the checkpoint</a:t>
            </a:r>
          </a:p>
        </p:txBody>
      </p:sp>
      <p:sp>
        <p:nvSpPr>
          <p:cNvPr id="2" name="">
            <a:extLst xmlns:a="http://schemas.openxmlformats.org/drawingml/2006/main">
              <a:ext uri="{FF2B5EF4-FFF2-40B4-BE49-F238E27FC236}">
                <a16:creationId xmlns:a16="http://schemas.microsoft.com/office/drawing/2014/main" id="{8008D9C7-E83E-4EBB-A14E-DEA14AE29075}"/>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MLP goal after the frozen checkpoint</a:t>
            </a:r>
          </a:p>
        </p:txBody>
      </p:sp>
      <p:sp>
        <p:nvSpPr>
          <p:cNvPr id="3" name="">
            <a:extLst xmlns:a="http://schemas.openxmlformats.org/drawingml/2006/main">
              <a:ext uri="{FF2B5EF4-FFF2-40B4-BE49-F238E27FC236}">
                <a16:creationId xmlns:a16="http://schemas.microsoft.com/office/drawing/2014/main" id="{9B3F766A-4EB0-4E24-9EB1-C76E8F388A40}"/>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33</a:t>
            </a:r>
          </a:p>
        </p:txBody>
      </p:sp>
      <p:sp>
        <p:nvSpPr>
          <p:cNvPr id="4" name="">
            <a:extLst xmlns:a="http://schemas.openxmlformats.org/drawingml/2006/main">
              <a:ext uri="{FF2B5EF4-FFF2-40B4-BE49-F238E27FC236}">
                <a16:creationId xmlns:a16="http://schemas.microsoft.com/office/drawing/2014/main" id="{8C145FDC-48D3-4905-8BBA-11532887CADC}"/>
              </a:ext>
            </a:extLst>
          </p:cNvPr>
          <p:cNvSpPr>
            <a:spLocks xmlns:a="http://schemas.openxmlformats.org/drawingml/2006/main" noGrp="1"/>
          </p:cNvSpPr>
          <p:nvPr/>
        </p:nvSpPr>
        <p:spPr>
          <a:xfrm xmlns:a="http://schemas.openxmlformats.org/drawingml/2006/main">
            <a:off x="685800" y="13906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User steering changes the starting point and preserves the 10% stop rule</a:t>
            </a:r>
          </a:p>
        </p:txBody>
      </p:sp>
      <p:graphicFrame>
        <p:nvGraphicFramePr>
          <p:cNvPr id="11" name=""/>
          <p:cNvGraphicFramePr/>
          <p:nvPr/>
        </p:nvGraphicFramePr>
        <p:xfrm>
          <a:off xmlns:a="http://schemas.openxmlformats.org/drawingml/2006/main" x="685800" y="1952625"/>
          <a:ext xmlns:a="http://schemas.openxmlformats.org/drawingml/2006/main" cx="10820400" cy="3333750"/>
        </p:xfrm>
        <a:graphic xmlns:a="http://schemas.openxmlformats.org/drawingml/2006/main">
          <a:graphicData uri="http://schemas.openxmlformats.org/drawingml/2006/table">
            <a:tbl>
              <a:tblPr firstRow="1" bandRow="0"/>
              <a:tblGrid>
                <a:gridCol w="3181350"/>
                <a:gridCol w="7639050"/>
              </a:tblGrid>
              <a:tr h="476250">
                <a:tc>
                  <a:txBody>
                    <a:bodyPr/>
                    <a:lstStyle/>
                    <a:p>
                      <a:r>
                        <a:rPr sz="1725" b="1">
                          <a:solidFill>
                            <a:srgbClr val="183542"/>
                          </a:solidFill>
                          <a:latin typeface="Helvetica Neue"/>
                          <a:ea typeface="Helvetica Neue"/>
                          <a:cs typeface="Helvetica Neue"/>
                        </a:rPr>
                        <a:t>Decision</a:t>
                      </a:r>
                    </a:p>
                  </a:txBody>
                  <a:tcPr marL="133350" marR="133350" marT="76200" marB="76200" anchor="ctr">
                    <a:solidFill>
                      <a:srgbClr val="E8F0F1"/>
                    </a:solidFill>
                  </a:tcPr>
                </a:tc>
                <a:tc>
                  <a:txBody>
                    <a:bodyPr/>
                    <a:lstStyle/>
                    <a:p>
                      <a:r>
                        <a:rPr sz="1725" b="1">
                          <a:solidFill>
                            <a:srgbClr val="183542"/>
                          </a:solidFill>
                          <a:latin typeface="Helvetica Neue"/>
                          <a:ea typeface="Helvetica Neue"/>
                          <a:cs typeface="Helvetica Neue"/>
                        </a:rPr>
                        <a:t>Recorded scope</a:t>
                      </a:r>
                    </a:p>
                  </a:txBody>
                  <a:tcPr marL="133350" marR="133350" marT="76200" marB="76200" anchor="ctr">
                    <a:solidFill>
                      <a:srgbClr val="E8F0F1"/>
                    </a:solidFill>
                  </a:tcPr>
                </a:tc>
              </a:tr>
              <a:tr h="476250">
                <a:tc>
                  <a:txBody>
                    <a:bodyPr/>
                    <a:lstStyle/>
                    <a:p>
                      <a:r>
                        <a:rPr sz="1725">
                          <a:solidFill>
                            <a:srgbClr val="183542"/>
                          </a:solidFill>
                          <a:latin typeface="Helvetica Neue"/>
                          <a:ea typeface="Helvetica Neue"/>
                          <a:cs typeface="Helvetica Neue"/>
                        </a:rPr>
                        <a:t>Frozen checkpoint</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Earlier FP16 work and 28-slide presentation preserved</a:t>
                      </a:r>
                    </a:p>
                  </a:txBody>
                  <a:tcPr marL="133350" marR="133350" marT="76200" marB="76200" anchor="ctr">
                    <a:solidFill>
                      <a:srgbClr val="FFFFFF"/>
                    </a:solidFill>
                  </a:tcPr>
                </a:tc>
              </a:tr>
              <a:tr h="476250">
                <a:tc>
                  <a:txBody>
                    <a:bodyPr/>
                    <a:lstStyle/>
                    <a:p>
                      <a:r>
                        <a:rPr sz="1725">
                          <a:solidFill>
                            <a:srgbClr val="183542"/>
                          </a:solidFill>
                          <a:latin typeface="Helvetica Neue"/>
                          <a:ea typeface="Helvetica Neue"/>
                          <a:cs typeface="Helvetica Neue"/>
                        </a:rPr>
                        <a:t>User choice</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Start from MLP-only RTN INT4 and improve latency and RAM</a:t>
                      </a:r>
                    </a:p>
                  </a:txBody>
                  <a:tcPr marL="133350" marR="133350" marT="76200" marB="76200" anchor="ctr">
                    <a:solidFill>
                      <a:srgbClr val="FFFFFF"/>
                    </a:solidFill>
                  </a:tcPr>
                </a:tc>
              </a:tr>
              <a:tr h="476250">
                <a:tc>
                  <a:txBody>
                    <a:bodyPr/>
                    <a:lstStyle/>
                    <a:p>
                      <a:r>
                        <a:rPr sz="1725">
                          <a:solidFill>
                            <a:srgbClr val="183542"/>
                          </a:solidFill>
                          <a:latin typeface="Helvetica Neue"/>
                          <a:ea typeface="Helvetica Neue"/>
                          <a:cs typeface="Helvetica Neue"/>
                        </a:rPr>
                        <a:t>Agent measurement</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Three images, 5 warmups + 30 measurements per image</a:t>
                      </a:r>
                    </a:p>
                  </a:txBody>
                  <a:tcPr marL="133350" marR="133350" marT="76200" marB="76200" anchor="ctr">
                    <a:solidFill>
                      <a:srgbClr val="FFFFFF"/>
                    </a:solidFill>
                  </a:tcPr>
                </a:tc>
              </a:tr>
              <a:tr h="476250">
                <a:tc>
                  <a:txBody>
                    <a:bodyPr/>
                    <a:lstStyle/>
                    <a:p>
                      <a:r>
                        <a:rPr sz="1725">
                          <a:solidFill>
                            <a:srgbClr val="183542"/>
                          </a:solidFill>
                          <a:latin typeface="Helvetica Neue"/>
                          <a:ea typeface="Helvetica Neue"/>
                          <a:cs typeface="Helvetica Neue"/>
                        </a:rPr>
                        <a:t>Search stop</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A confirmed gain below 10% ends the search</a:t>
                      </a:r>
                    </a:p>
                  </a:txBody>
                  <a:tcPr marL="133350" marR="133350" marT="76200" marB="76200" anchor="ctr">
                    <a:solidFill>
                      <a:srgbClr val="FFFFFF"/>
                    </a:solidFill>
                  </a:tcPr>
                </a:tc>
              </a:tr>
              <a:tr h="476250">
                <a:tc>
                  <a:txBody>
                    <a:bodyPr/>
                    <a:lstStyle/>
                    <a:p>
                      <a:r>
                        <a:rPr sz="1725">
                          <a:solidFill>
                            <a:srgbClr val="183542"/>
                          </a:solidFill>
                          <a:latin typeface="Helvetica Neue"/>
                          <a:ea typeface="Helvetica Neue"/>
                          <a:cs typeface="Helvetica Neue"/>
                        </a:rPr>
                        <a:t>Deployment clarification</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Retain useful RAM savings without further trials</a:t>
                      </a:r>
                    </a:p>
                  </a:txBody>
                  <a:tcPr marL="133350" marR="133350" marT="76200" marB="76200" anchor="ctr">
                    <a:solidFill>
                      <a:srgbClr val="FFFFFF"/>
                    </a:solidFill>
                  </a:tcPr>
                </a:tc>
              </a:tr>
              <a:tr h="476250">
                <a:tc>
                  <a:txBody>
                    <a:bodyPr/>
                    <a:lstStyle/>
                    <a:p>
                      <a:r>
                        <a:rPr sz="1725">
                          <a:solidFill>
                            <a:srgbClr val="183542"/>
                          </a:solidFill>
                          <a:latin typeface="Helvetica Neue"/>
                          <a:ea typeface="Helvetica Neue"/>
                          <a:cs typeface="Helvetica Neue"/>
                        </a:rPr>
                        <a:t>Known quality limit</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18/19 diagnostic facts; yellow triangle described as orange</a:t>
                      </a:r>
                    </a:p>
                  </a:txBody>
                  <a:tcPr marL="133350" marR="133350"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32795D2-D86A-4EE6-BAD9-49684B646618}"/>
              </a:ext>
            </a:extLst>
          </p:cNvPr>
          <p:cNvSpPr>
            <a:spLocks xmlns:a="http://schemas.openxmlformats.org/drawingml/2006/main" noGrp="1"/>
          </p:cNvSpPr>
          <p:nvPr/>
        </p:nvSpPr>
        <p:spPr>
          <a:xfrm xmlns:a="http://schemas.openxmlformats.org/drawingml/2006/main">
            <a:off x="685800" y="55054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After measurement, the agent corrected its interpretation: 10% stops the search; useful RAM savings can remain deployed.</a:t>
            </a:r>
          </a:p>
        </p:txBody>
      </p:sp>
    </p:spTree>
    <p:extLst>
      <p:ext uri="{BB962C8B-B14F-4D97-AF65-F5344CB8AC3E}">
        <p14:creationId xmlns:p14="http://schemas.microsoft.com/office/powerpoint/2010/main" val="70111867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201C48-B910-42B8-908A-D2AC5702B245}"/>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Matched MLP latency results</a:t>
            </a:r>
          </a:p>
        </p:txBody>
      </p:sp>
      <p:sp>
        <p:nvSpPr>
          <p:cNvPr id="2" name="">
            <a:extLst xmlns:a="http://schemas.openxmlformats.org/drawingml/2006/main">
              <a:ext uri="{FF2B5EF4-FFF2-40B4-BE49-F238E27FC236}">
                <a16:creationId xmlns:a16="http://schemas.microsoft.com/office/drawing/2014/main" id="{3269705A-6B1A-41FB-8C8E-166AF58E41DB}"/>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MLP goal after the frozen checkpoint</a:t>
            </a:r>
          </a:p>
        </p:txBody>
      </p:sp>
      <p:sp>
        <p:nvSpPr>
          <p:cNvPr id="3" name="">
            <a:extLst xmlns:a="http://schemas.openxmlformats.org/drawingml/2006/main">
              <a:ext uri="{FF2B5EF4-FFF2-40B4-BE49-F238E27FC236}">
                <a16:creationId xmlns:a16="http://schemas.microsoft.com/office/drawing/2014/main" id="{DAFA6A70-ECA0-4DB3-BEA7-6FAFE4C61BC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34</a:t>
            </a:r>
          </a:p>
        </p:txBody>
      </p:sp>
      <p:sp>
        <p:nvSpPr>
          <p:cNvPr id="4" name="">
            <a:extLst xmlns:a="http://schemas.openxmlformats.org/drawingml/2006/main">
              <a:ext uri="{FF2B5EF4-FFF2-40B4-BE49-F238E27FC236}">
                <a16:creationId xmlns:a16="http://schemas.microsoft.com/office/drawing/2014/main" id="{8A6FAD6F-EF66-44AB-A4ED-78E4139A19E4}"/>
              </a:ext>
            </a:extLst>
          </p:cNvPr>
          <p:cNvSpPr>
            <a:spLocks xmlns:a="http://schemas.openxmlformats.org/drawingml/2006/main" noGrp="1"/>
          </p:cNvSpPr>
          <p:nvPr/>
        </p:nvSpPr>
        <p:spPr>
          <a:xfrm xmlns:a="http://schemas.openxmlformats.org/drawingml/2006/main">
            <a:off x="685800" y="13716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146875"/>
                </a:solidFill>
                <a:latin typeface="Helvetica Neue"/>
                <a:ea typeface="Helvetica Neue"/>
                <a:cs typeface="Helvetica Neue"/>
              </a:defRPr>
            </a:pPr>
            <a:r>
              <a:rPr sz="2400" b="1">
                <a:solidFill>
                  <a:srgbClr val="146875"/>
                </a:solidFill>
                <a:latin typeface="Helvetica Neue"/>
                <a:ea typeface="Helvetica Neue"/>
                <a:cs typeface="Helvetica Neue"/>
              </a:rPr>
              <a:t>1.19% lower complete-answer latency</a:t>
            </a:r>
          </a:p>
        </p:txBody>
      </p:sp>
      <p:graphicFrame>
        <p:nvGraphicFramePr>
          <p:cNvPr id="12" name=""/>
          <p:cNvGraphicFramePr/>
          <p:nvPr/>
        </p:nvGraphicFramePr>
        <p:xfrm>
          <a:off xmlns:a="http://schemas.openxmlformats.org/drawingml/2006/main" x="685800" y="2076450"/>
          <a:ext xmlns:a="http://schemas.openxmlformats.org/drawingml/2006/main" cx="10820400" cy="2809875"/>
        </p:xfrm>
        <a:graphic xmlns:a="http://schemas.openxmlformats.org/drawingml/2006/main">
          <a:graphicData uri="http://schemas.openxmlformats.org/drawingml/2006/table">
            <a:tbl>
              <a:tblPr firstRow="1" bandRow="0"/>
              <a:tblGrid>
                <a:gridCol w="2667000"/>
                <a:gridCol w="2000250"/>
                <a:gridCol w="2076450"/>
                <a:gridCol w="2171700"/>
                <a:gridCol w="1905000"/>
              </a:tblGrid>
              <a:tr h="561975">
                <a:tc>
                  <a:txBody>
                    <a:bodyPr/>
                    <a:lstStyle/>
                    <a:p>
                      <a:r>
                        <a:rPr sz="1800" b="1">
                          <a:solidFill>
                            <a:srgbClr val="183542"/>
                          </a:solidFill>
                          <a:latin typeface="Helvetica Neue"/>
                          <a:ea typeface="Helvetica Neue"/>
                          <a:cs typeface="Helvetica Neue"/>
                        </a:rPr>
                        <a:t>Image</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Baseline ms</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Candidate ms</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Change</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Tokens</a:t>
                      </a:r>
                    </a:p>
                  </a:txBody>
                  <a:tcPr marL="133350" marR="133350" marT="76200" marB="76200" anchor="ctr">
                    <a:solidFill>
                      <a:srgbClr val="E8F0F1"/>
                    </a:solidFill>
                  </a:tcPr>
                </a:tc>
              </a:tr>
              <a:tr h="561975">
                <a:tc>
                  <a:txBody>
                    <a:bodyPr/>
                    <a:lstStyle/>
                    <a:p>
                      <a:r>
                        <a:rPr sz="1800">
                          <a:solidFill>
                            <a:srgbClr val="183542"/>
                          </a:solidFill>
                          <a:latin typeface="Helvetica Neue"/>
                          <a:ea typeface="Helvetica Neue"/>
                          <a:cs typeface="Helvetica Neue"/>
                        </a:rPr>
                        <a:t>action camera</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996.9</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1000.5</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0.36% higher</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21 / 21</a:t>
                      </a:r>
                    </a:p>
                  </a:txBody>
                  <a:tcPr marL="133350" marR="133350" marT="76200" marB="76200" anchor="ctr">
                    <a:solidFill>
                      <a:srgbClr val="FFFFFF"/>
                    </a:solidFill>
                  </a:tcPr>
                </a:tc>
              </a:tr>
              <a:tr h="561975">
                <a:tc>
                  <a:txBody>
                    <a:bodyPr/>
                    <a:lstStyle/>
                    <a:p>
                      <a:r>
                        <a:rPr sz="1800">
                          <a:solidFill>
                            <a:srgbClr val="183542"/>
                          </a:solidFill>
                          <a:latin typeface="Helvetica Neue"/>
                          <a:ea typeface="Helvetica Neue"/>
                          <a:cs typeface="Helvetica Neue"/>
                        </a:rPr>
                        <a:t>pen</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877.0</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859.0</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2.05% lower</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16 / 16</a:t>
                      </a:r>
                    </a:p>
                  </a:txBody>
                  <a:tcPr marL="133350" marR="133350" marT="76200" marB="76200" anchor="ctr">
                    <a:solidFill>
                      <a:srgbClr val="FFFFFF"/>
                    </a:solidFill>
                  </a:tcPr>
                </a:tc>
              </a:tr>
              <a:tr h="561975">
                <a:tc>
                  <a:txBody>
                    <a:bodyPr/>
                    <a:lstStyle/>
                    <a:p>
                      <a:r>
                        <a:rPr sz="1800">
                          <a:solidFill>
                            <a:srgbClr val="183542"/>
                          </a:solidFill>
                          <a:latin typeface="Helvetica Neue"/>
                          <a:ea typeface="Helvetica Neue"/>
                          <a:cs typeface="Helvetica Neue"/>
                        </a:rPr>
                        <a:t>scissors</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878.1</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861.9</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1.85% lower</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16 / 16</a:t>
                      </a:r>
                    </a:p>
                  </a:txBody>
                  <a:tcPr marL="133350" marR="133350" marT="76200" marB="76200" anchor="ctr">
                    <a:solidFill>
                      <a:srgbClr val="FFFFFF"/>
                    </a:solidFill>
                  </a:tcPr>
                </a:tc>
              </a:tr>
              <a:tr h="561975">
                <a:tc>
                  <a:txBody>
                    <a:bodyPr/>
                    <a:lstStyle/>
                    <a:p>
                      <a:r>
                        <a:rPr sz="1800">
                          <a:solidFill>
                            <a:srgbClr val="183542"/>
                          </a:solidFill>
                          <a:latin typeface="Helvetica Neue"/>
                          <a:ea typeface="Helvetica Neue"/>
                          <a:cs typeface="Helvetica Neue"/>
                        </a:rPr>
                        <a:t>Geometric mean</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915.7</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904.8</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1.19% lower</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Same ceiling</a:t>
                      </a:r>
                    </a:p>
                  </a:txBody>
                  <a:tcPr marL="133350" marR="133350"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109AB2A-158B-472C-BDE7-7BD0F07F5BA3}"/>
              </a:ext>
            </a:extLst>
          </p:cNvPr>
          <p:cNvSpPr>
            <a:spLocks xmlns:a="http://schemas.openxmlformats.org/drawingml/2006/main" noGrp="1"/>
          </p:cNvSpPr>
          <p:nvPr/>
        </p:nvSpPr>
        <p:spPr>
          <a:xfrm xmlns:a="http://schemas.openxmlformats.org/drawingml/2006/main">
            <a:off x="685800" y="524827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965A20"/>
                </a:solidFill>
                <a:latin typeface="Helvetica Neue"/>
                <a:ea typeface="Helvetica Neue"/>
                <a:cs typeface="Helvetica Neue"/>
              </a:defRPr>
            </a:pPr>
            <a:r>
              <a:rPr sz="1950" b="1">
                <a:solidFill>
                  <a:srgbClr val="965A20"/>
                </a:solidFill>
                <a:latin typeface="Helvetica Neue"/>
                <a:ea typeface="Helvetica Neue"/>
                <a:cs typeface="Helvetica Neue"/>
              </a:rPr>
              <a:t>Below the 10% continuation gate. Search stopped; the small latency difference may be noise.</a:t>
            </a:r>
          </a:p>
        </p:txBody>
      </p:sp>
      <p:sp>
        <p:nvSpPr>
          <p:cNvPr id="7" name="">
            <a:extLst xmlns:a="http://schemas.openxmlformats.org/drawingml/2006/main">
              <a:ext uri="{FF2B5EF4-FFF2-40B4-BE49-F238E27FC236}">
                <a16:creationId xmlns:a16="http://schemas.microsoft.com/office/drawing/2014/main" id="{6315FAC1-B0CB-4EDB-B06D-1585B219BAB1}"/>
              </a:ext>
            </a:extLst>
          </p:cNvPr>
          <p:cNvSpPr>
            <a:spLocks xmlns:a="http://schemas.openxmlformats.org/drawingml/2006/main" noGrp="1"/>
          </p:cNvSpPr>
          <p:nvPr/>
        </p:nvSpPr>
        <p:spPr>
          <a:xfrm xmlns:a="http://schemas.openxmlformats.org/drawingml/2006/main">
            <a:off x="685800" y="5981700"/>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Identical answers and tokens. Same 1280×720 inputs, 512-token ceiling and T0.7.</a:t>
            </a:r>
          </a:p>
        </p:txBody>
      </p:sp>
    </p:spTree>
    <p:extLst>
      <p:ext uri="{BB962C8B-B14F-4D97-AF65-F5344CB8AC3E}">
        <p14:creationId xmlns:p14="http://schemas.microsoft.com/office/powerpoint/2010/main" val="170066773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F75A24-A9E6-41A5-88AE-531391396BC4}"/>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Shared RAM and capacity settings</a:t>
            </a:r>
          </a:p>
        </p:txBody>
      </p:sp>
      <p:sp>
        <p:nvSpPr>
          <p:cNvPr id="2" name="">
            <a:extLst xmlns:a="http://schemas.openxmlformats.org/drawingml/2006/main">
              <a:ext uri="{FF2B5EF4-FFF2-40B4-BE49-F238E27FC236}">
                <a16:creationId xmlns:a16="http://schemas.microsoft.com/office/drawing/2014/main" id="{DB409E20-9ECC-4C57-83A1-BE309D501BCA}"/>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MLP goal after the frozen checkpoint</a:t>
            </a:r>
          </a:p>
        </p:txBody>
      </p:sp>
      <p:sp>
        <p:nvSpPr>
          <p:cNvPr id="3" name="">
            <a:extLst xmlns:a="http://schemas.openxmlformats.org/drawingml/2006/main">
              <a:ext uri="{FF2B5EF4-FFF2-40B4-BE49-F238E27FC236}">
                <a16:creationId xmlns:a16="http://schemas.microsoft.com/office/drawing/2014/main" id="{A590DBFB-8F38-4EB2-BF59-C352A000A656}"/>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35</a:t>
            </a:r>
          </a:p>
        </p:txBody>
      </p:sp>
      <p:graphicFrame>
        <p:nvGraphicFramePr>
          <p:cNvPr id="9" name=""/>
          <p:cNvGraphicFramePr/>
          <p:nvPr/>
        </p:nvGraphicFramePr>
        <p:xfrm>
          <a:off xmlns:a="http://schemas.openxmlformats.org/drawingml/2006/main" x="685800" y="1676400"/>
          <a:ext xmlns:a="http://schemas.openxmlformats.org/drawingml/2006/main" cx="10820400" cy="3733800"/>
        </p:xfrm>
        <a:graphic xmlns:a="http://schemas.openxmlformats.org/drawingml/2006/main">
          <a:graphicData uri="http://schemas.openxmlformats.org/drawingml/2006/table">
            <a:tbl>
              <a:tblPr firstRow="1" bandRow="0"/>
              <a:tblGrid>
                <a:gridCol w="5295900"/>
                <a:gridCol w="2762250"/>
                <a:gridCol w="2762250"/>
              </a:tblGrid>
              <a:tr h="533400">
                <a:tc>
                  <a:txBody>
                    <a:bodyPr/>
                    <a:lstStyle/>
                    <a:p>
                      <a:r>
                        <a:rPr sz="1800" b="1">
                          <a:solidFill>
                            <a:srgbClr val="183542"/>
                          </a:solidFill>
                          <a:latin typeface="Helvetica Neue"/>
                          <a:ea typeface="Helvetica Neue"/>
                          <a:cs typeface="Helvetica Neue"/>
                        </a:rPr>
                        <a:t>Measured value or capacity</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Baseline</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Selected candidate</a:t>
                      </a:r>
                    </a:p>
                  </a:txBody>
                  <a:tcPr marL="133350" marR="133350" marT="76200" marB="76200" anchor="ctr">
                    <a:solidFill>
                      <a:srgbClr val="E8F0F1"/>
                    </a:solidFill>
                  </a:tcPr>
                </a:tc>
              </a:tr>
              <a:tr h="533400">
                <a:tc>
                  <a:txBody>
                    <a:bodyPr/>
                    <a:lstStyle/>
                    <a:p>
                      <a:r>
                        <a:rPr sz="1800">
                          <a:solidFill>
                            <a:srgbClr val="183542"/>
                          </a:solidFill>
                          <a:latin typeface="Helvetica Neue"/>
                          <a:ea typeface="Helvetica Neue"/>
                          <a:cs typeface="Helvetica Neue"/>
                        </a:rPr>
                        <a:t>Peak shared RAM unavailable</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5.118 GiB</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4.958 GiB</a:t>
                      </a:r>
                    </a:p>
                  </a:txBody>
                  <a:tcPr marL="133350" marR="133350" marT="76200" marB="76200" anchor="ctr">
                    <a:solidFill>
                      <a:srgbClr val="FFFFFF"/>
                    </a:solidFill>
                  </a:tcPr>
                </a:tc>
              </a:tr>
              <a:tr h="533400">
                <a:tc>
                  <a:txBody>
                    <a:bodyPr/>
                    <a:lstStyle/>
                    <a:p>
                      <a:r>
                        <a:rPr sz="1800">
                          <a:solidFill>
                            <a:srgbClr val="183542"/>
                          </a:solidFill>
                          <a:latin typeface="Helvetica Neue"/>
                          <a:ea typeface="Helvetica Neue"/>
                          <a:cs typeface="Helvetica Neue"/>
                        </a:rPr>
                        <a:t>Peak process RSS</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4.648 GiB</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4.433 GiB</a:t>
                      </a:r>
                    </a:p>
                  </a:txBody>
                  <a:tcPr marL="133350" marR="133350" marT="76200" marB="76200" anchor="ctr">
                    <a:solidFill>
                      <a:srgbClr val="FFFFFF"/>
                    </a:solidFill>
                  </a:tcPr>
                </a:tc>
              </a:tr>
              <a:tr h="533400">
                <a:tc>
                  <a:txBody>
                    <a:bodyPr/>
                    <a:lstStyle/>
                    <a:p>
                      <a:r>
                        <a:rPr sz="1800">
                          <a:solidFill>
                            <a:srgbClr val="183542"/>
                          </a:solidFill>
                          <a:latin typeface="Helvetica Neue"/>
                          <a:ea typeface="Helvetica Neue"/>
                          <a:cs typeface="Helvetica Neue"/>
                        </a:rPr>
                        <a:t>Minimum shared RAM available</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2.252 GiB</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2.411 GiB</a:t>
                      </a:r>
                    </a:p>
                  </a:txBody>
                  <a:tcPr marL="133350" marR="133350" marT="76200" marB="76200" anchor="ctr">
                    <a:solidFill>
                      <a:srgbClr val="FFFFFF"/>
                    </a:solidFill>
                  </a:tcPr>
                </a:tc>
              </a:tr>
              <a:tr h="533400">
                <a:tc>
                  <a:txBody>
                    <a:bodyPr/>
                    <a:lstStyle/>
                    <a:p>
                      <a:r>
                        <a:rPr sz="1800">
                          <a:solidFill>
                            <a:srgbClr val="183542"/>
                          </a:solidFill>
                          <a:latin typeface="Helvetica Neue"/>
                          <a:ea typeface="Helvetica Neue"/>
                          <a:cs typeface="Helvetica Neue"/>
                        </a:rPr>
                        <a:t>KV capacity, tokens</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2048</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1664</a:t>
                      </a:r>
                    </a:p>
                  </a:txBody>
                  <a:tcPr marL="133350" marR="133350" marT="76200" marB="76200" anchor="ctr">
                    <a:solidFill>
                      <a:srgbClr val="FFFFFF"/>
                    </a:solidFill>
                  </a:tcPr>
                </a:tc>
              </a:tr>
              <a:tr h="533400">
                <a:tc>
                  <a:txBody>
                    <a:bodyPr/>
                    <a:lstStyle/>
                    <a:p>
                      <a:r>
                        <a:rPr sz="1800">
                          <a:solidFill>
                            <a:srgbClr val="183542"/>
                          </a:solidFill>
                          <a:latin typeface="Helvetica Neue"/>
                          <a:ea typeface="Helvetica Neue"/>
                          <a:cs typeface="Helvetica Neue"/>
                        </a:rPr>
                        <a:t>Aggregate image capacity, tokens</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1024</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512</a:t>
                      </a:r>
                    </a:p>
                  </a:txBody>
                  <a:tcPr marL="133350" marR="133350" marT="76200" marB="76200" anchor="ctr">
                    <a:solidFill>
                      <a:srgbClr val="FFFFFF"/>
                    </a:solidFill>
                  </a:tcPr>
                </a:tc>
              </a:tr>
              <a:tr h="533400">
                <a:tc>
                  <a:txBody>
                    <a:bodyPr/>
                    <a:lstStyle/>
                    <a:p>
                      <a:r>
                        <a:rPr sz="1800">
                          <a:solidFill>
                            <a:srgbClr val="183542"/>
                          </a:solidFill>
                          <a:latin typeface="Helvetica Neue"/>
                          <a:ea typeface="Helvetica Neue"/>
                          <a:cs typeface="Helvetica Neue"/>
                        </a:rPr>
                        <a:t>Per-image capacity, tokens</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512</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512</a:t>
                      </a:r>
                    </a:p>
                  </a:txBody>
                  <a:tcPr marL="133350" marR="133350" marT="76200" marB="762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43E8E2D-7ED3-4D58-8748-BCC67CA922D9}"/>
              </a:ext>
            </a:extLst>
          </p:cNvPr>
          <p:cNvSpPr>
            <a:spLocks xmlns:a="http://schemas.openxmlformats.org/drawingml/2006/main" noGrp="1"/>
          </p:cNvSpPr>
          <p:nvPr/>
        </p:nvSpPr>
        <p:spPr>
          <a:xfrm xmlns:a="http://schemas.openxmlformats.org/drawingml/2006/main">
            <a:off x="685800" y="5695950"/>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163.45 MiB (3.12%) lower sampled shared-RAM peak. RSS overlaps this pool.</a:t>
            </a:r>
          </a:p>
        </p:txBody>
      </p:sp>
    </p:spTree>
    <p:extLst>
      <p:ext uri="{BB962C8B-B14F-4D97-AF65-F5344CB8AC3E}">
        <p14:creationId xmlns:p14="http://schemas.microsoft.com/office/powerpoint/2010/main" val="110759580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799533E-5E63-41B5-8BFB-BDE8248D4F06}"/>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Task-authored MLP kernel experiment</a:t>
            </a:r>
          </a:p>
        </p:txBody>
      </p:sp>
      <p:sp>
        <p:nvSpPr>
          <p:cNvPr id="2" name="">
            <a:extLst xmlns:a="http://schemas.openxmlformats.org/drawingml/2006/main">
              <a:ext uri="{FF2B5EF4-FFF2-40B4-BE49-F238E27FC236}">
                <a16:creationId xmlns:a16="http://schemas.microsoft.com/office/drawing/2014/main" id="{F3CAD23B-3D7E-4A47-B91F-DE8299B9E720}"/>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MLP goal after the frozen checkpoint</a:t>
            </a:r>
          </a:p>
        </p:txBody>
      </p:sp>
      <p:sp>
        <p:nvSpPr>
          <p:cNvPr id="3" name="">
            <a:extLst xmlns:a="http://schemas.openxmlformats.org/drawingml/2006/main">
              <a:ext uri="{FF2B5EF4-FFF2-40B4-BE49-F238E27FC236}">
                <a16:creationId xmlns:a16="http://schemas.microsoft.com/office/drawing/2014/main" id="{6B0F3CDD-8231-4D96-97E9-02CEDA1389A2}"/>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36</a:t>
            </a:r>
          </a:p>
        </p:txBody>
      </p:sp>
      <p:sp>
        <p:nvSpPr>
          <p:cNvPr id="4" name="">
            <a:extLst xmlns:a="http://schemas.openxmlformats.org/drawingml/2006/main">
              <a:ext uri="{FF2B5EF4-FFF2-40B4-BE49-F238E27FC236}">
                <a16:creationId xmlns:a16="http://schemas.microsoft.com/office/drawing/2014/main" id="{8ED04FBD-5413-4F7F-9098-F8FF403AE757}"/>
              </a:ext>
            </a:extLst>
          </p:cNvPr>
          <p:cNvSpPr>
            <a:spLocks xmlns:a="http://schemas.openxmlformats.org/drawingml/2006/main" noGrp="1"/>
          </p:cNvSpPr>
          <p:nvPr/>
        </p:nvSpPr>
        <p:spPr>
          <a:xfrm xmlns:a="http://schemas.openxmlformats.org/drawingml/2006/main">
            <a:off x="685800" y="13716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36 GPU cases passed with 202,752 identical FP16 values</a:t>
            </a:r>
          </a:p>
        </p:txBody>
      </p:sp>
      <p:graphicFrame>
        <p:nvGraphicFramePr>
          <p:cNvPr id="12" name=""/>
          <p:cNvGraphicFramePr/>
          <p:nvPr/>
        </p:nvGraphicFramePr>
        <p:xfrm>
          <a:off xmlns:a="http://schemas.openxmlformats.org/drawingml/2006/main" x="685800" y="2105025"/>
          <a:ext xmlns:a="http://schemas.openxmlformats.org/drawingml/2006/main" cx="10820400" cy="2828925"/>
        </p:xfrm>
        <a:graphic xmlns:a="http://schemas.openxmlformats.org/drawingml/2006/main">
          <a:graphicData uri="http://schemas.openxmlformats.org/drawingml/2006/table">
            <a:tbl>
              <a:tblPr firstRow="1" bandRow="0"/>
              <a:tblGrid>
                <a:gridCol w="4143375"/>
                <a:gridCol w="2190750"/>
                <a:gridCol w="2190750"/>
                <a:gridCol w="2295525"/>
              </a:tblGrid>
              <a:tr h="565785">
                <a:tc>
                  <a:txBody>
                    <a:bodyPr/>
                    <a:lstStyle/>
                    <a:p>
                      <a:r>
                        <a:rPr sz="1725" b="1">
                          <a:solidFill>
                            <a:srgbClr val="183542"/>
                          </a:solidFill>
                          <a:latin typeface="Helvetica Neue"/>
                          <a:ea typeface="Helvetica Neue"/>
                          <a:cs typeface="Helvetica Neue"/>
                        </a:rPr>
                        <a:t>Synthetic measurement</a:t>
                      </a:r>
                    </a:p>
                  </a:txBody>
                  <a:tcPr marL="133350" marR="133350" marT="76200" marB="76200" anchor="ctr">
                    <a:solidFill>
                      <a:srgbClr val="E8F0F1"/>
                    </a:solidFill>
                  </a:tcPr>
                </a:tc>
                <a:tc>
                  <a:txBody>
                    <a:bodyPr/>
                    <a:lstStyle/>
                    <a:p>
                      <a:r>
                        <a:rPr sz="1725" b="1">
                          <a:solidFill>
                            <a:srgbClr val="183542"/>
                          </a:solidFill>
                          <a:latin typeface="Helvetica Neue"/>
                          <a:ea typeface="Helvetica Neue"/>
                          <a:cs typeface="Helvetica Neue"/>
                        </a:rPr>
                        <a:t>2 outputs/block</a:t>
                      </a:r>
                    </a:p>
                  </a:txBody>
                  <a:tcPr marL="133350" marR="133350" marT="76200" marB="76200" anchor="ctr">
                    <a:solidFill>
                      <a:srgbClr val="E8F0F1"/>
                    </a:solidFill>
                  </a:tcPr>
                </a:tc>
                <a:tc>
                  <a:txBody>
                    <a:bodyPr/>
                    <a:lstStyle/>
                    <a:p>
                      <a:r>
                        <a:rPr sz="1725" b="1">
                          <a:solidFill>
                            <a:srgbClr val="183542"/>
                          </a:solidFill>
                          <a:latin typeface="Helvetica Neue"/>
                          <a:ea typeface="Helvetica Neue"/>
                          <a:cs typeface="Helvetica Neue"/>
                        </a:rPr>
                        <a:t>4 outputs/block</a:t>
                      </a:r>
                    </a:p>
                  </a:txBody>
                  <a:tcPr marL="133350" marR="133350" marT="76200" marB="76200" anchor="ctr">
                    <a:solidFill>
                      <a:srgbClr val="E8F0F1"/>
                    </a:solidFill>
                  </a:tcPr>
                </a:tc>
                <a:tc>
                  <a:txBody>
                    <a:bodyPr/>
                    <a:lstStyle/>
                    <a:p>
                      <a:r>
                        <a:rPr sz="1725" b="1">
                          <a:solidFill>
                            <a:srgbClr val="183542"/>
                          </a:solidFill>
                          <a:latin typeface="Helvetica Neue"/>
                          <a:ea typeface="Helvetica Neue"/>
                          <a:cs typeface="Helvetica Neue"/>
                        </a:rPr>
                        <a:t>Change</a:t>
                      </a:r>
                    </a:p>
                  </a:txBody>
                  <a:tcPr marL="133350" marR="133350" marT="76200" marB="76200" anchor="ctr">
                    <a:solidFill>
                      <a:srgbClr val="E8F0F1"/>
                    </a:solidFill>
                  </a:tcPr>
                </a:tc>
              </a:tr>
              <a:tr h="565785">
                <a:tc>
                  <a:txBody>
                    <a:bodyPr/>
                    <a:lstStyle/>
                    <a:p>
                      <a:r>
                        <a:rPr sz="1725">
                          <a:solidFill>
                            <a:srgbClr val="183542"/>
                          </a:solidFill>
                          <a:latin typeface="Helvetica Neue"/>
                          <a:ea typeface="Helvetica Neue"/>
                          <a:cs typeface="Helvetica Neue"/>
                        </a:rPr>
                        <a:t>Up projection, ms/call</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0.15148</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0.14887</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1.73% lower</a:t>
                      </a:r>
                    </a:p>
                  </a:txBody>
                  <a:tcPr marL="133350" marR="133350" marT="76200" marB="76200" anchor="ctr">
                    <a:solidFill>
                      <a:srgbClr val="FFFFFF"/>
                    </a:solidFill>
                  </a:tcPr>
                </a:tc>
              </a:tr>
              <a:tr h="565785">
                <a:tc>
                  <a:txBody>
                    <a:bodyPr/>
                    <a:lstStyle/>
                    <a:p>
                      <a:r>
                        <a:rPr sz="1725">
                          <a:solidFill>
                            <a:srgbClr val="183542"/>
                          </a:solidFill>
                          <a:latin typeface="Helvetica Neue"/>
                          <a:ea typeface="Helvetica Neue"/>
                          <a:cs typeface="Helvetica Neue"/>
                        </a:rPr>
                        <a:t>Down projection, ms/call</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0.12601</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0.11548</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8.35% lower</a:t>
                      </a:r>
                    </a:p>
                  </a:txBody>
                  <a:tcPr marL="133350" marR="133350" marT="76200" marB="76200" anchor="ctr">
                    <a:solidFill>
                      <a:srgbClr val="FFFFFF"/>
                    </a:solidFill>
                  </a:tcPr>
                </a:tc>
              </a:tr>
              <a:tr h="565785">
                <a:tc>
                  <a:txBody>
                    <a:bodyPr/>
                    <a:lstStyle/>
                    <a:p>
                      <a:r>
                        <a:rPr sz="1725">
                          <a:solidFill>
                            <a:srgbClr val="183542"/>
                          </a:solidFill>
                          <a:latin typeface="Helvetica Neue"/>
                          <a:ea typeface="Helvetica Neue"/>
                          <a:cs typeface="Helvetica Neue"/>
                        </a:rPr>
                        <a:t>Registers per thread</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40</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58</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More registers</a:t>
                      </a:r>
                    </a:p>
                  </a:txBody>
                  <a:tcPr marL="133350" marR="133350" marT="76200" marB="76200" anchor="ctr">
                    <a:solidFill>
                      <a:srgbClr val="FFFFFF"/>
                    </a:solidFill>
                  </a:tcPr>
                </a:tc>
              </a:tr>
              <a:tr h="565785">
                <a:tc>
                  <a:txBody>
                    <a:bodyPr/>
                    <a:lstStyle/>
                    <a:p>
                      <a:r>
                        <a:rPr sz="1725">
                          <a:solidFill>
                            <a:srgbClr val="183542"/>
                          </a:solidFill>
                          <a:latin typeface="Helvetica Neue"/>
                          <a:ea typeface="Helvetica Neue"/>
                          <a:cs typeface="Helvetica Neue"/>
                        </a:rPr>
                        <a:t>Maximum active blocks/SM</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6</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4</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Lower occupancy</a:t>
                      </a:r>
                    </a:p>
                  </a:txBody>
                  <a:tcPr marL="133350" marR="133350"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7545991-BD28-4980-968F-1142F467FB69}"/>
              </a:ext>
            </a:extLst>
          </p:cNvPr>
          <p:cNvSpPr>
            <a:spLocks xmlns:a="http://schemas.openxmlformats.org/drawingml/2006/main" noGrp="1"/>
          </p:cNvSpPr>
          <p:nvPr/>
        </p:nvSpPr>
        <p:spPr>
          <a:xfrm xmlns:a="http://schemas.openxmlformats.org/drawingml/2006/main">
            <a:off x="685800" y="52768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66773"/>
                </a:solidFill>
                <a:latin typeface="Helvetica Neue"/>
                <a:ea typeface="Helvetica Neue"/>
                <a:cs typeface="Helvetica Neue"/>
              </a:defRPr>
            </a:pPr>
            <a:r>
              <a:rPr sz="1875" b="0">
                <a:solidFill>
                  <a:srgbClr val="566773"/>
                </a:solidFill>
                <a:latin typeface="Helvetica Neue"/>
                <a:ea typeface="Helvetica Neue"/>
                <a:cs typeface="Helvetica Neue"/>
              </a:rPr>
              <a:t>Synthetic graph batches reuse weights. Dynamic clocks affect these measurements.</a:t>
            </a:r>
          </a:p>
        </p:txBody>
      </p:sp>
      <p:sp>
        <p:nvSpPr>
          <p:cNvPr id="7" name="">
            <a:extLst xmlns:a="http://schemas.openxmlformats.org/drawingml/2006/main">
              <a:ext uri="{FF2B5EF4-FFF2-40B4-BE49-F238E27FC236}">
                <a16:creationId xmlns:a16="http://schemas.microsoft.com/office/drawing/2014/main" id="{020074D9-C7DA-49D4-97B4-1C7E6BC3E866}"/>
              </a:ext>
            </a:extLst>
          </p:cNvPr>
          <p:cNvSpPr>
            <a:spLocks xmlns:a="http://schemas.openxmlformats.org/drawingml/2006/main" noGrp="1"/>
          </p:cNvSpPr>
          <p:nvPr/>
        </p:nvSpPr>
        <p:spPr>
          <a:xfrm xmlns:a="http://schemas.openxmlformats.org/drawingml/2006/main">
            <a:off x="685800" y="59340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46875"/>
                </a:solidFill>
                <a:latin typeface="Helvetica Neue"/>
                <a:ea typeface="Helvetica Neue"/>
                <a:cs typeface="Helvetica Neue"/>
              </a:defRPr>
            </a:pPr>
            <a:r>
              <a:rPr sz="1725" b="1">
                <a:solidFill>
                  <a:srgbClr val="146875"/>
                </a:solidFill>
                <a:latin typeface="Helvetica Neue"/>
                <a:ea typeface="Helvetica Neue"/>
                <a:cs typeface="Helvetica Neue"/>
              </a:rPr>
              <a:t>Full-answer trial combines kernel and buffer changes. Individual gains are unmeasured.</a:t>
            </a:r>
          </a:p>
        </p:txBody>
      </p:sp>
    </p:spTree>
    <p:extLst>
      <p:ext uri="{BB962C8B-B14F-4D97-AF65-F5344CB8AC3E}">
        <p14:creationId xmlns:p14="http://schemas.microsoft.com/office/powerpoint/2010/main" val="104110085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CF652F-E412-4EE7-B71E-40F7B6BEC92B}"/>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Selected MLP deployment and limits</a:t>
            </a:r>
          </a:p>
        </p:txBody>
      </p:sp>
      <p:sp>
        <p:nvSpPr>
          <p:cNvPr id="2" name="">
            <a:extLst xmlns:a="http://schemas.openxmlformats.org/drawingml/2006/main">
              <a:ext uri="{FF2B5EF4-FFF2-40B4-BE49-F238E27FC236}">
                <a16:creationId xmlns:a16="http://schemas.microsoft.com/office/drawing/2014/main" id="{224FD697-47CA-4F96-B4FE-8912A73ED8F0}"/>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MLP goal after the frozen checkpoint</a:t>
            </a:r>
          </a:p>
        </p:txBody>
      </p:sp>
      <p:sp>
        <p:nvSpPr>
          <p:cNvPr id="3" name="">
            <a:extLst xmlns:a="http://schemas.openxmlformats.org/drawingml/2006/main">
              <a:ext uri="{FF2B5EF4-FFF2-40B4-BE49-F238E27FC236}">
                <a16:creationId xmlns:a16="http://schemas.microsoft.com/office/drawing/2014/main" id="{9A3E904F-D7FC-4904-B194-BD9150892242}"/>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37</a:t>
            </a:r>
          </a:p>
        </p:txBody>
      </p:sp>
      <p:sp>
        <p:nvSpPr>
          <p:cNvPr id="4" name="">
            <a:extLst xmlns:a="http://schemas.openxmlformats.org/drawingml/2006/main">
              <a:ext uri="{FF2B5EF4-FFF2-40B4-BE49-F238E27FC236}">
                <a16:creationId xmlns:a16="http://schemas.microsoft.com/office/drawing/2014/main" id="{C1802FD8-0BEE-474D-981B-D076601C5DE4}"/>
              </a:ext>
            </a:extLst>
          </p:cNvPr>
          <p:cNvSpPr>
            <a:spLocks xmlns:a="http://schemas.openxmlformats.org/drawingml/2006/main" noGrp="1"/>
          </p:cNvSpPr>
          <p:nvPr/>
        </p:nvSpPr>
        <p:spPr>
          <a:xfrm xmlns:a="http://schemas.openxmlformats.org/drawingml/2006/main">
            <a:off x="685800" y="138112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46875"/>
                </a:solidFill>
                <a:latin typeface="Helvetica Neue"/>
                <a:ea typeface="Helvetica Neue"/>
                <a:cs typeface="Helvetica Neue"/>
              </a:defRPr>
            </a:pPr>
            <a:r>
              <a:rPr sz="2250" b="1">
                <a:solidFill>
                  <a:srgbClr val="146875"/>
                </a:solidFill>
                <a:latin typeface="Helvetica Neue"/>
                <a:ea typeface="Helvetica Neue"/>
                <a:cs typeface="Helvetica Neue"/>
              </a:rPr>
              <a:t>Search stopped; the leaner MLP candidate is deployed</a:t>
            </a:r>
          </a:p>
        </p:txBody>
      </p:sp>
      <p:graphicFrame>
        <p:nvGraphicFramePr>
          <p:cNvPr id="11" name=""/>
          <p:cNvGraphicFramePr/>
          <p:nvPr/>
        </p:nvGraphicFramePr>
        <p:xfrm>
          <a:off xmlns:a="http://schemas.openxmlformats.org/drawingml/2006/main" x="685800" y="2047875"/>
          <a:ext xmlns:a="http://schemas.openxmlformats.org/drawingml/2006/main" cx="10820400" cy="3257550"/>
        </p:xfrm>
        <a:graphic xmlns:a="http://schemas.openxmlformats.org/drawingml/2006/main">
          <a:graphicData uri="http://schemas.openxmlformats.org/drawingml/2006/table">
            <a:tbl>
              <a:tblPr firstRow="1" bandRow="0"/>
              <a:tblGrid>
                <a:gridCol w="3181350"/>
                <a:gridCol w="7639050"/>
              </a:tblGrid>
              <a:tr h="542925">
                <a:tc>
                  <a:txBody>
                    <a:bodyPr/>
                    <a:lstStyle/>
                    <a:p>
                      <a:r>
                        <a:rPr sz="1800" b="1">
                          <a:solidFill>
                            <a:srgbClr val="183542"/>
                          </a:solidFill>
                          <a:latin typeface="Helvetica Neue"/>
                          <a:ea typeface="Helvetica Neue"/>
                          <a:cs typeface="Helvetica Neue"/>
                        </a:rPr>
                        <a:t>Final state</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Evidence</a:t>
                      </a:r>
                    </a:p>
                  </a:txBody>
                  <a:tcPr marL="133350" marR="133350" marT="76200" marB="76200" anchor="ctr">
                    <a:solidFill>
                      <a:srgbClr val="E8F0F1"/>
                    </a:solidFill>
                  </a:tcPr>
                </a:tc>
              </a:tr>
              <a:tr h="542925">
                <a:tc>
                  <a:txBody>
                    <a:bodyPr/>
                    <a:lstStyle/>
                    <a:p>
                      <a:r>
                        <a:rPr sz="1800">
                          <a:solidFill>
                            <a:srgbClr val="183542"/>
                          </a:solidFill>
                          <a:latin typeface="Helvetica Neue"/>
                          <a:ea typeface="Helvetica Neue"/>
                          <a:cs typeface="Helvetica Neue"/>
                        </a:rPr>
                        <a:t>Latency observation</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1.19% lower; 10% continuation threshold missed</a:t>
                      </a:r>
                    </a:p>
                  </a:txBody>
                  <a:tcPr marL="133350" marR="133350" marT="76200" marB="76200" anchor="ctr">
                    <a:solidFill>
                      <a:srgbClr val="FFFFFF"/>
                    </a:solidFill>
                  </a:tcPr>
                </a:tc>
              </a:tr>
              <a:tr h="542925">
                <a:tc>
                  <a:txBody>
                    <a:bodyPr/>
                    <a:lstStyle/>
                    <a:p>
                      <a:r>
                        <a:rPr sz="1800">
                          <a:solidFill>
                            <a:srgbClr val="183542"/>
                          </a:solidFill>
                          <a:latin typeface="Helvetica Neue"/>
                          <a:ea typeface="Helvetica Neue"/>
                          <a:cs typeface="Helvetica Neue"/>
                        </a:rPr>
                        <a:t>Selected shared-RAM peak</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4.958 GiB; 163.45 MiB lower</a:t>
                      </a:r>
                    </a:p>
                  </a:txBody>
                  <a:tcPr marL="133350" marR="133350" marT="76200" marB="76200" anchor="ctr">
                    <a:solidFill>
                      <a:srgbClr val="FFFFFF"/>
                    </a:solidFill>
                  </a:tcPr>
                </a:tc>
              </a:tr>
              <a:tr h="542925">
                <a:tc>
                  <a:txBody>
                    <a:bodyPr/>
                    <a:lstStyle/>
                    <a:p>
                      <a:r>
                        <a:rPr sz="1800">
                          <a:solidFill>
                            <a:srgbClr val="183542"/>
                          </a:solidFill>
                          <a:latin typeface="Helvetica Neue"/>
                          <a:ea typeface="Helvetica Neue"/>
                          <a:cs typeface="Helvetica Neue"/>
                        </a:rPr>
                        <a:t>API streaming soak</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600.5 s, 569 responses, 0 errors</a:t>
                      </a:r>
                    </a:p>
                  </a:txBody>
                  <a:tcPr marL="133350" marR="133350" marT="76200" marB="76200" anchor="ctr">
                    <a:solidFill>
                      <a:srgbClr val="FFFFFF"/>
                    </a:solidFill>
                  </a:tcPr>
                </a:tc>
              </a:tr>
              <a:tr h="542925">
                <a:tc>
                  <a:txBody>
                    <a:bodyPr/>
                    <a:lstStyle/>
                    <a:p>
                      <a:r>
                        <a:rPr sz="1800">
                          <a:solidFill>
                            <a:srgbClr val="183542"/>
                          </a:solidFill>
                          <a:latin typeface="Helvetica Neue"/>
                          <a:ea typeface="Helvetica Neue"/>
                          <a:cs typeface="Helvetica Neue"/>
                        </a:rPr>
                        <a:t>Services and browser</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Backend/UI active; image and synthetic-camera checks passed</a:t>
                      </a:r>
                    </a:p>
                  </a:txBody>
                  <a:tcPr marL="133350" marR="133350" marT="76200" marB="76200" anchor="ctr">
                    <a:solidFill>
                      <a:srgbClr val="FFFFFF"/>
                    </a:solidFill>
                  </a:tcPr>
                </a:tc>
              </a:tr>
              <a:tr h="542925">
                <a:tc>
                  <a:txBody>
                    <a:bodyPr/>
                    <a:lstStyle/>
                    <a:p>
                      <a:r>
                        <a:rPr sz="1800">
                          <a:solidFill>
                            <a:srgbClr val="183542"/>
                          </a:solidFill>
                          <a:latin typeface="Helvetica Neue"/>
                          <a:ea typeface="Helvetica Neue"/>
                          <a:cs typeface="Helvetica Neue"/>
                        </a:rPr>
                        <a:t>Direct browser access</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https://192.168.6.252:8443</a:t>
                      </a:r>
                    </a:p>
                  </a:txBody>
                  <a:tcPr marL="133350" marR="133350"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CFDC8C1-075F-49C5-B5B4-6A2D49D10A25}"/>
              </a:ext>
            </a:extLst>
          </p:cNvPr>
          <p:cNvSpPr>
            <a:spLocks xmlns:a="http://schemas.openxmlformats.org/drawingml/2006/main" noGrp="1"/>
          </p:cNvSpPr>
          <p:nvPr/>
        </p:nvSpPr>
        <p:spPr>
          <a:xfrm xmlns:a="http://schemas.openxmlformats.org/drawingml/2006/main">
            <a:off x="685800" y="56197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965A20"/>
                </a:solidFill>
                <a:latin typeface="Helvetica Neue"/>
                <a:ea typeface="Helvetica Neue"/>
                <a:cs typeface="Helvetica Neue"/>
              </a:defRPr>
            </a:pPr>
            <a:r>
              <a:rPr sz="1875" b="0">
                <a:solidFill>
                  <a:srgbClr val="965A20"/>
                </a:solidFill>
                <a:latin typeface="Helvetica Neue"/>
                <a:ea typeface="Helvetica Neue"/>
                <a:cs typeface="Helvetica Neue"/>
              </a:rPr>
              <a:t>Known color error remains. The soak tests API stability; camera QA uses synthetic moving frames.</a:t>
            </a:r>
          </a:p>
        </p:txBody>
      </p:sp>
    </p:spTree>
    <p:extLst>
      <p:ext uri="{BB962C8B-B14F-4D97-AF65-F5344CB8AC3E}">
        <p14:creationId xmlns:p14="http://schemas.microsoft.com/office/powerpoint/2010/main" val="21181946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2026-09-21T04:20:34.7190000Z</dcterms:created>
  <dcterms:modified xsi:type="dcterms:W3CDTF">2026-09-21T04:20:34.7190000Z</dcterms:modified>
</coreProperties>
</file>