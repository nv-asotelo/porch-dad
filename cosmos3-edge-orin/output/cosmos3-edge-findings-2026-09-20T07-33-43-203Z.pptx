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4173d1ff7b4e49" /><Relationship Type="http://schemas.openxmlformats.org/officeDocument/2006/relationships/extended-properties" Target="/docProps/app.xml" Id="R55406dff8c5a4ad2" /><Relationship Type="http://schemas.openxmlformats.org/officeDocument/2006/relationships/officeDocument" Target="/ppt/presentation.xml" Id="R999098bdc9d64292" /></Relationships>
</file>

<file path=ppt/presentation.xml><?xml version="1.0" encoding="utf-8"?>
<p:presentation xmlns:p="http://schemas.openxmlformats.org/presentationml/2006/main">
  <p:sldMasterIdLst>
    <p:sldMasterId xmlns:r="http://schemas.openxmlformats.org/officeDocument/2006/relationships" id="2147483648" r:id="Rc1e9e47750c24336"/>
  </p:sldMasterIdLst>
  <p:notesMasterIdLst>
    <p:notesMasterId xmlns:r="http://schemas.openxmlformats.org/officeDocument/2006/relationships" r:id="Rb42c010538e04815"/>
  </p:notesMasterIdLst>
  <p:sldIdLst>
    <p:sldId xmlns:r="http://schemas.openxmlformats.org/officeDocument/2006/relationships" id="256" r:id="Rfeaf5acd7d084710"/>
    <p:sldId xmlns:r="http://schemas.openxmlformats.org/officeDocument/2006/relationships" id="257" r:id="Rfda84613fd3c4613"/>
    <p:sldId xmlns:r="http://schemas.openxmlformats.org/officeDocument/2006/relationships" id="258" r:id="Rbb057889afc3430a"/>
    <p:sldId xmlns:r="http://schemas.openxmlformats.org/officeDocument/2006/relationships" id="259" r:id="R2b07da52cba14f6f"/>
    <p:sldId xmlns:r="http://schemas.openxmlformats.org/officeDocument/2006/relationships" id="260" r:id="R7764164576c047be"/>
    <p:sldId xmlns:r="http://schemas.openxmlformats.org/officeDocument/2006/relationships" id="261" r:id="Rb6249c1ed5834a70"/>
    <p:sldId xmlns:r="http://schemas.openxmlformats.org/officeDocument/2006/relationships" id="262" r:id="R0458b6056957471b"/>
    <p:sldId xmlns:r="http://schemas.openxmlformats.org/officeDocument/2006/relationships" id="263" r:id="R735e1712a8ee4b2a"/>
    <p:sldId xmlns:r="http://schemas.openxmlformats.org/officeDocument/2006/relationships" id="264" r:id="R7d0bf32200814e2a"/>
    <p:sldId xmlns:r="http://schemas.openxmlformats.org/officeDocument/2006/relationships" id="265" r:id="R6c56f08e1b924bbc"/>
    <p:sldId xmlns:r="http://schemas.openxmlformats.org/officeDocument/2006/relationships" id="266" r:id="R23e5af5ff6d54cd6"/>
    <p:sldId xmlns:r="http://schemas.openxmlformats.org/officeDocument/2006/relationships" id="267" r:id="Rac14a31110bf43b2"/>
    <p:sldId xmlns:r="http://schemas.openxmlformats.org/officeDocument/2006/relationships" id="268" r:id="R9038caf17ec94a89"/>
    <p:sldId xmlns:r="http://schemas.openxmlformats.org/officeDocument/2006/relationships" id="269" r:id="Re6aac70dd8134e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3f96c325c940ce" /><Relationship Type="http://schemas.openxmlformats.org/officeDocument/2006/relationships/slideMaster" Target="/ppt/slideMasters/slideMaster1.xml" Id="Rc1e9e47750c24336" /><Relationship Type="http://schemas.openxmlformats.org/officeDocument/2006/relationships/notesMaster" Target="/ppt/notesMasters/notesMaster1.xml" Id="Rb42c010538e04815" /><Relationship Type="http://schemas.openxmlformats.org/officeDocument/2006/relationships/presProps" Target="/ppt/presProps.xml" Id="R3086dafe58634e87" /><Relationship Type="http://schemas.openxmlformats.org/officeDocument/2006/relationships/tableStyles" Target="/ppt/tableStyles.xml" Id="Re3c84acd93394c78" /><Relationship Type="http://schemas.openxmlformats.org/officeDocument/2006/relationships/slide" Target="/ppt/slides/slide1.xml" Id="Rfeaf5acd7d084710" /><Relationship Type="http://schemas.openxmlformats.org/officeDocument/2006/relationships/slide" Target="/ppt/slides/slide2.xml" Id="Rfda84613fd3c4613" /><Relationship Type="http://schemas.openxmlformats.org/officeDocument/2006/relationships/slide" Target="/ppt/slides/slide3.xml" Id="Rbb057889afc3430a" /><Relationship Type="http://schemas.openxmlformats.org/officeDocument/2006/relationships/slide" Target="/ppt/slides/slide4.xml" Id="R2b07da52cba14f6f" /><Relationship Type="http://schemas.openxmlformats.org/officeDocument/2006/relationships/slide" Target="/ppt/slides/slide5.xml" Id="R7764164576c047be" /><Relationship Type="http://schemas.openxmlformats.org/officeDocument/2006/relationships/slide" Target="/ppt/slides/slide6.xml" Id="Rb6249c1ed5834a70" /><Relationship Type="http://schemas.openxmlformats.org/officeDocument/2006/relationships/slide" Target="/ppt/slides/slide7.xml" Id="R0458b6056957471b" /><Relationship Type="http://schemas.openxmlformats.org/officeDocument/2006/relationships/slide" Target="/ppt/slides/slide8.xml" Id="R735e1712a8ee4b2a" /><Relationship Type="http://schemas.openxmlformats.org/officeDocument/2006/relationships/slide" Target="/ppt/slides/slide9.xml" Id="R7d0bf32200814e2a" /><Relationship Type="http://schemas.openxmlformats.org/officeDocument/2006/relationships/slide" Target="/ppt/slides/slide10.xml" Id="R6c56f08e1b924bbc" /><Relationship Type="http://schemas.openxmlformats.org/officeDocument/2006/relationships/slide" Target="/ppt/slides/slide11.xml" Id="R23e5af5ff6d54cd6" /><Relationship Type="http://schemas.openxmlformats.org/officeDocument/2006/relationships/slide" Target="/ppt/slides/slide12.xml" Id="Rac14a31110bf43b2" /><Relationship Type="http://schemas.openxmlformats.org/officeDocument/2006/relationships/slide" Target="/ppt/slides/slide13.xml" Id="R9038caf17ec94a89" /><Relationship Type="http://schemas.openxmlformats.org/officeDocument/2006/relationships/slide" Target="/ppt/slides/slide14.xml" Id="Re6aac70dd8134e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a5302416734f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e9ad76ebc44bd7" /><Relationship Type="http://schemas.openxmlformats.org/officeDocument/2006/relationships/notesMaster" Target="/ppt/notesMasters/notesMaster1.xml" Id="R100db5339d7748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35b7936918428a" /><Relationship Type="http://schemas.openxmlformats.org/officeDocument/2006/relationships/notesMaster" Target="/ppt/notesMasters/notesMaster1.xml" Id="R7f8cbe10e8304b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e6f6d0ca7846f0" /><Relationship Type="http://schemas.openxmlformats.org/officeDocument/2006/relationships/notesMaster" Target="/ppt/notesMasters/notesMaster1.xml" Id="Rf53170138b9042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53ad0d377e4772" /><Relationship Type="http://schemas.openxmlformats.org/officeDocument/2006/relationships/notesMaster" Target="/ppt/notesMasters/notesMaster1.xml" Id="Rb5811126b55547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8fd5a8ab754760" /><Relationship Type="http://schemas.openxmlformats.org/officeDocument/2006/relationships/notesMaster" Target="/ppt/notesMasters/notesMaster1.xml" Id="Rfc760df28c9940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997bd042734630" /><Relationship Type="http://schemas.openxmlformats.org/officeDocument/2006/relationships/notesMaster" Target="/ppt/notesMasters/notesMaster1.xml" Id="Rbaae5e3836a646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ae9aeda62c4120" /><Relationship Type="http://schemas.openxmlformats.org/officeDocument/2006/relationships/notesMaster" Target="/ppt/notesMasters/notesMaster1.xml" Id="R61d475ffc8cb42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44cd962fbc44c0" /><Relationship Type="http://schemas.openxmlformats.org/officeDocument/2006/relationships/notesMaster" Target="/ppt/notesMasters/notesMaster1.xml" Id="R163d0759daba4f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6bb480ed354cac" /><Relationship Type="http://schemas.openxmlformats.org/officeDocument/2006/relationships/notesMaster" Target="/ppt/notesMasters/notesMaster1.xml" Id="R3111afe69e3140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45490efb0f2446f" /><Relationship Type="http://schemas.openxmlformats.org/officeDocument/2006/relationships/notesMaster" Target="/ppt/notesMasters/notesMaster1.xml" Id="R040d7184188544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78416ada8d47ef" /><Relationship Type="http://schemas.openxmlformats.org/officeDocument/2006/relationships/notesMaster" Target="/ppt/notesMasters/notesMaster1.xml" Id="R0d96513009d147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3047453975f4c08" /><Relationship Type="http://schemas.openxmlformats.org/officeDocument/2006/relationships/notesMaster" Target="/ppt/notesMasters/notesMaster1.xml" Id="R370fda937de343f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a8aa41cd4442fb" /><Relationship Type="http://schemas.openxmlformats.org/officeDocument/2006/relationships/notesMaster" Target="/ppt/notesMasters/notesMaster1.xml" Id="Rf24c5f6d5c8347d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a655e2c6f7e448d" /><Relationship Type="http://schemas.openxmlformats.org/officeDocument/2006/relationships/notesMaster" Target="/ppt/notesMasters/notesMaster1.xml" Id="R464b19a7e6d94c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presentation design. A final label requires explicit selected-candidate and completed-soak evidence.</a:t>
            </a:r>
          </a:p>
          <a:p xmlns:a="http://schemas.openxmlformats.org/drawingml/2006/main">
            <a:r>
              <a:t>Measured values supplied by output/final-findings-data.json.</a:t>
            </a:r>
          </a:p>
          <a:p xmlns:a="http://schemas.openxmlformats.org/drawingml/2006/main">
            <a:r>
              <a:t>Sources:</a:t>
            </a:r>
          </a:p>
          <a:p xmlns:a="http://schemas.openxmlformats.org/drawingml/2006/main">
            <a:r>
              <a:t>results/optimization-selection.json</a:t>
            </a:r>
          </a:p>
          <a:p xmlns:a="http://schemas.openxmlformats.org/drawingml/2006/main">
            <a:r>
              <a:t>results/raw/soak-final-service-01.summary.json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Installed platform facts come from the actual device receipts. Advertised RAM and Linux MemTotal are distinct.</a:t>
            </a:r>
          </a:p>
          <a:p xmlns:a="http://schemas.openxmlformats.org/drawingml/2006/main">
            <a:r>
              <a:t>Measured values supplied by output/final-findings-data.json.</a:t>
            </a:r>
          </a:p>
          <a:p xmlns:a="http://schemas.openxmlformats.org/drawingml/2006/main">
            <a:r>
              <a:t>Sources:</a:t>
            </a:r>
          </a:p>
          <a:p xmlns:a="http://schemas.openxmlformats.org/drawingml/2006/main">
            <a:r>
              <a:t>results/normal-boot.json</a:t>
            </a:r>
          </a:p>
          <a:p xmlns:a="http://schemas.openxmlformats.org/drawingml/2006/main">
            <a:r>
              <a:t>results/jetpack-flash-status.json</a:t>
            </a:r>
          </a:p>
          <a:p xmlns:a="http://schemas.openxmlformats.org/drawingml/2006/main">
            <a:r>
              <a:t>results/installed-compute-packages.json</a:t>
            </a:r>
          </a:p>
          <a:p xmlns:a="http://schemas.openxmlformats.org/drawingml/2006/main">
            <a:r>
              <a:t>https://developer.nvidia.com/embedded/jetpack/downloads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UI and actual inference screenshot. Crop removes lower settings only. Screenshot timing is one request, not the benchmark distribution. The screenshot does not establish general image accuracy.</a:t>
            </a:r>
          </a:p>
          <a:p xmlns:a="http://schemas.openxmlformats.org/drawingml/2006/main">
            <a:r>
              <a:t>Measured values supplied by output/final-findings-data.json.</a:t>
            </a:r>
          </a:p>
          <a:p xmlns:a="http://schemas.openxmlformats.org/drawingml/2006/main">
            <a:r>
              <a:t>Sources:</a:t>
            </a:r>
          </a:p>
          <a:p xmlns:a="http://schemas.openxmlformats.org/drawingml/2006/main">
            <a:r>
              <a:t>results/browser-live-ui-final.json</a:t>
            </a:r>
          </a:p>
          <a:p xmlns:a="http://schemas.openxmlformats.org/drawingml/2006/main">
            <a:r>
              <a:t>results/browser-live-ui-final.json</a:t>
            </a:r>
          </a:p>
          <a:p xmlns:a="http://schemas.openxmlformats.org/drawingml/2006/main">
            <a:r>
              <a:t>results/browser-camera-ui-final.json</a:t>
            </a:r>
          </a:p>
          <a:p xmlns:a="http://schemas.openxmlformats.org/drawingml/2006/main">
            <a:r>
              <a:t>https://github.com/NVIDIA-AI-IOT/live-vlm-webui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browser/proxy components wrap the public TensorRT Edge-LLM reasoner. One active request prevents accumulating frames. The application displays only real upstream token deltas.</a:t>
            </a:r>
          </a:p>
          <a:p xmlns:a="http://schemas.openxmlformats.org/drawingml/2006/main">
            <a:r>
              <a:t>Measured values supplied by output/final-findings-data.json.</a:t>
            </a:r>
          </a:p>
          <a:p xmlns:a="http://schemas.openxmlformats.org/drawingml/2006/main">
            <a:r>
              <a:t>Sources:</a:t>
            </a:r>
          </a:p>
          <a:p xmlns:a="http://schemas.openxmlformats.org/drawingml/2006/main">
            <a:r>
              <a:t>scripts/serve_ui.py</a:t>
            </a:r>
          </a:p>
          <a:p xmlns:a="http://schemas.openxmlformats.org/drawingml/2006/main">
            <a:r>
              <a:t>web/app.js</a:t>
            </a:r>
          </a:p>
          <a:p xmlns:a="http://schemas.openxmlformats.org/drawingml/2006/main">
            <a:r>
              <a:t>https://github.com/NVIDIA/TensorRT-Edge-LLM/blob/e8b29522938901f6df19ebeedd4b69bc8edbcd97/experimental/server/cli.py</a:t>
            </a:r>
          </a:p>
          <a:p xmlns:a="http://schemas.openxmlformats.org/drawingml/2006/main">
            <a:r>
              <a:t>https://github.com/NVIDIA/TensorRT-Edge-LLM/blob/e8b29522938901f6df19ebeedd4b69bc8edbcd97/experimental/server/runtime/engine.py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original diagnoses and small integrations reuse the public model/exporter conventions. No model training or new interpolation algorithm is claimed. Patch projection requires a fresh visual engine. Position and cache API changes require rebuilding the native binding.</a:t>
            </a:r>
          </a:p>
          <a:p xmlns:a="http://schemas.openxmlformats.org/drawingml/2006/main">
            <a:r>
              <a:t>Measured values supplied by output/final-findings-data.json.</a:t>
            </a:r>
          </a:p>
          <a:p xmlns:a="http://schemas.openxmlformats.org/drawingml/2006/main">
            <a:r>
              <a:t>Sources:</a:t>
            </a:r>
          </a:p>
          <a:p xmlns:a="http://schemas.openxmlformats.org/drawingml/2006/main">
            <a:r>
              <a:t>patches/cosmos3-patch-embedding-chw.md</a:t>
            </a:r>
          </a:p>
          <a:p xmlns:a="http://schemas.openxmlformats.org/drawingml/2006/main">
            <a:r>
              <a:t>patches/cosmos3-half-pixel-position.md</a:t>
            </a:r>
          </a:p>
          <a:p xmlns:a="http://schemas.openxmlformats.org/drawingml/2006/main">
            <a:r>
              <a:t>patches/encoder-cache-budget.json</a:t>
            </a:r>
          </a:p>
          <a:p xmlns:a="http://schemas.openxmlformats.org/drawingml/2006/main">
            <a:r>
              <a:t>scripts/repair_cosmos_runtime_config.py</a:t>
            </a:r>
          </a:p>
          <a:p xmlns:a="http://schemas.openxmlformats.org/drawingml/2006/main">
            <a:r>
              <a:t>scripts/repair_cosmos_chat_template.py</a:t>
            </a:r>
          </a:p>
          <a:p xmlns:a="http://schemas.openxmlformats.org/drawingml/2006/main">
            <a:r>
              <a:t>https://github.com/NVIDIA/TensorRT-Edge-LLM/blob/e8b29522938901f6df19ebeedd4b69bc8edbcd97/tensorrt_edgellm/models/cosmos3_reasoner/modeling_cosmos3_reasoner_visual.py</a:t>
            </a:r>
          </a:p>
          <a:p xmlns:a="http://schemas.openxmlformats.org/drawingml/2006/main">
            <a:r>
              <a:t>https://github.com/huggingface/transformers/blob/c587bc884db2c2e31fc2b8102314656b17aa07b1/src/transformers/models/cosmos3_edge/modeling_cosmos3_edge.py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Strict six-image fixture grading and optimization equivalence are separate. The official unmodified model reproduced the entire case05 sphere answer on the exact image and prompt. A pre-INT4 policy preserves every previously correct fact and permits only that precise known error. It does not turn the strict 18/19 result into a 19/19 pass.</a:t>
            </a:r>
          </a:p>
          <a:p xmlns:a="http://schemas.openxmlformats.org/drawingml/2006/main">
            <a:r>
              <a:t>The distinct natural-photo smoke check is outside candidate selection. Fully correct photos means every required observation is correct, not merely a completed HTTP response. The natural-image official reference runs the unchanged public model through Transformers on Mac MPS FP16. It scores 5/9 with the same grading interpretation, with 2/3 answers exactly matching the Orin. In the recorded comparison, market gives only "Carrots." and dog incorrectly says "wooden deck" in both paths. The cap/mitt wording differs but both miss the required cap-on-mitt relation. The displayed 5/9 gives generous partial credit for carrot identity even though "Carrots." omits the required lower-right relation. Strict full-fact grading is 4/9. No photo satisfies every required fact under either interpretation. These observations do not establish a model-only cause for every failure. Mac execution time is diagnostic and is not an Orin performance measurement.</a:t>
            </a:r>
          </a:p>
          <a:p xmlns:a="http://schemas.openxmlformats.org/drawingml/2006/main">
            <a:r>
              <a:t>Captured official reference answer: Both objects are purple. The left object, which is a sphere, is larger than the right object, which is a smaller sphere.</a:t>
            </a:r>
          </a:p>
          <a:p xmlns:a="http://schemas.openxmlformats.org/drawingml/2006/main">
            <a:r>
              <a:t>Measured values supplied by output/final-findings-data.json.</a:t>
            </a:r>
          </a:p>
          <a:p xmlns:a="http://schemas.openxmlformats.org/drawingml/2006/main">
            <a:r>
              <a:t>Sources:</a:t>
            </a:r>
          </a:p>
          <a:p xmlns:a="http://schemas.openxmlformats.org/drawingml/2006/main">
            <a:r>
              <a:t>results/quality-final-service-01-review.json</a:t>
            </a:r>
          </a:p>
          <a:p xmlns:a="http://schemas.openxmlformats.org/drawingml/2006/main">
            <a:r>
              <a:t>results/optimization-quality-policy.json</a:t>
            </a:r>
          </a:p>
          <a:p xmlns:a="http://schemas.openxmlformats.org/drawingml/2006/main">
            <a:r>
              <a:t>results/reference-official-05-comparison.json</a:t>
            </a:r>
          </a:p>
          <a:p xmlns:a="http://schemas.openxmlformats.org/drawingml/2006/main">
            <a:r>
              <a:t>results/natural-smoke-final-01-review.json</a:t>
            </a:r>
          </a:p>
          <a:p xmlns:a="http://schemas.openxmlformats.org/drawingml/2006/main">
            <a:r>
              <a:t>results/reference-natural-smoke.json</a:t>
            </a:r>
          </a:p>
          <a:p xmlns:a="http://schemas.openxmlformats.org/drawingml/2006/main">
            <a:r>
              <a:t>benchmarks/natural-smoke/manifest.json</a:t>
            </a:r>
          </a:p>
          <a:p xmlns:a="http://schemas.openxmlformats.org/drawingml/2006/main">
            <a:r>
              <a:t>benchmarks/natural-smoke/README.md</a:t>
            </a:r>
          </a:p>
          <a:p xmlns:a="http://schemas.openxmlformats.org/drawingml/2006/main">
            <a:r>
              <a:t>results/reference-official-05.json</a:t>
            </a:r>
          </a:p>
          <a:p xmlns:a="http://schemas.openxmlformats.org/drawingml/2006/main">
            <a:r>
              <a:t>https://huggingface.co/nvidia/Cosmos3-Edge/blob/344d602b128d1bbdacb43b08d0a3626f46343e29/README.md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Warmups remain separate from measured requests. TTFT starts at request dispatch and ends on the first nonempty text delta. Completion token counts must come from real backend usage. Equivalent-quality qualification is an overlay referencing unchanged raw measurements.</a:t>
            </a:r>
          </a:p>
          <a:p xmlns:a="http://schemas.openxmlformats.org/drawingml/2006/main">
            <a:r>
              <a:t>Measured values supplied by output/final-findings-data.json.</a:t>
            </a:r>
          </a:p>
          <a:p xmlns:a="http://schemas.openxmlformats.org/drawingml/2006/main">
            <a:r>
              <a:t>Sources:</a:t>
            </a:r>
          </a:p>
          <a:p xmlns:a="http://schemas.openxmlformats.org/drawingml/2006/main">
            <a:r>
              <a:t>research/benchmark-method.md</a:t>
            </a:r>
          </a:p>
          <a:p xmlns:a="http://schemas.openxmlformats.org/drawingml/2006/main">
            <a:r>
              <a:t>GOAL.md</a:t>
            </a:r>
          </a:p>
          <a:p xmlns:a="http://schemas.openxmlformats.org/drawingml/2006/main">
            <a:r>
              <a:t>results/benchmark-fp16-qualified.jsonl</a:t>
            </a:r>
          </a:p>
          <a:p xmlns:a="http://schemas.openxmlformats.org/drawingml/2006/main">
            <a:r>
              <a:t>results/raw/benchmark-fp16-reference-01.jsonl</a:t>
            </a:r>
          </a:p>
          <a:p xmlns:a="http://schemas.openxmlformats.org/drawingml/2006/main">
            <a:r>
              <a:t>results/optimization-quality-policy.json</a:t>
            </a:r>
          </a:p>
          <a:p xmlns:a="http://schemas.openxmlformats.org/drawingml/2006/main">
            <a:r>
              <a:t>results/optimization-search-plan.json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qualification overlay references the original 35-request run, rather than recording a second measurement. Original raw SHA256: 3ecce48f18c461161a99368c221dc87abc43a8cb1e1a7c1b199f46f8d7d65417. Shared unavailable memory equals MemTotal minus MemAvailable. RSS is the process resident set. These overlapping counters must never be added.</a:t>
            </a:r>
          </a:p>
          <a:p xmlns:a="http://schemas.openxmlformats.org/drawingml/2006/main">
            <a:r>
              <a:t>Measured values supplied by output/final-findings-data.json.</a:t>
            </a:r>
          </a:p>
          <a:p xmlns:a="http://schemas.openxmlformats.org/drawingml/2006/main">
            <a:r>
              <a:t>Sources:</a:t>
            </a:r>
          </a:p>
          <a:p xmlns:a="http://schemas.openxmlformats.org/drawingml/2006/main">
            <a:r>
              <a:t>results/benchmark-fp16-qualified.jsonl</a:t>
            </a:r>
          </a:p>
          <a:p xmlns:a="http://schemas.openxmlformats.org/drawingml/2006/main">
            <a:r>
              <a:t>results/raw/benchmark-fp16-reference-01.jsonl</a:t>
            </a:r>
          </a:p>
          <a:p xmlns:a="http://schemas.openxmlformats.org/drawingml/2006/main">
            <a:r>
              <a:t>results/optimization-quality-policy.json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Group-128 symmetric round-to-nearest with stored FP16 scales and signed values -7 through 7. RTN_GPTQ dispatch describes RTN values in GPTQ-compatible packing. No GPTQ optimization, AWQ optimization, calibration dataset, GPU conversion or community checkpoint was used. Source shards stayed read-only. The exact public parser and V1/V2 repackers passed CPU tests.</a:t>
            </a:r>
          </a:p>
          <a:p xmlns:a="http://schemas.openxmlformats.org/drawingml/2006/main">
            <a:r>
              <a:t>Measured values supplied by output/final-findings-data.json.</a:t>
            </a:r>
          </a:p>
          <a:p xmlns:a="http://schemas.openxmlformats.org/drawingml/2006/main">
            <a:r>
              <a:t>Sources:</a:t>
            </a:r>
          </a:p>
          <a:p xmlns:a="http://schemas.openxmlformats.org/drawingml/2006/main">
            <a:r>
              <a:t>results/rtn-cpu-validation.json</a:t>
            </a:r>
          </a:p>
          <a:p xmlns:a="http://schemas.openxmlformats.org/drawingml/2006/main">
            <a:r>
              <a:t>scripts/quantize_cosmos3_rtn.py</a:t>
            </a:r>
          </a:p>
          <a:p xmlns:a="http://schemas.openxmlformats.org/drawingml/2006/main">
            <a:r>
              <a:t>scripts/rtn_backend.py</a:t>
            </a:r>
          </a:p>
          <a:p xmlns:a="http://schemas.openxmlformats.org/drawingml/2006/main">
            <a:r>
              <a:t>tests/test_rtn_quantization.py</a:t>
            </a:r>
          </a:p>
          <a:p xmlns:a="http://schemas.openxmlformats.org/drawingml/2006/main">
            <a:r>
              <a:t>https://github.com/NVIDIA/TensorRT-Edge-LLM/blob/e8b29522938901f6df19ebeedd4b69bc8edbcd97/experimental/builder/weight_packing/int4.py</a:t>
            </a:r>
          </a:p>
          <a:p xmlns:a="http://schemas.openxmlformats.org/drawingml/2006/main">
            <a:r>
              <a:t>https://github.com/NVIDIA/TensorRT-Edge-LLM/blob/e8b29522938901f6df19ebeedd4b69bc8edbcd97/experimental/builder/core/quantization.py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INT4 execution status: rejected. 13/19 facts; new errors and token-limit truncation.. Selection: fp16-corrected-i1024-kv2048. Identical workload fingerprints and memory counters are required for comparisons. The selected column is a separate final verification after swap was disabled; search-trial measurements remain unchanged. Rejected RTN measurements describe a tradeoff and cannot qualify it for selection. Strict quality and reference-equivalent quality remain separate.</a:t>
            </a:r>
          </a:p>
          <a:p xmlns:a="http://schemas.openxmlformats.org/drawingml/2006/main">
            <a:r>
              <a:t>Measured values supplied by output/final-findings-data.json.</a:t>
            </a:r>
          </a:p>
          <a:p xmlns:a="http://schemas.openxmlformats.org/drawingml/2006/main">
            <a:r>
              <a:t>Sources:</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results/raw/benchmark-final-service-01.jsonl</a:t>
            </a:r>
          </a:p>
          <a:p xmlns:a="http://schemas.openxmlformats.org/drawingml/2006/main">
            <a:r>
              <a:t>results/optimization-quality-policy.json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Orin Nano uses unified physical RAM for CPU and GPU. MemTotal minus MemAvailable includes CPU, GPU and system pressure. Process RSS and CUDA allocator telemetry answer different questions and overlap. Disk checkpoint/engine size is separate from memory. Missing allocator telemetry is explicitly unavailable.</a:t>
            </a:r>
          </a:p>
          <a:p xmlns:a="http://schemas.openxmlformats.org/drawingml/2006/main">
            <a:r>
              <a:t>Measured values supplied by output/final-findings-data.json.</a:t>
            </a:r>
          </a:p>
          <a:p xmlns:a="http://schemas.openxmlformats.org/drawingml/2006/main">
            <a:r>
              <a:t>Sources:</a:t>
            </a:r>
          </a:p>
          <a:p xmlns:a="http://schemas.openxmlformats.org/drawingml/2006/main">
            <a:r>
              <a:t>GOAL.md</a:t>
            </a:r>
          </a:p>
          <a:p xmlns:a="http://schemas.openxmlformats.org/drawingml/2006/main">
            <a:r>
              <a:t>research/fp16-build-memory.md</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results/raw/benchmark-final-service-01.jsonl</a:t>
            </a:r>
          </a:p>
          <a:p xmlns:a="http://schemas.openxmlformats.org/drawingml/2006/main">
            <a:r>
              <a:t>results/optimization-search-plan.json</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results/raw/benchmark-rtn-mlp-rejected-01.jsonl</a:t>
            </a:r>
          </a:p>
          <a:p xmlns:a="http://schemas.openxmlformats.org/drawingml/2006/main">
            <a:r>
              <a:t>results/raw/benchmark-fp16-clocks-01.jsonl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bounded observed selection, not a claim of a global optimum. Final export requires a 10-minute soak, no errors/OOM/swapping, at least 512 MiB minimum MemAvailable, and explicit candidate selection. Compare latency/memory improvement only under the same declared memory counter and workload.</a:t>
            </a:r>
          </a:p>
          <a:p xmlns:a="http://schemas.openxmlformats.org/drawingml/2006/main">
            <a:r>
              <a:t>Measured values supplied by output/final-findings-data.json.</a:t>
            </a:r>
          </a:p>
          <a:p xmlns:a="http://schemas.openxmlformats.org/drawingml/2006/main">
            <a:r>
              <a:t>Sources:</a:t>
            </a:r>
          </a:p>
          <a:p xmlns:a="http://schemas.openxmlformats.org/drawingml/2006/main">
            <a:r>
              <a:t>results/optimization-selection.json</a:t>
            </a:r>
          </a:p>
          <a:p xmlns:a="http://schemas.openxmlformats.org/drawingml/2006/main">
            <a:r>
              <a:t>results/raw/benchmark-final-service-01.jsonl</a:t>
            </a:r>
          </a:p>
          <a:p xmlns:a="http://schemas.openxmlformats.org/drawingml/2006/main">
            <a:r>
              <a:t>results/raw/soak-final-service-01.summary.json</a:t>
            </a:r>
          </a:p>
          <a:p xmlns:a="http://schemas.openxmlformats.org/drawingml/2006/main">
            <a:r>
              <a:t>GOAL.md</a:t>
            </a:r>
          </a:p>
          <a:p xmlns:a="http://schemas.openxmlformats.org/drawingml/2006/main">
            <a:r>
              <a:t>results/optimization-search-plan.json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contributors are public contribution credits, not assigned individual ownership of each feature. NVIDIA owns the model/runtime contributions. Original task code is Apache-2.0. Model OpenMDW-1.1, JetPack/CUDA/TensorRT terms and bundled dependency licenses remain separate. Paramiko LGPL-2.1 supports the optional SSH bridge. NumPy uses BSD-3-Clause and Pillow MIT-CMU. Official PyTorch and Transformers supply reference execution. PyTorch wheels retain all bundled license notices, beyond its main BSD-style license. See the contribution ledger for exact public evidence.</a:t>
            </a:r>
          </a:p>
          <a:p xmlns:a="http://schemas.openxmlformats.org/drawingml/2006/main">
            <a:r>
              <a:t>Measured values supplied by output/final-findings-data.json.</a:t>
            </a:r>
          </a:p>
          <a:p xmlns:a="http://schemas.openxmlformats.org/drawingml/2006/main">
            <a:r>
              <a:t>Sources:</a:t>
            </a:r>
          </a:p>
          <a:p xmlns:a="http://schemas.openxmlformats.org/drawingml/2006/main">
            <a:r>
              <a:t>research/contribution-ledger.md</a:t>
            </a:r>
          </a:p>
          <a:p xmlns:a="http://schemas.openxmlformats.org/drawingml/2006/main">
            <a:r>
              <a:t>THIRD_PARTY_NOTICES.md</a:t>
            </a:r>
          </a:p>
          <a:p xmlns:a="http://schemas.openxmlformats.org/drawingml/2006/main">
            <a:r>
              <a:t>https://huggingface.co/nvidia/Cosmos3-Edge/blob/344d602b128d1bbdacb43b08d0a3626f46343e29/README.md</a:t>
            </a:r>
          </a:p>
          <a:p xmlns:a="http://schemas.openxmlformats.org/drawingml/2006/main">
            <a:r>
              <a:t>https://github.com/NVIDIA/TensorRT-Edge-LLM/blob/e8b29522938901f6df19ebeedd4b69bc8edbcd97/LICENSE</a:t>
            </a:r>
          </a:p>
          <a:p xmlns:a="http://schemas.openxmlformats.org/drawingml/2006/main">
            <a:r>
              <a:t>https://github.com/NVIDIA-AI-IOT/live-vlm-webui</a:t>
            </a:r>
          </a:p>
          <a:p xmlns:a="http://schemas.openxmlformats.org/drawingml/2006/main">
            <a:r>
              <a:t>https://github.com/huggingface/transformers/blob/c587bc884db2c2e31fc2b8102314656b17aa07b1/LICENSE</a:t>
            </a:r>
          </a:p>
          <a:p xmlns:a="http://schemas.openxmlformats.org/drawingml/2006/main">
            <a:r>
              <a:t>https://github.com/pytorch/pytorch/blob/cf30153c4c131c8164ee7798e5022d810682e2cb/LICENSE</a:t>
            </a:r>
          </a:p>
          <a:p xmlns:a="http://schemas.openxmlformats.org/drawingml/2006/main">
            <a:r>
              <a:t>https://github.com/NVIDIA/TensorRT-Edge-LLM/commit/e8b29522938901f6df19ebeedd4b69bc8edbcd97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Commands are supplied from the selected validated deployment. Exact source/model revisions, conversion receipts, patch hashes, engine receipts and raw benchmark files preserve provenance. The source corpus contains public code and original task assets only. No personal-namespace project or internal repository was used.</a:t>
            </a:r>
          </a:p>
          <a:p xmlns:a="http://schemas.openxmlformats.org/drawingml/2006/main">
            <a:r>
              <a:t>Measured values supplied by output/final-findings-data.json.</a:t>
            </a:r>
          </a:p>
          <a:p xmlns:a="http://schemas.openxmlformats.org/drawingml/2006/main">
            <a:r>
              <a:t>Sources:</a:t>
            </a:r>
          </a:p>
          <a:p xmlns:a="http://schemas.openxmlformats.org/drawingml/2006/main">
            <a:r>
              <a:t>docs/backend-build.md</a:t>
            </a:r>
          </a:p>
          <a:p xmlns:a="http://schemas.openxmlformats.org/drawingml/2006/main">
            <a:r>
              <a:t>sources.lock.json</a:t>
            </a:r>
          </a:p>
          <a:p xmlns:a="http://schemas.openxmlformats.org/drawingml/2006/main">
            <a:r>
              <a:t>docs/quality-workload.md</a:t>
            </a:r>
          </a:p>
          <a:p xmlns:a="http://schemas.openxmlformats.org/drawingml/2006/main">
            <a:r>
              <a:t>patches/cosmos3-half-pixel-position.md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dcaffa263f4f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c8fd4212b64fb7" /><Relationship Type="http://schemas.openxmlformats.org/officeDocument/2006/relationships/slideLayout" Target="/ppt/slideLayouts/slideLayout1.xml" Id="Raa39a852193249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39a852193249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392809be1d94ae9" /><Relationship Type="http://schemas.openxmlformats.org/officeDocument/2006/relationships/notesSlide" Target="/ppt/notesSlides/notesSlide1.xml" Id="Ra4cd4e5c4d5544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ce5ba47fd684181" /><Relationship Type="http://schemas.openxmlformats.org/officeDocument/2006/relationships/notesSlide" Target="/ppt/notesSlides/notesSlide2.xml" Id="R9b87b0750a2a4f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bdaa577adeb48ef" /><Relationship Type="http://schemas.openxmlformats.org/officeDocument/2006/relationships/image" Target="/ppt/media/image.png" Id="R8cc98c2bc2a24738" /><Relationship Type="http://schemas.openxmlformats.org/officeDocument/2006/relationships/notesSlide" Target="/ppt/notesSlides/notesSlide3.xml" Id="R133ac9cca63e4f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9332d39fdba4198" /><Relationship Type="http://schemas.openxmlformats.org/officeDocument/2006/relationships/notesSlide" Target="/ppt/notesSlides/notesSlide4.xml" Id="R4dfac0c085d042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995ea2af0954de3" /><Relationship Type="http://schemas.openxmlformats.org/officeDocument/2006/relationships/notesSlide" Target="/ppt/notesSlides/notesSlide5.xml" Id="R175a6b341c564c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420d9d481fc4344" /><Relationship Type="http://schemas.openxmlformats.org/officeDocument/2006/relationships/image" Target="/ppt/media/image.jpeg" Id="R03db468bcabe4873" /><Relationship Type="http://schemas.openxmlformats.org/officeDocument/2006/relationships/notesSlide" Target="/ppt/notesSlides/notesSlide6.xml" Id="Rcb6f2d563bae47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17df6c49154f98" /><Relationship Type="http://schemas.openxmlformats.org/officeDocument/2006/relationships/notesSlide" Target="/ppt/notesSlides/notesSlide7.xml" Id="R5919028fcacc48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cc6189c30954326" /><Relationship Type="http://schemas.openxmlformats.org/officeDocument/2006/relationships/notesSlide" Target="/ppt/notesSlides/notesSlide8.xml" Id="R3c6537ca51da497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6f9e4ddb7354735" /><Relationship Type="http://schemas.openxmlformats.org/officeDocument/2006/relationships/notesSlide" Target="/ppt/notesSlides/notesSlide9.xml" Id="R380f9065525d40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bb1a6475c6a44ab" /><Relationship Type="http://schemas.openxmlformats.org/officeDocument/2006/relationships/notesSlide" Target="/ppt/notesSlides/notesSlide10.xml" Id="R20654cf3dd39427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8c8115960064da3" /><Relationship Type="http://schemas.openxmlformats.org/officeDocument/2006/relationships/notesSlide" Target="/ppt/notesSlides/notesSlide11.xml" Id="Radde801a84d643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95b470356b34b44" /><Relationship Type="http://schemas.openxmlformats.org/officeDocument/2006/relationships/notesSlide" Target="/ppt/notesSlides/notesSlide12.xml" Id="Rdaec8f6344c1408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5b50506b01b4462" /><Relationship Type="http://schemas.openxmlformats.org/officeDocument/2006/relationships/notesSlide" Target="/ppt/notesSlides/notesSlide13.xml" Id="R53e53d2b8583433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4657500b7564d2a" /><Relationship Type="http://schemas.openxmlformats.org/officeDocument/2006/relationships/notesSlide" Target="/ppt/notesSlides/notesSlide14.xml" Id="R433fe2eef47c442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99FA73F-197C-4DE0-BC57-DA9B1BF815D9}"/>
              </a:ext>
            </a:extLst>
          </p:cNvPr>
          <p:cNvSpPr>
            <a:spLocks xmlns:a="http://schemas.openxmlformats.org/drawingml/2006/main" noGrp="1"/>
          </p:cNvSpPr>
          <p:nvPr/>
        </p:nvSpPr>
        <p:spPr>
          <a:xfrm xmlns:a="http://schemas.openxmlformats.org/drawingml/2006/main">
            <a:off x="685800" y="1400175"/>
            <a:ext cx="1064895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100" b="1">
                <a:solidFill>
                  <a:srgbClr val="183542"/>
                </a:solidFill>
                <a:latin typeface="Helvetica Neue"/>
                <a:ea typeface="Helvetica Neue"/>
                <a:cs typeface="Helvetica Neue"/>
              </a:defRPr>
            </a:pPr>
            <a:r>
              <a:rPr sz="5100" b="1">
                <a:solidFill>
                  <a:srgbClr val="183542"/>
                </a:solidFill>
                <a:latin typeface="Helvetica Neue"/>
                <a:ea typeface="Helvetica Neue"/>
                <a:cs typeface="Helvetica Neue"/>
              </a:rPr>
              <a:t>Cosmos3-Edge on</a:t>
            </a:r>
          </a:p>
          <a:p xmlns:a="http://schemas.openxmlformats.org/drawingml/2006/main">
            <a:pPr>
              <a:defRPr sz="5100" b="1">
                <a:solidFill>
                  <a:srgbClr val="183542"/>
                </a:solidFill>
                <a:latin typeface="Helvetica Neue"/>
                <a:ea typeface="Helvetica Neue"/>
                <a:cs typeface="Helvetica Neue"/>
              </a:defRPr>
            </a:pPr>
            <a:r>
              <a:rPr sz="5100" b="1">
                <a:solidFill>
                  <a:srgbClr val="183542"/>
                </a:solidFill>
                <a:latin typeface="Helvetica Neue"/>
                <a:ea typeface="Helvetica Neue"/>
                <a:cs typeface="Helvetica Neue"/>
              </a:rPr>
              <a:t>Jetson Orin Nano</a:t>
            </a:r>
          </a:p>
        </p:txBody>
      </p:sp>
      <p:sp>
        <p:nvSpPr>
          <p:cNvPr id="2" name="">
            <a:extLst xmlns:a="http://schemas.openxmlformats.org/drawingml/2006/main">
              <a:ext uri="{FF2B5EF4-FFF2-40B4-BE49-F238E27FC236}">
                <a16:creationId xmlns:a16="http://schemas.microsoft.com/office/drawing/2014/main" id="{A8C2BB39-5572-46D3-9222-241259F07940}"/>
              </a:ext>
            </a:extLst>
          </p:cNvPr>
          <p:cNvSpPr>
            <a:spLocks xmlns:a="http://schemas.openxmlformats.org/drawingml/2006/main" noGrp="1"/>
          </p:cNvSpPr>
          <p:nvPr/>
        </p:nvSpPr>
        <p:spPr>
          <a:xfrm xmlns:a="http://schemas.openxmlformats.org/drawingml/2006/main">
            <a:off x="685800" y="37338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0">
                <a:solidFill>
                  <a:srgbClr val="146875"/>
                </a:solidFill>
                <a:latin typeface="Helvetica Neue"/>
                <a:ea typeface="Helvetica Neue"/>
                <a:cs typeface="Helvetica Neue"/>
              </a:defRPr>
            </a:pPr>
            <a:r>
              <a:rPr sz="2475" b="0">
                <a:solidFill>
                  <a:srgbClr val="146875"/>
                </a:solidFill>
                <a:latin typeface="Helvetica Neue"/>
                <a:ea typeface="Helvetica Neue"/>
                <a:cs typeface="Helvetica Neue"/>
              </a:rPr>
              <a:t>Public implementation and measured findings</a:t>
            </a:r>
          </a:p>
        </p:txBody>
      </p:sp>
      <p:sp>
        <p:nvSpPr>
          <p:cNvPr id="3" name="">
            <a:extLst xmlns:a="http://schemas.openxmlformats.org/drawingml/2006/main">
              <a:ext uri="{FF2B5EF4-FFF2-40B4-BE49-F238E27FC236}">
                <a16:creationId xmlns:a16="http://schemas.microsoft.com/office/drawing/2014/main" id="{D4A91163-8A67-4C0B-B6C8-A14F07428153}"/>
              </a:ext>
            </a:extLst>
          </p:cNvPr>
          <p:cNvSpPr>
            <a:spLocks xmlns:a="http://schemas.openxmlformats.org/drawingml/2006/main" noGrp="1"/>
          </p:cNvSpPr>
          <p:nvPr/>
        </p:nvSpPr>
        <p:spPr>
          <a:xfrm xmlns:a="http://schemas.openxmlformats.org/drawingml/2006/main">
            <a:off x="685800" y="457200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83542"/>
                </a:solidFill>
                <a:latin typeface="Helvetica Neue"/>
                <a:ea typeface="Helvetica Neue"/>
                <a:cs typeface="Helvetica Neue"/>
              </a:defRPr>
            </a:pPr>
            <a:r>
              <a:rPr sz="2175" b="0">
                <a:solidFill>
                  <a:srgbClr val="183542"/>
                </a:solidFill>
                <a:latin typeface="Helvetica Neue"/>
                <a:ea typeface="Helvetica Neue"/>
                <a:cs typeface="Helvetica Neue"/>
              </a:rPr>
              <a:t>Selected configuration: fp16-corrected-i1024-kv2048</a:t>
            </a:r>
          </a:p>
        </p:txBody>
      </p:sp>
      <p:sp>
        <p:nvSpPr>
          <p:cNvPr id="4" name="">
            <a:extLst xmlns:a="http://schemas.openxmlformats.org/drawingml/2006/main">
              <a:ext uri="{FF2B5EF4-FFF2-40B4-BE49-F238E27FC236}">
                <a16:creationId xmlns:a16="http://schemas.microsoft.com/office/drawing/2014/main" id="{F34BEEF4-DC88-4C8A-8B9C-44FC9C0ED4A6}"/>
              </a:ext>
            </a:extLst>
          </p:cNvPr>
          <p:cNvSpPr>
            <a:spLocks xmlns:a="http://schemas.openxmlformats.org/drawingml/2006/main" noGrp="1"/>
          </p:cNvSpPr>
          <p:nvPr/>
        </p:nvSpPr>
        <p:spPr>
          <a:xfrm xmlns:a="http://schemas.openxmlformats.org/drawingml/2006/main">
            <a:off x="685800" y="59721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2026-09-20</a:t>
            </a:r>
          </a:p>
        </p:txBody>
      </p:sp>
    </p:spTree>
    <p:extLst>
      <p:ext uri="{BB962C8B-B14F-4D97-AF65-F5344CB8AC3E}">
        <p14:creationId xmlns:p14="http://schemas.microsoft.com/office/powerpoint/2010/main" val="285066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2025648-8D77-4274-A324-FBEBA5B254FF}"/>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Installed hardware and software</a:t>
            </a:r>
          </a:p>
        </p:txBody>
      </p:sp>
      <p:sp>
        <p:nvSpPr>
          <p:cNvPr id="2" name="">
            <a:extLst xmlns:a="http://schemas.openxmlformats.org/drawingml/2006/main">
              <a:ext uri="{FF2B5EF4-FFF2-40B4-BE49-F238E27FC236}">
                <a16:creationId xmlns:a16="http://schemas.microsoft.com/office/drawing/2014/main" id="{B55C1E05-9F54-4BF7-AF09-1EF7238CCDA6}"/>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A22AA62A-07DE-47BC-8BC4-BD0DAC720F83}"/>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a:t>
            </a:r>
          </a:p>
        </p:txBody>
      </p:sp>
      <p:graphicFrame>
        <p:nvGraphicFramePr>
          <p:cNvPr id="9" name=""/>
          <p:cNvGraphicFramePr/>
          <p:nvPr/>
        </p:nvGraphicFramePr>
        <p:xfrm>
          <a:off xmlns:a="http://schemas.openxmlformats.org/drawingml/2006/main" x="685800" y="1571625"/>
          <a:ext xmlns:a="http://schemas.openxmlformats.org/drawingml/2006/main" cx="10820400" cy="3886200"/>
        </p:xfrm>
        <a:graphic xmlns:a="http://schemas.openxmlformats.org/drawingml/2006/main">
          <a:graphicData uri="http://schemas.openxmlformats.org/drawingml/2006/table">
            <a:tbl>
              <a:tblPr firstRow="1" bandRow="0"/>
              <a:tblGrid>
                <a:gridCol w="3333750"/>
                <a:gridCol w="7486650"/>
              </a:tblGrid>
              <a:tr h="647700">
                <a:tc>
                  <a:txBody>
                    <a:bodyPr/>
                    <a:lstStyle/>
                    <a:p>
                      <a:r>
                        <a:rPr sz="1800" b="1">
                          <a:solidFill>
                            <a:srgbClr val="183542"/>
                          </a:solidFill>
                          <a:latin typeface="Helvetica Neue"/>
                          <a:ea typeface="Helvetica Neue"/>
                          <a:cs typeface="Helvetica Neue"/>
                        </a:rPr>
                        <a:t>Component</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Observed configuration</a:t>
                      </a:r>
                    </a:p>
                  </a:txBody>
                  <a:tcPr marL="142875" marR="142875" marT="85725" marB="85725" anchor="ctr">
                    <a:solidFill>
                      <a:srgbClr val="E8F0F1"/>
                    </a:solidFill>
                  </a:tcPr>
                </a:tc>
              </a:tr>
              <a:tr h="647700">
                <a:tc>
                  <a:txBody>
                    <a:bodyPr/>
                    <a:lstStyle/>
                    <a:p>
                      <a:r>
                        <a:rPr sz="1800">
                          <a:solidFill>
                            <a:srgbClr val="183542"/>
                          </a:solidFill>
                          <a:latin typeface="Helvetica Neue"/>
                          <a:ea typeface="Helvetica Neue"/>
                          <a:cs typeface="Helvetica Neue"/>
                        </a:rPr>
                        <a:t>Device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Jetson Orin Nano P3767-0005  8 GB shared RAM</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Storage and mode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WD_BLACK SN7100 1 TB</a:t>
                      </a:r>
                    </a:p>
                    <a:p>
                      <a:r>
                        <a:rPr sz="1800">
                          <a:solidFill>
                            <a:srgbClr val="183542"/>
                          </a:solidFill>
                          <a:latin typeface="Helvetica Neue"/>
                          <a:ea typeface="Helvetica Neue"/>
                          <a:cs typeface="Helvetica Neue"/>
                        </a:rPr>
                        <a:t>Stock 25 W, ID1</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Operating system</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JetPack 7.2.1, L4T 39.2.1</a:t>
                      </a:r>
                    </a:p>
                    <a:p>
                      <a:r>
                        <a:rPr sz="1800">
                          <a:solidFill>
                            <a:srgbClr val="183542"/>
                          </a:solidFill>
                          <a:latin typeface="Helvetica Neue"/>
                          <a:ea typeface="Helvetica Neue"/>
                          <a:cs typeface="Helvetica Neue"/>
                        </a:rPr>
                        <a:t>Kernel 6.8.12-1021-tegra</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Compute libraries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CUDA nvcc13.2.86, TensorRT 10.16.2.10</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Installation evidence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Verified USB-C QSPI + NVMe flash</a:t>
                      </a:r>
                    </a:p>
                    <a:p>
                      <a:r>
                        <a:rPr sz="1800">
                          <a:solidFill>
                            <a:srgbClr val="183542"/>
                          </a:solidFill>
                          <a:latin typeface="Helvetica Neue"/>
                          <a:ea typeface="Helvetica Neue"/>
                          <a:cs typeface="Helvetica Neue"/>
                        </a:rPr>
                        <a:t>Verified NVMe boot and CUDA calculation</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FC4B8B2-3765-46A7-B7B8-769690C54842}"/>
              </a:ext>
            </a:extLst>
          </p:cNvPr>
          <p:cNvSpPr>
            <a:spLocks xmlns:a="http://schemas.openxmlformats.org/drawingml/2006/main" noGrp="1"/>
          </p:cNvSpPr>
          <p:nvPr/>
        </p:nvSpPr>
        <p:spPr>
          <a:xfrm xmlns:a="http://schemas.openxmlformats.org/drawingml/2006/main">
            <a:off x="685800" y="5934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Official NVIDIA flash tools ran through an original SSH/NFS transport bridge.</a:t>
            </a:r>
          </a:p>
        </p:txBody>
      </p:sp>
    </p:spTree>
    <p:extLst>
      <p:ext uri="{BB962C8B-B14F-4D97-AF65-F5344CB8AC3E}">
        <p14:creationId xmlns:p14="http://schemas.microsoft.com/office/powerpoint/2010/main" val="21412592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794E5B-95B2-4DD2-832F-AD59AB701ED6}"/>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Streaming browser interface</a:t>
            </a:r>
          </a:p>
        </p:txBody>
      </p:sp>
      <p:sp>
        <p:nvSpPr>
          <p:cNvPr id="2" name="">
            <a:extLst xmlns:a="http://schemas.openxmlformats.org/drawingml/2006/main">
              <a:ext uri="{FF2B5EF4-FFF2-40B4-BE49-F238E27FC236}">
                <a16:creationId xmlns:a16="http://schemas.microsoft.com/office/drawing/2014/main" id="{27652993-ABE1-483A-A087-C3FCCF37F960}"/>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56CEA894-0173-44BA-BBC5-089693916323}"/>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cc98c2bc2a24738"/>
          <a:stretch xmlns:a="http://schemas.openxmlformats.org/drawingml/2006/main"/>
        </p:blipFill>
        <p:spPr>
          <a:xfrm xmlns:a="http://schemas.openxmlformats.org/drawingml/2006/main">
            <a:off x="1536955" y="1466850"/>
            <a:ext cx="5393816" cy="46482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0099793-5295-4645-8CE6-5FE97A6C29F9}"/>
              </a:ext>
            </a:extLst>
          </p:cNvPr>
          <p:cNvSpPr>
            <a:spLocks xmlns:a="http://schemas.openxmlformats.org/drawingml/2006/main" noGrp="1"/>
          </p:cNvSpPr>
          <p:nvPr/>
        </p:nvSpPr>
        <p:spPr>
          <a:xfrm xmlns:a="http://schemas.openxmlformats.org/drawingml/2006/main">
            <a:off x="8172450" y="16764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Browser checks</a:t>
            </a:r>
          </a:p>
        </p:txBody>
      </p:sp>
      <p:sp>
        <p:nvSpPr>
          <p:cNvPr id="6" name="">
            <a:extLst xmlns:a="http://schemas.openxmlformats.org/drawingml/2006/main">
              <a:ext uri="{FF2B5EF4-FFF2-40B4-BE49-F238E27FC236}">
                <a16:creationId xmlns:a16="http://schemas.microsoft.com/office/drawing/2014/main" id="{EAB9973A-A16B-4C71-B1AC-1E5F3BC1C99B}"/>
              </a:ext>
            </a:extLst>
          </p:cNvPr>
          <p:cNvSpPr>
            <a:spLocks xmlns:a="http://schemas.openxmlformats.org/drawingml/2006/main" noGrp="1"/>
          </p:cNvSpPr>
          <p:nvPr/>
        </p:nvSpPr>
        <p:spPr>
          <a:xfrm xmlns:a="http://schemas.openxmlformats.org/drawingml/2006/main">
            <a:off x="8172450" y="2171700"/>
            <a:ext cx="3333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Streaming: Pass</a:t>
            </a:r>
          </a:p>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Stop and restart: Pass</a:t>
            </a:r>
          </a:p>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Synthetic camera: Pass</a:t>
            </a:r>
          </a:p>
        </p:txBody>
      </p:sp>
      <p:sp>
        <p:nvSpPr>
          <p:cNvPr id="7" name="">
            <a:extLst xmlns:a="http://schemas.openxmlformats.org/drawingml/2006/main">
              <a:ext uri="{FF2B5EF4-FFF2-40B4-BE49-F238E27FC236}">
                <a16:creationId xmlns:a16="http://schemas.microsoft.com/office/drawing/2014/main" id="{91A08ADC-F97E-42BD-8C74-36328340E0DD}"/>
              </a:ext>
            </a:extLst>
          </p:cNvPr>
          <p:cNvSpPr>
            <a:spLocks xmlns:a="http://schemas.openxmlformats.org/drawingml/2006/main" noGrp="1"/>
          </p:cNvSpPr>
          <p:nvPr/>
        </p:nvSpPr>
        <p:spPr>
          <a:xfrm xmlns:a="http://schemas.openxmlformats.org/drawingml/2006/main">
            <a:off x="8172450" y="38195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Web access</a:t>
            </a:r>
          </a:p>
        </p:txBody>
      </p:sp>
      <p:sp>
        <p:nvSpPr>
          <p:cNvPr id="8" name="">
            <a:extLst xmlns:a="http://schemas.openxmlformats.org/drawingml/2006/main">
              <a:ext uri="{FF2B5EF4-FFF2-40B4-BE49-F238E27FC236}">
                <a16:creationId xmlns:a16="http://schemas.microsoft.com/office/drawing/2014/main" id="{0A4B2611-0690-41C3-9390-8AF93106263C}"/>
              </a:ext>
            </a:extLst>
          </p:cNvPr>
          <p:cNvSpPr>
            <a:spLocks xmlns:a="http://schemas.openxmlformats.org/drawingml/2006/main" noGrp="1"/>
          </p:cNvSpPr>
          <p:nvPr/>
        </p:nvSpPr>
        <p:spPr>
          <a:xfrm xmlns:a="http://schemas.openxmlformats.org/drawingml/2006/main">
            <a:off x="8172450" y="4314825"/>
            <a:ext cx="33337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http://localhost:8090</a:t>
            </a:r>
          </a:p>
          <a:p xmlns:a="http://schemas.openxmlformats.org/drawingml/2006/main">
            <a:r>
              <a:t/>
            </a:r>
          </a:p>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Actual Orin service through the Mac SSH tunnel</a:t>
            </a:r>
          </a:p>
        </p:txBody>
      </p:sp>
    </p:spTree>
    <p:extLst>
      <p:ext uri="{BB962C8B-B14F-4D97-AF65-F5344CB8AC3E}">
        <p14:creationId xmlns:p14="http://schemas.microsoft.com/office/powerpoint/2010/main" val="10826896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52CFFCE-31B6-4ECF-B3D4-551C4138C1B8}"/>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Request and inference path</a:t>
            </a:r>
          </a:p>
        </p:txBody>
      </p:sp>
      <p:sp>
        <p:nvSpPr>
          <p:cNvPr id="2" name="">
            <a:extLst xmlns:a="http://schemas.openxmlformats.org/drawingml/2006/main">
              <a:ext uri="{FF2B5EF4-FFF2-40B4-BE49-F238E27FC236}">
                <a16:creationId xmlns:a16="http://schemas.microsoft.com/office/drawing/2014/main" id="{BB84F311-B15B-4611-BB09-4BD1B4E8E83D}"/>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6ADA65DD-F75D-4B18-A0FB-5F69C1512ADC}"/>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4</a:t>
            </a:r>
          </a:p>
        </p:txBody>
      </p:sp>
      <p:graphicFrame>
        <p:nvGraphicFramePr>
          <p:cNvPr id="9" name=""/>
          <p:cNvGraphicFramePr/>
          <p:nvPr/>
        </p:nvGraphicFramePr>
        <p:xfrm>
          <a:off xmlns:a="http://schemas.openxmlformats.org/drawingml/2006/main" x="685800" y="1571625"/>
          <a:ext xmlns:a="http://schemas.openxmlformats.org/drawingml/2006/main" cx="10820400" cy="4038600"/>
        </p:xfrm>
        <a:graphic xmlns:a="http://schemas.openxmlformats.org/drawingml/2006/main">
          <a:graphicData uri="http://schemas.openxmlformats.org/drawingml/2006/table">
            <a:tbl>
              <a:tblPr firstRow="1" bandRow="0"/>
              <a:tblGrid>
                <a:gridCol w="2381250"/>
                <a:gridCol w="5857875"/>
                <a:gridCol w="2581275"/>
              </a:tblGrid>
              <a:tr h="673100">
                <a:tc>
                  <a:txBody>
                    <a:bodyPr/>
                    <a:lstStyle/>
                    <a:p>
                      <a:r>
                        <a:rPr sz="1800" b="1">
                          <a:solidFill>
                            <a:srgbClr val="183542"/>
                          </a:solidFill>
                          <a:latin typeface="Helvetica Neue"/>
                          <a:ea typeface="Helvetica Neue"/>
                          <a:cs typeface="Helvetica Neue"/>
                        </a:rPr>
                        <a:t>Stage</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Responsibility</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Source</a:t>
                      </a:r>
                    </a:p>
                  </a:txBody>
                  <a:tcPr marL="142875" marR="142875" marT="85725" marB="85725" anchor="ctr">
                    <a:solidFill>
                      <a:srgbClr val="E8F0F1"/>
                    </a:solidFill>
                  </a:tcPr>
                </a:tc>
              </a:tr>
              <a:tr h="673100">
                <a:tc>
                  <a:txBody>
                    <a:bodyPr/>
                    <a:lstStyle/>
                    <a:p>
                      <a:r>
                        <a:rPr sz="1800">
                          <a:solidFill>
                            <a:srgbClr val="183542"/>
                          </a:solidFill>
                          <a:latin typeface="Helvetica Neue"/>
                          <a:ea typeface="Helvetica Neue"/>
                          <a:cs typeface="Helvetica Neue"/>
                        </a:rPr>
                        <a:t>Browser</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Capture JPEG, prompt and sampling settings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Original UI</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Orin HTTP proxy</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Forward one request and stream SSE events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Original proxy</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Resident backend</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Decode image, run vision and language engines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TensorRT Edge-LLM</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Checkpoint</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Learned image and language behavior</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NVIDIA Cosmos3-Edge</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Browser response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Incremental text, timing and cancellation</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Original UI</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C0314D5-EF0B-42E9-8F9A-0C1BAE51083E}"/>
              </a:ext>
            </a:extLst>
          </p:cNvPr>
          <p:cNvSpPr>
            <a:spLocks xmlns:a="http://schemas.openxmlformats.org/drawingml/2006/main" noGrp="1"/>
          </p:cNvSpPr>
          <p:nvPr/>
        </p:nvSpPr>
        <p:spPr>
          <a:xfrm xmlns:a="http://schemas.openxmlformats.org/drawingml/2006/main">
            <a:off x="685800" y="59150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66773"/>
                </a:solidFill>
                <a:latin typeface="Helvetica Neue"/>
                <a:ea typeface="Helvetica Neue"/>
                <a:cs typeface="Helvetica Neue"/>
              </a:defRPr>
            </a:pPr>
            <a:r>
              <a:rPr sz="1875" b="0">
                <a:solidFill>
                  <a:srgbClr val="566773"/>
                </a:solidFill>
                <a:latin typeface="Helvetica Neue"/>
                <a:ea typeface="Helvetica Neue"/>
                <a:cs typeface="Helvetica Neue"/>
              </a:rPr>
              <a:t>The webpage runs on the Orin. Access through a tunnel remains a transport detail.</a:t>
            </a:r>
          </a:p>
        </p:txBody>
      </p:sp>
    </p:spTree>
    <p:extLst>
      <p:ext uri="{BB962C8B-B14F-4D97-AF65-F5344CB8AC3E}">
        <p14:creationId xmlns:p14="http://schemas.microsoft.com/office/powerpoint/2010/main" val="575476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0DDC24-1B94-4281-AC95-EE60C17C6688}"/>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Compatibility and correctness repairs</a:t>
            </a:r>
          </a:p>
        </p:txBody>
      </p:sp>
      <p:sp>
        <p:nvSpPr>
          <p:cNvPr id="2" name="">
            <a:extLst xmlns:a="http://schemas.openxmlformats.org/drawingml/2006/main">
              <a:ext uri="{FF2B5EF4-FFF2-40B4-BE49-F238E27FC236}">
                <a16:creationId xmlns:a16="http://schemas.microsoft.com/office/drawing/2014/main" id="{E0EA4950-C998-4BA8-9E74-7FDBB8ED9D64}"/>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9BB0E3CC-9C9E-427C-BA64-B884BA9DB331}"/>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5</a:t>
            </a:r>
          </a:p>
        </p:txBody>
      </p:sp>
      <p:graphicFrame>
        <p:nvGraphicFramePr>
          <p:cNvPr id="9" name=""/>
          <p:cNvGraphicFramePr/>
          <p:nvPr/>
        </p:nvGraphicFramePr>
        <p:xfrm>
          <a:off xmlns:a="http://schemas.openxmlformats.org/drawingml/2006/main" x="685800" y="1571625"/>
          <a:ext xmlns:a="http://schemas.openxmlformats.org/drawingml/2006/main" cx="10820400" cy="3905250"/>
        </p:xfrm>
        <a:graphic xmlns:a="http://schemas.openxmlformats.org/drawingml/2006/main">
          <a:graphicData uri="http://schemas.openxmlformats.org/drawingml/2006/table">
            <a:tbl>
              <a:tblPr firstRow="1" bandRow="0"/>
              <a:tblGrid>
                <a:gridCol w="3562350"/>
                <a:gridCol w="7258050"/>
              </a:tblGrid>
              <a:tr h="781050">
                <a:tc>
                  <a:txBody>
                    <a:bodyPr/>
                    <a:lstStyle/>
                    <a:p>
                      <a:r>
                        <a:rPr sz="1875" b="1">
                          <a:solidFill>
                            <a:srgbClr val="183542"/>
                          </a:solidFill>
                          <a:latin typeface="Helvetica Neue"/>
                          <a:ea typeface="Helvetica Neue"/>
                          <a:cs typeface="Helvetica Neue"/>
                        </a:rPr>
                        <a:t>Observed defect</a:t>
                      </a:r>
                    </a:p>
                  </a:txBody>
                  <a:tcPr marL="142875" marR="142875" marT="85725" marB="85725" anchor="ctr">
                    <a:solidFill>
                      <a:srgbClr val="E8F0F1"/>
                    </a:solidFill>
                  </a:tcPr>
                </a:tc>
                <a:tc>
                  <a:txBody>
                    <a:bodyPr/>
                    <a:lstStyle/>
                    <a:p>
                      <a:r>
                        <a:rPr sz="1875" b="1">
                          <a:solidFill>
                            <a:srgbClr val="183542"/>
                          </a:solidFill>
                          <a:latin typeface="Helvetica Neue"/>
                          <a:ea typeface="Helvetica Neue"/>
                          <a:cs typeface="Helvetica Neue"/>
                        </a:rPr>
                        <a:t>Task contribution using public conventions</a:t>
                      </a:r>
                    </a:p>
                  </a:txBody>
                  <a:tcPr marL="142875" marR="142875" marT="85725" marB="85725" anchor="ctr">
                    <a:solidFill>
                      <a:srgbClr val="E8F0F1"/>
                    </a:solidFill>
                  </a:tcPr>
                </a:tc>
              </a:tr>
              <a:tr h="781050">
                <a:tc>
                  <a:txBody>
                    <a:bodyPr/>
                    <a:lstStyle/>
                    <a:p>
                      <a:r>
                        <a:rPr sz="1875">
                          <a:solidFill>
                            <a:srgbClr val="183542"/>
                          </a:solidFill>
                          <a:latin typeface="Helvetica Neue"/>
                          <a:ea typeface="Helvetica Neue"/>
                          <a:cs typeface="Helvetica Neue"/>
                        </a:rPr>
                        <a:t>Generated runtime sidecars</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Restore existing RoPE aliases and image/video delimiters</a:t>
                      </a:r>
                    </a:p>
                  </a:txBody>
                  <a:tcPr marL="142875" marR="142875" marT="85725" marB="85725" anchor="ctr">
                    <a:solidFill>
                      <a:srgbClr val="FFFFFF"/>
                    </a:solidFill>
                  </a:tcPr>
                </a:tc>
              </a:tr>
              <a:tr h="781050">
                <a:tc>
                  <a:txBody>
                    <a:bodyPr/>
                    <a:lstStyle/>
                    <a:p>
                      <a:r>
                        <a:rPr sz="1875">
                          <a:solidFill>
                            <a:srgbClr val="183542"/>
                          </a:solidFill>
                          <a:latin typeface="Helvetica Neue"/>
                          <a:ea typeface="Helvetica Neue"/>
                          <a:cs typeface="Helvetica Neue"/>
                        </a:rPr>
                        <a:t>HWC weights with CHW pixels</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Apply the public exporter’s patch-weight column permutation</a:t>
                      </a:r>
                    </a:p>
                  </a:txBody>
                  <a:tcPr marL="142875" marR="142875" marT="85725" marB="85725" anchor="ctr">
                    <a:solidFill>
                      <a:srgbClr val="FFFFFF"/>
                    </a:solidFill>
                  </a:tcPr>
                </a:tc>
              </a:tr>
              <a:tr h="781050">
                <a:tc>
                  <a:txBody>
                    <a:bodyPr/>
                    <a:lstStyle/>
                    <a:p>
                      <a:r>
                        <a:rPr sz="1875">
                          <a:solidFill>
                            <a:srgbClr val="183542"/>
                          </a:solidFill>
                          <a:latin typeface="Helvetica Neue"/>
                          <a:ea typeface="Helvetica Neue"/>
                          <a:cs typeface="Helvetica Neue"/>
                        </a:rPr>
                        <a:t>Position interpolation</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Select the Cosmos half-pixel convention in the existing kernel</a:t>
                      </a:r>
                    </a:p>
                  </a:txBody>
                  <a:tcPr marL="142875" marR="142875" marT="85725" marB="85725" anchor="ctr">
                    <a:solidFill>
                      <a:srgbClr val="FFFFFF"/>
                    </a:solidFill>
                  </a:tcPr>
                </a:tc>
              </a:tr>
              <a:tr h="781050">
                <a:tc>
                  <a:txBody>
                    <a:bodyPr/>
                    <a:lstStyle/>
                    <a:p>
                      <a:r>
                        <a:rPr sz="1875">
                          <a:solidFill>
                            <a:srgbClr val="183542"/>
                          </a:solidFill>
                          <a:latin typeface="Helvetica Neue"/>
                          <a:ea typeface="Helvetica Neue"/>
                          <a:cs typeface="Helvetica Neue"/>
                        </a:rPr>
                        <a:t>Independent image cache</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Expose its existing byte budget and set it to zero for measurement</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07C571C-330A-4F8E-9B8C-DAE7D593EC41}"/>
              </a:ext>
            </a:extLst>
          </p:cNvPr>
          <p:cNvSpPr>
            <a:spLocks xmlns:a="http://schemas.openxmlformats.org/drawingml/2006/main" noGrp="1"/>
          </p:cNvSpPr>
          <p:nvPr/>
        </p:nvSpPr>
        <p:spPr>
          <a:xfrm xmlns:a="http://schemas.openxmlformats.org/drawingml/2006/main">
            <a:off x="685800" y="57912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NVIDIA supplies the model, runtime and underlying conventions. This task repairs their integration.</a:t>
            </a:r>
          </a:p>
        </p:txBody>
      </p:sp>
    </p:spTree>
    <p:extLst>
      <p:ext uri="{BB962C8B-B14F-4D97-AF65-F5344CB8AC3E}">
        <p14:creationId xmlns:p14="http://schemas.microsoft.com/office/powerpoint/2010/main" val="8837647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FD7EE36-0771-44EE-B4F7-A208A1881F97}"/>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Quality checks and their limits</a:t>
            </a:r>
          </a:p>
        </p:txBody>
      </p:sp>
      <p:sp>
        <p:nvSpPr>
          <p:cNvPr id="2" name="">
            <a:extLst xmlns:a="http://schemas.openxmlformats.org/drawingml/2006/main">
              <a:ext uri="{FF2B5EF4-FFF2-40B4-BE49-F238E27FC236}">
                <a16:creationId xmlns:a16="http://schemas.microsoft.com/office/drawing/2014/main" id="{6BFCD745-43A8-40D2-B4A9-617D7923443D}"/>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7778DE10-6400-4422-B98B-4C04964C63A0}"/>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3db468bcabe4873"/>
          <a:stretch xmlns:a="http://schemas.openxmlformats.org/drawingml/2006/main"/>
        </p:blipFill>
        <p:spPr>
          <a:xfrm xmlns:a="http://schemas.openxmlformats.org/drawingml/2006/main">
            <a:off x="1495425" y="1600200"/>
            <a:ext cx="2647950" cy="26479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D71D5DF-F70D-4511-A262-A2C20D20D7BC}"/>
              </a:ext>
            </a:extLst>
          </p:cNvPr>
          <p:cNvSpPr>
            <a:spLocks xmlns:a="http://schemas.openxmlformats.org/drawingml/2006/main" noGrp="1"/>
          </p:cNvSpPr>
          <p:nvPr/>
        </p:nvSpPr>
        <p:spPr>
          <a:xfrm xmlns:a="http://schemas.openxmlformats.org/drawingml/2006/main">
            <a:off x="685800" y="4419600"/>
            <a:ext cx="426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965A20"/>
                </a:solidFill>
                <a:latin typeface="Helvetica Neue"/>
                <a:ea typeface="Helvetica Neue"/>
                <a:cs typeface="Helvetica Neue"/>
              </a:defRPr>
            </a:pPr>
            <a:r>
              <a:rPr sz="2175" b="1">
                <a:solidFill>
                  <a:srgbClr val="965A20"/>
                </a:solidFill>
                <a:latin typeface="Helvetica Neue"/>
                <a:ea typeface="Helvetica Neue"/>
                <a:cs typeface="Helvetica Neue"/>
              </a:rPr>
              <a:t>Natural photos</a:t>
            </a:r>
          </a:p>
        </p:txBody>
      </p:sp>
      <p:sp>
        <p:nvSpPr>
          <p:cNvPr id="6" name="">
            <a:extLst xmlns:a="http://schemas.openxmlformats.org/drawingml/2006/main">
              <a:ext uri="{FF2B5EF4-FFF2-40B4-BE49-F238E27FC236}">
                <a16:creationId xmlns:a16="http://schemas.microsoft.com/office/drawing/2014/main" id="{F9873527-BD09-4577-B3AE-4059125CECD9}"/>
              </a:ext>
            </a:extLst>
          </p:cNvPr>
          <p:cNvSpPr>
            <a:spLocks xmlns:a="http://schemas.openxmlformats.org/drawingml/2006/main" noGrp="1"/>
          </p:cNvSpPr>
          <p:nvPr/>
        </p:nvSpPr>
        <p:spPr>
          <a:xfrm xmlns:a="http://schemas.openxmlformats.org/drawingml/2006/main">
            <a:off x="685800" y="4867275"/>
            <a:ext cx="42672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5/9 with partial credit.</a:t>
            </a:r>
          </a:p>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0/3 fully correct photos.</a:t>
            </a:r>
          </a:p>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Official reference also 5/9.</a:t>
            </a:r>
          </a:p>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2/3 answers match exactly.</a:t>
            </a:r>
          </a:p>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Cause remains unassigned.</a:t>
            </a:r>
          </a:p>
        </p:txBody>
      </p:sp>
      <p:sp>
        <p:nvSpPr>
          <p:cNvPr id="7" name="">
            <a:extLst xmlns:a="http://schemas.openxmlformats.org/drawingml/2006/main">
              <a:ext uri="{FF2B5EF4-FFF2-40B4-BE49-F238E27FC236}">
                <a16:creationId xmlns:a16="http://schemas.microsoft.com/office/drawing/2014/main" id="{0720A37D-739F-492A-81C0-04F649E8F1FF}"/>
              </a:ext>
            </a:extLst>
          </p:cNvPr>
          <p:cNvSpPr>
            <a:spLocks xmlns:a="http://schemas.openxmlformats.org/drawingml/2006/main" noGrp="1"/>
          </p:cNvSpPr>
          <p:nvPr/>
        </p:nvSpPr>
        <p:spPr>
          <a:xfrm xmlns:a="http://schemas.openxmlformats.org/drawingml/2006/main">
            <a:off x="5410200" y="1552575"/>
            <a:ext cx="6096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46875"/>
                </a:solidFill>
                <a:latin typeface="Helvetica Neue"/>
                <a:ea typeface="Helvetica Neue"/>
                <a:cs typeface="Helvetica Neue"/>
              </a:defRPr>
            </a:pPr>
            <a:r>
              <a:rPr sz="3225" b="1">
                <a:solidFill>
                  <a:srgbClr val="146875"/>
                </a:solidFill>
                <a:latin typeface="Helvetica Neue"/>
                <a:ea typeface="Helvetica Neue"/>
                <a:cs typeface="Helvetica Neue"/>
              </a:rPr>
              <a:t>18 / 19 synthetic facts</a:t>
            </a:r>
          </a:p>
        </p:txBody>
      </p:sp>
      <p:sp>
        <p:nvSpPr>
          <p:cNvPr id="8" name="">
            <a:extLst xmlns:a="http://schemas.openxmlformats.org/drawingml/2006/main">
              <a:ext uri="{FF2B5EF4-FFF2-40B4-BE49-F238E27FC236}">
                <a16:creationId xmlns:a16="http://schemas.microsoft.com/office/drawing/2014/main" id="{593E1F3F-9831-4F59-8FC5-5BBCD496C665}"/>
              </a:ext>
            </a:extLst>
          </p:cNvPr>
          <p:cNvSpPr>
            <a:spLocks xmlns:a="http://schemas.openxmlformats.org/drawingml/2006/main" noGrp="1"/>
          </p:cNvSpPr>
          <p:nvPr/>
        </p:nvSpPr>
        <p:spPr>
          <a:xfrm xmlns:a="http://schemas.openxmlformats.org/drawingml/2006/main">
            <a:off x="5410200" y="2457450"/>
            <a:ext cx="609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Strict screen: Fail</a:t>
            </a:r>
          </a:p>
          <a:p xmlns:a="http://schemas.openxmlformats.org/drawingml/2006/main">
            <a:pPr>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Reference equivalence: Accepted</a:t>
            </a:r>
          </a:p>
        </p:txBody>
      </p:sp>
      <p:sp>
        <p:nvSpPr>
          <p:cNvPr id="9" name="">
            <a:extLst xmlns:a="http://schemas.openxmlformats.org/drawingml/2006/main">
              <a:ext uri="{FF2B5EF4-FFF2-40B4-BE49-F238E27FC236}">
                <a16:creationId xmlns:a16="http://schemas.microsoft.com/office/drawing/2014/main" id="{56DC7DC9-39B8-4C82-AB1A-0F48D236D07D}"/>
              </a:ext>
            </a:extLst>
          </p:cNvPr>
          <p:cNvSpPr>
            <a:spLocks xmlns:a="http://schemas.openxmlformats.org/drawingml/2006/main" noGrp="1"/>
          </p:cNvSpPr>
          <p:nvPr/>
        </p:nvSpPr>
        <p:spPr>
          <a:xfrm xmlns:a="http://schemas.openxmlformats.org/drawingml/2006/main">
            <a:off x="5410200" y="3533775"/>
            <a:ext cx="609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83542"/>
                </a:solidFill>
                <a:latin typeface="Helvetica Neue"/>
                <a:ea typeface="Helvetica Neue"/>
                <a:cs typeface="Helvetica Neue"/>
              </a:defRPr>
            </a:pPr>
            <a:r>
              <a:rPr sz="2325" b="1">
                <a:solidFill>
                  <a:srgbClr val="183542"/>
                </a:solidFill>
                <a:latin typeface="Helvetica Neue"/>
                <a:ea typeface="Helvetica Neue"/>
                <a:cs typeface="Helvetica Neue"/>
              </a:rPr>
              <a:t>Both paths describe the flat circles as spheres.</a:t>
            </a:r>
          </a:p>
        </p:txBody>
      </p:sp>
      <p:sp>
        <p:nvSpPr>
          <p:cNvPr id="10" name="">
            <a:extLst xmlns:a="http://schemas.openxmlformats.org/drawingml/2006/main">
              <a:ext uri="{FF2B5EF4-FFF2-40B4-BE49-F238E27FC236}">
                <a16:creationId xmlns:a16="http://schemas.microsoft.com/office/drawing/2014/main" id="{B9A0A9BC-A8B6-4658-B289-676657F0CB71}"/>
              </a:ext>
            </a:extLst>
          </p:cNvPr>
          <p:cNvSpPr>
            <a:spLocks xmlns:a="http://schemas.openxmlformats.org/drawingml/2006/main" noGrp="1"/>
          </p:cNvSpPr>
          <p:nvPr/>
        </p:nvSpPr>
        <p:spPr>
          <a:xfrm xmlns:a="http://schemas.openxmlformats.org/drawingml/2006/main">
            <a:off x="5410200" y="4476750"/>
            <a:ext cx="6096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66773"/>
                </a:solidFill>
                <a:latin typeface="Helvetica Neue"/>
                <a:ea typeface="Helvetica Neue"/>
                <a:cs typeface="Helvetica Neue"/>
              </a:defRPr>
            </a:pPr>
            <a:r>
              <a:rPr sz="1950" b="0">
                <a:solidFill>
                  <a:srgbClr val="566773"/>
                </a:solidFill>
                <a:latin typeface="Helvetica Neue"/>
                <a:ea typeface="Helvetica Neue"/>
                <a:cs typeface="Helvetica Neue"/>
              </a:rPr>
              <a:t>Official answer identical: Yes</a:t>
            </a:r>
          </a:p>
          <a:p xmlns:a="http://schemas.openxmlformats.org/drawingml/2006/main">
            <a:pPr>
              <a:defRPr sz="1950" b="0">
                <a:solidFill>
                  <a:srgbClr val="566773"/>
                </a:solidFill>
                <a:latin typeface="Helvetica Neue"/>
                <a:ea typeface="Helvetica Neue"/>
                <a:cs typeface="Helvetica Neue"/>
              </a:defRPr>
            </a:pPr>
            <a:r>
              <a:rPr sz="1950" b="0">
                <a:solidFill>
                  <a:srgbClr val="566773"/>
                </a:solidFill>
                <a:latin typeface="Helvetica Neue"/>
                <a:ea typeface="Helvetica Neue"/>
                <a:cs typeface="Helvetica Neue"/>
              </a:rPr>
              <a:t>All previously correct facts must remain correct. No additional false claim is permitted.</a:t>
            </a:r>
          </a:p>
        </p:txBody>
      </p:sp>
    </p:spTree>
    <p:extLst>
      <p:ext uri="{BB962C8B-B14F-4D97-AF65-F5344CB8AC3E}">
        <p14:creationId xmlns:p14="http://schemas.microsoft.com/office/powerpoint/2010/main" val="11131135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D3C09E4-86DF-4E78-84E7-3B396CA9F3A8}"/>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Measurement workload and stopping rule</a:t>
            </a:r>
          </a:p>
        </p:txBody>
      </p:sp>
      <p:sp>
        <p:nvSpPr>
          <p:cNvPr id="2" name="">
            <a:extLst xmlns:a="http://schemas.openxmlformats.org/drawingml/2006/main">
              <a:ext uri="{FF2B5EF4-FFF2-40B4-BE49-F238E27FC236}">
                <a16:creationId xmlns:a16="http://schemas.microsoft.com/office/drawing/2014/main" id="{C1F95C00-F2C8-4BC9-AB2C-CC3E0576F2C2}"/>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459F9FD5-3802-4CF5-9EF8-FCBD77128332}"/>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C3EC7A41-9C9A-4ABC-B76D-29CA68FE6FE6}"/>
              </a:ext>
            </a:extLst>
          </p:cNvPr>
          <p:cNvSpPr>
            <a:spLocks xmlns:a="http://schemas.openxmlformats.org/drawingml/2006/main" noGrp="1"/>
          </p:cNvSpPr>
          <p:nvPr/>
        </p:nvSpPr>
        <p:spPr>
          <a:xfrm xmlns:a="http://schemas.openxmlformats.org/drawingml/2006/main">
            <a:off x="685800" y="1619250"/>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Fixed workload</a:t>
            </a:r>
          </a:p>
        </p:txBody>
      </p:sp>
      <p:sp>
        <p:nvSpPr>
          <p:cNvPr id="5" name="">
            <a:extLst xmlns:a="http://schemas.openxmlformats.org/drawingml/2006/main">
              <a:ext uri="{FF2B5EF4-FFF2-40B4-BE49-F238E27FC236}">
                <a16:creationId xmlns:a16="http://schemas.microsoft.com/office/drawing/2014/main" id="{3ABC49B2-3690-47FD-BB37-874901C112C8}"/>
              </a:ext>
            </a:extLst>
          </p:cNvPr>
          <p:cNvSpPr>
            <a:spLocks xmlns:a="http://schemas.openxmlformats.org/drawingml/2006/main" noGrp="1"/>
          </p:cNvSpPr>
          <p:nvPr/>
        </p:nvSpPr>
        <p:spPr>
          <a:xfrm xmlns:a="http://schemas.openxmlformats.org/drawingml/2006/main">
            <a:off x="685800" y="2114550"/>
            <a:ext cx="50958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512 × 512 JPEG</a:t>
            </a:r>
          </a:p>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Output ceiling: 64 tokens</a:t>
            </a:r>
          </a:p>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Temperature 0, top_p 1</a:t>
            </a:r>
          </a:p>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5 warmups, 30 measured requests</a:t>
            </a:r>
          </a:p>
        </p:txBody>
      </p:sp>
      <p:sp>
        <p:nvSpPr>
          <p:cNvPr id="6" name="">
            <a:extLst xmlns:a="http://schemas.openxmlformats.org/drawingml/2006/main">
              <a:ext uri="{FF2B5EF4-FFF2-40B4-BE49-F238E27FC236}">
                <a16:creationId xmlns:a16="http://schemas.microsoft.com/office/drawing/2014/main" id="{9D3FE229-C572-4C2D-9BAE-71DE2F5433E8}"/>
              </a:ext>
            </a:extLst>
          </p:cNvPr>
          <p:cNvSpPr>
            <a:spLocks xmlns:a="http://schemas.openxmlformats.org/drawingml/2006/main" noGrp="1"/>
          </p:cNvSpPr>
          <p:nvPr/>
        </p:nvSpPr>
        <p:spPr>
          <a:xfrm xmlns:a="http://schemas.openxmlformats.org/drawingml/2006/main">
            <a:off x="6486525" y="1619250"/>
            <a:ext cx="5019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Baseline runtime profile</a:t>
            </a:r>
          </a:p>
        </p:txBody>
      </p:sp>
      <p:sp>
        <p:nvSpPr>
          <p:cNvPr id="7" name="">
            <a:extLst xmlns:a="http://schemas.openxmlformats.org/drawingml/2006/main">
              <a:ext uri="{FF2B5EF4-FFF2-40B4-BE49-F238E27FC236}">
                <a16:creationId xmlns:a16="http://schemas.microsoft.com/office/drawing/2014/main" id="{48974ABD-1ACD-4464-A9DC-7B44CE9035B1}"/>
              </a:ext>
            </a:extLst>
          </p:cNvPr>
          <p:cNvSpPr>
            <a:spLocks xmlns:a="http://schemas.openxmlformats.org/drawingml/2006/main" noGrp="1"/>
          </p:cNvSpPr>
          <p:nvPr/>
        </p:nvSpPr>
        <p:spPr>
          <a:xfrm xmlns:a="http://schemas.openxmlformats.org/drawingml/2006/main">
            <a:off x="6486525" y="2114550"/>
            <a:ext cx="50196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Input 1024, KV 2048, batch 1</a:t>
            </a:r>
          </a:p>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Encoder cache: 0 bytes</a:t>
            </a:r>
          </a:p>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Text context reuse: Off</a:t>
            </a:r>
          </a:p>
        </p:txBody>
      </p:sp>
      <p:sp>
        <p:nvSpPr>
          <p:cNvPr id="8" name="">
            <a:extLst xmlns:a="http://schemas.openxmlformats.org/drawingml/2006/main">
              <a:ext uri="{FF2B5EF4-FFF2-40B4-BE49-F238E27FC236}">
                <a16:creationId xmlns:a16="http://schemas.microsoft.com/office/drawing/2014/main" id="{20D124F7-8B20-4EA2-A6BF-853D84B0B148}"/>
              </a:ext>
            </a:extLst>
          </p:cNvPr>
          <p:cNvSpPr>
            <a:spLocks xmlns:a="http://schemas.openxmlformats.org/drawingml/2006/main" noGrp="1"/>
          </p:cNvSpPr>
          <p:nvPr/>
        </p:nvSpPr>
        <p:spPr>
          <a:xfrm xmlns:a="http://schemas.openxmlformats.org/drawingml/2006/main">
            <a:off x="685800" y="41719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46875"/>
                </a:solidFill>
                <a:latin typeface="Helvetica Neue"/>
                <a:ea typeface="Helvetica Neue"/>
                <a:cs typeface="Helvetica Neue"/>
              </a:defRPr>
            </a:pPr>
            <a:r>
              <a:rPr sz="2325" b="1">
                <a:solidFill>
                  <a:srgbClr val="146875"/>
                </a:solidFill>
                <a:latin typeface="Helvetica Neue"/>
                <a:ea typeface="Helvetica Neue"/>
                <a:cs typeface="Helvetica Neue"/>
              </a:rPr>
              <a:t>At most 5 candidates. Stop after 3 consecutive non-improvements.</a:t>
            </a:r>
          </a:p>
        </p:txBody>
      </p:sp>
      <p:sp>
        <p:nvSpPr>
          <p:cNvPr id="9" name="">
            <a:extLst xmlns:a="http://schemas.openxmlformats.org/drawingml/2006/main">
              <a:ext uri="{FF2B5EF4-FFF2-40B4-BE49-F238E27FC236}">
                <a16:creationId xmlns:a16="http://schemas.microsoft.com/office/drawing/2014/main" id="{E93AA63B-C5E8-41B2-B2F0-125E5E0885FF}"/>
              </a:ext>
            </a:extLst>
          </p:cNvPr>
          <p:cNvSpPr>
            <a:spLocks xmlns:a="http://schemas.openxmlformats.org/drawingml/2006/main" noGrp="1"/>
          </p:cNvSpPr>
          <p:nvPr/>
        </p:nvSpPr>
        <p:spPr>
          <a:xfrm xmlns:a="http://schemas.openxmlformats.org/drawingml/2006/main">
            <a:off x="685800" y="5038725"/>
            <a:ext cx="108204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Require at least 5% lower p50 latency or peak memory, with no greater than 5% regression in the counterpart or p95 latency. Reject errors, OOM and swapping.</a:t>
            </a:r>
          </a:p>
        </p:txBody>
      </p:sp>
    </p:spTree>
    <p:extLst>
      <p:ext uri="{BB962C8B-B14F-4D97-AF65-F5344CB8AC3E}">
        <p14:creationId xmlns:p14="http://schemas.microsoft.com/office/powerpoint/2010/main" val="10860071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04E809-7910-4941-A609-624D6DB5D399}"/>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Measured FP16 baseline</a:t>
            </a:r>
          </a:p>
        </p:txBody>
      </p:sp>
      <p:sp>
        <p:nvSpPr>
          <p:cNvPr id="2" name="">
            <a:extLst xmlns:a="http://schemas.openxmlformats.org/drawingml/2006/main">
              <a:ext uri="{FF2B5EF4-FFF2-40B4-BE49-F238E27FC236}">
                <a16:creationId xmlns:a16="http://schemas.microsoft.com/office/drawing/2014/main" id="{6E556F45-B833-4C69-93AE-924BCB7BDCD5}"/>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3B189BBF-977F-4258-937C-90F519A3A6C5}"/>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8</a:t>
            </a:r>
          </a:p>
        </p:txBody>
      </p:sp>
      <p:graphicFrame>
        <p:nvGraphicFramePr>
          <p:cNvPr id="12" name=""/>
          <p:cNvGraphicFramePr/>
          <p:nvPr/>
        </p:nvGraphicFramePr>
        <p:xfrm>
          <a:off xmlns:a="http://schemas.openxmlformats.org/drawingml/2006/main" x="685800" y="1571625"/>
          <a:ext xmlns:a="http://schemas.openxmlformats.org/drawingml/2006/main" cx="7867650" cy="2171700"/>
        </p:xfrm>
        <a:graphic xmlns:a="http://schemas.openxmlformats.org/drawingml/2006/main">
          <a:graphicData uri="http://schemas.openxmlformats.org/drawingml/2006/table">
            <a:tbl>
              <a:tblPr firstRow="1" bandRow="0"/>
              <a:tblGrid>
                <a:gridCol w="3429000"/>
                <a:gridCol w="2219325"/>
                <a:gridCol w="2219325"/>
              </a:tblGrid>
              <a:tr h="723900">
                <a:tc>
                  <a:txBody>
                    <a:bodyPr/>
                    <a:lstStyle/>
                    <a:p>
                      <a:r>
                        <a:rPr sz="2025" b="1">
                          <a:solidFill>
                            <a:srgbClr val="183542"/>
                          </a:solidFill>
                          <a:latin typeface="Helvetica Neue"/>
                          <a:ea typeface="Helvetica Neue"/>
                          <a:cs typeface="Helvetica Neue"/>
                        </a:rPr>
                        <a:t>Latency</a:t>
                      </a:r>
                    </a:p>
                  </a:txBody>
                  <a:tcPr marL="142875" marR="142875" marT="85725" marB="85725" anchor="ctr">
                    <a:solidFill>
                      <a:srgbClr val="E8F0F1"/>
                    </a:solidFill>
                  </a:tcPr>
                </a:tc>
                <a:tc>
                  <a:txBody>
                    <a:bodyPr/>
                    <a:lstStyle/>
                    <a:p>
                      <a:r>
                        <a:rPr sz="2025" b="1">
                          <a:solidFill>
                            <a:srgbClr val="183542"/>
                          </a:solidFill>
                          <a:latin typeface="Helvetica Neue"/>
                          <a:ea typeface="Helvetica Neue"/>
                          <a:cs typeface="Helvetica Neue"/>
                        </a:rPr>
                        <a:t>p50</a:t>
                      </a:r>
                    </a:p>
                  </a:txBody>
                  <a:tcPr marL="142875" marR="142875" marT="85725" marB="85725" anchor="ctr">
                    <a:solidFill>
                      <a:srgbClr val="E8F0F1"/>
                    </a:solidFill>
                  </a:tcPr>
                </a:tc>
                <a:tc>
                  <a:txBody>
                    <a:bodyPr/>
                    <a:lstStyle/>
                    <a:p>
                      <a:r>
                        <a:rPr sz="2025" b="1">
                          <a:solidFill>
                            <a:srgbClr val="183542"/>
                          </a:solidFill>
                          <a:latin typeface="Helvetica Neue"/>
                          <a:ea typeface="Helvetica Neue"/>
                          <a:cs typeface="Helvetica Neue"/>
                        </a:rPr>
                        <a:t>p95</a:t>
                      </a:r>
                    </a:p>
                  </a:txBody>
                  <a:tcPr marL="142875" marR="142875" marT="85725" marB="85725" anchor="ctr">
                    <a:solidFill>
                      <a:srgbClr val="E8F0F1"/>
                    </a:solidFill>
                  </a:tcPr>
                </a:tc>
              </a:tr>
              <a:tr h="723900">
                <a:tc>
                  <a:txBody>
                    <a:bodyPr/>
                    <a:lstStyle/>
                    <a:p>
                      <a:r>
                        <a:rPr sz="2025">
                          <a:solidFill>
                            <a:srgbClr val="183542"/>
                          </a:solidFill>
                          <a:latin typeface="Helvetica Neue"/>
                          <a:ea typeface="Helvetica Neue"/>
                          <a:cs typeface="Helvetica Neue"/>
                        </a:rPr>
                        <a:t>First visible text</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266.3 ms</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271.7 ms</a:t>
                      </a:r>
                    </a:p>
                  </a:txBody>
                  <a:tcPr marL="142875" marR="142875" marT="85725" marB="85725" anchor="ctr">
                    <a:solidFill>
                      <a:srgbClr val="FFFFFF"/>
                    </a:solidFill>
                  </a:tcPr>
                </a:tc>
              </a:tr>
              <a:tr h="723900">
                <a:tc>
                  <a:txBody>
                    <a:bodyPr/>
                    <a:lstStyle/>
                    <a:p>
                      <a:r>
                        <a:rPr sz="2025">
                          <a:solidFill>
                            <a:srgbClr val="183542"/>
                          </a:solidFill>
                          <a:latin typeface="Helvetica Neue"/>
                          <a:ea typeface="Helvetica Neue"/>
                          <a:cs typeface="Helvetica Neue"/>
                        </a:rPr>
                        <a:t>Complete answer</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1830.4 ms</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1834.9 ms</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D22F9C9-2E12-4A1F-9F90-EF7852221820}"/>
              </a:ext>
            </a:extLst>
          </p:cNvPr>
          <p:cNvSpPr>
            <a:spLocks xmlns:a="http://schemas.openxmlformats.org/drawingml/2006/main" noGrp="1"/>
          </p:cNvSpPr>
          <p:nvPr/>
        </p:nvSpPr>
        <p:spPr>
          <a:xfrm xmlns:a="http://schemas.openxmlformats.org/drawingml/2006/main">
            <a:off x="9039225" y="1666875"/>
            <a:ext cx="2466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146875"/>
                </a:solidFill>
                <a:latin typeface="Helvetica Neue"/>
                <a:ea typeface="Helvetica Neue"/>
                <a:cs typeface="Helvetica Neue"/>
              </a:defRPr>
            </a:pPr>
            <a:r>
              <a:rPr sz="2775" b="1">
                <a:solidFill>
                  <a:srgbClr val="146875"/>
                </a:solidFill>
                <a:latin typeface="Helvetica Neue"/>
                <a:ea typeface="Helvetica Neue"/>
                <a:cs typeface="Helvetica Neue"/>
              </a:rPr>
              <a:t>20.21 tokens/s</a:t>
            </a:r>
          </a:p>
        </p:txBody>
      </p:sp>
      <p:sp>
        <p:nvSpPr>
          <p:cNvPr id="6" name="">
            <a:extLst xmlns:a="http://schemas.openxmlformats.org/drawingml/2006/main">
              <a:ext uri="{FF2B5EF4-FFF2-40B4-BE49-F238E27FC236}">
                <a16:creationId xmlns:a16="http://schemas.microsoft.com/office/drawing/2014/main" id="{F1442F18-0183-425F-9203-A78D30D40D95}"/>
              </a:ext>
            </a:extLst>
          </p:cNvPr>
          <p:cNvSpPr>
            <a:spLocks xmlns:a="http://schemas.openxmlformats.org/drawingml/2006/main" noGrp="1"/>
          </p:cNvSpPr>
          <p:nvPr/>
        </p:nvSpPr>
        <p:spPr>
          <a:xfrm xmlns:a="http://schemas.openxmlformats.org/drawingml/2006/main">
            <a:off x="9039225" y="2495550"/>
            <a:ext cx="24669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End-to-end throughput</a:t>
            </a:r>
          </a:p>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37 completion tokens</a:t>
            </a:r>
          </a:p>
        </p:txBody>
      </p:sp>
      <p:sp>
        <p:nvSpPr>
          <p:cNvPr id="7" name="">
            <a:extLst xmlns:a="http://schemas.openxmlformats.org/drawingml/2006/main">
              <a:ext uri="{FF2B5EF4-FFF2-40B4-BE49-F238E27FC236}">
                <a16:creationId xmlns:a16="http://schemas.microsoft.com/office/drawing/2014/main" id="{AE827B21-3972-4ACF-AD2A-ADA8E3CFA795}"/>
              </a:ext>
            </a:extLst>
          </p:cNvPr>
          <p:cNvSpPr>
            <a:spLocks xmlns:a="http://schemas.openxmlformats.org/drawingml/2006/main" noGrp="1"/>
          </p:cNvSpPr>
          <p:nvPr/>
        </p:nvSpPr>
        <p:spPr>
          <a:xfrm xmlns:a="http://schemas.openxmlformats.org/drawingml/2006/main">
            <a:off x="685800" y="428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0">
                <a:solidFill>
                  <a:srgbClr val="146875"/>
                </a:solidFill>
                <a:latin typeface="Helvetica Neue"/>
                <a:ea typeface="Helvetica Neue"/>
                <a:cs typeface="Helvetica Neue"/>
              </a:defRPr>
            </a:pPr>
            <a:r>
              <a:rPr sz="2325" b="0">
                <a:solidFill>
                  <a:srgbClr val="146875"/>
                </a:solidFill>
                <a:latin typeface="Helvetica Neue"/>
                <a:ea typeface="Helvetica Neue"/>
                <a:cs typeface="Helvetica Neue"/>
              </a:rPr>
              <a:t>Shared RAM unavailable peak: 6.38 GiB</a:t>
            </a:r>
          </a:p>
          <a:p xmlns:a="http://schemas.openxmlformats.org/drawingml/2006/main">
            <a:pPr>
              <a:defRPr sz="2325" b="0">
                <a:solidFill>
                  <a:srgbClr val="146875"/>
                </a:solidFill>
                <a:latin typeface="Helvetica Neue"/>
                <a:ea typeface="Helvetica Neue"/>
                <a:cs typeface="Helvetica Neue"/>
              </a:defRPr>
            </a:pPr>
            <a:r>
              <a:rPr sz="2325" b="0">
                <a:solidFill>
                  <a:srgbClr val="146875"/>
                </a:solidFill>
                <a:latin typeface="Helvetica Neue"/>
                <a:ea typeface="Helvetica Neue"/>
                <a:cs typeface="Helvetica Neue"/>
              </a:rPr>
              <a:t>Process RSS peak: 5.90 GiB</a:t>
            </a:r>
          </a:p>
        </p:txBody>
      </p:sp>
      <p:sp>
        <p:nvSpPr>
          <p:cNvPr id="8" name="">
            <a:extLst xmlns:a="http://schemas.openxmlformats.org/drawingml/2006/main">
              <a:ext uri="{FF2B5EF4-FFF2-40B4-BE49-F238E27FC236}">
                <a16:creationId xmlns:a16="http://schemas.microsoft.com/office/drawing/2014/main" id="{A6B3168F-72A3-4326-9A44-24FE48AD1B22}"/>
              </a:ext>
            </a:extLst>
          </p:cNvPr>
          <p:cNvSpPr>
            <a:spLocks xmlns:a="http://schemas.openxmlformats.org/drawingml/2006/main" noGrp="1"/>
          </p:cNvSpPr>
          <p:nvPr/>
        </p:nvSpPr>
        <p:spPr>
          <a:xfrm xmlns:a="http://schemas.openxmlformats.org/drawingml/2006/main">
            <a:off x="685800" y="564832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566773"/>
                </a:solidFill>
                <a:latin typeface="Helvetica Neue"/>
                <a:ea typeface="Helvetica Neue"/>
                <a:cs typeface="Helvetica Neue"/>
              </a:defRPr>
            </a:pPr>
            <a:r>
              <a:rPr sz="2025" b="0">
                <a:solidFill>
                  <a:srgbClr val="566773"/>
                </a:solidFill>
                <a:latin typeface="Helvetica Neue"/>
                <a:ea typeface="Helvetica Neue"/>
                <a:cs typeface="Helvetica Neue"/>
              </a:rPr>
              <a:t>Errors: 0    OOM: No    Swap activity: No</a:t>
            </a:r>
          </a:p>
        </p:txBody>
      </p:sp>
    </p:spTree>
    <p:extLst>
      <p:ext uri="{BB962C8B-B14F-4D97-AF65-F5344CB8AC3E}">
        <p14:creationId xmlns:p14="http://schemas.microsoft.com/office/powerpoint/2010/main" val="1209242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121B79C-6827-454D-9A26-D5F0CFCCFBFF}"/>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Original CPU INT4 conversion</a:t>
            </a:r>
          </a:p>
        </p:txBody>
      </p:sp>
      <p:sp>
        <p:nvSpPr>
          <p:cNvPr id="2" name="">
            <a:extLst xmlns:a="http://schemas.openxmlformats.org/drawingml/2006/main">
              <a:ext uri="{FF2B5EF4-FFF2-40B4-BE49-F238E27FC236}">
                <a16:creationId xmlns:a16="http://schemas.microsoft.com/office/drawing/2014/main" id="{EAA39F37-7C29-4032-BC25-7850F00D66AB}"/>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17C137D3-80AF-40BC-AE1C-1DBA07643F70}"/>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9</a:t>
            </a:r>
          </a:p>
        </p:txBody>
      </p:sp>
      <p:sp>
        <p:nvSpPr>
          <p:cNvPr id="4" name="">
            <a:extLst xmlns:a="http://schemas.openxmlformats.org/drawingml/2006/main">
              <a:ext uri="{FF2B5EF4-FFF2-40B4-BE49-F238E27FC236}">
                <a16:creationId xmlns:a16="http://schemas.microsoft.com/office/drawing/2014/main" id="{22238414-EB6B-401C-B9C4-E09D2C5CB438}"/>
              </a:ext>
            </a:extLst>
          </p:cNvPr>
          <p:cNvSpPr>
            <a:spLocks xmlns:a="http://schemas.openxmlformats.org/drawingml/2006/main" noGrp="1"/>
          </p:cNvSpPr>
          <p:nvPr/>
        </p:nvSpPr>
        <p:spPr>
          <a:xfrm xmlns:a="http://schemas.openxmlformats.org/drawingml/2006/main">
            <a:off x="685800" y="1533525"/>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350" b="1">
                <a:solidFill>
                  <a:srgbClr val="146875"/>
                </a:solidFill>
                <a:latin typeface="Helvetica Neue"/>
                <a:ea typeface="Helvetica Neue"/>
                <a:cs typeface="Helvetica Neue"/>
              </a:defRPr>
            </a:pPr>
            <a:r>
              <a:rPr sz="4350" b="1">
                <a:solidFill>
                  <a:srgbClr val="146875"/>
                </a:solidFill>
                <a:latin typeface="Helvetica Neue"/>
                <a:ea typeface="Helvetica Neue"/>
                <a:cs typeface="Helvetica Neue"/>
              </a:rPr>
              <a:t>2.22 GiB</a:t>
            </a:r>
          </a:p>
        </p:txBody>
      </p:sp>
      <p:sp>
        <p:nvSpPr>
          <p:cNvPr id="5" name="">
            <a:extLst xmlns:a="http://schemas.openxmlformats.org/drawingml/2006/main">
              <a:ext uri="{FF2B5EF4-FFF2-40B4-BE49-F238E27FC236}">
                <a16:creationId xmlns:a16="http://schemas.microsoft.com/office/drawing/2014/main" id="{DA0C7851-43BF-46B0-9CD7-C64FA1AEEF08}"/>
              </a:ext>
            </a:extLst>
          </p:cNvPr>
          <p:cNvSpPr>
            <a:spLocks xmlns:a="http://schemas.openxmlformats.org/drawingml/2006/main" noGrp="1"/>
          </p:cNvSpPr>
          <p:nvPr/>
        </p:nvSpPr>
        <p:spPr>
          <a:xfrm xmlns:a="http://schemas.openxmlformats.org/drawingml/2006/main">
            <a:off x="685800" y="2476500"/>
            <a:ext cx="4905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566773"/>
                </a:solidFill>
                <a:latin typeface="Helvetica Neue"/>
                <a:ea typeface="Helvetica Neue"/>
                <a:cs typeface="Helvetica Neue"/>
              </a:defRPr>
            </a:pPr>
            <a:r>
              <a:rPr sz="2175" b="0">
                <a:solidFill>
                  <a:srgbClr val="566773"/>
                </a:solidFill>
                <a:latin typeface="Helvetica Neue"/>
                <a:ea typeface="Helvetica Neue"/>
                <a:cs typeface="Helvetica Neue"/>
              </a:rPr>
              <a:t>Checkpoint file on disk</a:t>
            </a:r>
          </a:p>
        </p:txBody>
      </p:sp>
      <p:sp>
        <p:nvSpPr>
          <p:cNvPr id="6" name="">
            <a:extLst xmlns:a="http://schemas.openxmlformats.org/drawingml/2006/main">
              <a:ext uri="{FF2B5EF4-FFF2-40B4-BE49-F238E27FC236}">
                <a16:creationId xmlns:a16="http://schemas.microsoft.com/office/drawing/2014/main" id="{FD4E45A9-66E4-41CB-9C74-BE5A5A8CA569}"/>
              </a:ext>
            </a:extLst>
          </p:cNvPr>
          <p:cNvSpPr>
            <a:spLocks xmlns:a="http://schemas.openxmlformats.org/drawingml/2006/main" noGrp="1"/>
          </p:cNvSpPr>
          <p:nvPr/>
        </p:nvSpPr>
        <p:spPr>
          <a:xfrm xmlns:a="http://schemas.openxmlformats.org/drawingml/2006/main">
            <a:off x="685800" y="3381375"/>
            <a:ext cx="49530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169 language linear modules</a:t>
            </a:r>
          </a:p>
          <a:p xmlns:a="http://schemas.openxmlformats.org/drawingml/2006/main">
            <a:pPr>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Group size 128</a:t>
            </a:r>
          </a:p>
          <a:p xmlns:a="http://schemas.openxmlformats.org/drawingml/2006/main">
            <a:pPr>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Native INT4 V1 kernels</a:t>
            </a:r>
          </a:p>
        </p:txBody>
      </p:sp>
      <p:sp>
        <p:nvSpPr>
          <p:cNvPr id="7" name="">
            <a:extLst xmlns:a="http://schemas.openxmlformats.org/drawingml/2006/main">
              <a:ext uri="{FF2B5EF4-FFF2-40B4-BE49-F238E27FC236}">
                <a16:creationId xmlns:a16="http://schemas.microsoft.com/office/drawing/2014/main" id="{571780E1-23D9-496C-B377-53A76CD59798}"/>
              </a:ext>
            </a:extLst>
          </p:cNvPr>
          <p:cNvSpPr>
            <a:spLocks xmlns:a="http://schemas.openxmlformats.org/drawingml/2006/main" noGrp="1"/>
          </p:cNvSpPr>
          <p:nvPr/>
        </p:nvSpPr>
        <p:spPr>
          <a:xfrm xmlns:a="http://schemas.openxmlformats.org/drawingml/2006/main">
            <a:off x="6467475" y="1619250"/>
            <a:ext cx="5038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First trial: all language linears</a:t>
            </a:r>
          </a:p>
        </p:txBody>
      </p:sp>
      <p:sp>
        <p:nvSpPr>
          <p:cNvPr id="8" name="">
            <a:extLst xmlns:a="http://schemas.openxmlformats.org/drawingml/2006/main">
              <a:ext uri="{FF2B5EF4-FFF2-40B4-BE49-F238E27FC236}">
                <a16:creationId xmlns:a16="http://schemas.microsoft.com/office/drawing/2014/main" id="{C6766135-00BD-46FF-A17C-BE6F2829001B}"/>
              </a:ext>
            </a:extLst>
          </p:cNvPr>
          <p:cNvSpPr>
            <a:spLocks xmlns:a="http://schemas.openxmlformats.org/drawingml/2006/main" noGrp="1"/>
          </p:cNvSpPr>
          <p:nvPr/>
        </p:nvSpPr>
        <p:spPr>
          <a:xfrm xmlns:a="http://schemas.openxmlformats.org/drawingml/2006/main">
            <a:off x="6467475" y="2114550"/>
            <a:ext cx="503872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Uncalibrated RTN quantizes language linear weights and the LM head. Vision, projector and embedding tensors stay FP16.</a:t>
            </a:r>
          </a:p>
        </p:txBody>
      </p:sp>
      <p:sp>
        <p:nvSpPr>
          <p:cNvPr id="9" name="">
            <a:extLst xmlns:a="http://schemas.openxmlformats.org/drawingml/2006/main">
              <a:ext uri="{FF2B5EF4-FFF2-40B4-BE49-F238E27FC236}">
                <a16:creationId xmlns:a16="http://schemas.microsoft.com/office/drawing/2014/main" id="{9ED1E4C4-7F01-4300-A1D6-8440007E2BD9}"/>
              </a:ext>
            </a:extLst>
          </p:cNvPr>
          <p:cNvSpPr>
            <a:spLocks xmlns:a="http://schemas.openxmlformats.org/drawingml/2006/main" noGrp="1"/>
          </p:cNvSpPr>
          <p:nvPr/>
        </p:nvSpPr>
        <p:spPr>
          <a:xfrm xmlns:a="http://schemas.openxmlformats.org/drawingml/2006/main">
            <a:off x="6467475" y="3981450"/>
            <a:ext cx="5038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GPTQ-compatible storage</a:t>
            </a:r>
          </a:p>
        </p:txBody>
      </p:sp>
      <p:sp>
        <p:nvSpPr>
          <p:cNvPr id="10" name="">
            <a:extLst xmlns:a="http://schemas.openxmlformats.org/drawingml/2006/main">
              <a:ext uri="{FF2B5EF4-FFF2-40B4-BE49-F238E27FC236}">
                <a16:creationId xmlns:a16="http://schemas.microsoft.com/office/drawing/2014/main" id="{B174B701-BC79-42FF-8F81-5836309C5583}"/>
              </a:ext>
            </a:extLst>
          </p:cNvPr>
          <p:cNvSpPr>
            <a:spLocks xmlns:a="http://schemas.openxmlformats.org/drawingml/2006/main" noGrp="1"/>
          </p:cNvSpPr>
          <p:nvPr/>
        </p:nvSpPr>
        <p:spPr>
          <a:xfrm xmlns:a="http://schemas.openxmlformats.org/drawingml/2006/main">
            <a:off x="6467475" y="4476750"/>
            <a:ext cx="503872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The storage layout lets the pinned builder load RTN values. It makes no claim of GPTQ or AWQ optimization.</a:t>
            </a:r>
          </a:p>
        </p:txBody>
      </p:sp>
      <p:sp>
        <p:nvSpPr>
          <p:cNvPr id="11" name="">
            <a:extLst xmlns:a="http://schemas.openxmlformats.org/drawingml/2006/main">
              <a:ext uri="{FF2B5EF4-FFF2-40B4-BE49-F238E27FC236}">
                <a16:creationId xmlns:a16="http://schemas.microsoft.com/office/drawing/2014/main" id="{9B98B421-7EB6-48B1-BEED-4DBE8A4A6677}"/>
              </a:ext>
            </a:extLst>
          </p:cNvPr>
          <p:cNvSpPr>
            <a:spLocks xmlns:a="http://schemas.openxmlformats.org/drawingml/2006/main" noGrp="1"/>
          </p:cNvSpPr>
          <p:nvPr/>
        </p:nvSpPr>
        <p:spPr>
          <a:xfrm xmlns:a="http://schemas.openxmlformats.org/drawingml/2006/main">
            <a:off x="685800" y="59531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Checkpoint size is distinct from measured resident RAM, allocation and latency.</a:t>
            </a:r>
          </a:p>
        </p:txBody>
      </p:sp>
    </p:spTree>
    <p:extLst>
      <p:ext uri="{BB962C8B-B14F-4D97-AF65-F5344CB8AC3E}">
        <p14:creationId xmlns:p14="http://schemas.microsoft.com/office/powerpoint/2010/main" val="209691301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EEDAB8-66B9-42EA-BDF6-141E467F36AB}"/>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Baseline, first INT4 trial and selection</a:t>
            </a:r>
          </a:p>
        </p:txBody>
      </p:sp>
      <p:sp>
        <p:nvSpPr>
          <p:cNvPr id="2" name="">
            <a:extLst xmlns:a="http://schemas.openxmlformats.org/drawingml/2006/main">
              <a:ext uri="{FF2B5EF4-FFF2-40B4-BE49-F238E27FC236}">
                <a16:creationId xmlns:a16="http://schemas.microsoft.com/office/drawing/2014/main" id="{3F48BBFF-E33F-405B-8B56-2905CF7ACAC7}"/>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6F659732-ABE8-4AE7-832E-E917E0F9BF3F}"/>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10</a:t>
            </a:r>
          </a:p>
        </p:txBody>
      </p:sp>
      <p:graphicFrame>
        <p:nvGraphicFramePr>
          <p:cNvPr id="10" name=""/>
          <p:cNvGraphicFramePr/>
          <p:nvPr/>
        </p:nvGraphicFramePr>
        <p:xfrm>
          <a:off xmlns:a="http://schemas.openxmlformats.org/drawingml/2006/main" x="685800" y="1571625"/>
          <a:ext xmlns:a="http://schemas.openxmlformats.org/drawingml/2006/main" cx="10820400" cy="3714750"/>
        </p:xfrm>
        <a:graphic xmlns:a="http://schemas.openxmlformats.org/drawingml/2006/main">
          <a:graphicData uri="http://schemas.openxmlformats.org/drawingml/2006/table">
            <a:tbl>
              <a:tblPr firstRow="1" bandRow="0"/>
              <a:tblGrid>
                <a:gridCol w="3048000"/>
                <a:gridCol w="2590800"/>
                <a:gridCol w="2590800"/>
                <a:gridCol w="2590800"/>
              </a:tblGrid>
              <a:tr h="619125">
                <a:tc>
                  <a:txBody>
                    <a:bodyPr/>
                    <a:lstStyle/>
                    <a:p>
                      <a:r>
                        <a:rPr sz="1650" b="1">
                          <a:solidFill>
                            <a:srgbClr val="183542"/>
                          </a:solidFill>
                          <a:latin typeface="Helvetica Neue"/>
                          <a:ea typeface="Helvetica Neue"/>
                          <a:cs typeface="Helvetica Neue"/>
                        </a:rPr>
                        <a:t>Metric</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FP16 baseline</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First RTN: rejected</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Final selected</a:t>
                      </a:r>
                    </a:p>
                  </a:txBody>
                  <a:tcPr marL="142875" marR="142875" marT="85725" marB="85725" anchor="ctr">
                    <a:solidFill>
                      <a:srgbClr val="E8F0F1"/>
                    </a:solidFill>
                  </a:tcPr>
                </a:tc>
              </a:tr>
              <a:tr h="619125">
                <a:tc>
                  <a:txBody>
                    <a:bodyPr/>
                    <a:lstStyle/>
                    <a:p>
                      <a:r>
                        <a:rPr sz="1650">
                          <a:solidFill>
                            <a:srgbClr val="183542"/>
                          </a:solidFill>
                          <a:latin typeface="Helvetica Neue"/>
                          <a:ea typeface="Helvetica Neue"/>
                          <a:cs typeface="Helvetica Neue"/>
                        </a:rPr>
                        <a:t>TTFT p50 / p95</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266.3 ms / 271.7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266.7 ms / 269.6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265.5 ms / 267.4 ms</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Answer p50 / p95</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1830.4 ms / 1834.9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1228.8 ms / 1234.2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1825.9 ms / 1830.0 ms</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Shared RAM peak¹</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6.38 GiB</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4.20 GiB</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6.43 GiB</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Strict quality facts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13/19</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18/19</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Reference equivalence</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Pass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Fail</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Pass</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DFAB0E0-47AA-416C-AF8C-73DB3D6177EE}"/>
              </a:ext>
            </a:extLst>
          </p:cNvPr>
          <p:cNvSpPr>
            <a:spLocks xmlns:a="http://schemas.openxmlformats.org/drawingml/2006/main" noGrp="1"/>
          </p:cNvSpPr>
          <p:nvPr/>
        </p:nvSpPr>
        <p:spPr>
          <a:xfrm xmlns:a="http://schemas.openxmlformats.org/drawingml/2006/main">
            <a:off x="685800" y="54673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Selected: fp16-corrected-i1024-kv2048</a:t>
            </a:r>
          </a:p>
        </p:txBody>
      </p:sp>
      <p:sp>
        <p:nvSpPr>
          <p:cNvPr id="6" name="">
            <a:extLst xmlns:a="http://schemas.openxmlformats.org/drawingml/2006/main">
              <a:ext uri="{FF2B5EF4-FFF2-40B4-BE49-F238E27FC236}">
                <a16:creationId xmlns:a16="http://schemas.microsoft.com/office/drawing/2014/main" id="{C3BAD2CA-C7E4-42D2-B9F3-193DAC22F010}"/>
              </a:ext>
            </a:extLst>
          </p:cNvPr>
          <p:cNvSpPr>
            <a:spLocks xmlns:a="http://schemas.openxmlformats.org/drawingml/2006/main" noGrp="1"/>
          </p:cNvSpPr>
          <p:nvPr/>
        </p:nvSpPr>
        <p:spPr>
          <a:xfrm xmlns:a="http://schemas.openxmlformats.org/drawingml/2006/main">
            <a:off x="685800" y="59721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¹ System RAM unavailable. Quality rejection takes precedence over latency or memory gains.</a:t>
            </a:r>
          </a:p>
        </p:txBody>
      </p:sp>
    </p:spTree>
    <p:extLst>
      <p:ext uri="{BB962C8B-B14F-4D97-AF65-F5344CB8AC3E}">
        <p14:creationId xmlns:p14="http://schemas.microsoft.com/office/powerpoint/2010/main" val="407070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65332B-21DF-4A6C-A2E9-3CF71E5EEE3F}"/>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Bounded search and memory constraints</a:t>
            </a:r>
          </a:p>
        </p:txBody>
      </p:sp>
      <p:sp>
        <p:nvSpPr>
          <p:cNvPr id="2" name="">
            <a:extLst xmlns:a="http://schemas.openxmlformats.org/drawingml/2006/main">
              <a:ext uri="{FF2B5EF4-FFF2-40B4-BE49-F238E27FC236}">
                <a16:creationId xmlns:a16="http://schemas.microsoft.com/office/drawing/2014/main" id="{75EBC908-6468-4901-86B9-89E943866104}"/>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8480651B-57F4-41B6-8CCF-CD2E5500B066}"/>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11</a:t>
            </a:r>
          </a:p>
        </p:txBody>
      </p:sp>
      <p:graphicFrame>
        <p:nvGraphicFramePr>
          <p:cNvPr id="10" name=""/>
          <p:cNvGraphicFramePr/>
          <p:nvPr/>
        </p:nvGraphicFramePr>
        <p:xfrm>
          <a:off xmlns:a="http://schemas.openxmlformats.org/drawingml/2006/main" x="685800" y="1571625"/>
          <a:ext xmlns:a="http://schemas.openxmlformats.org/drawingml/2006/main" cx="10820400" cy="3105150"/>
        </p:xfrm>
        <a:graphic xmlns:a="http://schemas.openxmlformats.org/drawingml/2006/main">
          <a:graphicData uri="http://schemas.openxmlformats.org/drawingml/2006/table">
            <a:tbl>
              <a:tblPr firstRow="1" bandRow="0"/>
              <a:tblGrid>
                <a:gridCol w="3495675"/>
                <a:gridCol w="1762125"/>
                <a:gridCol w="1143000"/>
                <a:gridCol w="2209800"/>
                <a:gridCol w="2209800"/>
              </a:tblGrid>
              <a:tr h="621030">
                <a:tc>
                  <a:txBody>
                    <a:bodyPr/>
                    <a:lstStyle/>
                    <a:p>
                      <a:r>
                        <a:rPr sz="1725" b="1">
                          <a:solidFill>
                            <a:srgbClr val="183542"/>
                          </a:solidFill>
                          <a:latin typeface="Helvetica Neue"/>
                          <a:ea typeface="Helvetica Neue"/>
                          <a:cs typeface="Helvetica Neue"/>
                        </a:rPr>
                        <a:t>Candidate</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Result</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Facts</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p50 answer</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RAM peak¹</a:t>
                      </a:r>
                    </a:p>
                  </a:txBody>
                  <a:tcPr marL="142875" marR="142875" marT="85725" marB="85725" anchor="ctr">
                    <a:solidFill>
                      <a:srgbClr val="E8F0F1"/>
                    </a:solidFill>
                  </a:tcPr>
                </a:tc>
              </a:tr>
              <a:tr h="621030">
                <a:tc>
                  <a:txBody>
                    <a:bodyPr/>
                    <a:lstStyle/>
                    <a:p>
                      <a:r>
                        <a:rPr sz="1725">
                          <a:solidFill>
                            <a:srgbClr val="183542"/>
                          </a:solidFill>
                          <a:latin typeface="Helvetica Neue"/>
                          <a:ea typeface="Helvetica Neue"/>
                          <a:cs typeface="Helvetica Neue"/>
                        </a:rPr>
                        <a:t>FP16 reference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Selected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1830.4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6.38 GiB</a:t>
                      </a:r>
                    </a:p>
                  </a:txBody>
                  <a:tcPr marL="142875" marR="142875" marT="85725" marB="85725" anchor="ctr">
                    <a:solidFill>
                      <a:srgbClr val="FFFFFF"/>
                    </a:solidFill>
                  </a:tcPr>
                </a:tc>
              </a:tr>
              <a:tr h="621030">
                <a:tc>
                  <a:txBody>
                    <a:bodyPr/>
                    <a:lstStyle/>
                    <a:p>
                      <a:r>
                        <a:rPr sz="1725">
                          <a:solidFill>
                            <a:srgbClr val="183542"/>
                          </a:solidFill>
                          <a:latin typeface="Helvetica Neue"/>
                          <a:ea typeface="Helvetica Neue"/>
                          <a:cs typeface="Helvetica Neue"/>
                        </a:rPr>
                        <a:t>RTN INT4 all linears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Rejected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13/19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1228.8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4.20 GiB</a:t>
                      </a:r>
                    </a:p>
                  </a:txBody>
                  <a:tcPr marL="142875" marR="142875" marT="85725" marB="85725" anchor="ctr">
                    <a:solidFill>
                      <a:srgbClr val="FFFFFF"/>
                    </a:solidFill>
                  </a:tcPr>
                </a:tc>
              </a:tr>
              <a:tr h="621030">
                <a:tc>
                  <a:txBody>
                    <a:bodyPr/>
                    <a:lstStyle/>
                    <a:p>
                      <a:r>
                        <a:rPr sz="1725">
                          <a:solidFill>
                            <a:srgbClr val="183542"/>
                          </a:solidFill>
                          <a:latin typeface="Helvetica Neue"/>
                          <a:ea typeface="Helvetica Neue"/>
                          <a:cs typeface="Helvetica Neue"/>
                        </a:rPr>
                        <a:t>RTN INT4 MLP only</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Rejected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1026.6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5.01 GiB</a:t>
                      </a:r>
                    </a:p>
                  </a:txBody>
                  <a:tcPr marL="142875" marR="142875" marT="85725" marB="85725" anchor="ctr">
                    <a:solidFill>
                      <a:srgbClr val="FFFFFF"/>
                    </a:solidFill>
                  </a:tcPr>
                </a:tc>
              </a:tr>
              <a:tr h="621030">
                <a:tc>
                  <a:txBody>
                    <a:bodyPr/>
                    <a:lstStyle/>
                    <a:p>
                      <a:r>
                        <a:rPr sz="1725">
                          <a:solidFill>
                            <a:srgbClr val="183542"/>
                          </a:solidFill>
                          <a:latin typeface="Helvetica Neue"/>
                          <a:ea typeface="Helvetica Neue"/>
                          <a:cs typeface="Helvetica Neue"/>
                        </a:rPr>
                        <a:t>FP16 fixed clocks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Rejected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1758.3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6.35 GiB</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7FF0462-CB23-4B90-916A-E1F132E43B96}"/>
              </a:ext>
            </a:extLst>
          </p:cNvPr>
          <p:cNvSpPr>
            <a:spLocks xmlns:a="http://schemas.openxmlformats.org/drawingml/2006/main" noGrp="1"/>
          </p:cNvSpPr>
          <p:nvPr/>
        </p:nvSpPr>
        <p:spPr>
          <a:xfrm xmlns:a="http://schemas.openxmlformats.org/drawingml/2006/main">
            <a:off x="685800" y="4905375"/>
            <a:ext cx="10820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46875"/>
                </a:solidFill>
                <a:latin typeface="Helvetica Neue"/>
                <a:ea typeface="Helvetica Neue"/>
                <a:cs typeface="Helvetica Neue"/>
              </a:defRPr>
            </a:pPr>
            <a:r>
              <a:rPr sz="1950" b="0">
                <a:solidFill>
                  <a:srgbClr val="146875"/>
                </a:solidFill>
                <a:latin typeface="Helvetica Neue"/>
                <a:ea typeface="Helvetica Neue"/>
                <a:cs typeface="Helvetica Neue"/>
              </a:rPr>
              <a:t>Linux exposes 7.37 GiB shared physical RAM. Selected process RSS peak: 5.91 GiB.</a:t>
            </a:r>
          </a:p>
        </p:txBody>
      </p:sp>
      <p:sp>
        <p:nvSpPr>
          <p:cNvPr id="6" name="">
            <a:extLst xmlns:a="http://schemas.openxmlformats.org/drawingml/2006/main">
              <a:ext uri="{FF2B5EF4-FFF2-40B4-BE49-F238E27FC236}">
                <a16:creationId xmlns:a16="http://schemas.microsoft.com/office/drawing/2014/main" id="{AC82A06E-D0F2-4726-AC29-3156062414A3}"/>
              </a:ext>
            </a:extLst>
          </p:cNvPr>
          <p:cNvSpPr>
            <a:spLocks xmlns:a="http://schemas.openxmlformats.org/drawingml/2006/main" noGrp="1"/>
          </p:cNvSpPr>
          <p:nvPr/>
        </p:nvSpPr>
        <p:spPr>
          <a:xfrm xmlns:a="http://schemas.openxmlformats.org/drawingml/2006/main">
            <a:off x="685800" y="5724525"/>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¹ MemTotal − MemAvailable overlaps process RSS. Never add them.</a:t>
            </a:r>
          </a:p>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CUDA allocator telemetry: not collected. Disk sizes measure storage.</a:t>
            </a:r>
          </a:p>
        </p:txBody>
      </p:sp>
    </p:spTree>
    <p:extLst>
      <p:ext uri="{BB962C8B-B14F-4D97-AF65-F5344CB8AC3E}">
        <p14:creationId xmlns:p14="http://schemas.microsoft.com/office/powerpoint/2010/main" val="112685349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1D8B49D-89CA-4D7C-926F-78BFEE0BC163}"/>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Selected configuration and sustained run</a:t>
            </a:r>
          </a:p>
        </p:txBody>
      </p:sp>
      <p:sp>
        <p:nvSpPr>
          <p:cNvPr id="2" name="">
            <a:extLst xmlns:a="http://schemas.openxmlformats.org/drawingml/2006/main">
              <a:ext uri="{FF2B5EF4-FFF2-40B4-BE49-F238E27FC236}">
                <a16:creationId xmlns:a16="http://schemas.microsoft.com/office/drawing/2014/main" id="{C486AE11-CDA0-4C32-967C-305D341A106A}"/>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A7E5EFBF-22B1-4B62-A500-EC71A8FBE1C0}"/>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6B5470F8-72B6-40EF-A486-7DE1069AA969}"/>
              </a:ext>
            </a:extLst>
          </p:cNvPr>
          <p:cNvSpPr>
            <a:spLocks xmlns:a="http://schemas.openxmlformats.org/drawingml/2006/main" noGrp="1"/>
          </p:cNvSpPr>
          <p:nvPr/>
        </p:nvSpPr>
        <p:spPr>
          <a:xfrm xmlns:a="http://schemas.openxmlformats.org/drawingml/2006/main">
            <a:off x="685800" y="15621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146875"/>
                </a:solidFill>
                <a:latin typeface="Helvetica Neue"/>
                <a:ea typeface="Helvetica Neue"/>
                <a:cs typeface="Helvetica Neue"/>
              </a:defRPr>
            </a:pPr>
            <a:r>
              <a:rPr sz="2700" b="1">
                <a:solidFill>
                  <a:srgbClr val="146875"/>
                </a:solidFill>
                <a:latin typeface="Helvetica Neue"/>
                <a:ea typeface="Helvetica Neue"/>
                <a:cs typeface="Helvetica Neue"/>
              </a:rPr>
              <a:t>fp16-corrected-i1024-kv2048</a:t>
            </a:r>
          </a:p>
        </p:txBody>
      </p:sp>
      <p:sp>
        <p:nvSpPr>
          <p:cNvPr id="5" name="">
            <a:extLst xmlns:a="http://schemas.openxmlformats.org/drawingml/2006/main">
              <a:ext uri="{FF2B5EF4-FFF2-40B4-BE49-F238E27FC236}">
                <a16:creationId xmlns:a16="http://schemas.microsoft.com/office/drawing/2014/main" id="{9DD30712-0A6D-4F3D-A1E5-6DB6BCEE5EFC}"/>
              </a:ext>
            </a:extLst>
          </p:cNvPr>
          <p:cNvSpPr>
            <a:spLocks xmlns:a="http://schemas.openxmlformats.org/drawingml/2006/main" noGrp="1"/>
          </p:cNvSpPr>
          <p:nvPr/>
        </p:nvSpPr>
        <p:spPr>
          <a:xfrm xmlns:a="http://schemas.openxmlformats.org/drawingml/2006/main">
            <a:off x="685800" y="22002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FP16 preserves reference quality. Both INT4 variants add errors; fixed clocks miss the 5% gain and swap gate.</a:t>
            </a:r>
          </a:p>
        </p:txBody>
      </p:sp>
      <p:sp>
        <p:nvSpPr>
          <p:cNvPr id="6" name="">
            <a:extLst xmlns:a="http://schemas.openxmlformats.org/drawingml/2006/main">
              <a:ext uri="{FF2B5EF4-FFF2-40B4-BE49-F238E27FC236}">
                <a16:creationId xmlns:a16="http://schemas.microsoft.com/office/drawing/2014/main" id="{CAAF0E37-4A9C-4687-93EE-8A542F7E4697}"/>
              </a:ext>
            </a:extLst>
          </p:cNvPr>
          <p:cNvSpPr>
            <a:spLocks xmlns:a="http://schemas.openxmlformats.org/drawingml/2006/main" noGrp="1"/>
          </p:cNvSpPr>
          <p:nvPr/>
        </p:nvSpPr>
        <p:spPr>
          <a:xfrm xmlns:a="http://schemas.openxmlformats.org/drawingml/2006/main">
            <a:off x="685800" y="281940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FP16 · dynamic stock 25 W · swap disabled</a:t>
            </a:r>
          </a:p>
        </p:txBody>
      </p:sp>
      <p:sp>
        <p:nvSpPr>
          <p:cNvPr id="7" name="">
            <a:extLst xmlns:a="http://schemas.openxmlformats.org/drawingml/2006/main">
              <a:ext uri="{FF2B5EF4-FFF2-40B4-BE49-F238E27FC236}">
                <a16:creationId xmlns:a16="http://schemas.microsoft.com/office/drawing/2014/main" id="{086967D2-8DC3-48D6-89B7-1264F7848B79}"/>
              </a:ext>
            </a:extLst>
          </p:cNvPr>
          <p:cNvSpPr>
            <a:spLocks xmlns:a="http://schemas.openxmlformats.org/drawingml/2006/main" noGrp="1"/>
          </p:cNvSpPr>
          <p:nvPr/>
        </p:nvSpPr>
        <p:spPr>
          <a:xfrm xmlns:a="http://schemas.openxmlformats.org/drawingml/2006/main">
            <a:off x="685800" y="33909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46875"/>
                </a:solidFill>
                <a:latin typeface="Helvetica Neue"/>
                <a:ea typeface="Helvetica Neue"/>
                <a:cs typeface="Helvetica Neue"/>
              </a:defRPr>
            </a:pPr>
            <a:r>
              <a:rPr sz="1725" b="0">
                <a:solidFill>
                  <a:srgbClr val="146875"/>
                </a:solidFill>
                <a:latin typeface="Helvetica Neue"/>
                <a:ea typeface="Helvetica Neue"/>
                <a:cs typeface="Helvetica Neue"/>
              </a:rPr>
              <a:t>FP16 retained. Final service verification is separate from the four search trials.</a:t>
            </a:r>
          </a:p>
        </p:txBody>
      </p:sp>
      <p:graphicFrame>
        <p:nvGraphicFramePr>
          <p:cNvPr id="17" name=""/>
          <p:cNvGraphicFramePr/>
          <p:nvPr/>
        </p:nvGraphicFramePr>
        <p:xfrm>
          <a:off xmlns:a="http://schemas.openxmlformats.org/drawingml/2006/main" x="685800" y="3867150"/>
          <a:ext xmlns:a="http://schemas.openxmlformats.org/drawingml/2006/main" cx="10820400" cy="1714500"/>
        </p:xfrm>
        <a:graphic xmlns:a="http://schemas.openxmlformats.org/drawingml/2006/main">
          <a:graphicData uri="http://schemas.openxmlformats.org/drawingml/2006/table">
            <a:tbl>
              <a:tblPr firstRow="1" bandRow="0"/>
              <a:tblGrid>
                <a:gridCol w="5324475"/>
                <a:gridCol w="5495925"/>
              </a:tblGrid>
              <a:tr h="428625">
                <a:tc>
                  <a:txBody>
                    <a:bodyPr/>
                    <a:lstStyle/>
                    <a:p>
                      <a:r>
                        <a:rPr sz="1725" b="1">
                          <a:solidFill>
                            <a:srgbClr val="183542"/>
                          </a:solidFill>
                          <a:latin typeface="Helvetica Neue"/>
                          <a:ea typeface="Helvetica Neue"/>
                          <a:cs typeface="Helvetica Neue"/>
                        </a:rPr>
                        <a:t>Sustained-run check</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Observed result</a:t>
                      </a:r>
                    </a:p>
                  </a:txBody>
                  <a:tcPr marL="142875" marR="142875" marT="85725" marB="85725" anchor="ctr">
                    <a:solidFill>
                      <a:srgbClr val="E8F0F1"/>
                    </a:solidFill>
                  </a:tcPr>
                </a:tc>
              </a:tr>
              <a:tr h="428625">
                <a:tc>
                  <a:txBody>
                    <a:bodyPr/>
                    <a:lstStyle/>
                    <a:p>
                      <a:r>
                        <a:rPr sz="1725">
                          <a:solidFill>
                            <a:srgbClr val="183542"/>
                          </a:solidFill>
                          <a:latin typeface="Helvetica Neue"/>
                          <a:ea typeface="Helvetica Neue"/>
                          <a:cs typeface="Helvetica Neue"/>
                        </a:rPr>
                        <a:t>Duration and successful requests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601 seconds / 366 requests</a:t>
                      </a:r>
                    </a:p>
                  </a:txBody>
                  <a:tcPr marL="142875" marR="142875" marT="85725" marB="85725" anchor="ctr">
                    <a:solidFill>
                      <a:srgbClr val="FFFFFF"/>
                    </a:solidFill>
                  </a:tcPr>
                </a:tc>
              </a:tr>
              <a:tr h="428625">
                <a:tc>
                  <a:txBody>
                    <a:bodyPr/>
                    <a:lstStyle/>
                    <a:p>
                      <a:r>
                        <a:rPr sz="1725">
                          <a:solidFill>
                            <a:srgbClr val="183542"/>
                          </a:solidFill>
                          <a:latin typeface="Helvetica Neue"/>
                          <a:ea typeface="Helvetica Neue"/>
                          <a:cs typeface="Helvetica Neue"/>
                        </a:rPr>
                        <a:t>Minimum MemAvailable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0.94 GiB</a:t>
                      </a:r>
                    </a:p>
                  </a:txBody>
                  <a:tcPr marL="142875" marR="142875" marT="85725" marB="85725" anchor="ctr">
                    <a:solidFill>
                      <a:srgbClr val="FFFFFF"/>
                    </a:solidFill>
                  </a:tcPr>
                </a:tc>
              </a:tr>
              <a:tr h="428625">
                <a:tc>
                  <a:txBody>
                    <a:bodyPr/>
                    <a:lstStyle/>
                    <a:p>
                      <a:r>
                        <a:rPr sz="1725">
                          <a:solidFill>
                            <a:srgbClr val="183542"/>
                          </a:solidFill>
                          <a:latin typeface="Helvetica Neue"/>
                          <a:ea typeface="Helvetica Neue"/>
                          <a:cs typeface="Helvetica Neue"/>
                        </a:rPr>
                        <a:t>Errors / OOM / swap</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0 / No / No</a:t>
                      </a:r>
                    </a:p>
                  </a:txBody>
                  <a:tcPr marL="142875" marR="142875" marT="85725" marB="85725"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7F5B94D8-AAB3-42E1-9316-E7C6D2C51A59}"/>
              </a:ext>
            </a:extLst>
          </p:cNvPr>
          <p:cNvSpPr>
            <a:spLocks xmlns:a="http://schemas.openxmlformats.org/drawingml/2006/main" noGrp="1"/>
          </p:cNvSpPr>
          <p:nvPr/>
        </p:nvSpPr>
        <p:spPr>
          <a:xfrm xmlns:a="http://schemas.openxmlformats.org/drawingml/2006/main">
            <a:off x="685800" y="59436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Candidates considered: 4. Stop reason: Stopped after three consecutive non-improvements.</a:t>
            </a:r>
          </a:p>
        </p:txBody>
      </p:sp>
    </p:spTree>
    <p:extLst>
      <p:ext uri="{BB962C8B-B14F-4D97-AF65-F5344CB8AC3E}">
        <p14:creationId xmlns:p14="http://schemas.microsoft.com/office/powerpoint/2010/main" val="165975815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3AEB896-EFC9-4411-B029-ED18D04BD3F1}"/>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Upstream contributions and licenses</a:t>
            </a:r>
          </a:p>
        </p:txBody>
      </p:sp>
      <p:sp>
        <p:nvSpPr>
          <p:cNvPr id="2" name="">
            <a:extLst xmlns:a="http://schemas.openxmlformats.org/drawingml/2006/main">
              <a:ext uri="{FF2B5EF4-FFF2-40B4-BE49-F238E27FC236}">
                <a16:creationId xmlns:a16="http://schemas.microsoft.com/office/drawing/2014/main" id="{4B4F6121-4FCD-4511-88AF-70EC045288AD}"/>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29DB7CC9-7B15-43FD-A507-D154B8B0212F}"/>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13</a:t>
            </a:r>
          </a:p>
        </p:txBody>
      </p:sp>
      <p:graphicFrame>
        <p:nvGraphicFramePr>
          <p:cNvPr id="10" name=""/>
          <p:cNvGraphicFramePr/>
          <p:nvPr/>
        </p:nvGraphicFramePr>
        <p:xfrm>
          <a:off xmlns:a="http://schemas.openxmlformats.org/drawingml/2006/main" x="685800" y="1571625"/>
          <a:ext xmlns:a="http://schemas.openxmlformats.org/drawingml/2006/main" cx="10820400" cy="3314700"/>
        </p:xfrm>
        <a:graphic xmlns:a="http://schemas.openxmlformats.org/drawingml/2006/main">
          <a:graphicData uri="http://schemas.openxmlformats.org/drawingml/2006/table">
            <a:tbl>
              <a:tblPr firstRow="1" bandRow="0"/>
              <a:tblGrid>
                <a:gridCol w="3876675"/>
                <a:gridCol w="4686300"/>
                <a:gridCol w="2257425"/>
              </a:tblGrid>
              <a:tr h="552450">
                <a:tc>
                  <a:txBody>
                    <a:bodyPr/>
                    <a:lstStyle/>
                    <a:p>
                      <a:r>
                        <a:rPr sz="1650" b="1">
                          <a:solidFill>
                            <a:srgbClr val="183542"/>
                          </a:solidFill>
                          <a:latin typeface="Helvetica Neue"/>
                          <a:ea typeface="Helvetica Neue"/>
                          <a:cs typeface="Helvetica Neue"/>
                        </a:rPr>
                        <a:t>Project / team</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Contribution</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Terms</a:t>
                      </a:r>
                    </a:p>
                  </a:txBody>
                  <a:tcPr marL="142875" marR="142875" marT="85725" marB="85725" anchor="ctr">
                    <a:solidFill>
                      <a:srgbClr val="E8F0F1"/>
                    </a:solidFill>
                  </a:tcPr>
                </a:tc>
              </a:tr>
              <a:tr h="552450">
                <a:tc>
                  <a:txBody>
                    <a:bodyPr/>
                    <a:lstStyle/>
                    <a:p>
                      <a:r>
                        <a:rPr sz="1650">
                          <a:solidFill>
                            <a:srgbClr val="183542"/>
                          </a:solidFill>
                          <a:latin typeface="Helvetica Neue"/>
                          <a:ea typeface="Helvetica Neue"/>
                          <a:cs typeface="Helvetica Neue"/>
                        </a:rPr>
                        <a:t>NVIDIA Cosmos3-Edge</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Pretrained model and tokenizer</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OpenMDW-1.1</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TensorRT Edge-LLM</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Runtime, builders and kernels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Apache-2.0</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live-vlm-webui contributors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Public interaction reference</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Apache-2.0</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PyTorch / Transformers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Official-model reference execution</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Component licenses</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Original task integration</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UI, transport, repairs, measurements, RTN</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Apache-2.0</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9DB902B-D4E5-4F78-B7C4-B52041F7002B}"/>
              </a:ext>
            </a:extLst>
          </p:cNvPr>
          <p:cNvSpPr>
            <a:spLocks xmlns:a="http://schemas.openxmlformats.org/drawingml/2006/main" noGrp="1"/>
          </p:cNvSpPr>
          <p:nvPr/>
        </p:nvSpPr>
        <p:spPr>
          <a:xfrm xmlns:a="http://schemas.openxmlformats.org/drawingml/2006/main">
            <a:off x="685800" y="50482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Public repository contributors</a:t>
            </a:r>
          </a:p>
        </p:txBody>
      </p:sp>
      <p:sp>
        <p:nvSpPr>
          <p:cNvPr id="6" name="">
            <a:extLst xmlns:a="http://schemas.openxmlformats.org/drawingml/2006/main">
              <a:ext uri="{FF2B5EF4-FFF2-40B4-BE49-F238E27FC236}">
                <a16:creationId xmlns:a16="http://schemas.microsoft.com/office/drawing/2014/main" id="{6CC8E79C-34BA-44F9-86A1-CD2E324CBBA0}"/>
              </a:ext>
            </a:extLst>
          </p:cNvPr>
          <p:cNvSpPr>
            <a:spLocks xmlns:a="http://schemas.openxmlformats.org/drawingml/2006/main" noGrp="1"/>
          </p:cNvSpPr>
          <p:nvPr/>
        </p:nvSpPr>
        <p:spPr>
          <a:xfrm xmlns:a="http://schemas.openxmlformats.org/drawingml/2006/main">
            <a:off x="685800" y="55054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UI: tokk-nv, chitoku</a:t>
            </a:r>
          </a:p>
          <a:p xmlns:a="http://schemas.openxmlformats.org/drawingml/2006/main">
            <a:pPr>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Runtime: nvluxiaoz, ever-wong, jhalabi-nv, nvxingkaiz, JCalafato, poweiw</a:t>
            </a:r>
          </a:p>
        </p:txBody>
      </p:sp>
    </p:spTree>
    <p:extLst>
      <p:ext uri="{BB962C8B-B14F-4D97-AF65-F5344CB8AC3E}">
        <p14:creationId xmlns:p14="http://schemas.microsoft.com/office/powerpoint/2010/main" val="77516470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B0DC81-116B-4FC0-862F-EF18C91FCC8E}"/>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Limits and reproduction</a:t>
            </a:r>
          </a:p>
        </p:txBody>
      </p:sp>
      <p:sp>
        <p:nvSpPr>
          <p:cNvPr id="2" name="">
            <a:extLst xmlns:a="http://schemas.openxmlformats.org/drawingml/2006/main">
              <a:ext uri="{FF2B5EF4-FFF2-40B4-BE49-F238E27FC236}">
                <a16:creationId xmlns:a16="http://schemas.microsoft.com/office/drawing/2014/main" id="{28890A17-37C1-42EB-89D1-BC3B7EA259BF}"/>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DC81DF7F-6705-4A65-B44B-EE5241745735}"/>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0A9CAB3B-9F66-42D7-B47E-DF0429372467}"/>
              </a:ext>
            </a:extLst>
          </p:cNvPr>
          <p:cNvSpPr>
            <a:spLocks xmlns:a="http://schemas.openxmlformats.org/drawingml/2006/main" noGrp="1"/>
          </p:cNvSpPr>
          <p:nvPr/>
        </p:nvSpPr>
        <p:spPr>
          <a:xfrm xmlns:a="http://schemas.openxmlformats.org/drawingml/2006/main">
            <a:off x="685800" y="1581150"/>
            <a:ext cx="5019675"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Quality: 18/19 synthetic facts; natural photos 5/9 with partial credit, 0/3 fully correct.</a:t>
            </a:r>
          </a:p>
          <a:p xmlns:a="http://schemas.openxmlformats.org/drawingml/2006/main">
            <a:r>
              <a:t/>
            </a:r>
          </a:p>
          <a:p xmlns:a="http://schemas.openxmlformats.org/drawingml/2006/main">
            <a:pPr>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Streaming checks passed. Natural-video and temporal understanding remain untested.</a:t>
            </a:r>
          </a:p>
          <a:p xmlns:a="http://schemas.openxmlformats.org/drawingml/2006/main">
            <a:r>
              <a:t/>
            </a:r>
          </a:p>
          <a:p xmlns:a="http://schemas.openxmlformats.org/drawingml/2006/main">
            <a:pPr>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Small inputs are padded around a documented position-interpolation limit.</a:t>
            </a:r>
          </a:p>
          <a:p xmlns:a="http://schemas.openxmlformats.org/drawingml/2006/main">
            <a:r>
              <a:t/>
            </a:r>
          </a:p>
          <a:p xmlns:a="http://schemas.openxmlformats.org/drawingml/2006/main">
            <a:pPr>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RAM and RSS overlap. CUDA allocator peak was not collected.</a:t>
            </a:r>
          </a:p>
          <a:p xmlns:a="http://schemas.openxmlformats.org/drawingml/2006/main">
            <a:r>
              <a:t/>
            </a:r>
          </a:p>
          <a:p xmlns:a="http://schemas.openxmlformats.org/drawingml/2006/main">
            <a:pPr>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NVMe timeouts recur at cold load. Service recovers; storage issue remains unresolved.</a:t>
            </a:r>
          </a:p>
        </p:txBody>
      </p:sp>
      <p:sp>
        <p:nvSpPr>
          <p:cNvPr id="5" name="">
            <a:extLst xmlns:a="http://schemas.openxmlformats.org/drawingml/2006/main">
              <a:ext uri="{FF2B5EF4-FFF2-40B4-BE49-F238E27FC236}">
                <a16:creationId xmlns:a16="http://schemas.microsoft.com/office/drawing/2014/main" id="{57E25807-2C44-4419-8D1C-E1DECDCFB772}"/>
              </a:ext>
            </a:extLst>
          </p:cNvPr>
          <p:cNvSpPr>
            <a:spLocks xmlns:a="http://schemas.openxmlformats.org/drawingml/2006/main" noGrp="1"/>
          </p:cNvSpPr>
          <p:nvPr/>
        </p:nvSpPr>
        <p:spPr>
          <a:xfrm xmlns:a="http://schemas.openxmlformats.org/drawingml/2006/main">
            <a:off x="6296025" y="1600200"/>
            <a:ext cx="5210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Build selected engines</a:t>
            </a:r>
          </a:p>
        </p:txBody>
      </p:sp>
      <p:sp>
        <p:nvSpPr>
          <p:cNvPr id="6" name="">
            <a:extLst xmlns:a="http://schemas.openxmlformats.org/drawingml/2006/main">
              <a:ext uri="{FF2B5EF4-FFF2-40B4-BE49-F238E27FC236}">
                <a16:creationId xmlns:a16="http://schemas.microsoft.com/office/drawing/2014/main" id="{18CFC489-3C80-47EB-925F-A1B87B114AD9}"/>
              </a:ext>
            </a:extLst>
          </p:cNvPr>
          <p:cNvSpPr>
            <a:spLocks xmlns:a="http://schemas.openxmlformats.org/drawingml/2006/main" noGrp="1"/>
          </p:cNvSpPr>
          <p:nvPr/>
        </p:nvSpPr>
        <p:spPr>
          <a:xfrm xmlns:a="http://schemas.openxmlformats.org/drawingml/2006/main">
            <a:off x="6296025" y="2095500"/>
            <a:ext cx="52101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Native runtime + engine build:</a:t>
            </a:r>
          </a:p>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docs/backend-build.md</a:t>
            </a:r>
          </a:p>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Section 4, selected FP16</a:t>
            </a:r>
          </a:p>
        </p:txBody>
      </p:sp>
      <p:sp>
        <p:nvSpPr>
          <p:cNvPr id="7" name="">
            <a:extLst xmlns:a="http://schemas.openxmlformats.org/drawingml/2006/main">
              <a:ext uri="{FF2B5EF4-FFF2-40B4-BE49-F238E27FC236}">
                <a16:creationId xmlns:a16="http://schemas.microsoft.com/office/drawing/2014/main" id="{EB01B9B4-A33C-4803-A15D-3248645C23E4}"/>
              </a:ext>
            </a:extLst>
          </p:cNvPr>
          <p:cNvSpPr>
            <a:spLocks xmlns:a="http://schemas.openxmlformats.org/drawingml/2006/main" noGrp="1"/>
          </p:cNvSpPr>
          <p:nvPr/>
        </p:nvSpPr>
        <p:spPr>
          <a:xfrm xmlns:a="http://schemas.openxmlformats.org/drawingml/2006/main">
            <a:off x="6296025" y="3143250"/>
            <a:ext cx="5210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Serve on the Orin</a:t>
            </a:r>
          </a:p>
        </p:txBody>
      </p:sp>
      <p:sp>
        <p:nvSpPr>
          <p:cNvPr id="8" name="">
            <a:extLst xmlns:a="http://schemas.openxmlformats.org/drawingml/2006/main">
              <a:ext uri="{FF2B5EF4-FFF2-40B4-BE49-F238E27FC236}">
                <a16:creationId xmlns:a16="http://schemas.microsoft.com/office/drawing/2014/main" id="{2F9B2B4C-5D46-4F80-B2E5-9CB3D640F7D0}"/>
              </a:ext>
            </a:extLst>
          </p:cNvPr>
          <p:cNvSpPr>
            <a:spLocks xmlns:a="http://schemas.openxmlformats.org/drawingml/2006/main" noGrp="1"/>
          </p:cNvSpPr>
          <p:nvPr/>
        </p:nvSpPr>
        <p:spPr>
          <a:xfrm xmlns:a="http://schemas.openxmlformats.org/drawingml/2006/main">
            <a:off x="6296025" y="3638550"/>
            <a:ext cx="52101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sudo systemctl start cosmos-edge-backend cosmos-edge-ui</a:t>
            </a:r>
          </a:p>
        </p:txBody>
      </p:sp>
      <p:sp>
        <p:nvSpPr>
          <p:cNvPr id="9" name="">
            <a:extLst xmlns:a="http://schemas.openxmlformats.org/drawingml/2006/main">
              <a:ext uri="{FF2B5EF4-FFF2-40B4-BE49-F238E27FC236}">
                <a16:creationId xmlns:a16="http://schemas.microsoft.com/office/drawing/2014/main" id="{97D1C89B-88D7-4746-9F2D-61C57201FFF9}"/>
              </a:ext>
            </a:extLst>
          </p:cNvPr>
          <p:cNvSpPr>
            <a:spLocks xmlns:a="http://schemas.openxmlformats.org/drawingml/2006/main" noGrp="1"/>
          </p:cNvSpPr>
          <p:nvPr/>
        </p:nvSpPr>
        <p:spPr>
          <a:xfrm xmlns:a="http://schemas.openxmlformats.org/drawingml/2006/main">
            <a:off x="6296025" y="4591050"/>
            <a:ext cx="5210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Repeat the measured workload</a:t>
            </a:r>
          </a:p>
        </p:txBody>
      </p:sp>
      <p:sp>
        <p:nvSpPr>
          <p:cNvPr id="10" name="">
            <a:extLst xmlns:a="http://schemas.openxmlformats.org/drawingml/2006/main">
              <a:ext uri="{FF2B5EF4-FFF2-40B4-BE49-F238E27FC236}">
                <a16:creationId xmlns:a16="http://schemas.microsoft.com/office/drawing/2014/main" id="{0B7B2321-09F5-420C-A0B2-0B43D33EE652}"/>
              </a:ext>
            </a:extLst>
          </p:cNvPr>
          <p:cNvSpPr>
            <a:spLocks xmlns:a="http://schemas.openxmlformats.org/drawingml/2006/main" noGrp="1"/>
          </p:cNvSpPr>
          <p:nvPr/>
        </p:nvSpPr>
        <p:spPr>
          <a:xfrm xmlns:a="http://schemas.openxmlformats.org/drawingml/2006/main">
            <a:off x="6296025" y="5086350"/>
            <a:ext cx="52101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scripts/benchmark.py</a:t>
            </a:r>
          </a:p>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Invocation and fixed settings:</a:t>
            </a:r>
          </a:p>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research/benchmark-method.md</a:t>
            </a:r>
          </a:p>
        </p:txBody>
      </p:sp>
    </p:spTree>
    <p:extLst>
      <p:ext uri="{BB962C8B-B14F-4D97-AF65-F5344CB8AC3E}">
        <p14:creationId xmlns:p14="http://schemas.microsoft.com/office/powerpoint/2010/main" val="13044608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2026-09-20T07:33:43.3580000Z</dcterms:created>
  <dcterms:modified xsi:type="dcterms:W3CDTF">2026-09-20T07:33:43.3580000Z</dcterms:modified>
</coreProperties>
</file>