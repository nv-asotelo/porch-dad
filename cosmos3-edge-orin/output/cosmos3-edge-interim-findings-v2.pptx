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281bc424f242a0" /><Relationship Type="http://schemas.openxmlformats.org/officeDocument/2006/relationships/extended-properties" Target="/docProps/app.xml" Id="R89873d00ab2a4a18" /><Relationship Type="http://schemas.openxmlformats.org/officeDocument/2006/relationships/officeDocument" Target="/ppt/presentation.xml" Id="R8382671a10b44e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3ad0a753c541cf"/>
  </p:sldMasterIdLst>
  <p:notesMasterIdLst>
    <p:notesMasterId xmlns:r="http://schemas.openxmlformats.org/officeDocument/2006/relationships" r:id="R9a092dcbf0b74428"/>
  </p:notesMasterIdLst>
  <p:sldIdLst>
    <p:sldId xmlns:r="http://schemas.openxmlformats.org/officeDocument/2006/relationships" id="256" r:id="R71760a4a65504569"/>
    <p:sldId xmlns:r="http://schemas.openxmlformats.org/officeDocument/2006/relationships" id="257" r:id="R7bad0a5fc51c4725"/>
    <p:sldId xmlns:r="http://schemas.openxmlformats.org/officeDocument/2006/relationships" id="258" r:id="R755ddd7db3c64323"/>
    <p:sldId xmlns:r="http://schemas.openxmlformats.org/officeDocument/2006/relationships" id="259" r:id="Rd0ccacbd2ac04078"/>
    <p:sldId xmlns:r="http://schemas.openxmlformats.org/officeDocument/2006/relationships" id="260" r:id="Rd06b92d4d8cd4bdc"/>
    <p:sldId xmlns:r="http://schemas.openxmlformats.org/officeDocument/2006/relationships" id="261" r:id="Re0a36da81a744c58"/>
    <p:sldId xmlns:r="http://schemas.openxmlformats.org/officeDocument/2006/relationships" id="262" r:id="R7838438676e44509"/>
    <p:sldId xmlns:r="http://schemas.openxmlformats.org/officeDocument/2006/relationships" id="263" r:id="Rc20cf33530ee4394"/>
    <p:sldId xmlns:r="http://schemas.openxmlformats.org/officeDocument/2006/relationships" id="264" r:id="Re298da88e99b4046"/>
    <p:sldId xmlns:r="http://schemas.openxmlformats.org/officeDocument/2006/relationships" id="265" r:id="R8a479462da904d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195e102abb46a4" /><Relationship Type="http://schemas.openxmlformats.org/officeDocument/2006/relationships/slideMaster" Target="/ppt/slideMasters/slideMaster1.xml" Id="R253ad0a753c541cf" /><Relationship Type="http://schemas.openxmlformats.org/officeDocument/2006/relationships/notesMaster" Target="/ppt/notesMasters/notesMaster1.xml" Id="R9a092dcbf0b74428" /><Relationship Type="http://schemas.openxmlformats.org/officeDocument/2006/relationships/presProps" Target="/ppt/presProps.xml" Id="R17ae18cf646f4d13" /><Relationship Type="http://schemas.openxmlformats.org/officeDocument/2006/relationships/tableStyles" Target="/ppt/tableStyles.xml" Id="R2faed80d92c64617" /><Relationship Type="http://schemas.openxmlformats.org/officeDocument/2006/relationships/slide" Target="/ppt/slides/slide1.xml" Id="R71760a4a65504569" /><Relationship Type="http://schemas.openxmlformats.org/officeDocument/2006/relationships/slide" Target="/ppt/slides/slide2.xml" Id="R7bad0a5fc51c4725" /><Relationship Type="http://schemas.openxmlformats.org/officeDocument/2006/relationships/slide" Target="/ppt/slides/slide3.xml" Id="R755ddd7db3c64323" /><Relationship Type="http://schemas.openxmlformats.org/officeDocument/2006/relationships/slide" Target="/ppt/slides/slide4.xml" Id="Rd0ccacbd2ac04078" /><Relationship Type="http://schemas.openxmlformats.org/officeDocument/2006/relationships/slide" Target="/ppt/slides/slide5.xml" Id="Rd06b92d4d8cd4bdc" /><Relationship Type="http://schemas.openxmlformats.org/officeDocument/2006/relationships/slide" Target="/ppt/slides/slide6.xml" Id="Re0a36da81a744c58" /><Relationship Type="http://schemas.openxmlformats.org/officeDocument/2006/relationships/slide" Target="/ppt/slides/slide7.xml" Id="R7838438676e44509" /><Relationship Type="http://schemas.openxmlformats.org/officeDocument/2006/relationships/slide" Target="/ppt/slides/slide8.xml" Id="Rc20cf33530ee4394" /><Relationship Type="http://schemas.openxmlformats.org/officeDocument/2006/relationships/slide" Target="/ppt/slides/slide9.xml" Id="Re298da88e99b4046" /><Relationship Type="http://schemas.openxmlformats.org/officeDocument/2006/relationships/slide" Target="/ppt/slides/slide10.xml" Id="R8a479462da904d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8b647228374b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b0a17b735c45fc" /><Relationship Type="http://schemas.openxmlformats.org/officeDocument/2006/relationships/notesMaster" Target="/ppt/notesMasters/notesMaster1.xml" Id="R3bdf1d1e996445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787053e73c49be" /><Relationship Type="http://schemas.openxmlformats.org/officeDocument/2006/relationships/notesMaster" Target="/ppt/notesMasters/notesMaster1.xml" Id="R5efd93c533574f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8269bb75684faa" /><Relationship Type="http://schemas.openxmlformats.org/officeDocument/2006/relationships/notesMaster" Target="/ppt/notesMasters/notesMaster1.xml" Id="R2ac58d92fcd948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9c3f46dfcc4b09" /><Relationship Type="http://schemas.openxmlformats.org/officeDocument/2006/relationships/notesMaster" Target="/ppt/notesMasters/notesMaster1.xml" Id="R2a970c24c71a44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8947681ab0427c" /><Relationship Type="http://schemas.openxmlformats.org/officeDocument/2006/relationships/notesMaster" Target="/ppt/notesMasters/notesMaster1.xml" Id="R05b70ddc769244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bdbd3629a44849" /><Relationship Type="http://schemas.openxmlformats.org/officeDocument/2006/relationships/notesMaster" Target="/ppt/notesMasters/notesMaster1.xml" Id="Ra3800558366a43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c8a116d6a44d34" /><Relationship Type="http://schemas.openxmlformats.org/officeDocument/2006/relationships/notesMaster" Target="/ppt/notesMasters/notesMaster1.xml" Id="Rb2d55a04b67849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d1a6b9c2744286" /><Relationship Type="http://schemas.openxmlformats.org/officeDocument/2006/relationships/notesMaster" Target="/ppt/notesMasters/notesMaster1.xml" Id="Ra31915228d7e45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c7ef3242f94f31" /><Relationship Type="http://schemas.openxmlformats.org/officeDocument/2006/relationships/notesMaster" Target="/ppt/notesMasters/notesMaster1.xml" Id="R2c8668232e9f4f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4a229876214630" /><Relationship Type="http://schemas.openxmlformats.org/officeDocument/2006/relationships/notesMaster" Target="/ppt/notesMasters/notesMaster1.xml" Id="Rbaf7676c9ed749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interim presentation does not claim deployment or performance. Completion requires the real Jetson deployment and a final measured findings deck. Source: local GOAL.md, research/backend-feasibility.md.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Observations from GOAL.md: Apple Silicon macOS host. USB enumeration found no NVIDIA device, Jetson serial interface, Jetson USB network interface, or external physical storage. SSH to 192.168.55.1:22 timed out. No flash or model inference occurred. Implementation status derives from this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Backend source: https://github.com/NVIDIA/TensorRT-Edge-LLM/blob/e8b29522938901f6df19ebeedd4b69bc8edbcd97/</a:t>
            </a:r>
          </a:p>
          <a:p xmlns:a="http://schemas.openxmlformats.org/drawingml/2006/main">
            <a:r>
              <a:t>Support matrix: https://nvidia.github.io/TensorRT-Edge-LLM/latest/user_guide/getting_started/support-matrix.html</a:t>
            </a:r>
          </a:p>
          <a:p xmlns:a="http://schemas.openxmlformats.org/drawingml/2006/main">
            <a:r>
              <a:t>Model: https://huggingface.co/nvidia/Cosmos3-Edge/blob/344d602b128d1bbdacb43b08d0a3626f46343e29/config.json</a:t>
            </a:r>
          </a:p>
          <a:p xmlns:a="http://schemas.openxmlformats.org/drawingml/2006/main">
            <a:r>
              <a:t>UI reference: https://github.com/NVIDIA-AI-IOT/live-vlm-webui</a:t>
            </a:r>
          </a:p>
          <a:p xmlns:a="http://schemas.openxmlformats.org/drawingml/2006/main">
            <a:r>
              <a:t>Exact hashes are in sources.lock.json. JetPack 7.2.1 is the selected installation target; backend documentation lists its 7.2 family.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workspace integration per THIRD_PARTY_NOTICES.md. Workflow reference: https://github.com/NVIDIA-AI-IOT/live-vlm-webui</a:t>
            </a:r>
          </a:p>
          <a:p xmlns:a="http://schemas.openxmlformats.org/drawingml/2006/main">
            <a:r>
              <a:t>Upstream resident inference and SSE contract: https://github.com/NVIDIA/TensorRT-Edge-LLM/blob/e8b29522938901f6df19ebeedd4b69bc8edbcd97/docs/source/user_guide/examples/experimental-server.md</a:t>
            </a:r>
          </a:p>
          <a:p xmlns:a="http://schemas.openxmlformats.org/drawingml/2006/main">
            <a:r>
              <a:t>The UI queues no pending frame. It captures a fresh frame when ready after the active request. The latency and memory benefits described here are hypotheses. The actual Jetson has not executed this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from pinned model.safetensors.index.json and bounded HTTP range reads of three safetensors headers. Source: https://huggingface.co/nvidia/Cosmos3-Edge/blob/344d602b128d1bbdacb43b08d0a3626f46343e29/model.safetensors.index.json</a:t>
            </a:r>
          </a:p>
          <a:p xmlns:a="http://schemas.openxmlformats.org/drawingml/2006/main">
            <a:r>
              <a:t>Exact counts: language 1,946,277,376; vision 412,649,712; projector 76,692,992; total 2,435,620,080 parameters. All selected weights are BF16 in source. Bytes total 4,871,240,160 = 4.5366959274 GiB. The full 4B checkpoint includes generation components. These are static weight calculations, never measured allocated VRAM. The reasoner-referenced physical shards also contain generator tensors.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KV calculation from https://huggingface.co/nvidia/Cosmos3-Edge/blob/344d602b128d1bbdacb43b08d0a3626f46343e29/config.json: 2 K/V × 28 layers × 8 KV heads × 128 head dimension × 2 FP16 bytes = 114,688 bytes per token = 112 KiB. Values exclude alignment and runtime overhead.</a:t>
            </a:r>
          </a:p>
          <a:p xmlns:a="http://schemas.openxmlformats.org/drawingml/2006/main">
            <a:r>
              <a:t>Precision constraints: https://nvidia.github.io/TensorRT-Edge-LLM/latest/user_guide/getting_started/support-matrix.html</a:t>
            </a:r>
          </a:p>
          <a:p xmlns:a="http://schemas.openxmlformats.org/drawingml/2006/main">
            <a:r>
              <a:t>FP8 KV and embeddings require SM89+: https://nvidia.github.io/TensorRT-Edge-LLM/latest/user_guide/features/FP8KV.html</a:t>
            </a:r>
          </a:p>
          <a:p xmlns:a="http://schemas.openxmlformats.org/drawingml/2006/main">
            <a:r>
              <a:t>INT4 estimate assumes language linear weights including LM head at 4 bits, source embedding and full vision/projector retained at 16 bits. Scales/norms add overhead. No validated INT4 checkpoint exists in this project. Shared-memory accounting policy: GOAL.md.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Authoritative project rule: GOAL.md. Up to 12 measured candidates. Five warmups and at least 30 requests per candidate. Stop after three consecutive candidates without at least 5% improvement in p50 latency or peak memory, with no greater than 5% regression in the counterpart or p95 latency. Require equivalent image-grounding quality. Reject OOM, errors, sustained swapping, and unbounded backlog. Use paired workloads and repeated measurement for near-threshold noise. Keep passing Pareto candidates and select the fastest preserving 512 MiB MemAvailable through a ten-minute sustained streaming run. No global-optimum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real model inference or device memory measurements have run. Pending metrics follow GOAL.md. TTFT means first received nonempty generated token delta, distinct from HTTP header arrival. End-to-end token throughput equals genuine completion_tokens divided by whole-request seconds. Isolated decoding throughput requires backend instrumentation. Report p50/p95 latency, process RSS, CUDA allocation and total shared-RAM measurements separately. Record precision, resolution, input/output token counts, power settings, thermal state, backend revision and failures. Compile/export peaks are separate from resident inference peaks.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of repository and personal attribution: THIRD_PARTY_NOTICES.md and research/public-metadata.json.</a:t>
            </a:r>
          </a:p>
          <a:p xmlns:a="http://schemas.openxmlformats.org/drawingml/2006/main">
            <a:r>
              <a:t>Backend: https://github.com/NVIDIA/TensorRT-Edge-LLM</a:t>
            </a:r>
          </a:p>
          <a:p xmlns:a="http://schemas.openxmlformats.org/drawingml/2006/main">
            <a:r>
              <a:t>Model: https://huggingface.co/nvidia/Cosmos3-Edge</a:t>
            </a:r>
          </a:p>
          <a:p xmlns:a="http://schemas.openxmlformats.org/drawingml/2006/main">
            <a:r>
              <a:t>UI reference: https://github.com/NVIDIA-AI-IOT/live-vlm-webui</a:t>
            </a:r>
          </a:p>
          <a:p xmlns:a="http://schemas.openxmlformats.org/drawingml/2006/main">
            <a:r>
              <a:t>People: https://github.com/tokk-nv https://github.com/chitoku https://github.com/nvluxiaoz https://github.com/ever-wong https://github.com/jhalabi-nv https://github.com/nvxingkaiz https://github.com/JCalafato https://github.com/poweiw</a:t>
            </a:r>
          </a:p>
          <a:p xmlns:a="http://schemas.openxmlformats.org/drawingml/2006/main">
            <a:r>
              <a:t>These are public repository contribution credits, not attribution of individual features. NVIDIA model/runtime teams and other dependency contributors also deserve credit. Backend/UI reference Apache-2.0; model OpenMDW-1.1; JetPack and bundled dependencies carry their own terms. Original integration claims exclude model training, architecture and CUDA kernels.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GOAL.md and docs/backend-build.md. Official installation target must be verified against the actual device and supported flashing host. Public platform download: https://developer.nvidia.com/embedded/jetpack/downloads</a:t>
            </a:r>
          </a:p>
          <a:p xmlns:a="http://schemas.openxmlformats.org/drawingml/2006/main">
            <a:r>
              <a:t>Upstream reasoner workflow: https://nvidia.github.io/TensorRT-Edge-LLM/latest/user_guide/examples/vla/cosmos3.html</a:t>
            </a:r>
          </a:p>
          <a:p xmlns:a="http://schemas.openxmlformats.org/drawingml/2006/main">
            <a:r>
              <a:t>Current block is physical device access. A powered booted Jetson with SSH or an enumerated recovery USB device plus a supported flashing host can enable the next phase. A live web URL and final measured presentation remain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7a75b892d34a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8e9af72ceb4d24" /><Relationship Type="http://schemas.openxmlformats.org/officeDocument/2006/relationships/slideLayout" Target="/ppt/slideLayouts/slideLayout1.xml" Id="R8f61b4a4bb8142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61b4a4bb8142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577336f7c47d3" /><Relationship Type="http://schemas.openxmlformats.org/officeDocument/2006/relationships/notesSlide" Target="/ppt/notesSlides/notesSlide1.xml" Id="Rf9b1e764bc5b43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9d390cb974f38" /><Relationship Type="http://schemas.openxmlformats.org/officeDocument/2006/relationships/notesSlide" Target="/ppt/notesSlides/notesSlide2.xml" Id="Re90696134d7341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b9a397e484da2" /><Relationship Type="http://schemas.openxmlformats.org/officeDocument/2006/relationships/notesSlide" Target="/ppt/notesSlides/notesSlide3.xml" Id="R9614fda70a624b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ffa0b75cc4f82" /><Relationship Type="http://schemas.openxmlformats.org/officeDocument/2006/relationships/notesSlide" Target="/ppt/notesSlides/notesSlide4.xml" Id="R8b945781a21c41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e2e32b12f4ea4" /><Relationship Type="http://schemas.openxmlformats.org/officeDocument/2006/relationships/notesSlide" Target="/ppt/notesSlides/notesSlide5.xml" Id="Rea1f5c95efec48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bdf632389462c" /><Relationship Type="http://schemas.openxmlformats.org/officeDocument/2006/relationships/notesSlide" Target="/ppt/notesSlides/notesSlide6.xml" Id="Rf9785e6945494a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6e6d4449942e3" /><Relationship Type="http://schemas.openxmlformats.org/officeDocument/2006/relationships/notesSlide" Target="/ppt/notesSlides/notesSlide7.xml" Id="R4dcdd30467dd4c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de3c26e4c4cd8" /><Relationship Type="http://schemas.openxmlformats.org/officeDocument/2006/relationships/notesSlide" Target="/ppt/notesSlides/notesSlide8.xml" Id="R3bc7f7dd58bd44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4a62c105648f6" /><Relationship Type="http://schemas.openxmlformats.org/officeDocument/2006/relationships/notesSlide" Target="/ppt/notesSlides/notesSlide9.xml" Id="R5d6d4c290a564d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ab003ce414e23" /><Relationship Type="http://schemas.openxmlformats.org/officeDocument/2006/relationships/notesSlide" Target="/ppt/notesSlides/notesSlide10.xml" Id="Rfad023dd316a4b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7AD18-F163-454C-A997-3743FA46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D5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8D551D"/>
                </a:solidFill>
                <a:latin typeface="Helvetica Neue"/>
                <a:ea typeface="Helvetica Neue"/>
                <a:cs typeface="Helvetica Neue"/>
              </a:rPr>
              <a:t>INTERIM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C5B85-2285-40BD-B8F6-0EB3018B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6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63040"/>
                </a:solidFill>
                <a:latin typeface="Helvetica Neue"/>
                <a:ea typeface="Helvetica Neue"/>
                <a:cs typeface="Helvetica Neue"/>
              </a:rPr>
              <a:t>Cosmos3-Edge on</a:t>
            </a:r>
          </a:p>
          <a:p xmlns:a="http://schemas.openxmlformats.org/drawingml/2006/main">
            <a:pPr>
              <a:defRPr sz="5100" b="1">
                <a:solidFill>
                  <a:srgbClr val="16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63040"/>
                </a:solidFill>
                <a:latin typeface="Helvetica Neue"/>
                <a:ea typeface="Helvetica Neue"/>
                <a:cs typeface="Helvetica Neue"/>
              </a:rPr>
              <a:t>Jetson Orin Nano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FAA4B-F2DB-4A23-8CE5-71352F77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C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C6574"/>
                </a:solidFill>
                <a:latin typeface="Helvetica Neue"/>
                <a:ea typeface="Helvetica Neue"/>
                <a:cs typeface="Helvetica Neue"/>
              </a:rPr>
              <a:t>Public implementation and deployment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7DB5A-55E7-4239-AF01-7E23D61B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rPr>
              <a:t>Hardware access and on-device validation remain pending.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C53AE-2FA9-444C-8B0C-255D3D99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rPr>
              <a:t>19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1703021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65B7F-5A71-4BB1-B6B2-5B152306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040"/>
                </a:solidFill>
                <a:latin typeface="Helvetica Neue"/>
                <a:ea typeface="Helvetica Neue"/>
                <a:cs typeface="Helvetica Neue"/>
              </a:rPr>
              <a:t>Deployment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275C9-2280-44C4-A4F5-5F5F547D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rPr>
              <a:t>INTERIM FINDINGS   19 September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907DB-CD56-49A8-8BCB-EC6A7356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3676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7677150"/>
              </a:tblGrid>
              <a:tr h="6127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 item</a:t>
                      </a:r>
                    </a:p>
                  </a:txBody>
                  <a:tcPr marL="152400" marR="152400" marT="95250" marB="95250" anchor="ctr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evidence</a:t>
                      </a:r>
                    </a:p>
                  </a:txBody>
                  <a:tcPr marL="152400" marR="152400" marT="95250" marB="95250" anchor="ctr">
                    <a:solidFill>
                      <a:srgbClr val="E8EFF2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Device connection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NVIDIA USB device or reachable Jetson SSH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Public software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Pinned source and deployment instructions prepared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Web integration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Camera/upload and streaming proxy code prepared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JetPack and inference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Pending device access and installation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Performance results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device measurements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60022-AFC6-4FAC-8FFD-1EC0E063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8D5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8D551D"/>
                </a:solidFill>
                <a:latin typeface="Helvetica Neue"/>
                <a:ea typeface="Helvetica Neue"/>
                <a:cs typeface="Helvetica Neue"/>
              </a:rPr>
              <a:t>The goal remains open. A local preview cannot establish Jetson inference.</a:t>
            </a:r>
          </a:p>
        </p:txBody>
      </p:sp>
    </p:spTree>
    <p:extLst>
      <p:ext uri="{BB962C8B-B14F-4D97-AF65-F5344CB8AC3E}">
        <p14:creationId xmlns:p14="http://schemas.microsoft.com/office/powerpoint/2010/main" val="11253103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75C97-B3B4-4BEE-BE2A-8496F096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040"/>
                </a:solidFill>
                <a:latin typeface="Helvetica Neue"/>
                <a:ea typeface="Helvetica Neue"/>
                <a:cs typeface="Helvetica Neue"/>
              </a:rPr>
              <a:t>Pinned public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8C312-C717-44B0-9447-DD72679F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rPr>
              <a:t>INTERIM FINDINGS   19 September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50C0A-BDFF-4DE0-AFCB-F63A327D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76771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Layer</a:t>
                      </a:r>
                    </a:p>
                  </a:txBody>
                  <a:tcPr marL="152400" marR="152400" marT="95250" marB="95250" anchor="ctr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public source</a:t>
                      </a:r>
                    </a:p>
                  </a:txBody>
                  <a:tcPr marL="152400" marR="152400" marT="95250" marB="95250" anchor="ctr">
                    <a:solidFill>
                      <a:srgbClr val="E8EFF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Device platform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JetPack 7.2.1 target, CUDA 13.2, TensorRT 10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nvidia/Cosmos3-Edge, reasoner component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Inference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TensorRT Edge-LLM v0.10.1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Interaction reference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NVIDIA-AI-IOT/live-vlm-webui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4E5EA-4088-4768-A7E6-E7BAE05F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rPr>
              <a:t>Backend e8b295229389     Model 344d602b128d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87B13-99A6-476D-A80A-9E900902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C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C6574"/>
                </a:solidFill>
                <a:latin typeface="Helvetica Neue"/>
                <a:ea typeface="Helvetica Neue"/>
                <a:cs typeface="Helvetica Neue"/>
              </a:rPr>
              <a:t>Only public code and model sources enter the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20261457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93B3C-DC3B-4B60-817F-3088E202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040"/>
                </a:solidFill>
                <a:latin typeface="Helvetica Neue"/>
                <a:ea typeface="Helvetica Neue"/>
                <a:cs typeface="Helvetica Neue"/>
              </a:rPr>
              <a:t>Streaming application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50099-CFD0-4A83-930F-3F10EE66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rPr>
              <a:t>INTERIM FINDINGS   19 September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25A04-B564-4865-AEDE-831BE90C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3667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7677150"/>
              </a:tblGrid>
              <a:tr h="6111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152400" marR="152400" marT="95250" marB="95250" anchor="ctr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Prepared behavior</a:t>
                      </a:r>
                    </a:p>
                  </a:txBody>
                  <a:tcPr marL="152400" marR="152400" marT="95250" marB="95250" anchor="ctr">
                    <a:solidFill>
                      <a:srgbClr val="E8EFF2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Browser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Capture a JPEG from camera or an uploaded image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Request scheduler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 active request; capture a fresh frame when ready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Orin web service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Forward image and prompt through a local SSE proxy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Resident model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TensorRT Edge-LLM runs the reasoner and emits tokens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Browser response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Display incremental text and request timing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FFC04-F281-4BB4-9235-34855E41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C6574"/>
                </a:solidFill>
                <a:latin typeface="Helvetica Neue"/>
                <a:ea typeface="Helvetica Neue"/>
                <a:cs typeface="Helvetica Neue"/>
              </a:rPr>
              <a:t>Hypothesis: capped frames and resident inference reduce backlog and setup overhead.</a:t>
            </a:r>
          </a:p>
        </p:txBody>
      </p:sp>
    </p:spTree>
    <p:extLst>
      <p:ext uri="{BB962C8B-B14F-4D97-AF65-F5344CB8AC3E}">
        <p14:creationId xmlns:p14="http://schemas.microsoft.com/office/powerpoint/2010/main" val="21105020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36FF5-9E48-4D9D-9B04-FE2561CE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040"/>
                </a:solidFill>
                <a:latin typeface="Helvetica Neue"/>
                <a:ea typeface="Helvetica Neue"/>
                <a:cs typeface="Helvetica Neue"/>
              </a:rPr>
              <a:t>Reasoner weight arithmetic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630E0-780A-47D3-9C9C-2E4359A1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rPr>
              <a:t>INTERIM FINDINGS   19 September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DF906-A04C-4BFD-B77F-724F7392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685925"/>
          <a:ext xmlns:a="http://schemas.openxmlformats.org/drawingml/2006/main" cx="10820400" cy="3286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953000"/>
                <a:gridCol w="2914650"/>
                <a:gridCol w="2952750"/>
              </a:tblGrid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Component</a:t>
                      </a:r>
                    </a:p>
                  </a:txBody>
                  <a:tcPr marL="152400" marR="152400" marT="95250" marB="95250" anchor="ctr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Parameters</a:t>
                      </a:r>
                    </a:p>
                  </a:txBody>
                  <a:tcPr marL="152400" marR="152400" marT="95250" marB="95250" anchor="ctr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FP16/BF16 GiB</a:t>
                      </a:r>
                    </a:p>
                  </a:txBody>
                  <a:tcPr marL="152400" marR="152400" marT="95250" marB="95250" anchor="ctr">
                    <a:solidFill>
                      <a:srgbClr val="E8EFF2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Language + embeddings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1.946 billion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3.63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Vision encoder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0.413 billion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0.77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Vision projector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0.077 billion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0.14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 reasoner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2.436 billion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4.54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FACAA-2724-4FE6-8388-CB7EF39E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8D5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8D551D"/>
                </a:solidFill>
                <a:latin typeface="Helvetica Neue"/>
                <a:ea typeface="Helvetica Neue"/>
                <a:cs typeface="Helvetica Neue"/>
              </a:rPr>
              <a:t>4.54 GiB excludes KV cache, activations, workspaces, and the operating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D0037-8427-4AFB-AFCF-63A37DFA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rPr>
              <a:t>Calculated weight storage. Peak device memory remains unmeasured.</a:t>
            </a:r>
          </a:p>
        </p:txBody>
      </p:sp>
    </p:spTree>
    <p:extLst>
      <p:ext uri="{BB962C8B-B14F-4D97-AF65-F5344CB8AC3E}">
        <p14:creationId xmlns:p14="http://schemas.microsoft.com/office/powerpoint/2010/main" val="21412710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709EE-BA45-4976-8D35-C3D3BB04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040"/>
                </a:solidFill>
                <a:latin typeface="Helvetica Neue"/>
                <a:ea typeface="Helvetica Neue"/>
                <a:cs typeface="Helvetica Neue"/>
              </a:rPr>
              <a:t>Orin memory and precision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D0D47-CFD0-4E74-AB30-32242F26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rPr>
              <a:t>INTERIM FINDINGS   19 September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E8014-604D-4D29-AC41-948B7DDC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2428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667500"/>
                <a:gridCol w="4152900"/>
              </a:tblGrid>
              <a:tr h="60721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FP16 KV capacity, batch 1</a:t>
                      </a:r>
                    </a:p>
                  </a:txBody>
                  <a:tcPr marL="152400" marR="152400" marT="95250" marB="95250" anchor="ctr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Calculated storage</a:t>
                      </a:r>
                    </a:p>
                  </a:txBody>
                  <a:tcPr marL="152400" marR="152400" marT="95250" marB="95250" anchor="ctr">
                    <a:solidFill>
                      <a:srgbClr val="E8EFF2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1024 tokens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112 MiB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2048 tokens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224 MiB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4096 tokens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448 MiB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BA1AE-028A-469E-BEB6-48DD98EE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C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C6574"/>
                </a:solidFill>
                <a:latin typeface="Helvetica Neue"/>
                <a:ea typeface="Helvetica Neue"/>
                <a:cs typeface="Helvetica Neue"/>
              </a:rPr>
              <a:t>INT4 language plus FP16 vision: approximately 2.19 GiB of weights before scales and runtime overhead.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6871C-555E-4A02-BDE4-C0B3A912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3040"/>
                </a:solidFill>
                <a:latin typeface="Helvetica Neue"/>
                <a:ea typeface="Helvetica Neue"/>
                <a:cs typeface="Helvetica Neue"/>
              </a:rPr>
              <a:t>SM87 supports FP16, INT8 and INT4. FP8/FP4 engines and FP8 KV are unavailable.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0B808-BB03-4DBC-BF24-50A60DF6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rPr>
              <a:t>CPU and GPU share RAM. System use, process RSS and CUDA allocations overlap.</a:t>
            </a:r>
          </a:p>
        </p:txBody>
      </p:sp>
    </p:spTree>
    <p:extLst>
      <p:ext uri="{BB962C8B-B14F-4D97-AF65-F5344CB8AC3E}">
        <p14:creationId xmlns:p14="http://schemas.microsoft.com/office/powerpoint/2010/main" val="3835840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CADB9-2C76-4D33-9045-A6915FDB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040"/>
                </a:solidFill>
                <a:latin typeface="Helvetica Neue"/>
                <a:ea typeface="Helvetica Neue"/>
                <a:cs typeface="Helvetica Neue"/>
              </a:rPr>
              <a:t>Optimization budget and stopping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C7183-FC30-4F5B-8A54-F73437FD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rPr>
              <a:t>INTERIM FINDINGS   19 September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A1CAD-092C-4AFE-91BE-516E4812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A5D7A-4C08-4DAF-87E7-C469123F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620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C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C6574"/>
                </a:solidFill>
                <a:latin typeface="Helvetica Neue"/>
                <a:ea typeface="Helvetica Neue"/>
                <a:cs typeface="Helvetica Neue"/>
              </a:rPr>
              <a:t>12 candidates maximum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73BBE-FDF2-4C7B-AE31-7C1A1AFF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62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63040"/>
                </a:solidFill>
                <a:latin typeface="Helvetica Neue"/>
                <a:ea typeface="Helvetica Neue"/>
                <a:cs typeface="Helvetica Neue"/>
              </a:rPr>
              <a:t>5 warmups, then at least 30 fixed-workload requests per candidate.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AE28A-119A-4EB2-9293-C2AB106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062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63040"/>
                </a:solidFill>
                <a:latin typeface="Helvetica Neue"/>
                <a:ea typeface="Helvetica Neue"/>
                <a:cs typeface="Helvetica Neue"/>
              </a:rPr>
              <a:t>Stop after 3 consecutive candidates without a 5% gain in p50 latency or peak memory.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97424-73DC-447D-A1E1-43CA95AE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620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3040"/>
                </a:solidFill>
                <a:latin typeface="Helvetica Neue"/>
                <a:ea typeface="Helvetica Neue"/>
                <a:cs typeface="Helvetica Neue"/>
              </a:rPr>
              <a:t>Accept no greater than 5% regression in the counterpart or p95 latency. Require equivalent image-grounding quality.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52062-E985-42FE-9C9E-382269D3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62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8D5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8D551D"/>
                </a:solidFill>
                <a:latin typeface="Helvetica Neue"/>
                <a:ea typeface="Helvetica Neue"/>
                <a:cs typeface="Helvetica Neue"/>
              </a:rPr>
              <a:t>Select the fastest passing configuration with at least 512 MiB MemAvailable throughout 10 minutes of streaming.</a:t>
            </a:r>
          </a:p>
        </p:txBody>
      </p:sp>
    </p:spTree>
    <p:extLst>
      <p:ext uri="{BB962C8B-B14F-4D97-AF65-F5344CB8AC3E}">
        <p14:creationId xmlns:p14="http://schemas.microsoft.com/office/powerpoint/2010/main" val="17976755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A6986-B266-459E-9495-CEC41B87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040"/>
                </a:solidFill>
                <a:latin typeface="Helvetica Neue"/>
                <a:ea typeface="Helvetica Neue"/>
                <a:cs typeface="Helvetica Neue"/>
              </a:rPr>
              <a:t>Performance measurements pending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8ACAB-8B1B-4250-8061-10F250E6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rPr>
              <a:t>INTERIM FINDINGS   19 September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692C9-C045-4710-BAC6-858F042C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3600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391150"/>
                <a:gridCol w="2714625"/>
                <a:gridCol w="2714625"/>
              </a:tblGrid>
              <a:tr h="6000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marL="152400" marR="152400" marT="95250" marB="95250" anchor="ctr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FP16 baseline</a:t>
                      </a:r>
                    </a:p>
                  </a:txBody>
                  <a:tcPr marL="152400" marR="152400" marT="95250" marB="95250" anchor="ctr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INT4 candidate</a:t>
                      </a:r>
                    </a:p>
                  </a:txBody>
                  <a:tcPr marL="152400" marR="152400" marT="95250" marB="95250" anchor="ctr">
                    <a:solidFill>
                      <a:srgbClr val="E8EFF2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TTFT p50 / p95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Unmeasured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Unmeasured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 answer p50 / p95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Unmeasured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Unmeasured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End-to-end token throughput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Unmeasured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Unmeasured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CUDA allocation / system RAM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Unmeasured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Unmeasured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Image quality / 10-minute run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Unverified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Unverified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EBE22-C442-4427-8F45-196A795C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8D5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8D551D"/>
                </a:solidFill>
                <a:latin typeface="Helvetica Neue"/>
                <a:ea typeface="Helvetica Neue"/>
                <a:cs typeface="Helvetica Neue"/>
              </a:rPr>
              <a:t>No speedup claim is possible before paired measurements on the Orin.</a:t>
            </a:r>
          </a:p>
        </p:txBody>
      </p:sp>
    </p:spTree>
    <p:extLst>
      <p:ext uri="{BB962C8B-B14F-4D97-AF65-F5344CB8AC3E}">
        <p14:creationId xmlns:p14="http://schemas.microsoft.com/office/powerpoint/2010/main" val="16159050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D8F21-5953-45B5-8204-18CFEC04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040"/>
                </a:solidFill>
                <a:latin typeface="Helvetica Neue"/>
                <a:ea typeface="Helvetica Neue"/>
                <a:cs typeface="Helvetica Neue"/>
              </a:rPr>
              <a:t>Contributions and people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6AA66-2D12-4E67-8F70-395A60EE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rPr>
              <a:t>INTERIM FINDINGS   19 September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CA53A-B019-4DB1-88C4-5113290B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33D42-3231-4112-A9F7-E6C04FB6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C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C6574"/>
                </a:solidFill>
                <a:latin typeface="Helvetica Neue"/>
                <a:ea typeface="Helvetica Neue"/>
                <a:cs typeface="Helvetica Neue"/>
              </a:rPr>
              <a:t>Upstream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55CDA-3EA5-41F3-8307-6B32B883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3040"/>
                </a:solidFill>
                <a:latin typeface="Helvetica Neue"/>
                <a:ea typeface="Helvetica Neue"/>
                <a:cs typeface="Helvetica Neue"/>
              </a:rPr>
              <a:t>NVIDIA supplies the model, C++/CUDA runtime, builders and quantization infrastructure. live-vlm-webui supplies the interaction reference.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AB030-87D5-47B4-8338-14873100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C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C6574"/>
                </a:solidFill>
                <a:latin typeface="Helvetica Neue"/>
                <a:ea typeface="Helvetica Neue"/>
                <a:cs typeface="Helvetica Neue"/>
              </a:rPr>
              <a:t>Public contributor credits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2F249-73B8-491D-A338-894DC554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3040"/>
                </a:solidFill>
                <a:latin typeface="Helvetica Neue"/>
                <a:ea typeface="Helvetica Neue"/>
                <a:cs typeface="Helvetica Neue"/>
              </a:rPr>
              <a:t>UI: tokk-nv, chitoku</a:t>
            </a:r>
          </a:p>
          <a:p xmlns:a="http://schemas.openxmlformats.org/drawingml/2006/main">
            <a:pPr>
              <a:defRPr sz="1950" b="0">
                <a:solidFill>
                  <a:srgbClr val="16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3040"/>
                </a:solidFill>
                <a:latin typeface="Helvetica Neue"/>
                <a:ea typeface="Helvetica Neue"/>
                <a:cs typeface="Helvetica Neue"/>
              </a:rPr>
              <a:t>Runtime: nvluxiaoz, ever-wong, jhalabi-nv, nvxingkaiz, JCalafato, poweiw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BE53D-F341-4FBD-A199-D0487937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C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C6574"/>
                </a:solidFill>
                <a:latin typeface="Helvetica Neue"/>
                <a:ea typeface="Helvetica Neue"/>
                <a:cs typeface="Helvetica Neue"/>
              </a:rPr>
              <a:t>Original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580B8-05A3-42AA-8D8F-CF81057E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3040"/>
                </a:solidFill>
                <a:latin typeface="Helvetica Neue"/>
                <a:ea typeface="Helvetica Neue"/>
                <a:cs typeface="Helvetica Neue"/>
              </a:rPr>
              <a:t>Compact browser interface, local SSE proxy, bounded frame scheduling, timing/benchmark tools, and reproducible deployment files.</a:t>
            </a:r>
          </a:p>
        </p:txBody>
      </p:sp>
    </p:spTree>
    <p:extLst>
      <p:ext uri="{BB962C8B-B14F-4D97-AF65-F5344CB8AC3E}">
        <p14:creationId xmlns:p14="http://schemas.microsoft.com/office/powerpoint/2010/main" val="1497152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3AAA5-FF95-4EA1-9151-1B256E0B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0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040"/>
                </a:solidFill>
                <a:latin typeface="Helvetica Neue"/>
                <a:ea typeface="Helvetica Neue"/>
                <a:cs typeface="Helvetica Neue"/>
              </a:rPr>
              <a:t>Remaining deployment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BD1C7-9142-4651-BC38-EAD9430E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rPr>
              <a:t>INTERIM FINDINGS   19 September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3045C-B0AE-4F65-9E45-98BD7930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371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3657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872490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Gate</a:t>
                      </a:r>
                    </a:p>
                  </a:txBody>
                  <a:tcPr marL="152400" marR="152400" marT="95250" marB="95250" anchor="ctr">
                    <a:solidFill>
                      <a:srgbClr val="E8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needed</a:t>
                      </a:r>
                    </a:p>
                  </a:txBody>
                  <a:tcPr marL="152400" marR="152400" marT="95250" marB="95250" anchor="ctr">
                    <a:solidFill>
                      <a:srgbClr val="E8EFF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Connect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Powered Jetson identity, RAM, storage and USB/SSH access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Install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Official JetPack 7.2.1 with verified CUDA/TensorRT stack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Run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Image-grounded Cosmos3-Edge answer on TensorRT Edge-LLM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Serve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Reachable Orin webpage with camera/upload and token streaming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30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Passing sustained run and bounded optimization results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3CFF4-D938-4B6D-8A66-F5CA04CA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C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C6574"/>
                </a:solidFill>
                <a:latin typeface="Helvetica Neue"/>
                <a:ea typeface="Helvetica Neue"/>
                <a:cs typeface="Helvetica Neue"/>
              </a:rPr>
              <a:t>Deliverable after these gates: the Orin URL and a final deck with measured findings.</a:t>
            </a:r>
          </a:p>
        </p:txBody>
      </p:sp>
    </p:spTree>
    <p:extLst>
      <p:ext uri="{BB962C8B-B14F-4D97-AF65-F5344CB8AC3E}">
        <p14:creationId xmlns:p14="http://schemas.microsoft.com/office/powerpoint/2010/main" val="2114485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2026-09-19T18:09:21.2910000Z</dcterms:created>
  <dcterms:modified xsi:type="dcterms:W3CDTF">2026-09-19T18:09:21.2910000Z</dcterms:modified>
</coreProperties>
</file>