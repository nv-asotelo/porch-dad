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0cb6ef895ca453f" /><Relationship Type="http://schemas.openxmlformats.org/officeDocument/2006/relationships/extended-properties" Target="/docProps/app.xml" Id="R832925c94cfb419e" /><Relationship Type="http://schemas.openxmlformats.org/officeDocument/2006/relationships/officeDocument" Target="/ppt/presentation.xml" Id="Re220f897db4e49e5" /></Relationships>
</file>

<file path=ppt/presentation.xml><?xml version="1.0" encoding="utf-8"?>
<p:presentation xmlns:p="http://schemas.openxmlformats.org/presentationml/2006/main">
  <p:sldMasterIdLst>
    <p:sldMasterId xmlns:r="http://schemas.openxmlformats.org/officeDocument/2006/relationships" id="2147483648" r:id="R580b929992274520"/>
  </p:sldMasterIdLst>
  <p:notesMasterIdLst>
    <p:notesMasterId xmlns:r="http://schemas.openxmlformats.org/officeDocument/2006/relationships" r:id="R29855805012d43ec"/>
  </p:notesMasterIdLst>
  <p:sldIdLst>
    <p:sldId xmlns:r="http://schemas.openxmlformats.org/officeDocument/2006/relationships" id="256" r:id="R8e445df886214e9c"/>
    <p:sldId xmlns:r="http://schemas.openxmlformats.org/officeDocument/2006/relationships" id="257" r:id="Rdc5a442050cd45de"/>
    <p:sldId xmlns:r="http://schemas.openxmlformats.org/officeDocument/2006/relationships" id="258" r:id="Rcb6ea315137a4c40"/>
    <p:sldId xmlns:r="http://schemas.openxmlformats.org/officeDocument/2006/relationships" id="259" r:id="Re10f45a61c314705"/>
    <p:sldId xmlns:r="http://schemas.openxmlformats.org/officeDocument/2006/relationships" id="260" r:id="Re9b4f828382849fa"/>
    <p:sldId xmlns:r="http://schemas.openxmlformats.org/officeDocument/2006/relationships" id="261" r:id="Rf044b2638621458a"/>
    <p:sldId xmlns:r="http://schemas.openxmlformats.org/officeDocument/2006/relationships" id="262" r:id="Re74e0d9045cf4a45"/>
    <p:sldId xmlns:r="http://schemas.openxmlformats.org/officeDocument/2006/relationships" id="263" r:id="R12da31623f65438a"/>
    <p:sldId xmlns:r="http://schemas.openxmlformats.org/officeDocument/2006/relationships" id="264" r:id="R978bea00be8e473b"/>
    <p:sldId xmlns:r="http://schemas.openxmlformats.org/officeDocument/2006/relationships" id="265" r:id="Rfdc97e9941c34eb7"/>
    <p:sldId xmlns:r="http://schemas.openxmlformats.org/officeDocument/2006/relationships" id="266" r:id="Rba6af4bb1a3b4a46"/>
    <p:sldId xmlns:r="http://schemas.openxmlformats.org/officeDocument/2006/relationships" id="267" r:id="R51ecfde7981e4d08"/>
    <p:sldId xmlns:r="http://schemas.openxmlformats.org/officeDocument/2006/relationships" id="268" r:id="Rc921bb8f4c164f8a"/>
    <p:sldId xmlns:r="http://schemas.openxmlformats.org/officeDocument/2006/relationships" id="269" r:id="Rb607ea96f0664cb5"/>
    <p:sldId xmlns:r="http://schemas.openxmlformats.org/officeDocument/2006/relationships" id="270" r:id="R2b5f7bfcff5347c2"/>
    <p:sldId xmlns:r="http://schemas.openxmlformats.org/officeDocument/2006/relationships" id="271" r:id="R78166e16edd14476"/>
    <p:sldId xmlns:r="http://schemas.openxmlformats.org/officeDocument/2006/relationships" id="272" r:id="R6abc32509175414b"/>
    <p:sldId xmlns:r="http://schemas.openxmlformats.org/officeDocument/2006/relationships" id="273" r:id="Rea357ee3c0814079"/>
    <p:sldId xmlns:r="http://schemas.openxmlformats.org/officeDocument/2006/relationships" id="274" r:id="Rf4153098360147d3"/>
    <p:sldId xmlns:r="http://schemas.openxmlformats.org/officeDocument/2006/relationships" id="275" r:id="R4cd4b243be674888"/>
    <p:sldId xmlns:r="http://schemas.openxmlformats.org/officeDocument/2006/relationships" id="276" r:id="Rd1636f05211d45df"/>
    <p:sldId xmlns:r="http://schemas.openxmlformats.org/officeDocument/2006/relationships" id="277" r:id="R6aebbb888510459c"/>
    <p:sldId xmlns:r="http://schemas.openxmlformats.org/officeDocument/2006/relationships" id="278" r:id="R9caaa16749064e4b"/>
    <p:sldId xmlns:r="http://schemas.openxmlformats.org/officeDocument/2006/relationships" id="279" r:id="Rf748dcab8ca048ed"/>
    <p:sldId xmlns:r="http://schemas.openxmlformats.org/officeDocument/2006/relationships" id="280" r:id="Rb950d67049674ceb"/>
    <p:sldId xmlns:r="http://schemas.openxmlformats.org/officeDocument/2006/relationships" id="281" r:id="R46a1cb1512544457"/>
    <p:sldId xmlns:r="http://schemas.openxmlformats.org/officeDocument/2006/relationships" id="282" r:id="R73078cc04e0643b9"/>
    <p:sldId xmlns:r="http://schemas.openxmlformats.org/officeDocument/2006/relationships" id="283" r:id="Rd517d0a0fe104a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d675ff86ae4349" /><Relationship Type="http://schemas.openxmlformats.org/officeDocument/2006/relationships/slideMaster" Target="/ppt/slideMasters/slideMaster1.xml" Id="R580b929992274520" /><Relationship Type="http://schemas.openxmlformats.org/officeDocument/2006/relationships/notesMaster" Target="/ppt/notesMasters/notesMaster1.xml" Id="R29855805012d43ec" /><Relationship Type="http://schemas.openxmlformats.org/officeDocument/2006/relationships/presProps" Target="/ppt/presProps.xml" Id="R4a049e6d67544fe6" /><Relationship Type="http://schemas.openxmlformats.org/officeDocument/2006/relationships/tableStyles" Target="/ppt/tableStyles.xml" Id="Rcb0b7e7053b144f4" /><Relationship Type="http://schemas.openxmlformats.org/officeDocument/2006/relationships/slide" Target="/ppt/slides/slide1.xml" Id="R8e445df886214e9c" /><Relationship Type="http://schemas.openxmlformats.org/officeDocument/2006/relationships/slide" Target="/ppt/slides/slide2.xml" Id="Rdc5a442050cd45de" /><Relationship Type="http://schemas.openxmlformats.org/officeDocument/2006/relationships/slide" Target="/ppt/slides/slide3.xml" Id="Rcb6ea315137a4c40" /><Relationship Type="http://schemas.openxmlformats.org/officeDocument/2006/relationships/slide" Target="/ppt/slides/slide4.xml" Id="Re10f45a61c314705" /><Relationship Type="http://schemas.openxmlformats.org/officeDocument/2006/relationships/slide" Target="/ppt/slides/slide5.xml" Id="Re9b4f828382849fa" /><Relationship Type="http://schemas.openxmlformats.org/officeDocument/2006/relationships/slide" Target="/ppt/slides/slide6.xml" Id="Rf044b2638621458a" /><Relationship Type="http://schemas.openxmlformats.org/officeDocument/2006/relationships/slide" Target="/ppt/slides/slide7.xml" Id="Re74e0d9045cf4a45" /><Relationship Type="http://schemas.openxmlformats.org/officeDocument/2006/relationships/slide" Target="/ppt/slides/slide8.xml" Id="R12da31623f65438a" /><Relationship Type="http://schemas.openxmlformats.org/officeDocument/2006/relationships/slide" Target="/ppt/slides/slide9.xml" Id="R978bea00be8e473b" /><Relationship Type="http://schemas.openxmlformats.org/officeDocument/2006/relationships/slide" Target="/ppt/slides/slide10.xml" Id="Rfdc97e9941c34eb7" /><Relationship Type="http://schemas.openxmlformats.org/officeDocument/2006/relationships/slide" Target="/ppt/slides/slide11.xml" Id="Rba6af4bb1a3b4a46" /><Relationship Type="http://schemas.openxmlformats.org/officeDocument/2006/relationships/slide" Target="/ppt/slides/slide12.xml" Id="R51ecfde7981e4d08" /><Relationship Type="http://schemas.openxmlformats.org/officeDocument/2006/relationships/slide" Target="/ppt/slides/slide13.xml" Id="Rc921bb8f4c164f8a" /><Relationship Type="http://schemas.openxmlformats.org/officeDocument/2006/relationships/slide" Target="/ppt/slides/slide14.xml" Id="Rb607ea96f0664cb5" /><Relationship Type="http://schemas.openxmlformats.org/officeDocument/2006/relationships/slide" Target="/ppt/slides/slide15.xml" Id="R2b5f7bfcff5347c2" /><Relationship Type="http://schemas.openxmlformats.org/officeDocument/2006/relationships/slide" Target="/ppt/slides/slide16.xml" Id="R78166e16edd14476" /><Relationship Type="http://schemas.openxmlformats.org/officeDocument/2006/relationships/slide" Target="/ppt/slides/slide17.xml" Id="R6abc32509175414b" /><Relationship Type="http://schemas.openxmlformats.org/officeDocument/2006/relationships/slide" Target="/ppt/slides/slide18.xml" Id="Rea357ee3c0814079" /><Relationship Type="http://schemas.openxmlformats.org/officeDocument/2006/relationships/slide" Target="/ppt/slides/slide19.xml" Id="Rf4153098360147d3" /><Relationship Type="http://schemas.openxmlformats.org/officeDocument/2006/relationships/slide" Target="/ppt/slides/slide20.xml" Id="R4cd4b243be674888" /><Relationship Type="http://schemas.openxmlformats.org/officeDocument/2006/relationships/slide" Target="/ppt/slides/slide21.xml" Id="Rd1636f05211d45df" /><Relationship Type="http://schemas.openxmlformats.org/officeDocument/2006/relationships/slide" Target="/ppt/slides/slide22.xml" Id="R6aebbb888510459c" /><Relationship Type="http://schemas.openxmlformats.org/officeDocument/2006/relationships/slide" Target="/ppt/slides/slide23.xml" Id="R9caaa16749064e4b" /><Relationship Type="http://schemas.openxmlformats.org/officeDocument/2006/relationships/slide" Target="/ppt/slides/slide24.xml" Id="Rf748dcab8ca048ed" /><Relationship Type="http://schemas.openxmlformats.org/officeDocument/2006/relationships/slide" Target="/ppt/slides/slide25.xml" Id="Rb950d67049674ceb" /><Relationship Type="http://schemas.openxmlformats.org/officeDocument/2006/relationships/slide" Target="/ppt/slides/slide26.xml" Id="R46a1cb1512544457" /><Relationship Type="http://schemas.openxmlformats.org/officeDocument/2006/relationships/slide" Target="/ppt/slides/slide27.xml" Id="R73078cc04e0643b9" /><Relationship Type="http://schemas.openxmlformats.org/officeDocument/2006/relationships/slide" Target="/ppt/slides/slide28.xml" Id="Rd517d0a0fe104a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75e92856fe414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06e44f511b4ca0" /><Relationship Type="http://schemas.openxmlformats.org/officeDocument/2006/relationships/notesMaster" Target="/ppt/notesMasters/notesMaster1.xml" Id="R81c679c75df343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1d301b78174c36" /><Relationship Type="http://schemas.openxmlformats.org/officeDocument/2006/relationships/notesMaster" Target="/ppt/notesMasters/notesMaster1.xml" Id="Ra29617f4876a431a"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4c94d6e0004b02" /><Relationship Type="http://schemas.openxmlformats.org/officeDocument/2006/relationships/notesMaster" Target="/ppt/notesMasters/notesMaster1.xml" Id="R18d45ecadb8b4e46" /></Relationships>
</file>

<file path=ppt/notesSlides/_rels/notesSlide4.xml.rels>&#65279;<?xml version="1.0" encoding="utf-8"?><Relationships xmlns="http://schemas.openxmlformats.org/package/2006/relationships"><Relationship Type="http://schemas.openxmlformats.org/officeDocument/2006/relationships/slide" Target="/ppt/slides/slide4.xml" Id="Rdcfe3a6b93344e5a" /><Relationship Type="http://schemas.openxmlformats.org/officeDocument/2006/relationships/notesMaster" Target="/ppt/notesMasters/notesMaster1.xml" Id="R71f84b8440bf44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20366acbcb48d8" /><Relationship Type="http://schemas.openxmlformats.org/officeDocument/2006/relationships/notesMaster" Target="/ppt/notesMasters/notesMaster1.xml" Id="R5bf727bf216b4b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13f26c81dfb04f5a" /><Relationship Type="http://schemas.openxmlformats.org/officeDocument/2006/relationships/notesMaster" Target="/ppt/notesMasters/notesMaster1.xml" Id="R9163e80bc95745a9" /></Relationships>
</file>

<file path=ppt/notesSlides/_rels/notesSlide7.xml.rels>&#65279;<?xml version="1.0" encoding="utf-8"?><Relationships xmlns="http://schemas.openxmlformats.org/package/2006/relationships"><Relationship Type="http://schemas.openxmlformats.org/officeDocument/2006/relationships/slide" Target="/ppt/slides/slide7.xml" Id="R8cc01ceda0d741ea" /><Relationship Type="http://schemas.openxmlformats.org/officeDocument/2006/relationships/notesMaster" Target="/ppt/notesMasters/notesMaster1.xml" Id="R75543739232f4d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6753adb6134a76" /><Relationship Type="http://schemas.openxmlformats.org/officeDocument/2006/relationships/notesMaster" Target="/ppt/notesMasters/notesMaster1.xml" Id="R3e9b49dcb55b4691"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9642d69501488b" /><Relationship Type="http://schemas.openxmlformats.org/officeDocument/2006/relationships/notesMaster" Target="/ppt/notesMasters/notesMaster1.xml" Id="R005f35fe3f564c3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d41b72599c4e3d" /><Relationship Type="http://schemas.openxmlformats.org/officeDocument/2006/relationships/notesMaster" Target="/ppt/notesMasters/notesMaster1.xml" Id="R62a1a512560246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a73bea94824076" /><Relationship Type="http://schemas.openxmlformats.org/officeDocument/2006/relationships/notesMaster" Target="/ppt/notesMasters/notesMaster1.xml" Id="R1cd1ec3a80f6412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85cbe40832343b9" /><Relationship Type="http://schemas.openxmlformats.org/officeDocument/2006/relationships/notesMaster" Target="/ppt/notesMasters/notesMaster1.xml" Id="Rcb2762b50d6a487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bf34bfd90344c9a" /><Relationship Type="http://schemas.openxmlformats.org/officeDocument/2006/relationships/notesMaster" Target="/ppt/notesMasters/notesMaster1.xml" Id="R5d2aff71d66e40e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ce1fc1a1bc84d51" /><Relationship Type="http://schemas.openxmlformats.org/officeDocument/2006/relationships/notesMaster" Target="/ppt/notesMasters/notesMaster1.xml" Id="R5c142ac279dc4e0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6f1751a44864c82" /><Relationship Type="http://schemas.openxmlformats.org/officeDocument/2006/relationships/notesMaster" Target="/ppt/notesMasters/notesMaster1.xml" Id="Rf14130cdcfa1452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2459f526d95487f" /><Relationship Type="http://schemas.openxmlformats.org/officeDocument/2006/relationships/notesMaster" Target="/ppt/notesMasters/notesMaster1.xml" Id="R2926b63a0e464e4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ac862014f8c4e89" /><Relationship Type="http://schemas.openxmlformats.org/officeDocument/2006/relationships/notesMaster" Target="/ppt/notesMasters/notesMaster1.xml" Id="R827ee5dc737f484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8a2425a39664a1c" /><Relationship Type="http://schemas.openxmlformats.org/officeDocument/2006/relationships/notesMaster" Target="/ppt/notesMasters/notesMaster1.xml" Id="R8bfd957c0f9f49e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0a7199d3f2f4473" /><Relationship Type="http://schemas.openxmlformats.org/officeDocument/2006/relationships/notesMaster" Target="/ppt/notesMasters/notesMaster1.xml" Id="Rf10651b2d7004ef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98b94a58fad42f0" /><Relationship Type="http://schemas.openxmlformats.org/officeDocument/2006/relationships/notesMaster" Target="/ppt/notesMasters/notesMaster1.xml" Id="R218a8328760e443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a4d8e573d524beb" /><Relationship Type="http://schemas.openxmlformats.org/officeDocument/2006/relationships/notesMaster" Target="/ppt/notesMasters/notesMaster1.xml" Id="R39f155ea39b7487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e22e9e42a4b464e" /><Relationship Type="http://schemas.openxmlformats.org/officeDocument/2006/relationships/notesMaster" Target="/ppt/notesMasters/notesMaster1.xml" Id="R47997575b3924ea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d70fed7ecfb49c3" /><Relationship Type="http://schemas.openxmlformats.org/officeDocument/2006/relationships/notesMaster" Target="/ppt/notesMasters/notesMaster1.xml" Id="R657bdf8e10ce4a9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a8953e3cbbd4493" /><Relationship Type="http://schemas.openxmlformats.org/officeDocument/2006/relationships/notesMaster" Target="/ppt/notesMasters/notesMaster1.xml" Id="R0b5c1eac9f3c414b"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f9301809aae4b3d" /><Relationship Type="http://schemas.openxmlformats.org/officeDocument/2006/relationships/notesMaster" Target="/ppt/notesMasters/notesMaster1.xml" Id="R93b70f3d2282409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aa7a127f3b7425e" /><Relationship Type="http://schemas.openxmlformats.org/officeDocument/2006/relationships/notesMaster" Target="/ppt/notesMasters/notesMaster1.xml" Id="R73070b5782134e7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7e92641f62694607" /><Relationship Type="http://schemas.openxmlformats.org/officeDocument/2006/relationships/notesMaster" Target="/ppt/notesMasters/notesMaster1.xml" Id="R7908005699354e4a"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ca158a1f02a845ae" /><Relationship Type="http://schemas.openxmlformats.org/officeDocument/2006/relationships/notesMaster" Target="/ppt/notesMasters/notesMaster1.xml" Id="R5eb69456ead442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presentation design. A final label requires explicit selected-candidate and completed-soak evidence.</a:t>
            </a:r>
          </a:p>
          <a:p xmlns:a="http://schemas.openxmlformats.org/drawingml/2006/main">
            <a:r>
              <a:t>Measured values supplied by output/final-findings-data.json.</a:t>
            </a:r>
          </a:p>
          <a:p xmlns:a="http://schemas.openxmlformats.org/drawingml/2006/main">
            <a:r>
              <a:t>Sources:</a:t>
            </a:r>
          </a:p>
          <a:p xmlns:a="http://schemas.openxmlformats.org/drawingml/2006/main">
            <a:r>
              <a:t>results/optimization-selection.json</a:t>
            </a:r>
          </a:p>
          <a:p xmlns:a="http://schemas.openxmlformats.org/drawingml/2006/main">
            <a:r>
              <a:t>results/raw/soak-final-service-01.summary.json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Installed platform facts come from the actual device receipts. Advertised RAM and Linux MemTotal are distinct.</a:t>
            </a:r>
          </a:p>
          <a:p xmlns:a="http://schemas.openxmlformats.org/drawingml/2006/main">
            <a:r>
              <a:t>Measured values supplied by output/final-findings-data.json.</a:t>
            </a:r>
          </a:p>
          <a:p xmlns:a="http://schemas.openxmlformats.org/drawingml/2006/main">
            <a:r>
              <a:t>Sources:</a:t>
            </a:r>
          </a:p>
          <a:p xmlns:a="http://schemas.openxmlformats.org/drawingml/2006/main">
            <a:r>
              <a:t>results/normal-boot.json</a:t>
            </a:r>
          </a:p>
          <a:p xmlns:a="http://schemas.openxmlformats.org/drawingml/2006/main">
            <a:r>
              <a:t>results/jetpack-flash-status.json</a:t>
            </a:r>
          </a:p>
          <a:p xmlns:a="http://schemas.openxmlformats.org/drawingml/2006/main">
            <a:r>
              <a:t>results/installed-compute-packages.json</a:t>
            </a:r>
          </a:p>
          <a:p xmlns:a="http://schemas.openxmlformats.org/drawingml/2006/main">
            <a:r>
              <a:t>https://developer.nvidia.com/embedded/jetpack/downloads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UI and actual inference screenshot. Crop removes lower settings only. Screenshot timing is one request, not the benchmark distribution. The screenshot does not establish general image accuracy.</a:t>
            </a:r>
          </a:p>
          <a:p xmlns:a="http://schemas.openxmlformats.org/drawingml/2006/main">
            <a:r>
              <a:t>Measured values supplied by output/final-findings-data.json.</a:t>
            </a:r>
          </a:p>
          <a:p xmlns:a="http://schemas.openxmlformats.org/drawingml/2006/main">
            <a:r>
              <a:t>Sources:</a:t>
            </a:r>
          </a:p>
          <a:p xmlns:a="http://schemas.openxmlformats.org/drawingml/2006/main">
            <a:r>
              <a:t>results/browser-live-ui-final.json</a:t>
            </a:r>
          </a:p>
          <a:p xmlns:a="http://schemas.openxmlformats.org/drawingml/2006/main">
            <a:r>
              <a:t>results/browser-live-ui-final.json</a:t>
            </a:r>
          </a:p>
          <a:p xmlns:a="http://schemas.openxmlformats.org/drawingml/2006/main">
            <a:r>
              <a:t>results/browser-camera-ui-final.json</a:t>
            </a:r>
          </a:p>
          <a:p xmlns:a="http://schemas.openxmlformats.org/drawingml/2006/main">
            <a:r>
              <a:t>https://github.com/NVIDIA-AI-IOT/live-vlm-webui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browser/proxy components wrap the public TensorRT Edge-LLM reasoner. One active request prevents accumulating frames. The application displays only real upstream token deltas.</a:t>
            </a:r>
          </a:p>
          <a:p xmlns:a="http://schemas.openxmlformats.org/drawingml/2006/main">
            <a:r>
              <a:t>Measured values supplied by output/final-findings-data.json.</a:t>
            </a:r>
          </a:p>
          <a:p xmlns:a="http://schemas.openxmlformats.org/drawingml/2006/main">
            <a:r>
              <a:t>Sources:</a:t>
            </a:r>
          </a:p>
          <a:p xmlns:a="http://schemas.openxmlformats.org/drawingml/2006/main">
            <a:r>
              <a:t>scripts/serve_ui.py</a:t>
            </a:r>
          </a:p>
          <a:p xmlns:a="http://schemas.openxmlformats.org/drawingml/2006/main">
            <a:r>
              <a:t>web/app.js</a:t>
            </a:r>
          </a:p>
          <a:p xmlns:a="http://schemas.openxmlformats.org/drawingml/2006/main">
            <a:r>
              <a:t>https://github.com/NVIDIA/TensorRT-Edge-LLM/blob/e8b29522938901f6df19ebeedd4b69bc8edbcd97/experimental/server/cli.py</a:t>
            </a:r>
          </a:p>
          <a:p xmlns:a="http://schemas.openxmlformats.org/drawingml/2006/main">
            <a:r>
              <a:t>https://github.com/NVIDIA/TensorRT-Edge-LLM/blob/e8b29522938901f6df19ebeedd4b69bc8edbcd97/experimental/server/runtime/engine.py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original diagnoses and small integrations reuse the public model/exporter conventions. No model training or new interpolation algorithm is claimed. Patch projection requires a fresh visual engine. Position and cache API changes require rebuilding the native binding.</a:t>
            </a:r>
          </a:p>
          <a:p xmlns:a="http://schemas.openxmlformats.org/drawingml/2006/main">
            <a:r>
              <a:t>Measured values supplied by output/final-findings-data.json.</a:t>
            </a:r>
          </a:p>
          <a:p xmlns:a="http://schemas.openxmlformats.org/drawingml/2006/main">
            <a:r>
              <a:t>Sources:</a:t>
            </a:r>
          </a:p>
          <a:p xmlns:a="http://schemas.openxmlformats.org/drawingml/2006/main">
            <a:r>
              <a:t>patches/cosmos3-patch-embedding-chw.md</a:t>
            </a:r>
          </a:p>
          <a:p xmlns:a="http://schemas.openxmlformats.org/drawingml/2006/main">
            <a:r>
              <a:t>patches/cosmos3-half-pixel-position.md</a:t>
            </a:r>
          </a:p>
          <a:p xmlns:a="http://schemas.openxmlformats.org/drawingml/2006/main">
            <a:r>
              <a:t>patches/encoder-cache-budget.json</a:t>
            </a:r>
          </a:p>
          <a:p xmlns:a="http://schemas.openxmlformats.org/drawingml/2006/main">
            <a:r>
              <a:t>scripts/repair_cosmos_runtime_config.py</a:t>
            </a:r>
          </a:p>
          <a:p xmlns:a="http://schemas.openxmlformats.org/drawingml/2006/main">
            <a:r>
              <a:t>scripts/repair_cosmos_chat_template.py</a:t>
            </a:r>
          </a:p>
          <a:p xmlns:a="http://schemas.openxmlformats.org/drawingml/2006/main">
            <a:r>
              <a:t>https://github.com/NVIDIA/TensorRT-Edge-LLM/blob/e8b29522938901f6df19ebeedd4b69bc8edbcd97/tensorrt_edgellm/models/cosmos3_reasoner/modeling_cosmos3_reasoner_visual.py</a:t>
            </a:r>
          </a:p>
          <a:p xmlns:a="http://schemas.openxmlformats.org/drawingml/2006/main">
            <a:r>
              <a:t>https://github.com/huggingface/transformers/blob/c587bc884db2c2e31fc2b8102314656b17aa07b1/src/transformers/models/cosmos3_edge/modeling_cosmos3_edge.py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Strict six-image fixture grading and optimization equivalence are separate. The official unmodified model reproduced the entire case05 sphere answer on the exact image and prompt. A pre-INT4 policy preserves every previously correct fact and permits only that precise known error. It does not turn the strict 18/19 result into a 19/19 pass.</a:t>
            </a:r>
          </a:p>
          <a:p xmlns:a="http://schemas.openxmlformats.org/drawingml/2006/main">
            <a:r>
              <a:t>The distinct natural-photo smoke check is outside candidate selection. Fully correct photos means every required observation is correct, not merely a completed HTTP response. The natural-image official reference runs the unchanged public model through Transformers on Mac MPS FP16. It scores 5/9 with the same grading interpretation, with 2/3 answers exactly matching the Orin. In the recorded comparison, market gives only "Carrots." and dog incorrectly says "wooden deck" in both paths. The cap/mitt wording differs but both miss the required cap-on-mitt relation. The displayed 5/9 gives generous partial credit for carrot identity even though "Carrots." omits the required lower-right relation. Strict full-fact grading is 4/9. No photo satisfies every required fact under either interpretation. These observations do not establish a model-only cause for every failure. Mac execution time is diagnostic and is not an Orin performance measurement.</a:t>
            </a:r>
          </a:p>
          <a:p xmlns:a="http://schemas.openxmlformats.org/drawingml/2006/main">
            <a:r>
              <a:t>Captured official reference answer: Both objects are purple. The left object, which is a sphere, is larger than the right object, which is a smaller sphere.</a:t>
            </a:r>
          </a:p>
          <a:p xmlns:a="http://schemas.openxmlformats.org/drawingml/2006/main">
            <a:r>
              <a:t>Measured values supplied by output/final-findings-data.json.</a:t>
            </a:r>
          </a:p>
          <a:p xmlns:a="http://schemas.openxmlformats.org/drawingml/2006/main">
            <a:r>
              <a:t>Sources:</a:t>
            </a:r>
          </a:p>
          <a:p xmlns:a="http://schemas.openxmlformats.org/drawingml/2006/main">
            <a:r>
              <a:t>results/quality-final-service-01-review.json</a:t>
            </a:r>
          </a:p>
          <a:p xmlns:a="http://schemas.openxmlformats.org/drawingml/2006/main">
            <a:r>
              <a:t>results/optimization-quality-policy.json</a:t>
            </a:r>
          </a:p>
          <a:p xmlns:a="http://schemas.openxmlformats.org/drawingml/2006/main">
            <a:r>
              <a:t>results/reference-official-05-comparison.json</a:t>
            </a:r>
          </a:p>
          <a:p xmlns:a="http://schemas.openxmlformats.org/drawingml/2006/main">
            <a:r>
              <a:t>results/natural-smoke-final-01-review.json</a:t>
            </a:r>
          </a:p>
          <a:p xmlns:a="http://schemas.openxmlformats.org/drawingml/2006/main">
            <a:r>
              <a:t>results/reference-natural-smoke.json</a:t>
            </a:r>
          </a:p>
          <a:p xmlns:a="http://schemas.openxmlformats.org/drawingml/2006/main">
            <a:r>
              <a:t>benchmarks/natural-smoke/manifest.json</a:t>
            </a:r>
          </a:p>
          <a:p xmlns:a="http://schemas.openxmlformats.org/drawingml/2006/main">
            <a:r>
              <a:t>benchmarks/natural-smoke/README.md</a:t>
            </a:r>
          </a:p>
          <a:p xmlns:a="http://schemas.openxmlformats.org/drawingml/2006/main">
            <a:r>
              <a:t>results/reference-official-05.json</a:t>
            </a:r>
          </a:p>
          <a:p xmlns:a="http://schemas.openxmlformats.org/drawingml/2006/main">
            <a:r>
              <a:t>https://huggingface.co/nvidia/Cosmos3-Edge/blob/344d602b128d1bbdacb43b08d0a3626f46343e29/README.md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Warmups remain separate from measured requests. TTFT starts at request dispatch and ends on the first nonempty text delta. Completion token counts must come from real backend usage. Equivalent-quality qualification is an overlay referencing unchanged raw measurements.</a:t>
            </a:r>
          </a:p>
          <a:p xmlns:a="http://schemas.openxmlformats.org/drawingml/2006/main">
            <a:r>
              <a:t>Measured values supplied by output/final-findings-data.json.</a:t>
            </a:r>
          </a:p>
          <a:p xmlns:a="http://schemas.openxmlformats.org/drawingml/2006/main">
            <a:r>
              <a:t>Sources:</a:t>
            </a:r>
          </a:p>
          <a:p xmlns:a="http://schemas.openxmlformats.org/drawingml/2006/main">
            <a:r>
              <a:t>research/benchmark-method.md</a:t>
            </a:r>
          </a:p>
          <a:p xmlns:a="http://schemas.openxmlformats.org/drawingml/2006/main">
            <a:r>
              <a:t>GOAL.md</a:t>
            </a:r>
          </a:p>
          <a:p xmlns:a="http://schemas.openxmlformats.org/drawingml/2006/main">
            <a:r>
              <a:t>results/benchmark-fp16-qualified.jsonl</a:t>
            </a:r>
          </a:p>
          <a:p xmlns:a="http://schemas.openxmlformats.org/drawingml/2006/main">
            <a:r>
              <a:t>results/raw/benchmark-fp16-reference-01.jsonl</a:t>
            </a:r>
          </a:p>
          <a:p xmlns:a="http://schemas.openxmlformats.org/drawingml/2006/main">
            <a:r>
              <a:t>results/optimization-quality-policy.json</a:t>
            </a:r>
          </a:p>
          <a:p xmlns:a="http://schemas.openxmlformats.org/drawingml/2006/main">
            <a:r>
              <a:t>results/optimization-search-plan.json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qualification overlay references the original 35-request run, rather than recording a second measurement. Original raw SHA256: 3ecce48f18c461161a99368c221dc87abc43a8cb1e1a7c1b199f46f8d7d65417. Shared unavailable memory equals MemTotal minus MemAvailable. RSS is the process resident set. These overlapping counters must never be added.</a:t>
            </a:r>
          </a:p>
          <a:p xmlns:a="http://schemas.openxmlformats.org/drawingml/2006/main">
            <a:r>
              <a:t>Measured values supplied by output/final-findings-data.json.</a:t>
            </a:r>
          </a:p>
          <a:p xmlns:a="http://schemas.openxmlformats.org/drawingml/2006/main">
            <a:r>
              <a:t>Sources:</a:t>
            </a:r>
          </a:p>
          <a:p xmlns:a="http://schemas.openxmlformats.org/drawingml/2006/main">
            <a:r>
              <a:t>results/benchmark-fp16-qualified.jsonl</a:t>
            </a:r>
          </a:p>
          <a:p xmlns:a="http://schemas.openxmlformats.org/drawingml/2006/main">
            <a:r>
              <a:t>results/raw/benchmark-fp16-reference-01.jsonl</a:t>
            </a:r>
          </a:p>
          <a:p xmlns:a="http://schemas.openxmlformats.org/drawingml/2006/main">
            <a:r>
              <a:t>results/optimization-quality-policy.json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Group-128 symmetric round-to-nearest with stored FP16 scales and signed values -7 through 7. RTN_GPTQ dispatch describes RTN values in GPTQ-compatible packing. No GPTQ optimization, AWQ optimization, calibration dataset, GPU conversion or community checkpoint was used. Source shards stayed read-only. The exact public parser and V1/V2 repackers passed CPU tests.</a:t>
            </a:r>
          </a:p>
          <a:p xmlns:a="http://schemas.openxmlformats.org/drawingml/2006/main">
            <a:r>
              <a:t>Measured values supplied by output/final-findings-data.json.</a:t>
            </a:r>
          </a:p>
          <a:p xmlns:a="http://schemas.openxmlformats.org/drawingml/2006/main">
            <a:r>
              <a:t>Sources:</a:t>
            </a:r>
          </a:p>
          <a:p xmlns:a="http://schemas.openxmlformats.org/drawingml/2006/main">
            <a:r>
              <a:t>results/rtn-cpu-validation.json</a:t>
            </a:r>
          </a:p>
          <a:p xmlns:a="http://schemas.openxmlformats.org/drawingml/2006/main">
            <a:r>
              <a:t>scripts/quantize_cosmos3_rtn.py</a:t>
            </a:r>
          </a:p>
          <a:p xmlns:a="http://schemas.openxmlformats.org/drawingml/2006/main">
            <a:r>
              <a:t>scripts/rtn_backend.py</a:t>
            </a:r>
          </a:p>
          <a:p xmlns:a="http://schemas.openxmlformats.org/drawingml/2006/main">
            <a:r>
              <a:t>tests/test_rtn_quantization.py</a:t>
            </a:r>
          </a:p>
          <a:p xmlns:a="http://schemas.openxmlformats.org/drawingml/2006/main">
            <a:r>
              <a:t>https://github.com/NVIDIA/TensorRT-Edge-LLM/blob/e8b29522938901f6df19ebeedd4b69bc8edbcd97/experimental/builder/weight_packing/int4.py</a:t>
            </a:r>
          </a:p>
          <a:p xmlns:a="http://schemas.openxmlformats.org/drawingml/2006/main">
            <a:r>
              <a:t>https://github.com/NVIDIA/TensorRT-Edge-LLM/blob/e8b29522938901f6df19ebeedd4b69bc8edbcd97/experimental/builder/core/quantization.py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INT4 execution status: rejected. 13/19 facts; new errors and token-limit truncation.. Selection: fp16-corrected-i1024-kv2048. Identical workload fingerprints and memory counters are required for comparisons. The selected column is a separate final verification after swap was disabled; search-trial measurements remain unchanged. Rejected RTN measurements describe a tradeoff and cannot qualify it for selection. Strict quality and reference-equivalent quality remain separate.</a:t>
            </a:r>
          </a:p>
          <a:p xmlns:a="http://schemas.openxmlformats.org/drawingml/2006/main">
            <a:r>
              <a:t>Measured values supplied by output/final-findings-data.json.</a:t>
            </a:r>
          </a:p>
          <a:p xmlns:a="http://schemas.openxmlformats.org/drawingml/2006/main">
            <a:r>
              <a:t>Sources:</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results/raw/benchmark-final-service-01.jsonl</a:t>
            </a:r>
          </a:p>
          <a:p xmlns:a="http://schemas.openxmlformats.org/drawingml/2006/main">
            <a:r>
              <a:t>results/optimization-quality-policy.json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Orin Nano uses unified physical RAM for CPU and GPU. MemTotal minus MemAvailable includes CPU, GPU and system pressure. Process RSS and CUDA allocator telemetry answer different questions and overlap. Disk checkpoint/engine size is separate from memory. Missing allocator telemetry is explicitly unavailable.</a:t>
            </a:r>
          </a:p>
          <a:p xmlns:a="http://schemas.openxmlformats.org/drawingml/2006/main">
            <a:r>
              <a:t>Measured values supplied by output/final-findings-data.json.</a:t>
            </a:r>
          </a:p>
          <a:p xmlns:a="http://schemas.openxmlformats.org/drawingml/2006/main">
            <a:r>
              <a:t>Sources:</a:t>
            </a:r>
          </a:p>
          <a:p xmlns:a="http://schemas.openxmlformats.org/drawingml/2006/main">
            <a:r>
              <a:t>GOAL.md</a:t>
            </a:r>
          </a:p>
          <a:p xmlns:a="http://schemas.openxmlformats.org/drawingml/2006/main">
            <a:r>
              <a:t>research/fp16-build-memory.md</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results/raw/benchmark-final-service-01.jsonl</a:t>
            </a:r>
          </a:p>
          <a:p xmlns:a="http://schemas.openxmlformats.org/drawingml/2006/main">
            <a:r>
              <a:t>results/optimization-search-plan.json</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results/raw/benchmark-rtn-mlp-rejected-01.jsonl</a:t>
            </a:r>
          </a:p>
          <a:p xmlns:a="http://schemas.openxmlformats.org/drawingml/2006/main">
            <a:r>
              <a:t>results/raw/benchmark-fp16-clocks-01.jsonl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bounded observed selection, not a claim of a global optimum. Final export requires a 10-minute soak, no errors/OOM/swapping, at least 512 MiB minimum MemAvailable, and explicit candidate selection. Compare latency/memory improvement only under the same declared memory counter and workload.</a:t>
            </a:r>
          </a:p>
          <a:p xmlns:a="http://schemas.openxmlformats.org/drawingml/2006/main">
            <a:r>
              <a:t>Measured values supplied by output/final-findings-data.json.</a:t>
            </a:r>
          </a:p>
          <a:p xmlns:a="http://schemas.openxmlformats.org/drawingml/2006/main">
            <a:r>
              <a:t>Sources:</a:t>
            </a:r>
          </a:p>
          <a:p xmlns:a="http://schemas.openxmlformats.org/drawingml/2006/main">
            <a:r>
              <a:t>results/optimization-selection.json</a:t>
            </a:r>
          </a:p>
          <a:p xmlns:a="http://schemas.openxmlformats.org/drawingml/2006/main">
            <a:r>
              <a:t>results/raw/benchmark-final-service-01.jsonl</a:t>
            </a:r>
          </a:p>
          <a:p xmlns:a="http://schemas.openxmlformats.org/drawingml/2006/main">
            <a:r>
              <a:t>results/raw/soak-final-service-01.summary.json</a:t>
            </a:r>
          </a:p>
          <a:p xmlns:a="http://schemas.openxmlformats.org/drawingml/2006/main">
            <a:r>
              <a:t>GOAL.md</a:t>
            </a:r>
          </a:p>
          <a:p xmlns:a="http://schemas.openxmlformats.org/drawingml/2006/main">
            <a:r>
              <a:t>results/optimization-search-plan.json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Repository contributors are public contribution credits, not assigned individual ownership of each feature. NVIDIA owns the model/runtime contributions. Original task code is Apache-2.0. Model OpenMDW-1.1, JetPack/CUDA/TensorRT terms and bundled dependency licenses remain separate. Paramiko LGPL-2.1 supports the optional SSH bridge. NumPy uses BSD-3-Clause and Pillow MIT-CMU. Official PyTorch and Transformers supply reference execution. PyTorch wheels retain all bundled license notices, beyond its main BSD-style license. See the contribution ledger for exact public evidence.</a:t>
            </a:r>
          </a:p>
          <a:p xmlns:a="http://schemas.openxmlformats.org/drawingml/2006/main">
            <a:r>
              <a:t>Measured values supplied by output/final-findings-data.json.</a:t>
            </a:r>
          </a:p>
          <a:p xmlns:a="http://schemas.openxmlformats.org/drawingml/2006/main">
            <a:r>
              <a:t>Sources:</a:t>
            </a:r>
          </a:p>
          <a:p xmlns:a="http://schemas.openxmlformats.org/drawingml/2006/main">
            <a:r>
              <a:t>research/contribution-ledger.md</a:t>
            </a:r>
          </a:p>
          <a:p xmlns:a="http://schemas.openxmlformats.org/drawingml/2006/main">
            <a:r>
              <a:t>THIRD_PARTY_NOTICES.md</a:t>
            </a:r>
          </a:p>
          <a:p xmlns:a="http://schemas.openxmlformats.org/drawingml/2006/main">
            <a:r>
              <a:t>https://huggingface.co/nvidia/Cosmos3-Edge/blob/344d602b128d1bbdacb43b08d0a3626f46343e29/README.md</a:t>
            </a:r>
          </a:p>
          <a:p xmlns:a="http://schemas.openxmlformats.org/drawingml/2006/main">
            <a:r>
              <a:t>https://github.com/NVIDIA/TensorRT-Edge-LLM/blob/e8b29522938901f6df19ebeedd4b69bc8edbcd97/LICENSE</a:t>
            </a:r>
          </a:p>
          <a:p xmlns:a="http://schemas.openxmlformats.org/drawingml/2006/main">
            <a:r>
              <a:t>https://github.com/NVIDIA-AI-IOT/live-vlm-webui</a:t>
            </a:r>
          </a:p>
          <a:p xmlns:a="http://schemas.openxmlformats.org/drawingml/2006/main">
            <a:r>
              <a:t>https://github.com/huggingface/transformers/blob/c587bc884db2c2e31fc2b8102314656b17aa07b1/LICENSE</a:t>
            </a:r>
          </a:p>
          <a:p xmlns:a="http://schemas.openxmlformats.org/drawingml/2006/main">
            <a:r>
              <a:t>https://github.com/pytorch/pytorch/blob/cf30153c4c131c8164ee7798e5022d810682e2cb/LICENSE</a:t>
            </a:r>
          </a:p>
          <a:p xmlns:a="http://schemas.openxmlformats.org/drawingml/2006/main">
            <a:r>
              <a:t>https://github.com/NVIDIA/TensorRT-Edge-LLM/commit/e8b29522938901f6df19ebeedd4b69bc8edbcd97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Commands are supplied from the selected validated deployment. Exact source/model revisions, conversion receipts, patch hashes, engine receipts and raw benchmark files preserve provenance. The source corpus contains public code and original task assets only. No personal-namespace project or internal repository was used.</a:t>
            </a:r>
          </a:p>
          <a:p xmlns:a="http://schemas.openxmlformats.org/drawingml/2006/main">
            <a:r>
              <a:t>Measured values supplied by output/final-findings-data.json.</a:t>
            </a:r>
          </a:p>
          <a:p xmlns:a="http://schemas.openxmlformats.org/drawingml/2006/main">
            <a:r>
              <a:t>Sources:</a:t>
            </a:r>
          </a:p>
          <a:p xmlns:a="http://schemas.openxmlformats.org/drawingml/2006/main">
            <a:r>
              <a:t>docs/backend-build.md</a:t>
            </a:r>
          </a:p>
          <a:p xmlns:a="http://schemas.openxmlformats.org/drawingml/2006/main">
            <a:r>
              <a:t>sources.lock.json</a:t>
            </a:r>
          </a:p>
          <a:p xmlns:a="http://schemas.openxmlformats.org/drawingml/2006/main">
            <a:r>
              <a:t>docs/quality-workload.md</a:t>
            </a:r>
          </a:p>
          <a:p xmlns:a="http://schemas.openxmlformats.org/drawingml/2006/main">
            <a:r>
              <a:t>patches/cosmos3-half-pixel-position.md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requested installing JetPack over USB-C, Cosmos3-Edge through TensorRT-Edge-LLM, a streaming UI served on the Orin, low memory and latency after signs of life, and a findings presentation. The user explicitly required public code and prohibited personal-namespace/internal repositories and communications. Exact user quote: “Give yourself a proper goal setting so you don’t keep iterating on marginal gains for either.” Numeric thresholds were agent choices. The initial ceiling was 12 candidates, later tightened to 5. Each measured trial used 5 warmups and 30 measured requests. Three consecutive non-improvements stop the search. A candidate needs at least 5% improvement in p50 answer latency or sampled peak memory, no greater than 5% regression in the counterpart or p95 latency, preserved reference-equivalent quality, and no errors, OOM or workload swap. Four trials were evaluated. The compact fifth trial was not run.</a:t>
            </a:r>
          </a:p>
          <a:p xmlns:a="http://schemas.openxmlformats.org/drawingml/2006/main">
            <a:r>
              <a:t>Safe transcript excerpts and attribution audit: research/first-version-journey.md.</a:t>
            </a:r>
          </a:p>
          <a:p xmlns:a="http://schemas.openxmlformats.org/drawingml/2006/main">
            <a:r>
              <a:t>Sources:</a:t>
            </a:r>
          </a:p>
          <a:p xmlns:a="http://schemas.openxmlformats.org/drawingml/2006/main">
            <a:r>
              <a:t>GOAL.md</a:t>
            </a:r>
          </a:p>
          <a:p xmlns:a="http://schemas.openxmlformats.org/drawingml/2006/main">
            <a:r>
              <a:t>results/deployment-status.json</a:t>
            </a:r>
          </a:p>
          <a:p xmlns:a="http://schemas.openxmlformats.org/drawingml/2006/main">
            <a:r>
              <a:t>results/optimization-search-plan.json</a:t>
            </a:r>
          </a:p>
          <a:p xmlns:a="http://schemas.openxmlformats.org/drawingml/2006/main">
            <a:r>
              <a:t>results/optimization-selection.json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user oversight prompts: “Did you install jetpack via the usb-c?” and “what have you done thus far?” These are status requests, not physical interventions. Exact connectivity reports: “Do you need the GPU? I took the ethernet offline so you can go faster, can you work on wifi or do you want ethernet”; “nvm we’ll take all night if you need to, giving the GPU ethernet back and you on wifi”. These statements are user reports, not independently verified interface changes or measured network speed improvements. Optional GPU authorization required all remote work to remain in one newly created task directory. The safe exact excerpt “Isolate your work from anything else on that computer.” omits host and credentials. The user also said “ok was able to ssh in from the terminal inside this codex side chat”. A user login did not establish agent authentication: the recorded agent clients were rejected, no task directory or files were created, and the auxiliary GPU was never used. Local Mac MPS reference execution and actual Orin GPU inference are distinct from that unused auxiliary machine.</a:t>
            </a:r>
          </a:p>
          <a:p xmlns:a="http://schemas.openxmlformats.org/drawingml/2006/main">
            <a:r>
              <a:t>Safe transcript excerpts and attribution audit: research/first-version-journey.md.</a:t>
            </a:r>
          </a:p>
          <a:p xmlns:a="http://schemas.openxmlformats.org/drawingml/2006/main">
            <a:r>
              <a:t>Sources:</a:t>
            </a:r>
          </a:p>
          <a:p xmlns:a="http://schemas.openxmlformats.org/drawingml/2006/main">
            <a:r>
              <a:t>GOAL.md</a:t>
            </a:r>
          </a:p>
          <a:p xmlns:a="http://schemas.openxmlformats.org/drawingml/2006/main">
            <a:r>
              <a:t>results/aux-gpu-status.json</a:t>
            </a:r>
          </a:p>
          <a:p xmlns:a="http://schemas.openxmlformats.org/drawingml/2006/main">
            <a:r>
              <a:t>results/normal-boot.json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reported “Poll the USB and see if you see it now, it’s jumpered FC REC and GND”. The later “done” followed a requested fresh recovery power cycle and is recorded here as a readiness confirmation, not independent proof of a detailed unplug/replug sequence or its timing. The status receipt records a user-confirmed physical reset, and the subsequent EEPROM/bulk-upload receipt passed. The user later said “the jumper isn’t in”. This establishes user-reported state, not who removed it or when. At RAM boot the agent asked for accessory approval if a prompt appeared. Approval itself was not confirmed; the agent instead verified native Mac USB SSH and used an SSH/NFS bridge around the VM networking issue. The official flash finished without reboot. The agent continued source/model and package preparation while normal-boot readiness remained unresolved. Package installation in a native ARM chroot was not GPU execution. After the user’s jumper-state confirmation, normal NVMe boot, task-key SSH, CUDA execution and storage expansion passed. Receipt timestamps are recording times. This history does not establish a physical reboot after the later systemd service installation.</a:t>
            </a:r>
          </a:p>
          <a:p xmlns:a="http://schemas.openxmlformats.org/drawingml/2006/main">
            <a:r>
              <a:t>Safe transcript excerpts and attribution audit: research/first-version-journey.md.</a:t>
            </a:r>
          </a:p>
          <a:p xmlns:a="http://schemas.openxmlformats.org/drawingml/2006/main">
            <a:r>
              <a:t>Sources:</a:t>
            </a:r>
          </a:p>
          <a:p xmlns:a="http://schemas.openxmlformats.org/drawingml/2006/main">
            <a:r>
              <a:t>results/host-inventory.json</a:t>
            </a:r>
          </a:p>
          <a:p xmlns:a="http://schemas.openxmlformats.org/drawingml/2006/main">
            <a:r>
              <a:t>results/deployment-status.json</a:t>
            </a:r>
          </a:p>
          <a:p xmlns:a="http://schemas.openxmlformats.org/drawingml/2006/main">
            <a:r>
              <a:t>results/jetson-board.json</a:t>
            </a:r>
          </a:p>
          <a:p xmlns:a="http://schemas.openxmlformats.org/drawingml/2006/main">
            <a:r>
              <a:t>results/ram-recovery-boot.json</a:t>
            </a:r>
          </a:p>
          <a:p xmlns:a="http://schemas.openxmlformats.org/drawingml/2006/main">
            <a:r>
              <a:t>results/usb-transfer-path.json</a:t>
            </a:r>
          </a:p>
          <a:p xmlns:a="http://schemas.openxmlformats.org/drawingml/2006/main">
            <a:r>
              <a:t>results/jetpack-flash-status.json</a:t>
            </a:r>
          </a:p>
          <a:p xmlns:a="http://schemas.openxmlformats.org/drawingml/2006/main">
            <a:r>
              <a:t>results/chroot-compute-provisioning.json</a:t>
            </a:r>
          </a:p>
          <a:p xmlns:a="http://schemas.openxmlformats.org/drawingml/2006/main">
            <a:r>
              <a:t>results/blocked-audit.json</a:t>
            </a:r>
          </a:p>
          <a:p xmlns:a="http://schemas.openxmlformats.org/drawingml/2006/main">
            <a:r>
              <a:t>results/normal-boot.json</a:t>
            </a:r>
          </a:p>
          <a:p xmlns:a="http://schemas.openxmlformats.org/drawingml/2006/main">
            <a:r>
              <a:t>results/cuda-preflight.json</a:t>
            </a:r>
          </a:p>
          <a:p xmlns:a="http://schemas.openxmlformats.org/drawingml/2006/main">
            <a:r>
              <a:t>results/final-service-audit.json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Slides 1–17 retain the earlier findings and intervention record. This slide updates the later UI state. User steering first matched prompt and the 512-token default, then explicitly requested a capture comparison toggle with Live VLM WebUI as the default. The default requests ideal 1280×720 with no FPS constraint, counts 30 browser-presented frames, preserves source dimensions, skips samples while busy, and uses temperature 0.7. Lightweight preserves previous capture settings. Prompt/token edits survive switching. This matches documented settings with remaining browser/WebRTC, JPEG and streaming differences. HTTP now redirects the LAN page to HTTPS. The original deterministic 64-token benchmark is unchanged. No new candidate search ran after the preset correction.</a:t>
            </a:r>
          </a:p>
          <a:p xmlns:a="http://schemas.openxmlformats.org/drawingml/2006/main">
            <a:r>
              <a:t>Sources:</a:t>
            </a:r>
          </a:p>
          <a:p xmlns:a="http://schemas.openxmlformats.org/drawingml/2006/main">
            <a:r>
              <a:t>research/first-version-journey.md</a:t>
            </a:r>
          </a:p>
          <a:p xmlns:a="http://schemas.openxmlformats.org/drawingml/2006/main">
            <a:r>
              <a:t>research/capture-preset-comparison.md</a:t>
            </a:r>
          </a:p>
          <a:p xmlns:a="http://schemas.openxmlformats.org/drawingml/2006/main">
            <a:r>
              <a:t>results/ui-presets-validation.json</a:t>
            </a:r>
          </a:p>
          <a:p xmlns:a="http://schemas.openxmlformats.org/drawingml/2006/main">
            <a:r>
              <a:t>results/browser-ui-presets.json</a:t>
            </a:r>
          </a:p>
          <a:p xmlns:a="http://schemas.openxmlformats.org/drawingml/2006/main">
            <a:r>
              <a:t>results/ui-camera-redirect-validation.json</a:t>
            </a:r>
          </a:p>
          <a:p xmlns:a="http://schemas.openxmlformats.org/drawingml/2006/main">
            <a:r>
              <a:t>results/browser-ui-camera-redirect.json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treated Live VLM WebUI as a workflow reference and selected a compact deterministic initial workload. The preserved initial UI screenshot shows a 64-token ceiling, 1-second minimum interval, 512-pixel longest side, and prompt: “Describe the visible scene in one concise sentence. Focus on objects and actions.” Camera request 640×480, ideal 15 FPS/max 30 FPS, JPEG 0.8 and temperature 0/top_p 1 are preserved in the later Lightweight profile and comparison contract. The original interim presentation explicitly labels reduced backlog/setup overhead from capped frames and resident inference as a hypothesis. The screenshot was captured before backend readiness and establishes settings only. The candidate benchmark later used its separate frozen geometric prompt with 512×512 images and 64 output tokens. Smaller frames, fewer output tokens, and greedy decoding did not establish an equivalent workload to Live VLM defaults.</a:t>
            </a:r>
          </a:p>
          <a:p xmlns:a="http://schemas.openxmlformats.org/drawingml/2006/main">
            <a:r>
              <a:t>Sources:</a:t>
            </a:r>
          </a:p>
          <a:p xmlns:a="http://schemas.openxmlformats.org/drawingml/2006/main">
            <a:r>
              <a:t>.qa/ui-desktop.png</a:t>
            </a:r>
          </a:p>
          <a:p xmlns:a="http://schemas.openxmlformats.org/drawingml/2006/main">
            <a:r>
              <a:t>.presentation-build/create.mjs</a:t>
            </a:r>
          </a:p>
          <a:p xmlns:a="http://schemas.openxmlformats.org/drawingml/2006/main">
            <a:r>
              <a:t>research/benchmark-method.md</a:t>
            </a:r>
          </a:p>
          <a:p xmlns:a="http://schemas.openxmlformats.org/drawingml/2006/main">
            <a:r>
              <a:t>research/capture-preset-comparison.md</a:t>
            </a:r>
          </a:p>
          <a:p xmlns:a="http://schemas.openxmlformats.org/drawingml/2006/main">
            <a:r>
              <a:t>web/app.js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user sequence: “Set the max tokens and the sample prompt to the same default parameters as Web VLM UI.” Then: “Are the capture interval and the frame longest side the same defaults as Web VLM UI?” Then: “can we have a toggle so we have an apples to apples comparison to web vlm ui? Make the Live VLM WebUI default”. Prompt/token matching happened first. The explicit toggle request later aligned capture and generation defaults. Initial UI prompt was “Describe the visible scene in one concise sentence. Focus on objects and actions.” New prompt is shown on this slide. Full source frames remain subject to documented input bounds. Source dimensions are the actual negotiated camera dimensions, not guaranteed to equal the ideal request. The browser JPEG 0.75 value is nominal: upstream uses Pillow defaults, so bytes differ. Initial top_p=1 used greedy temperature 0; Live VLM omits top_p/top_k so the backend resolves 0.9/50. Upstream uses received WebRTC frames while this app uses browser-presented frames. The UI streams tokens while upstream requests non-streaming answers. These limits prevent an identical end-to-end transport equivalence claim.</a:t>
            </a:r>
          </a:p>
          <a:p xmlns:a="http://schemas.openxmlformats.org/drawingml/2006/main">
            <a:r>
              <a:t>Sources:</a:t>
            </a:r>
          </a:p>
          <a:p xmlns:a="http://schemas.openxmlformats.org/drawingml/2006/main">
            <a:r>
              <a:t>research/first-version-journey.md</a:t>
            </a:r>
          </a:p>
          <a:p xmlns:a="http://schemas.openxmlformats.org/drawingml/2006/main">
            <a:r>
              <a:t>research/capture-preset-comparison.md</a:t>
            </a:r>
          </a:p>
          <a:p xmlns:a="http://schemas.openxmlformats.org/drawingml/2006/main">
            <a:r>
              <a:t>results/ui-telemetry-validation.json</a:t>
            </a:r>
          </a:p>
          <a:p xmlns:a="http://schemas.openxmlformats.org/drawingml/2006/main">
            <a:r>
              <a:t>results/ui-presets-validation.json</a:t>
            </a:r>
          </a:p>
          <a:p xmlns:a="http://schemas.openxmlformats.org/drawingml/2006/main">
            <a:r>
              <a:t>https://github.com/NVIDIA-AI-IOT/live-vlm-webui/blob/2fd5ba0b334c334d24bf0f9439d8742b243d22be/src/live_vlm_webui/static/index.html</a:t>
            </a:r>
          </a:p>
          <a:p xmlns:a="http://schemas.openxmlformats.org/drawingml/2006/main">
            <a:r>
              <a:t>https://github.com/NVIDIA-AI-IOT/live-vlm-webui/blob/2fd5ba0b334c334d24bf0f9439d8742b243d22be/src/live_vlm_webui/video_processor.py</a:t>
            </a:r>
          </a:p>
          <a:p xmlns:a="http://schemas.openxmlformats.org/drawingml/2006/main">
            <a:r>
              <a:t>https://github.com/NVIDIA-AI-IOT/live-vlm-webui/blob/2fd5ba0b334c334d24bf0f9439d8742b243d22be/src/live_vlm_webui/vlm_service.py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User-designated unoptimized/before recording, after the default-preset change and after the earlier bounded optimization search. Source: Codex recording unoptimized Sep 20 Cosmos3-Edge.mov. SHA-256 6f4b66d3572edf2faffa617baa77b1d448635354f1874d4960e2c7c87238b438. Exact frame PTS 5.808333 s, zero-based frame 232. The full source screenshot is embedded without crop or pixel modification. Visible camera and sent frame dimensions are 1280×720 with reported 30.0 FPS. The preset and temperature 0.7 description are visible, as is the one-sentence prompt. UI reports Answer complete. First visible token 812 ms, complete answer 1.44 s, frame age 1.55 s. These are one rounded UI observation. CPU/GPU/shared-RAM numbers and the active token-limit control are outside the viewport. The recording therefore does not independently prove the current output ceiling. Corrected FP16 and memory limits were already deployed. This is the user’s new comparison baseline, not pristine upstream code.</a:t>
            </a:r>
          </a:p>
          <a:p xmlns:a="http://schemas.openxmlformats.org/drawingml/2006/main">
            <a:r>
              <a:t>Sources:</a:t>
            </a:r>
          </a:p>
          <a:p xmlns:a="http://schemas.openxmlformats.org/drawingml/2006/main">
            <a:r>
              <a:t>output/before-cosmos3-edge-2026-09-20/manifest.json</a:t>
            </a:r>
          </a:p>
          <a:p xmlns:a="http://schemas.openxmlformats.org/drawingml/2006/main">
            <a:r>
              <a:t>output/before-cosmos3-edge-2026-09-20/02-before-05.808s-action-camera.png</a:t>
            </a:r>
          </a:p>
          <a:p xmlns:a="http://schemas.openxmlformats.org/drawingml/2006/main">
            <a:r>
              <a:t>deployment/selected-config.json</a:t>
            </a:r>
          </a:p>
          <a:p xmlns:a="http://schemas.openxmlformats.org/drawingml/2006/main">
            <a:r>
              <a:t>research/capture-preset-comparison.md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recording and hash as in manifest. Pen frame PTS 9.841667 s, frame index 370. Full screenshot is embedded unchanged. Exact visible model output: A man with gray hair holds a pen in front of his eye as if to scratch it. The phrase “as if to scratch it” is a model-inferred action not established by the screenshot. No intent is attributed to the person. The model did identify a pen. UI reports first token 612 ms, complete answer 1.43 s, frame age 1.56 s. The live preview can be later than the sampled model input. This curated observation is not an accuracy benchmark. The evidence pack contains six original-resolution frames, including the scene, action camera, pen, toy, battery and scissors. All have exact timestamps, SHA-256 hashes and verified re-extraction.</a:t>
            </a:r>
          </a:p>
          <a:p xmlns:a="http://schemas.openxmlformats.org/drawingml/2006/main">
            <a:r>
              <a:t>Sources:</a:t>
            </a:r>
          </a:p>
          <a:p xmlns:a="http://schemas.openxmlformats.org/drawingml/2006/main">
            <a:r>
              <a:t>output/before-cosmos3-edge-2026-09-20/manifest.json</a:t>
            </a:r>
          </a:p>
          <a:p xmlns:a="http://schemas.openxmlformats.org/drawingml/2006/main">
            <a:r>
              <a:t>output/before-cosmos3-edge-2026-09-20/03-before-09.842s-pen.png</a:t>
            </a:r>
          </a:p>
          <a:p xmlns:a="http://schemas.openxmlformats.org/drawingml/2006/main">
            <a:r>
              <a:t>output/before-cosmos3-edge-2026-09-20/README.md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search preceded the Live VLM preset correction. Every measured candidate used the same frozen 512×512 geometric image, prompt, 64-token ceiling and temperature 0. Five warmups and 30 measured requests per candidate. Acceptance required at least 5% reduction in median complete-answer latency or peak system RAM, with no more than 5% regression in the other metric or p95 latency, quality equivalence, and no errors/OOM/swap. The ceiling was tightened from 12 to 5 total candidates. Four trials ran, then three consecutive non-improvements stopped the search. All-linears RTN strict quality was 13/19. MLP-only RTN scored 18/19 but introduced a new color error, failing the frozen reference-equivalence policy. Fixed clocks yielded only 3.94% latency gain and observed system swap-counter activity. The fifth compact-profile trial did not run. Shared RAM means system MemTotal minus MemAvailable and includes CPU/GPU/OS. It is distinct from model VRAM and process RSS. Table metrics are candidate-trial results; the next slide reports a separate final-service verification of the same selected engine.</a:t>
            </a:r>
          </a:p>
          <a:p xmlns:a="http://schemas.openxmlformats.org/drawingml/2006/main">
            <a:r>
              <a:t>Sources:</a:t>
            </a:r>
          </a:p>
          <a:p xmlns:a="http://schemas.openxmlformats.org/drawingml/2006/main">
            <a:r>
              <a:t>results/optimization-search-plan.json</a:t>
            </a:r>
          </a:p>
          <a:p xmlns:a="http://schemas.openxmlformats.org/drawingml/2006/main">
            <a:r>
              <a:t>results/optimization-selection.json</a:t>
            </a:r>
          </a:p>
          <a:p xmlns:a="http://schemas.openxmlformats.org/drawingml/2006/main">
            <a:r>
              <a:t>results/optimization-quality-policy.json</a:t>
            </a:r>
          </a:p>
          <a:p xmlns:a="http://schemas.openxmlformats.org/drawingml/2006/main">
            <a:r>
              <a:t>results/benchmark-fp16-qualified.jsonl</a:t>
            </a:r>
          </a:p>
          <a:p xmlns:a="http://schemas.openxmlformats.org/drawingml/2006/main">
            <a:r>
              <a:t>results/raw/benchmark-rtn-v1-rejected-01.jsonl</a:t>
            </a:r>
          </a:p>
          <a:p xmlns:a="http://schemas.openxmlformats.org/drawingml/2006/main">
            <a:r>
              <a:t>results/raw/benchmark-rtn-mlp-rejected-01.jsonl</a:t>
            </a:r>
          </a:p>
          <a:p xmlns:a="http://schemas.openxmlformats.org/drawingml/2006/main">
            <a:r>
              <a:t>results/raw/benchmark-fp16-clocks-01.jsonl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configuration remained corrected FP16, input 1024, KV 2048, batch 1, encoder cache budget zero, stock dynamic 25 W. These are the separate final-service verification results, not an additional search candidate. Five warmups, 30 measured requests. p50 first text 265.54039800066676 ms; p50 complete 1825.8987585013529 ms; p95 complete 1829.9888356496922 ms. Peak system RAM unavailable 6909468672 bytes (6.434944 GiB); RSS 6342467584 bytes. The counters overlap and must not be added. Dedicated CUDA allocator peak was not collected. Final service had no observed errors/OOM/swap. Soak: 600.701 seconds, 366 successful requests. Strict geometric score remained 18/19; natural photo diagnostic was 5/9 generous or 4/9 strict, with 0/3 fully correct images. The chronology is material: final-service benchmark started 2026-09-20 07:18 UTC, soak ended about 07:29 UTC; prompt/token verification was 18:14 UTC, Live VLM preset verification 23:41 UTC; recording creation metadata is 2026-09-21 00:15:52 UTC (September 20 locally). No candidate search was repeated after default alignment. The user-designated before recording contains individual stochastic camera observations and no visible resource values or active token limit. A paired before/after optimization claim under the Live VLM defaults remains unmeasured. This revision documents existing results rather than inventing or launching a new benchmark.</a:t>
            </a:r>
          </a:p>
          <a:p xmlns:a="http://schemas.openxmlformats.org/drawingml/2006/main">
            <a:r>
              <a:t>Sources:</a:t>
            </a:r>
          </a:p>
          <a:p xmlns:a="http://schemas.openxmlformats.org/drawingml/2006/main">
            <a:r>
              <a:t>results/raw/benchmark-final-service-01.jsonl</a:t>
            </a:r>
          </a:p>
          <a:p xmlns:a="http://schemas.openxmlformats.org/drawingml/2006/main">
            <a:r>
              <a:t>results/raw/soak-final-service-01.summary.json</a:t>
            </a:r>
          </a:p>
          <a:p xmlns:a="http://schemas.openxmlformats.org/drawingml/2006/main">
            <a:r>
              <a:t>results/ui-telemetry-validation.json</a:t>
            </a:r>
          </a:p>
          <a:p xmlns:a="http://schemas.openxmlformats.org/drawingml/2006/main">
            <a:r>
              <a:t>results/browser-ui-presets.json</a:t>
            </a:r>
          </a:p>
          <a:p xmlns:a="http://schemas.openxmlformats.org/drawingml/2006/main">
            <a:r>
              <a:t>deployment/selected-config.json</a:t>
            </a:r>
          </a:p>
          <a:p xmlns:a="http://schemas.openxmlformats.org/drawingml/2006/main">
            <a:r>
              <a:t>output/before-cosmos3-edge-2026-09-20/manifest.json</a:t>
            </a:r>
          </a:p>
          <a:p xmlns:a="http://schemas.openxmlformats.org/drawingml/2006/main">
            <a:r>
              <a:t>results/natural-smoke-final-01-review.json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Slides 1–24 preserve the first version and its later comparison discussion as of the preceding delivery. This appendix records a subsequent user-requested latency goal with a newly frozen Live VLM workload. The exact user instruction is: “Improve the Cosmos3-Edge inference to get a minimum of 10% improvement each time in terms of latency. Stop improving when you can no longer get 10% improvement from the last run.” The 10% requirement comes from the user. The agent chose the three-image workload, geometric mean of per-image medians, five warmups and thirty measurements per image, exact-output controls and resource gates. The agent interpreted the stop instruction as the first confirmed measured candidate that fails the acceptance gates, with one matched repeat only when the threshold or equivalence is ambiguous. These controls were frozen before measurement and are not verbatim user requirements. The completed original search accepted improvements at a 5% threshold under 512×512, 64-token, greedy settings. Those earlier numbers are not the denominator here. The new plan was frozen at 2026-09-21T00:50:30Z. Primary metric: geometric mean of per-fixture median complete-answer latency; equal image weighting, compared with last accepted candidate. Acceptance requires at least 10% reduction and no more than 5% per-fixture median or p95 regression, identical output text/completion counts/normal stop, no errors/OOM/swap, and at least 512 MiB available shared RAM. One matched repeat is allowed only for an ambiguous threshold or equivalence. The first confirmed failure stops the search and restores the last accepted candidate. The three input JPEGs are camera-preview crops of the user's recording, resized to 1280×720 and encoded by Chromium at JPEG 0.75. They are not original sensor images or the exact historical inference inputs. Their pixels and hashes stay fixed between runs. The benchmark uses serial streaming requests through the Orin-local proxy. It includes image decode and inference but excludes browser capture/encoding, the 30-frame cadence and Wi-Fi. Prompt: Describe what you see in this image in one sentence. Native resolved sampling remains temperature 0.7, top_p 0.9 and top_k 50, using the existing seed 42 / offset 0 behavior. The candidate hypothesis is Reduce redundant work in the native top-K sampler while preserving partition, comparator, arithmetic, output and RNG semantics; profile first. Other candidates are considered only after an accepted improvement.</a:t>
            </a:r>
          </a:p>
          <a:p xmlns:a="http://schemas.openxmlformats.org/drawingml/2006/main">
            <a:r>
              <a:t>Sources:</a:t>
            </a:r>
          </a:p>
          <a:p xmlns:a="http://schemas.openxmlformats.org/drawingml/2006/main">
            <a:r>
              <a:t>results/latency10/plan.json</a:t>
            </a:r>
          </a:p>
          <a:p xmlns:a="http://schemas.openxmlformats.org/drawingml/2006/main">
            <a:r>
              <a:t>benchmarks/live-vlm-1280/manifest.json</a:t>
            </a:r>
          </a:p>
          <a:p xmlns:a="http://schemas.openxmlformats.org/drawingml/2006/main">
            <a:r>
              <a:t>results/latency10/baseline-summary.json</a:t>
            </a:r>
          </a:p>
          <a:p xmlns:a="http://schemas.openxmlformats.org/drawingml/2006/main">
            <a:r>
              <a:t>results/latency10/baseline-config.json</a:t>
            </a:r>
          </a:p>
          <a:p xmlns:a="http://schemas.openxmlformats.org/drawingml/2006/main">
            <a:r>
              <a:t>research/capture-preset-comparison.md</a:t>
            </a:r>
          </a:p>
          <a:p xmlns:a="http://schemas.openxmlformats.org/drawingml/2006/main">
            <a:r>
              <a:t>results/optimization-search-plan.json</a:t>
            </a:r>
          </a:p>
          <a:p xmlns:a="http://schemas.openxmlformats.org/drawingml/2006/main">
            <a:r>
              <a:t>research/latency10-follow-up.md</a:t>
            </a:r>
          </a:p>
          <a:p xmlns:a="http://schemas.openxmlformats.org/drawingml/2006/main">
            <a:r>
              <a:t>/Users/asotelo/Documents/ChatGPT/jetson-orin-streaming-codes/results/latency10/comparison.json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group is live-vlm-fp16-baseline; the candidate group is live-vlm-fp16-retained-topk. Each image has 30 measured requests following five warmups. B/C means baseline/candidate. The table reports complete-answer median and p95, median first-visible-text timing, and actual completion tokens. A 512-token maximum is a ceiling, not the measured output length. For a mismatch, both token counts are shown rather than claiming a common output. Equal image weighting gives geometric means of 1355.4104504346024ms and 1348.9166893343772ms, a 0.47909923507989394% latency reduction. The 10% threshold for this baseline is 1219.8694053911422ms. All measured answers preserve text, token count and normal stop. The baseline initially summarized in results/latency10/baseline-summary.json had geometric mean 1355.4104504346024ms. The final comparator receipt controls these paired values, including any plan-authorized repeat. All per-fixture TTFT p95 values and exact answers remain in that receipt. The measurements do not compare against the earlier recording's rounded browser labels or the original 64-token benchmark. {"per_fixture":[{"fixture":"01-action-camera.jpg","ratios":{"p50_latency_ms":0.9927240572191822,"p95_latency_ms":0.9970684049795476},"output_equivalent":true},{"fixture":"02-pen.jpg","ratios":{"p50_latency_ms":0.9968746531882712,"p95_latency_ms":0.9997066104656184},"output_equivalent":true},{"fixture":"03-scissors.jpg","ratios":{"p50_latency_ms":0.996033153433705,"p95_latency_ms":0.9999782577576172},"output_equivalent":true}],"decision":"stop_and_restore_last_accepted"}</a:t>
            </a:r>
          </a:p>
          <a:p xmlns:a="http://schemas.openxmlformats.org/drawingml/2006/main">
            <a:r>
              <a:t>Sources:</a:t>
            </a:r>
          </a:p>
          <a:p xmlns:a="http://schemas.openxmlformats.org/drawingml/2006/main">
            <a:r>
              <a:t>/Users/asotelo/Documents/ChatGPT/jetson-orin-streaming-codes/results/latency10/comparison.json</a:t>
            </a:r>
          </a:p>
          <a:p xmlns:a="http://schemas.openxmlformats.org/drawingml/2006/main">
            <a:r>
              <a:t>results/latency10/plan.json</a:t>
            </a:r>
          </a:p>
          <a:p xmlns:a="http://schemas.openxmlformats.org/drawingml/2006/main">
            <a:r>
              <a:t>benchmarks/live-vlm-1280/manifest.json</a:t>
            </a:r>
          </a:p>
          <a:p xmlns:a="http://schemas.openxmlformats.org/drawingml/2006/main">
            <a:r>
              <a:t>results/latency10/raw/baseline-01-action-camera.jsonl</a:t>
            </a:r>
          </a:p>
          <a:p xmlns:a="http://schemas.openxmlformats.org/drawingml/2006/main">
            <a:r>
              <a:t>results/latency10/raw/baseline-02-pen.jsonl</a:t>
            </a:r>
          </a:p>
          <a:p xmlns:a="http://schemas.openxmlformats.org/drawingml/2006/main">
            <a:r>
              <a:t>results/latency10/raw/baseline-03-scissors.jsonl</a:t>
            </a:r>
          </a:p>
          <a:p xmlns:a="http://schemas.openxmlformats.org/drawingml/2006/main">
            <a:r>
              <a:t>results/latency10/raw/candidate-01-action-camera.jsonl</a:t>
            </a:r>
          </a:p>
          <a:p xmlns:a="http://schemas.openxmlformats.org/drawingml/2006/main">
            <a:r>
              <a:t>results/latency10/raw/candidate-02-pen.jsonl</a:t>
            </a:r>
          </a:p>
          <a:p xmlns:a="http://schemas.openxmlformats.org/drawingml/2006/main">
            <a:r>
              <a:t>results/latency10/raw/candidate-03-scissors.jsonl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Candidate failed the frozen acceptance gates. The stop rule retains the last accepted baseline. This is the benchmark decision, not independent evidence that a deployment or restoration command completed. Rejection reasons: ["geomean_complete_latency_gain_below_10_percent"]. Baseline failures: []. Candidate failures: []. Shared RAM is MemTotal minus MemAvailable and includes CPU, GPU, OS and applications. Process RSS overlaps with shared system RAM and must not be added to it. These are sampled extrema across warmups and measured requests; dedicated CUDA allocator or VRAM peaks were not collected. Minimum available shared RAM must remain at least 512 MiB. All measured answers preserve text, token count and normal stop. The baseline is repeatable with actual completion lengths 14 / 40 / 17 tokens for action camera/pen/scissors. Byte-identical output establishes preservation, not absolute correctness. The action-camera baseline adds an unsupported mirror claim. The pen answer adds unsupported body-side and gesture-meaning claims. The three examples do not establish representative model accuracy. The measured candidate is this task's retained-partial top-K prototype. Each CUDA thread retains its current local maximum, and only the winning index's owner rescans its partition after invalidation. The prototype preserves the eight partitions, 256 threads per block, comparison and reduction order, stage-2 arithmetic, RNG behavior, model precision and generation parameters. It caches a local intermediate within one sampler launch, not image embeddings, model responses or results across requests. The public upstream supplies the sampler and CUDA/TensorRT runtime. This task authors the prototype patch, bounded experiment and equivalence harness. The following slide separates the sampler diagnostic from the user's complete-answer goal. Serial harness concurrency is verified by the comparator. Absence of unrelated clients and queue backlog requires the separate device isolation evidence.</a:t>
            </a:r>
          </a:p>
          <a:p xmlns:a="http://schemas.openxmlformats.org/drawingml/2006/main">
            <a:r>
              <a:t>Sources:</a:t>
            </a:r>
          </a:p>
          <a:p xmlns:a="http://schemas.openxmlformats.org/drawingml/2006/main">
            <a:r>
              <a:t>/Users/asotelo/Documents/ChatGPT/jetson-orin-streaming-codes/results/latency10/comparison.json</a:t>
            </a:r>
          </a:p>
          <a:p xmlns:a="http://schemas.openxmlformats.org/drawingml/2006/main">
            <a:r>
              <a:t>results/latency10/baseline-summary.json</a:t>
            </a:r>
          </a:p>
          <a:p xmlns:a="http://schemas.openxmlformats.org/drawingml/2006/main">
            <a:r>
              <a:t>results/latency10/plan.json</a:t>
            </a:r>
          </a:p>
          <a:p xmlns:a="http://schemas.openxmlformats.org/drawingml/2006/main">
            <a:r>
              <a:t>scripts/summarize_latency10.py</a:t>
            </a:r>
          </a:p>
          <a:p xmlns:a="http://schemas.openxmlformats.org/drawingml/2006/main">
            <a:r>
              <a:t>scripts/profile_sampler.cu</a:t>
            </a:r>
          </a:p>
          <a:p xmlns:a="http://schemas.openxmlformats.org/drawingml/2006/main">
            <a:r>
              <a:t>scripts/check_sampler_equivalence.cu</a:t>
            </a:r>
          </a:p>
          <a:p xmlns:a="http://schemas.openxmlformats.org/drawingml/2006/main">
            <a:r>
              <a:t>patches/topk-retained-partial.patch</a:t>
            </a:r>
          </a:p>
          <a:p xmlns:a="http://schemas.openxmlformats.org/drawingml/2006/main">
            <a:r>
              <a:t>results/latency10/profiling/sampler-baseline.txt</a:t>
            </a:r>
          </a:p>
          <a:p xmlns:a="http://schemas.openxmlformats.org/drawingml/2006/main">
            <a:r>
              <a:t>results/latency10/profiling/sampler-candidate.txt</a:t>
            </a:r>
          </a:p>
          <a:p xmlns:a="http://schemas.openxmlformats.org/drawingml/2006/main">
            <a:r>
              <a:t>results/latency10/profiling/sampler-baseline-controlled.txt</a:t>
            </a:r>
          </a:p>
          <a:p xmlns:a="http://schemas.openxmlformats.org/drawingml/2006/main">
            <a:r>
              <a:t>results/latency10/profiling/sampler-candidate-controlled.txt</a:t>
            </a:r>
          </a:p>
          <a:p xmlns:a="http://schemas.openxmlformats.org/drawingml/2006/main">
            <a:r>
              <a:t>results/latency10/profiling/equivalence.jsonl</a:t>
            </a:r>
          </a:p>
          <a:p xmlns:a="http://schemas.openxmlformats.org/drawingml/2006/main">
            <a:r>
              <a:t>https://github.com/NVIDIA/TensorRT-Edge-LLM/blob/e8b29522938901f6df19ebeedd4b69bc8edbcd97/cpp/sampler/sampling.cu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task authored the retained-partial top-K prototype. Each thread keeps its local maximum across selections, and only the winning index's owner rescans after invalidation. The experiment preserves model weights and FP16 precision, image bytes, generation settings, the existing eight partitions and 256-thread reduction order, stage-2 arithmetic and RNG behavior. NVIDIA's public TensorRT-Edge-LLM provides the original sampler. Standalone baseline sampler diagnostic: CUDA-event mean 0.26128 ms per call across 1000 calls after 1000 warmups. Standalone candidate sampler diagnostic: CUDA-event mean 0.203009 ms per call across 1000 calls after 1000 warmups. These diagnostics use synthetic fixed FP32 logits. CUDA-event intervals include GPU work and host-submission gaps. They do not measure whole-model latency, and batch-mean quantiles are not individual-token latency quantiles. The separate greedy diagnostic does not replace the serving sampler. The displayed diagnostic pair replays both saved standalone profiler binaries under the same loaded, idle model service. These controlled runs supersede the initial timing pair for the displayed comparison. The initial baseline had the model resident while the initial candidate ran before service restart. The original receipts remain historical evidence and do not establish a controlled relative gain. The paired GPU harness reports passed across 338 FP16/FP32 cases, comparing 163328 stage-1 indices, 163328 stage-1 FP32 value bit patterns, 22996778 scratch-logit bit patterns and 1020 sampled token IDs. All recorded stage-1 comparisons and trailing guard checks passed. Fixtures include ties, uneven vocabularies, multiple batches, signed zero and nonfinite values. Nonfinite fixtures validate stage 1 only, not supported sampling behavior. This proves the recorded GPU fixture equivalence, not model accuracy or an end-to-end speedup.  The synthetic full-sampler mean fell by 22.302127985303134%, calculated from the two measured CUDA-event means. The separate complete-answer metric changed from 1355.4104504346024 ms to 1348.9166893343772 ms, a 0.47909923507989394% reduction across 90 baseline requests and 90 candidate requests. The complete-answer metric is a geometric mean of per-image medians. The sampler metric is an arithmetic mean of synthetic sampler calls. They have different denominators and scopes and must not be added, subtracted or used to infer an exact model-stage breakdown. Whole-answer timing includes image decode, vision encoding, prefill, decoding and local streamed output. The required 10% gain applies to that whole-answer metric. Candidate failed the frozen acceptance gates. The first equivalence-harness link encountered duplicate CUDA device symbols when source inclusion and the runtime archive both supplied the sampler. A recovery wrapper restored the original runtime. The corrected test build removed the redundant sampler object from a separate archive copy and preserved the serving archive. This was an agent test-build correction, not a user intervention or a speed result. The native incremental rebuild took 42.21 seconds without observed OOM or swap activity, as recorded in the build receipt. No global-optimality or representative accuracy claim follows from this bounded experiment.</a:t>
            </a:r>
          </a:p>
          <a:p xmlns:a="http://schemas.openxmlformats.org/drawingml/2006/main">
            <a:r>
              <a:t>Sources:</a:t>
            </a:r>
          </a:p>
          <a:p xmlns:a="http://schemas.openxmlformats.org/drawingml/2006/main">
            <a:r>
              <a:t>/Users/asotelo/Documents/ChatGPT/jetson-orin-streaming-codes/results/latency10/comparison.json</a:t>
            </a:r>
          </a:p>
          <a:p xmlns:a="http://schemas.openxmlformats.org/drawingml/2006/main">
            <a:r>
              <a:t>results/latency10/profiling/sampler-baseline.txt</a:t>
            </a:r>
          </a:p>
          <a:p xmlns:a="http://schemas.openxmlformats.org/drawingml/2006/main">
            <a:r>
              <a:t>results/latency10/profiling/sampler-candidate.txt</a:t>
            </a:r>
          </a:p>
          <a:p xmlns:a="http://schemas.openxmlformats.org/drawingml/2006/main">
            <a:r>
              <a:t>results/latency10/profiling/sampler-baseline-controlled.txt</a:t>
            </a:r>
          </a:p>
          <a:p xmlns:a="http://schemas.openxmlformats.org/drawingml/2006/main">
            <a:r>
              <a:t>results/latency10/profiling/sampler-candidate-controlled.txt</a:t>
            </a:r>
          </a:p>
          <a:p xmlns:a="http://schemas.openxmlformats.org/drawingml/2006/main">
            <a:r>
              <a:t>results/latency10/profiling/equivalence.jsonl</a:t>
            </a:r>
          </a:p>
          <a:p xmlns:a="http://schemas.openxmlformats.org/drawingml/2006/main">
            <a:r>
              <a:t>results/latency10/native-build/status.json</a:t>
            </a:r>
          </a:p>
          <a:p xmlns:a="http://schemas.openxmlformats.org/drawingml/2006/main">
            <a:r>
              <a:t>research/latency10-follow-up.md</a:t>
            </a:r>
          </a:p>
          <a:p xmlns:a="http://schemas.openxmlformats.org/drawingml/2006/main">
            <a:r>
              <a:t>patches/topk-retained-partial.patch</a:t>
            </a:r>
          </a:p>
          <a:p xmlns:a="http://schemas.openxmlformats.org/drawingml/2006/main">
            <a:r>
              <a:t>scripts/profile_sampler.cu</a:t>
            </a:r>
          </a:p>
          <a:p xmlns:a="http://schemas.openxmlformats.org/drawingml/2006/main">
            <a:r>
              <a:t>scripts/check_sampler_equivalence.cu</a:t>
            </a:r>
          </a:p>
          <a:p xmlns:a="http://schemas.openxmlformats.org/drawingml/2006/main">
            <a:r>
              <a:t>https://github.com/NVIDIA/TensorRT-Edge-LLM/blob/e8b29522938901f6df19ebeedd4b69bc8edbcd97/cpp/sampler/sampling.cu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cd2f2e268743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d783ace8674dab" /><Relationship Type="http://schemas.openxmlformats.org/officeDocument/2006/relationships/slideLayout" Target="/ppt/slideLayouts/slideLayout1.xml" Id="Ra2a29eb03e6a46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a29eb03e6a46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b84a7fd8c34133" /><Relationship Type="http://schemas.openxmlformats.org/officeDocument/2006/relationships/notesSlide" Target="/ppt/notesSlides/notesSlide1.xml" Id="R97e51e28393248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4ac4399a6d4451c" /><Relationship Type="http://schemas.openxmlformats.org/officeDocument/2006/relationships/notesSlide" Target="/ppt/notesSlides/notesSlide2.xml" Id="R2012d16e180949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081b775e78e450c" /><Relationship Type="http://schemas.openxmlformats.org/officeDocument/2006/relationships/image" Target="/ppt/media/image.png" Id="R91a74e4f30a24ed2" /><Relationship Type="http://schemas.openxmlformats.org/officeDocument/2006/relationships/notesSlide" Target="/ppt/notesSlides/notesSlide3.xml" Id="Rac710e231bba40f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34dcb94b285445e" /><Relationship Type="http://schemas.openxmlformats.org/officeDocument/2006/relationships/notesSlide" Target="/ppt/notesSlides/notesSlide4.xml" Id="R05ba81ce174248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0c750f0ea9e480d" /><Relationship Type="http://schemas.openxmlformats.org/officeDocument/2006/relationships/notesSlide" Target="/ppt/notesSlides/notesSlide5.xml" Id="Rf62c9cdbf55c448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a8bdf9fa10434d" /><Relationship Type="http://schemas.openxmlformats.org/officeDocument/2006/relationships/image" Target="/ppt/media/image.jpeg" Id="R9be8ed71c8b84e01" /><Relationship Type="http://schemas.openxmlformats.org/officeDocument/2006/relationships/notesSlide" Target="/ppt/notesSlides/notesSlide6.xml" Id="R687cdcb2b3464fa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f7c9a8ae4594f35" /><Relationship Type="http://schemas.openxmlformats.org/officeDocument/2006/relationships/notesSlide" Target="/ppt/notesSlides/notesSlide7.xml" Id="Rc4571759a0c6444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61a44eb79a40ac" /><Relationship Type="http://schemas.openxmlformats.org/officeDocument/2006/relationships/notesSlide" Target="/ppt/notesSlides/notesSlide8.xml" Id="R9cdfc966fd7a42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be39775381b437d" /><Relationship Type="http://schemas.openxmlformats.org/officeDocument/2006/relationships/notesSlide" Target="/ppt/notesSlides/notesSlide9.xml" Id="R1f3a0c5e6c3041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97e576dc11e4c66" /><Relationship Type="http://schemas.openxmlformats.org/officeDocument/2006/relationships/notesSlide" Target="/ppt/notesSlides/notesSlide10.xml" Id="Re45ccffb3e1d46c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5c92cd3626e42cc" /><Relationship Type="http://schemas.openxmlformats.org/officeDocument/2006/relationships/notesSlide" Target="/ppt/notesSlides/notesSlide11.xml" Id="Rd068157cc3464bf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3c5f0943fd264f5a" /><Relationship Type="http://schemas.openxmlformats.org/officeDocument/2006/relationships/notesSlide" Target="/ppt/notesSlides/notesSlide12.xml" Id="R87ea639f546e43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47410bf27624fac" /><Relationship Type="http://schemas.openxmlformats.org/officeDocument/2006/relationships/notesSlide" Target="/ppt/notesSlides/notesSlide13.xml" Id="R97dd36c30cae470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5d8887e4e204e74" /><Relationship Type="http://schemas.openxmlformats.org/officeDocument/2006/relationships/notesSlide" Target="/ppt/notesSlides/notesSlide14.xml" Id="R17887a6f011f468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d59d16297974a2f" /><Relationship Type="http://schemas.openxmlformats.org/officeDocument/2006/relationships/notesSlide" Target="/ppt/notesSlides/notesSlide15.xml" Id="R89af4a6629744d6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5d595aff236b467d" /><Relationship Type="http://schemas.openxmlformats.org/officeDocument/2006/relationships/notesSlide" Target="/ppt/notesSlides/notesSlide16.xml" Id="R2ab2087fccc648a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163ec335c0d4aa4" /><Relationship Type="http://schemas.openxmlformats.org/officeDocument/2006/relationships/notesSlide" Target="/ppt/notesSlides/notesSlide17.xml" Id="R92dc4640205b4fc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559f519d8ec40bf" /><Relationship Type="http://schemas.openxmlformats.org/officeDocument/2006/relationships/notesSlide" Target="/ppt/notesSlides/notesSlide18.xml" Id="R22dfd979d037473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b9f7035672e4b5a" /><Relationship Type="http://schemas.openxmlformats.org/officeDocument/2006/relationships/image" Target="/ppt/media/image2.png" Id="R2cb546b6683f440c" /><Relationship Type="http://schemas.openxmlformats.org/officeDocument/2006/relationships/notesSlide" Target="/ppt/notesSlides/notesSlide19.xml" Id="R2299b2a07f844d1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32f997d2b084d84" /><Relationship Type="http://schemas.openxmlformats.org/officeDocument/2006/relationships/notesSlide" Target="/ppt/notesSlides/notesSlide20.xml" Id="R41d0cc74c001432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d324878b0ec84f16" /><Relationship Type="http://schemas.openxmlformats.org/officeDocument/2006/relationships/image" Target="/ppt/media/image3.png" Id="R7fb7db4037fb4993" /><Relationship Type="http://schemas.openxmlformats.org/officeDocument/2006/relationships/notesSlide" Target="/ppt/notesSlides/notesSlide21.xml" Id="R8403e6447e48435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a142a2b407640be" /><Relationship Type="http://schemas.openxmlformats.org/officeDocument/2006/relationships/image" Target="/ppt/media/image4.png" Id="Re317bb673c31406f" /><Relationship Type="http://schemas.openxmlformats.org/officeDocument/2006/relationships/notesSlide" Target="/ppt/notesSlides/notesSlide22.xml" Id="Rb933aa4237f84d9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0c97a1d10e314598" /><Relationship Type="http://schemas.openxmlformats.org/officeDocument/2006/relationships/notesSlide" Target="/ppt/notesSlides/notesSlide23.xml" Id="R5ccef9d8d6ee46b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207212798fc48e4" /><Relationship Type="http://schemas.openxmlformats.org/officeDocument/2006/relationships/notesSlide" Target="/ppt/notesSlides/notesSlide24.xml" Id="R65fefaeb309c420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bce997e80c45404d" /><Relationship Type="http://schemas.openxmlformats.org/officeDocument/2006/relationships/notesSlide" Target="/ppt/notesSlides/notesSlide25.xml" Id="R0beb84f066194a8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b16d14010404651" /><Relationship Type="http://schemas.openxmlformats.org/officeDocument/2006/relationships/notesSlide" Target="/ppt/notesSlides/notesSlide26.xml" Id="Re080976f74c6417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ae1745769924acb" /><Relationship Type="http://schemas.openxmlformats.org/officeDocument/2006/relationships/notesSlide" Target="/ppt/notesSlides/notesSlide27.xml" Id="R058ee385c645478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f5fbb1b13ff4574" /><Relationship Type="http://schemas.openxmlformats.org/officeDocument/2006/relationships/notesSlide" Target="/ppt/notesSlides/notesSlide28.xml" Id="R9a8bb571887b4f5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844F95A-E72F-4474-9755-40728EB2D43E}"/>
              </a:ext>
            </a:extLst>
          </p:cNvPr>
          <p:cNvSpPr>
            <a:spLocks xmlns:a="http://schemas.openxmlformats.org/drawingml/2006/main" noGrp="1"/>
          </p:cNvSpPr>
          <p:nvPr/>
        </p:nvSpPr>
        <p:spPr>
          <a:xfrm xmlns:a="http://schemas.openxmlformats.org/drawingml/2006/main">
            <a:off x="685800" y="1400175"/>
            <a:ext cx="10648950" cy="1933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5100" b="1">
                <a:solidFill>
                  <a:srgbClr val="183542"/>
                </a:solidFill>
                <a:latin typeface="Helvetica Neue"/>
                <a:ea typeface="Helvetica Neue"/>
                <a:cs typeface="Helvetica Neue"/>
              </a:defRPr>
            </a:pPr>
            <a:r>
              <a:rPr sz="5100" b="1">
                <a:solidFill>
                  <a:srgbClr val="183542"/>
                </a:solidFill>
                <a:latin typeface="Helvetica Neue"/>
                <a:ea typeface="Helvetica Neue"/>
                <a:cs typeface="Helvetica Neue"/>
              </a:rPr>
              <a:t>Cosmos3-Edge on</a:t>
            </a:r>
          </a:p>
          <a:p xmlns:a="http://schemas.openxmlformats.org/drawingml/2006/main">
            <a:pPr>
              <a:buNone/>
              <a:defRPr sz="5100" b="1">
                <a:solidFill>
                  <a:srgbClr val="183542"/>
                </a:solidFill>
                <a:latin typeface="Helvetica Neue"/>
                <a:ea typeface="Helvetica Neue"/>
                <a:cs typeface="Helvetica Neue"/>
              </a:defRPr>
            </a:pPr>
            <a:r>
              <a:rPr sz="5100" b="1">
                <a:solidFill>
                  <a:srgbClr val="183542"/>
                </a:solidFill>
                <a:latin typeface="Helvetica Neue"/>
                <a:ea typeface="Helvetica Neue"/>
                <a:cs typeface="Helvetica Neue"/>
              </a:rPr>
              <a:t>Jetson Orin Nano</a:t>
            </a:r>
          </a:p>
        </p:txBody>
      </p:sp>
      <p:sp>
        <p:nvSpPr>
          <p:cNvPr id="2" name="">
            <a:extLst xmlns:a="http://schemas.openxmlformats.org/drawingml/2006/main">
              <a:ext uri="{FF2B5EF4-FFF2-40B4-BE49-F238E27FC236}">
                <a16:creationId xmlns:a16="http://schemas.microsoft.com/office/drawing/2014/main" id="{855E583C-3AD6-462C-8FC3-51A7A7339B67}"/>
              </a:ext>
            </a:extLst>
          </p:cNvPr>
          <p:cNvSpPr>
            <a:spLocks xmlns:a="http://schemas.openxmlformats.org/drawingml/2006/main" noGrp="1"/>
          </p:cNvSpPr>
          <p:nvPr/>
        </p:nvSpPr>
        <p:spPr>
          <a:xfrm xmlns:a="http://schemas.openxmlformats.org/drawingml/2006/main">
            <a:off x="685800" y="37338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75" b="0">
                <a:solidFill>
                  <a:srgbClr val="146875"/>
                </a:solidFill>
                <a:latin typeface="Helvetica Neue"/>
                <a:ea typeface="Helvetica Neue"/>
                <a:cs typeface="Helvetica Neue"/>
              </a:defRPr>
            </a:pPr>
            <a:r>
              <a:rPr sz="2475" b="0">
                <a:solidFill>
                  <a:srgbClr val="146875"/>
                </a:solidFill>
                <a:latin typeface="Helvetica Neue"/>
                <a:ea typeface="Helvetica Neue"/>
                <a:cs typeface="Helvetica Neue"/>
              </a:rPr>
              <a:t>Public implementation and measured findings</a:t>
            </a:r>
          </a:p>
        </p:txBody>
      </p:sp>
      <p:sp>
        <p:nvSpPr>
          <p:cNvPr id="3" name="">
            <a:extLst xmlns:a="http://schemas.openxmlformats.org/drawingml/2006/main">
              <a:ext uri="{FF2B5EF4-FFF2-40B4-BE49-F238E27FC236}">
                <a16:creationId xmlns:a16="http://schemas.microsoft.com/office/drawing/2014/main" id="{C8243B99-A28D-4DE5-A2EC-A27F777B2CDE}"/>
              </a:ext>
            </a:extLst>
          </p:cNvPr>
          <p:cNvSpPr>
            <a:spLocks xmlns:a="http://schemas.openxmlformats.org/drawingml/2006/main" noGrp="1"/>
          </p:cNvSpPr>
          <p:nvPr/>
        </p:nvSpPr>
        <p:spPr>
          <a:xfrm xmlns:a="http://schemas.openxmlformats.org/drawingml/2006/main">
            <a:off x="685800" y="4572000"/>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183542"/>
                </a:solidFill>
                <a:latin typeface="Helvetica Neue"/>
                <a:ea typeface="Helvetica Neue"/>
                <a:cs typeface="Helvetica Neue"/>
              </a:defRPr>
            </a:pPr>
            <a:r>
              <a:rPr sz="2175" b="0">
                <a:solidFill>
                  <a:srgbClr val="183542"/>
                </a:solidFill>
                <a:latin typeface="Helvetica Neue"/>
                <a:ea typeface="Helvetica Neue"/>
                <a:cs typeface="Helvetica Neue"/>
              </a:rPr>
              <a:t>Selected configuration: fp16-corrected-i1024-kv2048</a:t>
            </a:r>
          </a:p>
        </p:txBody>
      </p:sp>
      <p:sp>
        <p:nvSpPr>
          <p:cNvPr id="4" name="">
            <a:extLst xmlns:a="http://schemas.openxmlformats.org/drawingml/2006/main">
              <a:ext uri="{FF2B5EF4-FFF2-40B4-BE49-F238E27FC236}">
                <a16:creationId xmlns:a16="http://schemas.microsoft.com/office/drawing/2014/main" id="{D96FCD07-6C6E-4308-9074-1D272769A106}"/>
              </a:ext>
            </a:extLst>
          </p:cNvPr>
          <p:cNvSpPr>
            <a:spLocks xmlns:a="http://schemas.openxmlformats.org/drawingml/2006/main" noGrp="1"/>
          </p:cNvSpPr>
          <p:nvPr/>
        </p:nvSpPr>
        <p:spPr>
          <a:xfrm xmlns:a="http://schemas.openxmlformats.org/drawingml/2006/main">
            <a:off x="685800" y="59721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2026-09-20</a:t>
            </a:r>
          </a:p>
        </p:txBody>
      </p:sp>
    </p:spTree>
    <p:extLst>
      <p:ext uri="{BB962C8B-B14F-4D97-AF65-F5344CB8AC3E}">
        <p14:creationId xmlns:p14="http://schemas.microsoft.com/office/powerpoint/2010/main" val="11914868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560267D-8DB9-4A92-871E-E60A4E4FBF32}"/>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Installed hardware and software</a:t>
            </a:r>
          </a:p>
        </p:txBody>
      </p:sp>
      <p:sp>
        <p:nvSpPr>
          <p:cNvPr id="2" name="">
            <a:extLst xmlns:a="http://schemas.openxmlformats.org/drawingml/2006/main">
              <a:ext uri="{FF2B5EF4-FFF2-40B4-BE49-F238E27FC236}">
                <a16:creationId xmlns:a16="http://schemas.microsoft.com/office/drawing/2014/main" id="{E44F1152-204C-4536-A012-A92F3B19B963}"/>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FA4EB11C-7245-4F03-A70B-8C96E8A82E7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a:t>
            </a:r>
          </a:p>
        </p:txBody>
      </p:sp>
      <p:graphicFrame>
        <p:nvGraphicFramePr>
          <p:cNvPr id="11" name=""/>
          <p:cNvGraphicFramePr/>
          <p:nvPr/>
        </p:nvGraphicFramePr>
        <p:xfrm>
          <a:off xmlns:a="http://schemas.openxmlformats.org/drawingml/2006/main" x="685800" y="1571625"/>
          <a:ext xmlns:a="http://schemas.openxmlformats.org/drawingml/2006/main" cx="10820400" cy="3886200"/>
        </p:xfrm>
        <a:graphic xmlns:a="http://schemas.openxmlformats.org/drawingml/2006/main">
          <a:graphicData uri="http://schemas.openxmlformats.org/drawingml/2006/table">
            <a:tbl>
              <a:tblPr firstRow="1" bandRow="0"/>
              <a:tblGrid>
                <a:gridCol w="3333750"/>
                <a:gridCol w="7486650"/>
              </a:tblGrid>
              <a:tr h="647700">
                <a:tc>
                  <a:txBody>
                    <a:bodyPr/>
                    <a:lstStyle/>
                    <a:p>
                      <a:r>
                        <a:rPr sz="1800" b="1">
                          <a:solidFill>
                            <a:srgbClr val="183542"/>
                          </a:solidFill>
                          <a:latin typeface="Helvetica Neue"/>
                          <a:ea typeface="Helvetica Neue"/>
                          <a:cs typeface="Helvetica Neue"/>
                        </a:rPr>
                        <a:t>Component</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Observed configuration</a:t>
                      </a:r>
                    </a:p>
                  </a:txBody>
                  <a:tcPr marL="142875" marR="142875" marT="85725" marB="85725" anchor="ctr">
                    <a:solidFill>
                      <a:srgbClr val="E8F0F1"/>
                    </a:solidFill>
                  </a:tcPr>
                </a:tc>
              </a:tr>
              <a:tr h="647700">
                <a:tc>
                  <a:txBody>
                    <a:bodyPr/>
                    <a:lstStyle/>
                    <a:p>
                      <a:r>
                        <a:rPr sz="1800">
                          <a:solidFill>
                            <a:srgbClr val="183542"/>
                          </a:solidFill>
                          <a:latin typeface="Helvetica Neue"/>
                          <a:ea typeface="Helvetica Neue"/>
                          <a:cs typeface="Helvetica Neue"/>
                        </a:rPr>
                        <a:t>Device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Jetson Orin Nano P3767-0005  8 GB shared RAM</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Storage and mode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WD_BLACK SN7100 1 TB</a:t>
                      </a:r>
                    </a:p>
                    <a:p>
                      <a:r>
                        <a:rPr sz="1800">
                          <a:solidFill>
                            <a:srgbClr val="183542"/>
                          </a:solidFill>
                          <a:latin typeface="Helvetica Neue"/>
                          <a:ea typeface="Helvetica Neue"/>
                          <a:cs typeface="Helvetica Neue"/>
                        </a:rPr>
                        <a:t>Stock 25 W, ID1</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Operating system</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JetPack 7.2.1, L4T 39.2.1</a:t>
                      </a:r>
                    </a:p>
                    <a:p>
                      <a:r>
                        <a:rPr sz="1800">
                          <a:solidFill>
                            <a:srgbClr val="183542"/>
                          </a:solidFill>
                          <a:latin typeface="Helvetica Neue"/>
                          <a:ea typeface="Helvetica Neue"/>
                          <a:cs typeface="Helvetica Neue"/>
                        </a:rPr>
                        <a:t>Kernel 6.8.12-1021-tegra</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Compute libraries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CUDA nvcc13.2.86, TensorRT 10.16.2.10</a:t>
                      </a:r>
                    </a:p>
                  </a:txBody>
                  <a:tcPr marL="142875" marR="142875" marT="85725" marB="85725" anchor="ctr">
                    <a:solidFill>
                      <a:srgbClr val="FFFFFF"/>
                    </a:solidFill>
                  </a:tcPr>
                </a:tc>
              </a:tr>
              <a:tr h="647700">
                <a:tc>
                  <a:txBody>
                    <a:bodyPr/>
                    <a:lstStyle/>
                    <a:p>
                      <a:r>
                        <a:rPr sz="1800">
                          <a:solidFill>
                            <a:srgbClr val="183542"/>
                          </a:solidFill>
                          <a:latin typeface="Helvetica Neue"/>
                          <a:ea typeface="Helvetica Neue"/>
                          <a:cs typeface="Helvetica Neue"/>
                        </a:rPr>
                        <a:t>Installation evidence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Verified USB-C QSPI + NVMe flash</a:t>
                      </a:r>
                    </a:p>
                    <a:p>
                      <a:r>
                        <a:rPr sz="1800">
                          <a:solidFill>
                            <a:srgbClr val="183542"/>
                          </a:solidFill>
                          <a:latin typeface="Helvetica Neue"/>
                          <a:ea typeface="Helvetica Neue"/>
                          <a:cs typeface="Helvetica Neue"/>
                        </a:rPr>
                        <a:t>Verified NVMe boot and CUDA calculation</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968798F-44D8-4A48-9B69-5A69A47C15F0}"/>
              </a:ext>
            </a:extLst>
          </p:cNvPr>
          <p:cNvSpPr>
            <a:spLocks xmlns:a="http://schemas.openxmlformats.org/drawingml/2006/main" noGrp="1"/>
          </p:cNvSpPr>
          <p:nvPr/>
        </p:nvSpPr>
        <p:spPr>
          <a:xfrm xmlns:a="http://schemas.openxmlformats.org/drawingml/2006/main">
            <a:off x="685800" y="5934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Official NVIDIA flash tools ran through an original SSH/NFS transport bridge.</a:t>
            </a:r>
          </a:p>
        </p:txBody>
      </p:sp>
    </p:spTree>
    <p:extLst>
      <p:ext uri="{BB962C8B-B14F-4D97-AF65-F5344CB8AC3E}">
        <p14:creationId xmlns:p14="http://schemas.microsoft.com/office/powerpoint/2010/main" val="198351444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4E251C0-7D08-42DF-B251-078DB7B9580A}"/>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Streaming browser interface</a:t>
            </a:r>
          </a:p>
        </p:txBody>
      </p:sp>
      <p:sp>
        <p:nvSpPr>
          <p:cNvPr id="2" name="">
            <a:extLst xmlns:a="http://schemas.openxmlformats.org/drawingml/2006/main">
              <a:ext uri="{FF2B5EF4-FFF2-40B4-BE49-F238E27FC236}">
                <a16:creationId xmlns:a16="http://schemas.microsoft.com/office/drawing/2014/main" id="{90EE3215-4302-476B-A079-D98B1B6DD275}"/>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6B1CFDF1-34EF-4105-9E50-0C54733A046A}"/>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3</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1a74e4f30a24ed2"/>
          <a:stretch xmlns:a="http://schemas.openxmlformats.org/drawingml/2006/main"/>
        </p:blipFill>
        <p:spPr>
          <a:xfrm xmlns:a="http://schemas.openxmlformats.org/drawingml/2006/main">
            <a:off x="1536955" y="1466850"/>
            <a:ext cx="5393816" cy="46482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5C513CE-E66C-4799-9EFA-62205FF45078}"/>
              </a:ext>
            </a:extLst>
          </p:cNvPr>
          <p:cNvSpPr>
            <a:spLocks xmlns:a="http://schemas.openxmlformats.org/drawingml/2006/main" noGrp="1"/>
          </p:cNvSpPr>
          <p:nvPr/>
        </p:nvSpPr>
        <p:spPr>
          <a:xfrm xmlns:a="http://schemas.openxmlformats.org/drawingml/2006/main">
            <a:off x="8172450" y="16764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Browser checks</a:t>
            </a:r>
          </a:p>
        </p:txBody>
      </p:sp>
      <p:sp>
        <p:nvSpPr>
          <p:cNvPr id="6" name="">
            <a:extLst xmlns:a="http://schemas.openxmlformats.org/drawingml/2006/main">
              <a:ext uri="{FF2B5EF4-FFF2-40B4-BE49-F238E27FC236}">
                <a16:creationId xmlns:a16="http://schemas.microsoft.com/office/drawing/2014/main" id="{B35A6623-9DC2-48FF-8DF1-3390F55CCACE}"/>
              </a:ext>
            </a:extLst>
          </p:cNvPr>
          <p:cNvSpPr>
            <a:spLocks xmlns:a="http://schemas.openxmlformats.org/drawingml/2006/main" noGrp="1"/>
          </p:cNvSpPr>
          <p:nvPr/>
        </p:nvSpPr>
        <p:spPr>
          <a:xfrm xmlns:a="http://schemas.openxmlformats.org/drawingml/2006/main">
            <a:off x="8172450" y="2171700"/>
            <a:ext cx="3333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Streaming: Pass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Stop and restart: Pass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Synthetic camera: Pass</a:t>
            </a:r>
          </a:p>
        </p:txBody>
      </p:sp>
      <p:sp>
        <p:nvSpPr>
          <p:cNvPr id="7" name="">
            <a:extLst xmlns:a="http://schemas.openxmlformats.org/drawingml/2006/main">
              <a:ext uri="{FF2B5EF4-FFF2-40B4-BE49-F238E27FC236}">
                <a16:creationId xmlns:a16="http://schemas.microsoft.com/office/drawing/2014/main" id="{C2E5A4A6-11B3-41CF-8AEB-CBC8FD111911}"/>
              </a:ext>
            </a:extLst>
          </p:cNvPr>
          <p:cNvSpPr>
            <a:spLocks xmlns:a="http://schemas.openxmlformats.org/drawingml/2006/main" noGrp="1"/>
          </p:cNvSpPr>
          <p:nvPr/>
        </p:nvSpPr>
        <p:spPr>
          <a:xfrm xmlns:a="http://schemas.openxmlformats.org/drawingml/2006/main">
            <a:off x="8172450" y="38195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Web access</a:t>
            </a:r>
          </a:p>
        </p:txBody>
      </p:sp>
      <p:sp>
        <p:nvSpPr>
          <p:cNvPr id="8" name="">
            <a:extLst xmlns:a="http://schemas.openxmlformats.org/drawingml/2006/main">
              <a:ext uri="{FF2B5EF4-FFF2-40B4-BE49-F238E27FC236}">
                <a16:creationId xmlns:a16="http://schemas.microsoft.com/office/drawing/2014/main" id="{0EE1E9E6-0DB2-43C4-AC83-AC50574E7AA6}"/>
              </a:ext>
            </a:extLst>
          </p:cNvPr>
          <p:cNvSpPr>
            <a:spLocks xmlns:a="http://schemas.openxmlformats.org/drawingml/2006/main" noGrp="1"/>
          </p:cNvSpPr>
          <p:nvPr/>
        </p:nvSpPr>
        <p:spPr>
          <a:xfrm xmlns:a="http://schemas.openxmlformats.org/drawingml/2006/main">
            <a:off x="8172450" y="4314825"/>
            <a:ext cx="33337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http://localhost:8090</a:t>
            </a:r>
          </a:p>
          <a:p xmlns:a="http://schemas.openxmlformats.org/drawingml/2006/main">
            <a:r>
              <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Actual Orin service through the Mac SSH tunnel</a:t>
            </a:r>
          </a:p>
        </p:txBody>
      </p:sp>
    </p:spTree>
    <p:extLst>
      <p:ext uri="{BB962C8B-B14F-4D97-AF65-F5344CB8AC3E}">
        <p14:creationId xmlns:p14="http://schemas.microsoft.com/office/powerpoint/2010/main" val="112542665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1698CDB-5E12-4C9A-B49D-C27BA6C9F0D0}"/>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Request and inference path</a:t>
            </a:r>
          </a:p>
        </p:txBody>
      </p:sp>
      <p:sp>
        <p:nvSpPr>
          <p:cNvPr id="2" name="">
            <a:extLst xmlns:a="http://schemas.openxmlformats.org/drawingml/2006/main">
              <a:ext uri="{FF2B5EF4-FFF2-40B4-BE49-F238E27FC236}">
                <a16:creationId xmlns:a16="http://schemas.microsoft.com/office/drawing/2014/main" id="{BA11A3E3-7E29-4DF4-99B3-5B9637264B57}"/>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B9743E93-2338-4BFD-B3AB-C75CBBF6C35F}"/>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4</a:t>
            </a:r>
          </a:p>
        </p:txBody>
      </p:sp>
      <p:graphicFrame>
        <p:nvGraphicFramePr>
          <p:cNvPr id="11" name=""/>
          <p:cNvGraphicFramePr/>
          <p:nvPr/>
        </p:nvGraphicFramePr>
        <p:xfrm>
          <a:off xmlns:a="http://schemas.openxmlformats.org/drawingml/2006/main" x="685800" y="1571625"/>
          <a:ext xmlns:a="http://schemas.openxmlformats.org/drawingml/2006/main" cx="10820400" cy="4038600"/>
        </p:xfrm>
        <a:graphic xmlns:a="http://schemas.openxmlformats.org/drawingml/2006/main">
          <a:graphicData uri="http://schemas.openxmlformats.org/drawingml/2006/table">
            <a:tbl>
              <a:tblPr firstRow="1" bandRow="0"/>
              <a:tblGrid>
                <a:gridCol w="2381250"/>
                <a:gridCol w="5857875"/>
                <a:gridCol w="2581275"/>
              </a:tblGrid>
              <a:tr h="673100">
                <a:tc>
                  <a:txBody>
                    <a:bodyPr/>
                    <a:lstStyle/>
                    <a:p>
                      <a:r>
                        <a:rPr sz="1800" b="1">
                          <a:solidFill>
                            <a:srgbClr val="183542"/>
                          </a:solidFill>
                          <a:latin typeface="Helvetica Neue"/>
                          <a:ea typeface="Helvetica Neue"/>
                          <a:cs typeface="Helvetica Neue"/>
                        </a:rPr>
                        <a:t>Stage</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Responsibility</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Source</a:t>
                      </a:r>
                    </a:p>
                  </a:txBody>
                  <a:tcPr marL="142875" marR="142875" marT="85725" marB="85725" anchor="ctr">
                    <a:solidFill>
                      <a:srgbClr val="E8F0F1"/>
                    </a:solidFill>
                  </a:tcPr>
                </a:tc>
              </a:tr>
              <a:tr h="673100">
                <a:tc>
                  <a:txBody>
                    <a:bodyPr/>
                    <a:lstStyle/>
                    <a:p>
                      <a:r>
                        <a:rPr sz="1800">
                          <a:solidFill>
                            <a:srgbClr val="183542"/>
                          </a:solidFill>
                          <a:latin typeface="Helvetica Neue"/>
                          <a:ea typeface="Helvetica Neue"/>
                          <a:cs typeface="Helvetica Neue"/>
                        </a:rPr>
                        <a:t>Browser</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Capture JPEG, prompt and sampling settings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Original UI</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Orin HTTP proxy</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Forward one request and stream SSE events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Original proxy</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Resident backend</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Decode image, run vision and language engines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TensorRT Edge-LLM</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Checkpoint</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Learned image and language behavior</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NVIDIA Cosmos3-Edge</a:t>
                      </a:r>
                    </a:p>
                  </a:txBody>
                  <a:tcPr marL="142875" marR="142875" marT="85725" marB="85725" anchor="ctr">
                    <a:solidFill>
                      <a:srgbClr val="FFFFFF"/>
                    </a:solidFill>
                  </a:tcPr>
                </a:tc>
              </a:tr>
              <a:tr h="673100">
                <a:tc>
                  <a:txBody>
                    <a:bodyPr/>
                    <a:lstStyle/>
                    <a:p>
                      <a:r>
                        <a:rPr sz="1800">
                          <a:solidFill>
                            <a:srgbClr val="183542"/>
                          </a:solidFill>
                          <a:latin typeface="Helvetica Neue"/>
                          <a:ea typeface="Helvetica Neue"/>
                          <a:cs typeface="Helvetica Neue"/>
                        </a:rPr>
                        <a:t>Browser response</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Incremental text, timing and cancellation</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Original UI</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D6C8964B-46D2-406B-B1A2-15BA1D4A3DBF}"/>
              </a:ext>
            </a:extLst>
          </p:cNvPr>
          <p:cNvSpPr>
            <a:spLocks xmlns:a="http://schemas.openxmlformats.org/drawingml/2006/main" noGrp="1"/>
          </p:cNvSpPr>
          <p:nvPr/>
        </p:nvSpPr>
        <p:spPr>
          <a:xfrm xmlns:a="http://schemas.openxmlformats.org/drawingml/2006/main">
            <a:off x="685800" y="591502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566773"/>
                </a:solidFill>
                <a:latin typeface="Helvetica Neue"/>
                <a:ea typeface="Helvetica Neue"/>
                <a:cs typeface="Helvetica Neue"/>
              </a:defRPr>
            </a:pPr>
            <a:r>
              <a:rPr sz="1875" b="0">
                <a:solidFill>
                  <a:srgbClr val="566773"/>
                </a:solidFill>
                <a:latin typeface="Helvetica Neue"/>
                <a:ea typeface="Helvetica Neue"/>
                <a:cs typeface="Helvetica Neue"/>
              </a:rPr>
              <a:t>The webpage runs on the Orin. Access through a tunnel remains a transport detail.</a:t>
            </a:r>
          </a:p>
        </p:txBody>
      </p:sp>
    </p:spTree>
    <p:extLst>
      <p:ext uri="{BB962C8B-B14F-4D97-AF65-F5344CB8AC3E}">
        <p14:creationId xmlns:p14="http://schemas.microsoft.com/office/powerpoint/2010/main" val="12089203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2E2D8D9-4882-4699-8D98-3E441070BAD5}"/>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Compatibility and correctness repairs</a:t>
            </a:r>
          </a:p>
        </p:txBody>
      </p:sp>
      <p:sp>
        <p:nvSpPr>
          <p:cNvPr id="2" name="">
            <a:extLst xmlns:a="http://schemas.openxmlformats.org/drawingml/2006/main">
              <a:ext uri="{FF2B5EF4-FFF2-40B4-BE49-F238E27FC236}">
                <a16:creationId xmlns:a16="http://schemas.microsoft.com/office/drawing/2014/main" id="{AD4E62B6-638C-4DD8-B1E1-E805931B2E5F}"/>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21A21B1D-86B3-444E-83AC-1EE3CE3AEB0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5</a:t>
            </a:r>
          </a:p>
        </p:txBody>
      </p:sp>
      <p:graphicFrame>
        <p:nvGraphicFramePr>
          <p:cNvPr id="11" name=""/>
          <p:cNvGraphicFramePr/>
          <p:nvPr/>
        </p:nvGraphicFramePr>
        <p:xfrm>
          <a:off xmlns:a="http://schemas.openxmlformats.org/drawingml/2006/main" x="685800" y="1571625"/>
          <a:ext xmlns:a="http://schemas.openxmlformats.org/drawingml/2006/main" cx="10820400" cy="3905250"/>
        </p:xfrm>
        <a:graphic xmlns:a="http://schemas.openxmlformats.org/drawingml/2006/main">
          <a:graphicData uri="http://schemas.openxmlformats.org/drawingml/2006/table">
            <a:tbl>
              <a:tblPr firstRow="1" bandRow="0"/>
              <a:tblGrid>
                <a:gridCol w="3562350"/>
                <a:gridCol w="7258050"/>
              </a:tblGrid>
              <a:tr h="781050">
                <a:tc>
                  <a:txBody>
                    <a:bodyPr/>
                    <a:lstStyle/>
                    <a:p>
                      <a:r>
                        <a:rPr sz="1875" b="1">
                          <a:solidFill>
                            <a:srgbClr val="183542"/>
                          </a:solidFill>
                          <a:latin typeface="Helvetica Neue"/>
                          <a:ea typeface="Helvetica Neue"/>
                          <a:cs typeface="Helvetica Neue"/>
                        </a:rPr>
                        <a:t>Observed defect</a:t>
                      </a:r>
                    </a:p>
                  </a:txBody>
                  <a:tcPr marL="142875" marR="142875" marT="85725" marB="85725" anchor="ctr">
                    <a:solidFill>
                      <a:srgbClr val="E8F0F1"/>
                    </a:solidFill>
                  </a:tcPr>
                </a:tc>
                <a:tc>
                  <a:txBody>
                    <a:bodyPr/>
                    <a:lstStyle/>
                    <a:p>
                      <a:r>
                        <a:rPr sz="1875" b="1">
                          <a:solidFill>
                            <a:srgbClr val="183542"/>
                          </a:solidFill>
                          <a:latin typeface="Helvetica Neue"/>
                          <a:ea typeface="Helvetica Neue"/>
                          <a:cs typeface="Helvetica Neue"/>
                        </a:rPr>
                        <a:t>Task contribution using public conventions</a:t>
                      </a:r>
                    </a:p>
                  </a:txBody>
                  <a:tcPr marL="142875" marR="142875" marT="85725" marB="85725" anchor="ctr">
                    <a:solidFill>
                      <a:srgbClr val="E8F0F1"/>
                    </a:solidFill>
                  </a:tcPr>
                </a:tc>
              </a:tr>
              <a:tr h="781050">
                <a:tc>
                  <a:txBody>
                    <a:bodyPr/>
                    <a:lstStyle/>
                    <a:p>
                      <a:r>
                        <a:rPr sz="1875">
                          <a:solidFill>
                            <a:srgbClr val="183542"/>
                          </a:solidFill>
                          <a:latin typeface="Helvetica Neue"/>
                          <a:ea typeface="Helvetica Neue"/>
                          <a:cs typeface="Helvetica Neue"/>
                        </a:rPr>
                        <a:t>Generated runtime sidecars</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Restore existing RoPE aliases and image/video delimiters</a:t>
                      </a:r>
                    </a:p>
                  </a:txBody>
                  <a:tcPr marL="142875" marR="142875" marT="85725" marB="85725" anchor="ctr">
                    <a:solidFill>
                      <a:srgbClr val="FFFFFF"/>
                    </a:solidFill>
                  </a:tcPr>
                </a:tc>
              </a:tr>
              <a:tr h="781050">
                <a:tc>
                  <a:txBody>
                    <a:bodyPr/>
                    <a:lstStyle/>
                    <a:p>
                      <a:r>
                        <a:rPr sz="1875">
                          <a:solidFill>
                            <a:srgbClr val="183542"/>
                          </a:solidFill>
                          <a:latin typeface="Helvetica Neue"/>
                          <a:ea typeface="Helvetica Neue"/>
                          <a:cs typeface="Helvetica Neue"/>
                        </a:rPr>
                        <a:t>HWC weights with CHW pixels</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Apply the public exporter’s patch-weight column permutation</a:t>
                      </a:r>
                    </a:p>
                  </a:txBody>
                  <a:tcPr marL="142875" marR="142875" marT="85725" marB="85725" anchor="ctr">
                    <a:solidFill>
                      <a:srgbClr val="FFFFFF"/>
                    </a:solidFill>
                  </a:tcPr>
                </a:tc>
              </a:tr>
              <a:tr h="781050">
                <a:tc>
                  <a:txBody>
                    <a:bodyPr/>
                    <a:lstStyle/>
                    <a:p>
                      <a:r>
                        <a:rPr sz="1875">
                          <a:solidFill>
                            <a:srgbClr val="183542"/>
                          </a:solidFill>
                          <a:latin typeface="Helvetica Neue"/>
                          <a:ea typeface="Helvetica Neue"/>
                          <a:cs typeface="Helvetica Neue"/>
                        </a:rPr>
                        <a:t>Position interpolation</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Select the Cosmos half-pixel convention in the existing kernel</a:t>
                      </a:r>
                    </a:p>
                  </a:txBody>
                  <a:tcPr marL="142875" marR="142875" marT="85725" marB="85725" anchor="ctr">
                    <a:solidFill>
                      <a:srgbClr val="FFFFFF"/>
                    </a:solidFill>
                  </a:tcPr>
                </a:tc>
              </a:tr>
              <a:tr h="781050">
                <a:tc>
                  <a:txBody>
                    <a:bodyPr/>
                    <a:lstStyle/>
                    <a:p>
                      <a:r>
                        <a:rPr sz="1875">
                          <a:solidFill>
                            <a:srgbClr val="183542"/>
                          </a:solidFill>
                          <a:latin typeface="Helvetica Neue"/>
                          <a:ea typeface="Helvetica Neue"/>
                          <a:cs typeface="Helvetica Neue"/>
                        </a:rPr>
                        <a:t>Independent image cache</a:t>
                      </a:r>
                    </a:p>
                  </a:txBody>
                  <a:tcPr marL="142875" marR="142875" marT="85725" marB="85725" anchor="ctr">
                    <a:solidFill>
                      <a:srgbClr val="FFFFFF"/>
                    </a:solidFill>
                  </a:tcPr>
                </a:tc>
                <a:tc>
                  <a:txBody>
                    <a:bodyPr/>
                    <a:lstStyle/>
                    <a:p>
                      <a:r>
                        <a:rPr sz="1875">
                          <a:solidFill>
                            <a:srgbClr val="183542"/>
                          </a:solidFill>
                          <a:latin typeface="Helvetica Neue"/>
                          <a:ea typeface="Helvetica Neue"/>
                          <a:cs typeface="Helvetica Neue"/>
                        </a:rPr>
                        <a:t>Expose its existing byte budget and set it to zero for measurement</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279CDEB-7664-4E7A-8432-23481343BE1A}"/>
              </a:ext>
            </a:extLst>
          </p:cNvPr>
          <p:cNvSpPr>
            <a:spLocks xmlns:a="http://schemas.openxmlformats.org/drawingml/2006/main" noGrp="1"/>
          </p:cNvSpPr>
          <p:nvPr/>
        </p:nvSpPr>
        <p:spPr>
          <a:xfrm xmlns:a="http://schemas.openxmlformats.org/drawingml/2006/main">
            <a:off x="685800" y="5791200"/>
            <a:ext cx="108204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NVIDIA supplies the model, runtime and underlying conventions. This task repairs their integration.</a:t>
            </a:r>
          </a:p>
        </p:txBody>
      </p:sp>
    </p:spTree>
    <p:extLst>
      <p:ext uri="{BB962C8B-B14F-4D97-AF65-F5344CB8AC3E}">
        <p14:creationId xmlns:p14="http://schemas.microsoft.com/office/powerpoint/2010/main" val="8758196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E994DE4-6D06-4AF3-8181-C2FB23E4AB02}"/>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Quality checks and their limits</a:t>
            </a:r>
          </a:p>
        </p:txBody>
      </p:sp>
      <p:sp>
        <p:nvSpPr>
          <p:cNvPr id="2" name="">
            <a:extLst xmlns:a="http://schemas.openxmlformats.org/drawingml/2006/main">
              <a:ext uri="{FF2B5EF4-FFF2-40B4-BE49-F238E27FC236}">
                <a16:creationId xmlns:a16="http://schemas.microsoft.com/office/drawing/2014/main" id="{C420477C-7B26-455E-9C1A-3EDC6565F8B7}"/>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EE91B4AA-BA78-4996-B6E3-760842CD58A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be8ed71c8b84e01"/>
          <a:stretch xmlns:a="http://schemas.openxmlformats.org/drawingml/2006/main"/>
        </p:blipFill>
        <p:spPr>
          <a:xfrm xmlns:a="http://schemas.openxmlformats.org/drawingml/2006/main">
            <a:off x="1495425" y="1600200"/>
            <a:ext cx="2647950" cy="26479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C44763F-43F3-453A-BD71-74D7D6617B19}"/>
              </a:ext>
            </a:extLst>
          </p:cNvPr>
          <p:cNvSpPr>
            <a:spLocks xmlns:a="http://schemas.openxmlformats.org/drawingml/2006/main" noGrp="1"/>
          </p:cNvSpPr>
          <p:nvPr/>
        </p:nvSpPr>
        <p:spPr>
          <a:xfrm xmlns:a="http://schemas.openxmlformats.org/drawingml/2006/main">
            <a:off x="685800" y="4419600"/>
            <a:ext cx="426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965A20"/>
                </a:solidFill>
                <a:latin typeface="Helvetica Neue"/>
                <a:ea typeface="Helvetica Neue"/>
                <a:cs typeface="Helvetica Neue"/>
              </a:defRPr>
            </a:pPr>
            <a:r>
              <a:rPr sz="2175" b="1">
                <a:solidFill>
                  <a:srgbClr val="965A20"/>
                </a:solidFill>
                <a:latin typeface="Helvetica Neue"/>
                <a:ea typeface="Helvetica Neue"/>
                <a:cs typeface="Helvetica Neue"/>
              </a:rPr>
              <a:t>Natural photos</a:t>
            </a:r>
          </a:p>
        </p:txBody>
      </p:sp>
      <p:sp>
        <p:nvSpPr>
          <p:cNvPr id="6" name="">
            <a:extLst xmlns:a="http://schemas.openxmlformats.org/drawingml/2006/main">
              <a:ext uri="{FF2B5EF4-FFF2-40B4-BE49-F238E27FC236}">
                <a16:creationId xmlns:a16="http://schemas.microsoft.com/office/drawing/2014/main" id="{7A482A80-3C0A-4867-8B0E-E08F58595AA5}"/>
              </a:ext>
            </a:extLst>
          </p:cNvPr>
          <p:cNvSpPr>
            <a:spLocks xmlns:a="http://schemas.openxmlformats.org/drawingml/2006/main" noGrp="1"/>
          </p:cNvSpPr>
          <p:nvPr/>
        </p:nvSpPr>
        <p:spPr>
          <a:xfrm xmlns:a="http://schemas.openxmlformats.org/drawingml/2006/main">
            <a:off x="685800" y="4867275"/>
            <a:ext cx="42672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5/9 with partial credit.</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0/3 fully correct photos.</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Official reference also 5/9.</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2/3 answers match exactly.</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Cause remains unassigned.</a:t>
            </a:r>
          </a:p>
        </p:txBody>
      </p:sp>
      <p:sp>
        <p:nvSpPr>
          <p:cNvPr id="7" name="">
            <a:extLst xmlns:a="http://schemas.openxmlformats.org/drawingml/2006/main">
              <a:ext uri="{FF2B5EF4-FFF2-40B4-BE49-F238E27FC236}">
                <a16:creationId xmlns:a16="http://schemas.microsoft.com/office/drawing/2014/main" id="{554E2322-6533-4414-BFA2-E919B62641BB}"/>
              </a:ext>
            </a:extLst>
          </p:cNvPr>
          <p:cNvSpPr>
            <a:spLocks xmlns:a="http://schemas.openxmlformats.org/drawingml/2006/main" noGrp="1"/>
          </p:cNvSpPr>
          <p:nvPr/>
        </p:nvSpPr>
        <p:spPr>
          <a:xfrm xmlns:a="http://schemas.openxmlformats.org/drawingml/2006/main">
            <a:off x="5410200" y="1552575"/>
            <a:ext cx="6096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46875"/>
                </a:solidFill>
                <a:latin typeface="Helvetica Neue"/>
                <a:ea typeface="Helvetica Neue"/>
                <a:cs typeface="Helvetica Neue"/>
              </a:defRPr>
            </a:pPr>
            <a:r>
              <a:rPr sz="3225" b="1">
                <a:solidFill>
                  <a:srgbClr val="146875"/>
                </a:solidFill>
                <a:latin typeface="Helvetica Neue"/>
                <a:ea typeface="Helvetica Neue"/>
                <a:cs typeface="Helvetica Neue"/>
              </a:rPr>
              <a:t>18 / 19 synthetic facts</a:t>
            </a:r>
          </a:p>
        </p:txBody>
      </p:sp>
      <p:sp>
        <p:nvSpPr>
          <p:cNvPr id="8" name="">
            <a:extLst xmlns:a="http://schemas.openxmlformats.org/drawingml/2006/main">
              <a:ext uri="{FF2B5EF4-FFF2-40B4-BE49-F238E27FC236}">
                <a16:creationId xmlns:a16="http://schemas.microsoft.com/office/drawing/2014/main" id="{5A26529C-D826-47FD-848A-651BDA45659A}"/>
              </a:ext>
            </a:extLst>
          </p:cNvPr>
          <p:cNvSpPr>
            <a:spLocks xmlns:a="http://schemas.openxmlformats.org/drawingml/2006/main" noGrp="1"/>
          </p:cNvSpPr>
          <p:nvPr/>
        </p:nvSpPr>
        <p:spPr>
          <a:xfrm xmlns:a="http://schemas.openxmlformats.org/drawingml/2006/main">
            <a:off x="5410200" y="2457450"/>
            <a:ext cx="6096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Strict screen: Fail</a:t>
            </a:r>
          </a:p>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Reference equivalence: Accepted</a:t>
            </a:r>
          </a:p>
        </p:txBody>
      </p:sp>
      <p:sp>
        <p:nvSpPr>
          <p:cNvPr id="9" name="">
            <a:extLst xmlns:a="http://schemas.openxmlformats.org/drawingml/2006/main">
              <a:ext uri="{FF2B5EF4-FFF2-40B4-BE49-F238E27FC236}">
                <a16:creationId xmlns:a16="http://schemas.microsoft.com/office/drawing/2014/main" id="{432F804B-BAEB-4F07-A4A8-C80B256049F2}"/>
              </a:ext>
            </a:extLst>
          </p:cNvPr>
          <p:cNvSpPr>
            <a:spLocks xmlns:a="http://schemas.openxmlformats.org/drawingml/2006/main" noGrp="1"/>
          </p:cNvSpPr>
          <p:nvPr/>
        </p:nvSpPr>
        <p:spPr>
          <a:xfrm xmlns:a="http://schemas.openxmlformats.org/drawingml/2006/main">
            <a:off x="5410200" y="3533775"/>
            <a:ext cx="6096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183542"/>
                </a:solidFill>
                <a:latin typeface="Helvetica Neue"/>
                <a:ea typeface="Helvetica Neue"/>
                <a:cs typeface="Helvetica Neue"/>
              </a:defRPr>
            </a:pPr>
            <a:r>
              <a:rPr sz="2325" b="1">
                <a:solidFill>
                  <a:srgbClr val="183542"/>
                </a:solidFill>
                <a:latin typeface="Helvetica Neue"/>
                <a:ea typeface="Helvetica Neue"/>
                <a:cs typeface="Helvetica Neue"/>
              </a:rPr>
              <a:t>Both paths describe the flat circles as spheres.</a:t>
            </a:r>
          </a:p>
        </p:txBody>
      </p:sp>
      <p:sp>
        <p:nvSpPr>
          <p:cNvPr id="10" name="">
            <a:extLst xmlns:a="http://schemas.openxmlformats.org/drawingml/2006/main">
              <a:ext uri="{FF2B5EF4-FFF2-40B4-BE49-F238E27FC236}">
                <a16:creationId xmlns:a16="http://schemas.microsoft.com/office/drawing/2014/main" id="{7DF82EB8-F40E-41B2-8497-236E2A300588}"/>
              </a:ext>
            </a:extLst>
          </p:cNvPr>
          <p:cNvSpPr>
            <a:spLocks xmlns:a="http://schemas.openxmlformats.org/drawingml/2006/main" noGrp="1"/>
          </p:cNvSpPr>
          <p:nvPr/>
        </p:nvSpPr>
        <p:spPr>
          <a:xfrm xmlns:a="http://schemas.openxmlformats.org/drawingml/2006/main">
            <a:off x="5410200" y="4476750"/>
            <a:ext cx="60960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566773"/>
                </a:solidFill>
                <a:latin typeface="Helvetica Neue"/>
                <a:ea typeface="Helvetica Neue"/>
                <a:cs typeface="Helvetica Neue"/>
              </a:defRPr>
            </a:pPr>
            <a:r>
              <a:rPr sz="1950" b="0">
                <a:solidFill>
                  <a:srgbClr val="566773"/>
                </a:solidFill>
                <a:latin typeface="Helvetica Neue"/>
                <a:ea typeface="Helvetica Neue"/>
                <a:cs typeface="Helvetica Neue"/>
              </a:rPr>
              <a:t>Official answer identical: Yes</a:t>
            </a:r>
          </a:p>
          <a:p xmlns:a="http://schemas.openxmlformats.org/drawingml/2006/main">
            <a:pPr>
              <a:buNone/>
              <a:defRPr sz="1950" b="0">
                <a:solidFill>
                  <a:srgbClr val="566773"/>
                </a:solidFill>
                <a:latin typeface="Helvetica Neue"/>
                <a:ea typeface="Helvetica Neue"/>
                <a:cs typeface="Helvetica Neue"/>
              </a:defRPr>
            </a:pPr>
            <a:r>
              <a:rPr sz="1950" b="0">
                <a:solidFill>
                  <a:srgbClr val="566773"/>
                </a:solidFill>
                <a:latin typeface="Helvetica Neue"/>
                <a:ea typeface="Helvetica Neue"/>
                <a:cs typeface="Helvetica Neue"/>
              </a:rPr>
              <a:t>All previously correct facts must remain correct. No additional false claim is permitted.</a:t>
            </a:r>
          </a:p>
        </p:txBody>
      </p:sp>
    </p:spTree>
    <p:extLst>
      <p:ext uri="{BB962C8B-B14F-4D97-AF65-F5344CB8AC3E}">
        <p14:creationId xmlns:p14="http://schemas.microsoft.com/office/powerpoint/2010/main" val="19163599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669EB01-3938-4585-A8ED-34D0020D8444}"/>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Measurement workload and stopping rule</a:t>
            </a:r>
          </a:p>
        </p:txBody>
      </p:sp>
      <p:sp>
        <p:nvSpPr>
          <p:cNvPr id="2" name="">
            <a:extLst xmlns:a="http://schemas.openxmlformats.org/drawingml/2006/main">
              <a:ext uri="{FF2B5EF4-FFF2-40B4-BE49-F238E27FC236}">
                <a16:creationId xmlns:a16="http://schemas.microsoft.com/office/drawing/2014/main" id="{EDED4253-B7CC-4022-9516-4D3023249619}"/>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41CE1C2A-3A77-462E-808E-719849143C86}"/>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7</a:t>
            </a:r>
          </a:p>
        </p:txBody>
      </p:sp>
      <p:sp>
        <p:nvSpPr>
          <p:cNvPr id="4" name="">
            <a:extLst xmlns:a="http://schemas.openxmlformats.org/drawingml/2006/main">
              <a:ext uri="{FF2B5EF4-FFF2-40B4-BE49-F238E27FC236}">
                <a16:creationId xmlns:a16="http://schemas.microsoft.com/office/drawing/2014/main" id="{DAF88498-9E02-47EC-8CCA-88116D532C2A}"/>
              </a:ext>
            </a:extLst>
          </p:cNvPr>
          <p:cNvSpPr>
            <a:spLocks xmlns:a="http://schemas.openxmlformats.org/drawingml/2006/main" noGrp="1"/>
          </p:cNvSpPr>
          <p:nvPr/>
        </p:nvSpPr>
        <p:spPr>
          <a:xfrm xmlns:a="http://schemas.openxmlformats.org/drawingml/2006/main">
            <a:off x="685800" y="1619250"/>
            <a:ext cx="5095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Fixed workload</a:t>
            </a:r>
          </a:p>
        </p:txBody>
      </p:sp>
      <p:sp>
        <p:nvSpPr>
          <p:cNvPr id="5" name="">
            <a:extLst xmlns:a="http://schemas.openxmlformats.org/drawingml/2006/main">
              <a:ext uri="{FF2B5EF4-FFF2-40B4-BE49-F238E27FC236}">
                <a16:creationId xmlns:a16="http://schemas.microsoft.com/office/drawing/2014/main" id="{0BC87CA6-9099-4FEB-8C32-A4489B71C357}"/>
              </a:ext>
            </a:extLst>
          </p:cNvPr>
          <p:cNvSpPr>
            <a:spLocks xmlns:a="http://schemas.openxmlformats.org/drawingml/2006/main" noGrp="1"/>
          </p:cNvSpPr>
          <p:nvPr/>
        </p:nvSpPr>
        <p:spPr>
          <a:xfrm xmlns:a="http://schemas.openxmlformats.org/drawingml/2006/main">
            <a:off x="685800" y="2114550"/>
            <a:ext cx="50958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512 × 512 JPEG</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Output ceiling: 64 tokens</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Temperature 0, top_p 1</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5 warmups, 30 measured requests</a:t>
            </a:r>
          </a:p>
        </p:txBody>
      </p:sp>
      <p:sp>
        <p:nvSpPr>
          <p:cNvPr id="6" name="">
            <a:extLst xmlns:a="http://schemas.openxmlformats.org/drawingml/2006/main">
              <a:ext uri="{FF2B5EF4-FFF2-40B4-BE49-F238E27FC236}">
                <a16:creationId xmlns:a16="http://schemas.microsoft.com/office/drawing/2014/main" id="{006F8518-4F0B-4045-AE66-B9042F45EEEB}"/>
              </a:ext>
            </a:extLst>
          </p:cNvPr>
          <p:cNvSpPr>
            <a:spLocks xmlns:a="http://schemas.openxmlformats.org/drawingml/2006/main" noGrp="1"/>
          </p:cNvSpPr>
          <p:nvPr/>
        </p:nvSpPr>
        <p:spPr>
          <a:xfrm xmlns:a="http://schemas.openxmlformats.org/drawingml/2006/main">
            <a:off x="6486525" y="1619250"/>
            <a:ext cx="5019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Baseline runtime profile</a:t>
            </a:r>
          </a:p>
        </p:txBody>
      </p:sp>
      <p:sp>
        <p:nvSpPr>
          <p:cNvPr id="7" name="">
            <a:extLst xmlns:a="http://schemas.openxmlformats.org/drawingml/2006/main">
              <a:ext uri="{FF2B5EF4-FFF2-40B4-BE49-F238E27FC236}">
                <a16:creationId xmlns:a16="http://schemas.microsoft.com/office/drawing/2014/main" id="{2493C68E-00B7-4043-85DF-A607C831F3CA}"/>
              </a:ext>
            </a:extLst>
          </p:cNvPr>
          <p:cNvSpPr>
            <a:spLocks xmlns:a="http://schemas.openxmlformats.org/drawingml/2006/main" noGrp="1"/>
          </p:cNvSpPr>
          <p:nvPr/>
        </p:nvSpPr>
        <p:spPr>
          <a:xfrm xmlns:a="http://schemas.openxmlformats.org/drawingml/2006/main">
            <a:off x="6486525" y="2114550"/>
            <a:ext cx="50196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Input 1024, KV 2048, batch 1</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Encoder cache: 0 bytes</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Text context reuse: Off</a:t>
            </a:r>
          </a:p>
        </p:txBody>
      </p:sp>
      <p:sp>
        <p:nvSpPr>
          <p:cNvPr id="8" name="">
            <a:extLst xmlns:a="http://schemas.openxmlformats.org/drawingml/2006/main">
              <a:ext uri="{FF2B5EF4-FFF2-40B4-BE49-F238E27FC236}">
                <a16:creationId xmlns:a16="http://schemas.microsoft.com/office/drawing/2014/main" id="{833C219B-3453-4713-B94F-CC9ED1E6E911}"/>
              </a:ext>
            </a:extLst>
          </p:cNvPr>
          <p:cNvSpPr>
            <a:spLocks xmlns:a="http://schemas.openxmlformats.org/drawingml/2006/main" noGrp="1"/>
          </p:cNvSpPr>
          <p:nvPr/>
        </p:nvSpPr>
        <p:spPr>
          <a:xfrm xmlns:a="http://schemas.openxmlformats.org/drawingml/2006/main">
            <a:off x="685800" y="41719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146875"/>
                </a:solidFill>
                <a:latin typeface="Helvetica Neue"/>
                <a:ea typeface="Helvetica Neue"/>
                <a:cs typeface="Helvetica Neue"/>
              </a:defRPr>
            </a:pPr>
            <a:r>
              <a:rPr sz="2325" b="1">
                <a:solidFill>
                  <a:srgbClr val="146875"/>
                </a:solidFill>
                <a:latin typeface="Helvetica Neue"/>
                <a:ea typeface="Helvetica Neue"/>
                <a:cs typeface="Helvetica Neue"/>
              </a:rPr>
              <a:t>At most 5 candidates. Stop after 3 consecutive non-improvements.</a:t>
            </a:r>
          </a:p>
        </p:txBody>
      </p:sp>
      <p:sp>
        <p:nvSpPr>
          <p:cNvPr id="9" name="">
            <a:extLst xmlns:a="http://schemas.openxmlformats.org/drawingml/2006/main">
              <a:ext uri="{FF2B5EF4-FFF2-40B4-BE49-F238E27FC236}">
                <a16:creationId xmlns:a16="http://schemas.microsoft.com/office/drawing/2014/main" id="{F3A36CD6-75C9-4C12-83E9-4E44269342A2}"/>
              </a:ext>
            </a:extLst>
          </p:cNvPr>
          <p:cNvSpPr>
            <a:spLocks xmlns:a="http://schemas.openxmlformats.org/drawingml/2006/main" noGrp="1"/>
          </p:cNvSpPr>
          <p:nvPr/>
        </p:nvSpPr>
        <p:spPr>
          <a:xfrm xmlns:a="http://schemas.openxmlformats.org/drawingml/2006/main">
            <a:off x="685800" y="5038725"/>
            <a:ext cx="108204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Require at least 5% lower p50 latency or peak memory, with no greater than 5% regression in the counterpart or p95 latency. Reject errors, OOM and swapping.</a:t>
            </a:r>
          </a:p>
        </p:txBody>
      </p:sp>
    </p:spTree>
    <p:extLst>
      <p:ext uri="{BB962C8B-B14F-4D97-AF65-F5344CB8AC3E}">
        <p14:creationId xmlns:p14="http://schemas.microsoft.com/office/powerpoint/2010/main" val="165339015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3BFFB84-74AB-4A22-AE17-794C64699C91}"/>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Measured FP16 baseline</a:t>
            </a:r>
          </a:p>
        </p:txBody>
      </p:sp>
      <p:sp>
        <p:nvSpPr>
          <p:cNvPr id="2" name="">
            <a:extLst xmlns:a="http://schemas.openxmlformats.org/drawingml/2006/main">
              <a:ext uri="{FF2B5EF4-FFF2-40B4-BE49-F238E27FC236}">
                <a16:creationId xmlns:a16="http://schemas.microsoft.com/office/drawing/2014/main" id="{F97C772F-BDC7-4180-8340-C204005AAE3C}"/>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2123010F-518D-4F37-A27D-8C5D38703F7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8</a:t>
            </a:r>
          </a:p>
        </p:txBody>
      </p:sp>
      <p:graphicFrame>
        <p:nvGraphicFramePr>
          <p:cNvPr id="14" name=""/>
          <p:cNvGraphicFramePr/>
          <p:nvPr/>
        </p:nvGraphicFramePr>
        <p:xfrm>
          <a:off xmlns:a="http://schemas.openxmlformats.org/drawingml/2006/main" x="685800" y="1571625"/>
          <a:ext xmlns:a="http://schemas.openxmlformats.org/drawingml/2006/main" cx="7867650" cy="2171700"/>
        </p:xfrm>
        <a:graphic xmlns:a="http://schemas.openxmlformats.org/drawingml/2006/main">
          <a:graphicData uri="http://schemas.openxmlformats.org/drawingml/2006/table">
            <a:tbl>
              <a:tblPr firstRow="1" bandRow="0"/>
              <a:tblGrid>
                <a:gridCol w="3429000"/>
                <a:gridCol w="2219325"/>
                <a:gridCol w="2219325"/>
              </a:tblGrid>
              <a:tr h="723900">
                <a:tc>
                  <a:txBody>
                    <a:bodyPr/>
                    <a:lstStyle/>
                    <a:p>
                      <a:r>
                        <a:rPr sz="2025" b="1">
                          <a:solidFill>
                            <a:srgbClr val="183542"/>
                          </a:solidFill>
                          <a:latin typeface="Helvetica Neue"/>
                          <a:ea typeface="Helvetica Neue"/>
                          <a:cs typeface="Helvetica Neue"/>
                        </a:rPr>
                        <a:t>Latency</a:t>
                      </a:r>
                    </a:p>
                  </a:txBody>
                  <a:tcPr marL="142875" marR="142875" marT="85725" marB="85725" anchor="ctr">
                    <a:solidFill>
                      <a:srgbClr val="E8F0F1"/>
                    </a:solidFill>
                  </a:tcPr>
                </a:tc>
                <a:tc>
                  <a:txBody>
                    <a:bodyPr/>
                    <a:lstStyle/>
                    <a:p>
                      <a:r>
                        <a:rPr sz="2025" b="1">
                          <a:solidFill>
                            <a:srgbClr val="183542"/>
                          </a:solidFill>
                          <a:latin typeface="Helvetica Neue"/>
                          <a:ea typeface="Helvetica Neue"/>
                          <a:cs typeface="Helvetica Neue"/>
                        </a:rPr>
                        <a:t>p50</a:t>
                      </a:r>
                    </a:p>
                  </a:txBody>
                  <a:tcPr marL="142875" marR="142875" marT="85725" marB="85725" anchor="ctr">
                    <a:solidFill>
                      <a:srgbClr val="E8F0F1"/>
                    </a:solidFill>
                  </a:tcPr>
                </a:tc>
                <a:tc>
                  <a:txBody>
                    <a:bodyPr/>
                    <a:lstStyle/>
                    <a:p>
                      <a:r>
                        <a:rPr sz="2025" b="1">
                          <a:solidFill>
                            <a:srgbClr val="183542"/>
                          </a:solidFill>
                          <a:latin typeface="Helvetica Neue"/>
                          <a:ea typeface="Helvetica Neue"/>
                          <a:cs typeface="Helvetica Neue"/>
                        </a:rPr>
                        <a:t>p95</a:t>
                      </a:r>
                    </a:p>
                  </a:txBody>
                  <a:tcPr marL="142875" marR="142875" marT="85725" marB="85725" anchor="ctr">
                    <a:solidFill>
                      <a:srgbClr val="E8F0F1"/>
                    </a:solidFill>
                  </a:tcPr>
                </a:tc>
              </a:tr>
              <a:tr h="723900">
                <a:tc>
                  <a:txBody>
                    <a:bodyPr/>
                    <a:lstStyle/>
                    <a:p>
                      <a:r>
                        <a:rPr sz="2025">
                          <a:solidFill>
                            <a:srgbClr val="183542"/>
                          </a:solidFill>
                          <a:latin typeface="Helvetica Neue"/>
                          <a:ea typeface="Helvetica Neue"/>
                          <a:cs typeface="Helvetica Neue"/>
                        </a:rPr>
                        <a:t>First visible text</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266.3 ms</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271.7 ms</a:t>
                      </a:r>
                    </a:p>
                  </a:txBody>
                  <a:tcPr marL="142875" marR="142875" marT="85725" marB="85725" anchor="ctr">
                    <a:solidFill>
                      <a:srgbClr val="FFFFFF"/>
                    </a:solidFill>
                  </a:tcPr>
                </a:tc>
              </a:tr>
              <a:tr h="723900">
                <a:tc>
                  <a:txBody>
                    <a:bodyPr/>
                    <a:lstStyle/>
                    <a:p>
                      <a:r>
                        <a:rPr sz="2025">
                          <a:solidFill>
                            <a:srgbClr val="183542"/>
                          </a:solidFill>
                          <a:latin typeface="Helvetica Neue"/>
                          <a:ea typeface="Helvetica Neue"/>
                          <a:cs typeface="Helvetica Neue"/>
                        </a:rPr>
                        <a:t>Complete answer</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1830.4 ms</a:t>
                      </a:r>
                    </a:p>
                  </a:txBody>
                  <a:tcPr marL="142875" marR="142875" marT="85725" marB="85725" anchor="ctr">
                    <a:solidFill>
                      <a:srgbClr val="FFFFFF"/>
                    </a:solidFill>
                  </a:tcPr>
                </a:tc>
                <a:tc>
                  <a:txBody>
                    <a:bodyPr/>
                    <a:lstStyle/>
                    <a:p>
                      <a:r>
                        <a:rPr sz="2025">
                          <a:solidFill>
                            <a:srgbClr val="183542"/>
                          </a:solidFill>
                          <a:latin typeface="Helvetica Neue"/>
                          <a:ea typeface="Helvetica Neue"/>
                          <a:cs typeface="Helvetica Neue"/>
                        </a:rPr>
                        <a:t>1834.9 ms</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9340BF7-F81E-4203-913B-D4EE847272BB}"/>
              </a:ext>
            </a:extLst>
          </p:cNvPr>
          <p:cNvSpPr>
            <a:spLocks xmlns:a="http://schemas.openxmlformats.org/drawingml/2006/main" noGrp="1"/>
          </p:cNvSpPr>
          <p:nvPr/>
        </p:nvSpPr>
        <p:spPr>
          <a:xfrm xmlns:a="http://schemas.openxmlformats.org/drawingml/2006/main">
            <a:off x="9039225" y="1666875"/>
            <a:ext cx="24669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75" b="1">
                <a:solidFill>
                  <a:srgbClr val="146875"/>
                </a:solidFill>
                <a:latin typeface="Helvetica Neue"/>
                <a:ea typeface="Helvetica Neue"/>
                <a:cs typeface="Helvetica Neue"/>
              </a:defRPr>
            </a:pPr>
            <a:r>
              <a:rPr sz="2775" b="1">
                <a:solidFill>
                  <a:srgbClr val="146875"/>
                </a:solidFill>
                <a:latin typeface="Helvetica Neue"/>
                <a:ea typeface="Helvetica Neue"/>
                <a:cs typeface="Helvetica Neue"/>
              </a:rPr>
              <a:t>20.21 tokens/s</a:t>
            </a:r>
          </a:p>
        </p:txBody>
      </p:sp>
      <p:sp>
        <p:nvSpPr>
          <p:cNvPr id="6" name="">
            <a:extLst xmlns:a="http://schemas.openxmlformats.org/drawingml/2006/main">
              <a:ext uri="{FF2B5EF4-FFF2-40B4-BE49-F238E27FC236}">
                <a16:creationId xmlns:a16="http://schemas.microsoft.com/office/drawing/2014/main" id="{A25EEDA1-1FAF-4B69-967A-B0BCF17CCC7B}"/>
              </a:ext>
            </a:extLst>
          </p:cNvPr>
          <p:cNvSpPr>
            <a:spLocks xmlns:a="http://schemas.openxmlformats.org/drawingml/2006/main" noGrp="1"/>
          </p:cNvSpPr>
          <p:nvPr/>
        </p:nvSpPr>
        <p:spPr>
          <a:xfrm xmlns:a="http://schemas.openxmlformats.org/drawingml/2006/main">
            <a:off x="9039225" y="2495550"/>
            <a:ext cx="24669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End-to-end throughput</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37 completion tokens</a:t>
            </a:r>
          </a:p>
        </p:txBody>
      </p:sp>
      <p:sp>
        <p:nvSpPr>
          <p:cNvPr id="7" name="">
            <a:extLst xmlns:a="http://schemas.openxmlformats.org/drawingml/2006/main">
              <a:ext uri="{FF2B5EF4-FFF2-40B4-BE49-F238E27FC236}">
                <a16:creationId xmlns:a16="http://schemas.microsoft.com/office/drawing/2014/main" id="{9142E6A6-EF56-4C73-93C1-85399BBC8429}"/>
              </a:ext>
            </a:extLst>
          </p:cNvPr>
          <p:cNvSpPr>
            <a:spLocks xmlns:a="http://schemas.openxmlformats.org/drawingml/2006/main" noGrp="1"/>
          </p:cNvSpPr>
          <p:nvPr/>
        </p:nvSpPr>
        <p:spPr>
          <a:xfrm xmlns:a="http://schemas.openxmlformats.org/drawingml/2006/main">
            <a:off x="685800" y="4286250"/>
            <a:ext cx="108204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0">
                <a:solidFill>
                  <a:srgbClr val="146875"/>
                </a:solidFill>
                <a:latin typeface="Helvetica Neue"/>
                <a:ea typeface="Helvetica Neue"/>
                <a:cs typeface="Helvetica Neue"/>
              </a:defRPr>
            </a:pPr>
            <a:r>
              <a:rPr sz="2325" b="0">
                <a:solidFill>
                  <a:srgbClr val="146875"/>
                </a:solidFill>
                <a:latin typeface="Helvetica Neue"/>
                <a:ea typeface="Helvetica Neue"/>
                <a:cs typeface="Helvetica Neue"/>
              </a:rPr>
              <a:t>Shared RAM unavailable peak: 6.38 GiB</a:t>
            </a:r>
          </a:p>
          <a:p xmlns:a="http://schemas.openxmlformats.org/drawingml/2006/main">
            <a:pPr>
              <a:buNone/>
              <a:defRPr sz="2325" b="0">
                <a:solidFill>
                  <a:srgbClr val="146875"/>
                </a:solidFill>
                <a:latin typeface="Helvetica Neue"/>
                <a:ea typeface="Helvetica Neue"/>
                <a:cs typeface="Helvetica Neue"/>
              </a:defRPr>
            </a:pPr>
            <a:r>
              <a:rPr sz="2325" b="0">
                <a:solidFill>
                  <a:srgbClr val="146875"/>
                </a:solidFill>
                <a:latin typeface="Helvetica Neue"/>
                <a:ea typeface="Helvetica Neue"/>
                <a:cs typeface="Helvetica Neue"/>
              </a:rPr>
              <a:t>Process RSS peak: 5.90 GiB</a:t>
            </a:r>
          </a:p>
        </p:txBody>
      </p:sp>
      <p:sp>
        <p:nvSpPr>
          <p:cNvPr id="8" name="">
            <a:extLst xmlns:a="http://schemas.openxmlformats.org/drawingml/2006/main">
              <a:ext uri="{FF2B5EF4-FFF2-40B4-BE49-F238E27FC236}">
                <a16:creationId xmlns:a16="http://schemas.microsoft.com/office/drawing/2014/main" id="{8BFF5846-5CD9-414E-B355-83216E15B1DA}"/>
              </a:ext>
            </a:extLst>
          </p:cNvPr>
          <p:cNvSpPr>
            <a:spLocks xmlns:a="http://schemas.openxmlformats.org/drawingml/2006/main" noGrp="1"/>
          </p:cNvSpPr>
          <p:nvPr/>
        </p:nvSpPr>
        <p:spPr>
          <a:xfrm xmlns:a="http://schemas.openxmlformats.org/drawingml/2006/main">
            <a:off x="685800" y="564832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566773"/>
                </a:solidFill>
                <a:latin typeface="Helvetica Neue"/>
                <a:ea typeface="Helvetica Neue"/>
                <a:cs typeface="Helvetica Neue"/>
              </a:defRPr>
            </a:pPr>
            <a:r>
              <a:rPr sz="2025" b="0">
                <a:solidFill>
                  <a:srgbClr val="566773"/>
                </a:solidFill>
                <a:latin typeface="Helvetica Neue"/>
                <a:ea typeface="Helvetica Neue"/>
                <a:cs typeface="Helvetica Neue"/>
              </a:rPr>
              <a:t>Errors: 0    OOM: No    Swap activity: No</a:t>
            </a:r>
          </a:p>
        </p:txBody>
      </p:sp>
    </p:spTree>
    <p:extLst>
      <p:ext uri="{BB962C8B-B14F-4D97-AF65-F5344CB8AC3E}">
        <p14:creationId xmlns:p14="http://schemas.microsoft.com/office/powerpoint/2010/main" val="4293575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50F2599-5256-4979-A07C-220028787E39}"/>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Original CPU INT4 conversion</a:t>
            </a:r>
          </a:p>
        </p:txBody>
      </p:sp>
      <p:sp>
        <p:nvSpPr>
          <p:cNvPr id="2" name="">
            <a:extLst xmlns:a="http://schemas.openxmlformats.org/drawingml/2006/main">
              <a:ext uri="{FF2B5EF4-FFF2-40B4-BE49-F238E27FC236}">
                <a16:creationId xmlns:a16="http://schemas.microsoft.com/office/drawing/2014/main" id="{D149536D-7A99-4677-ABF5-1940C4F7AC8E}"/>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3489B445-9BC9-43CD-A0D4-074E14A5155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9</a:t>
            </a:r>
          </a:p>
        </p:txBody>
      </p:sp>
      <p:sp>
        <p:nvSpPr>
          <p:cNvPr id="4" name="">
            <a:extLst xmlns:a="http://schemas.openxmlformats.org/drawingml/2006/main">
              <a:ext uri="{FF2B5EF4-FFF2-40B4-BE49-F238E27FC236}">
                <a16:creationId xmlns:a16="http://schemas.microsoft.com/office/drawing/2014/main" id="{4DCCC6CB-6293-415B-B1CF-0CE3A439ACD7}"/>
              </a:ext>
            </a:extLst>
          </p:cNvPr>
          <p:cNvSpPr>
            <a:spLocks xmlns:a="http://schemas.openxmlformats.org/drawingml/2006/main" noGrp="1"/>
          </p:cNvSpPr>
          <p:nvPr/>
        </p:nvSpPr>
        <p:spPr>
          <a:xfrm xmlns:a="http://schemas.openxmlformats.org/drawingml/2006/main">
            <a:off x="685800" y="1533525"/>
            <a:ext cx="4905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350" b="1">
                <a:solidFill>
                  <a:srgbClr val="146875"/>
                </a:solidFill>
                <a:latin typeface="Helvetica Neue"/>
                <a:ea typeface="Helvetica Neue"/>
                <a:cs typeface="Helvetica Neue"/>
              </a:defRPr>
            </a:pPr>
            <a:r>
              <a:rPr sz="4350" b="1">
                <a:solidFill>
                  <a:srgbClr val="146875"/>
                </a:solidFill>
                <a:latin typeface="Helvetica Neue"/>
                <a:ea typeface="Helvetica Neue"/>
                <a:cs typeface="Helvetica Neue"/>
              </a:rPr>
              <a:t>2.22 GiB</a:t>
            </a:r>
          </a:p>
        </p:txBody>
      </p:sp>
      <p:sp>
        <p:nvSpPr>
          <p:cNvPr id="5" name="">
            <a:extLst xmlns:a="http://schemas.openxmlformats.org/drawingml/2006/main">
              <a:ext uri="{FF2B5EF4-FFF2-40B4-BE49-F238E27FC236}">
                <a16:creationId xmlns:a16="http://schemas.microsoft.com/office/drawing/2014/main" id="{584B9B8C-A4AE-4D5F-8692-777A1CBC09F8}"/>
              </a:ext>
            </a:extLst>
          </p:cNvPr>
          <p:cNvSpPr>
            <a:spLocks xmlns:a="http://schemas.openxmlformats.org/drawingml/2006/main" noGrp="1"/>
          </p:cNvSpPr>
          <p:nvPr/>
        </p:nvSpPr>
        <p:spPr>
          <a:xfrm xmlns:a="http://schemas.openxmlformats.org/drawingml/2006/main">
            <a:off x="685800" y="2476500"/>
            <a:ext cx="49053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566773"/>
                </a:solidFill>
                <a:latin typeface="Helvetica Neue"/>
                <a:ea typeface="Helvetica Neue"/>
                <a:cs typeface="Helvetica Neue"/>
              </a:defRPr>
            </a:pPr>
            <a:r>
              <a:rPr sz="2175" b="0">
                <a:solidFill>
                  <a:srgbClr val="566773"/>
                </a:solidFill>
                <a:latin typeface="Helvetica Neue"/>
                <a:ea typeface="Helvetica Neue"/>
                <a:cs typeface="Helvetica Neue"/>
              </a:rPr>
              <a:t>Checkpoint file on disk</a:t>
            </a:r>
          </a:p>
        </p:txBody>
      </p:sp>
      <p:sp>
        <p:nvSpPr>
          <p:cNvPr id="6" name="">
            <a:extLst xmlns:a="http://schemas.openxmlformats.org/drawingml/2006/main">
              <a:ext uri="{FF2B5EF4-FFF2-40B4-BE49-F238E27FC236}">
                <a16:creationId xmlns:a16="http://schemas.microsoft.com/office/drawing/2014/main" id="{44E339FA-5CDE-496C-8FF0-F54A5746B5F9}"/>
              </a:ext>
            </a:extLst>
          </p:cNvPr>
          <p:cNvSpPr>
            <a:spLocks xmlns:a="http://schemas.openxmlformats.org/drawingml/2006/main" noGrp="1"/>
          </p:cNvSpPr>
          <p:nvPr/>
        </p:nvSpPr>
        <p:spPr>
          <a:xfrm xmlns:a="http://schemas.openxmlformats.org/drawingml/2006/main">
            <a:off x="685800" y="3381375"/>
            <a:ext cx="4953000" cy="1495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169 language linear modules</a:t>
            </a:r>
          </a:p>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Group size 128</a:t>
            </a:r>
          </a:p>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Native INT4 V1 kernels</a:t>
            </a:r>
          </a:p>
        </p:txBody>
      </p:sp>
      <p:sp>
        <p:nvSpPr>
          <p:cNvPr id="7" name="">
            <a:extLst xmlns:a="http://schemas.openxmlformats.org/drawingml/2006/main">
              <a:ext uri="{FF2B5EF4-FFF2-40B4-BE49-F238E27FC236}">
                <a16:creationId xmlns:a16="http://schemas.microsoft.com/office/drawing/2014/main" id="{C1FF6765-6287-4171-B7E4-1EA22715ECBC}"/>
              </a:ext>
            </a:extLst>
          </p:cNvPr>
          <p:cNvSpPr>
            <a:spLocks xmlns:a="http://schemas.openxmlformats.org/drawingml/2006/main" noGrp="1"/>
          </p:cNvSpPr>
          <p:nvPr/>
        </p:nvSpPr>
        <p:spPr>
          <a:xfrm xmlns:a="http://schemas.openxmlformats.org/drawingml/2006/main">
            <a:off x="6467475" y="1619250"/>
            <a:ext cx="5038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First trial: all language linears</a:t>
            </a:r>
          </a:p>
        </p:txBody>
      </p:sp>
      <p:sp>
        <p:nvSpPr>
          <p:cNvPr id="8" name="">
            <a:extLst xmlns:a="http://schemas.openxmlformats.org/drawingml/2006/main">
              <a:ext uri="{FF2B5EF4-FFF2-40B4-BE49-F238E27FC236}">
                <a16:creationId xmlns:a16="http://schemas.microsoft.com/office/drawing/2014/main" id="{14FAC391-12B1-49B7-8B46-33A7F3C21740}"/>
              </a:ext>
            </a:extLst>
          </p:cNvPr>
          <p:cNvSpPr>
            <a:spLocks xmlns:a="http://schemas.openxmlformats.org/drawingml/2006/main" noGrp="1"/>
          </p:cNvSpPr>
          <p:nvPr/>
        </p:nvSpPr>
        <p:spPr>
          <a:xfrm xmlns:a="http://schemas.openxmlformats.org/drawingml/2006/main">
            <a:off x="6467475" y="2114550"/>
            <a:ext cx="503872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Uncalibrated RTN quantizes language linear weights and the LM head. Vision, projector and embedding tensors stay FP16.</a:t>
            </a:r>
          </a:p>
        </p:txBody>
      </p:sp>
      <p:sp>
        <p:nvSpPr>
          <p:cNvPr id="9" name="">
            <a:extLst xmlns:a="http://schemas.openxmlformats.org/drawingml/2006/main">
              <a:ext uri="{FF2B5EF4-FFF2-40B4-BE49-F238E27FC236}">
                <a16:creationId xmlns:a16="http://schemas.microsoft.com/office/drawing/2014/main" id="{913E15C6-B31B-4F00-B31F-C5B0A7EF91B6}"/>
              </a:ext>
            </a:extLst>
          </p:cNvPr>
          <p:cNvSpPr>
            <a:spLocks xmlns:a="http://schemas.openxmlformats.org/drawingml/2006/main" noGrp="1"/>
          </p:cNvSpPr>
          <p:nvPr/>
        </p:nvSpPr>
        <p:spPr>
          <a:xfrm xmlns:a="http://schemas.openxmlformats.org/drawingml/2006/main">
            <a:off x="6467475" y="3981450"/>
            <a:ext cx="5038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GPTQ-compatible storage</a:t>
            </a:r>
          </a:p>
        </p:txBody>
      </p:sp>
      <p:sp>
        <p:nvSpPr>
          <p:cNvPr id="10" name="">
            <a:extLst xmlns:a="http://schemas.openxmlformats.org/drawingml/2006/main">
              <a:ext uri="{FF2B5EF4-FFF2-40B4-BE49-F238E27FC236}">
                <a16:creationId xmlns:a16="http://schemas.microsoft.com/office/drawing/2014/main" id="{D771BD1E-8CA4-4CF5-BFA0-C206F06E8B0E}"/>
              </a:ext>
            </a:extLst>
          </p:cNvPr>
          <p:cNvSpPr>
            <a:spLocks xmlns:a="http://schemas.openxmlformats.org/drawingml/2006/main" noGrp="1"/>
          </p:cNvSpPr>
          <p:nvPr/>
        </p:nvSpPr>
        <p:spPr>
          <a:xfrm xmlns:a="http://schemas.openxmlformats.org/drawingml/2006/main">
            <a:off x="6467475" y="4476750"/>
            <a:ext cx="5038725" cy="1247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The storage layout lets the pinned builder load RTN values. It makes no claim of GPTQ or AWQ optimization.</a:t>
            </a:r>
          </a:p>
        </p:txBody>
      </p:sp>
      <p:sp>
        <p:nvSpPr>
          <p:cNvPr id="11" name="">
            <a:extLst xmlns:a="http://schemas.openxmlformats.org/drawingml/2006/main">
              <a:ext uri="{FF2B5EF4-FFF2-40B4-BE49-F238E27FC236}">
                <a16:creationId xmlns:a16="http://schemas.microsoft.com/office/drawing/2014/main" id="{5B84323C-7408-4AB7-8B42-BED87E8C520C}"/>
              </a:ext>
            </a:extLst>
          </p:cNvPr>
          <p:cNvSpPr>
            <a:spLocks xmlns:a="http://schemas.openxmlformats.org/drawingml/2006/main" noGrp="1"/>
          </p:cNvSpPr>
          <p:nvPr/>
        </p:nvSpPr>
        <p:spPr>
          <a:xfrm xmlns:a="http://schemas.openxmlformats.org/drawingml/2006/main">
            <a:off x="685800" y="59531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Checkpoint size is distinct from measured resident RAM, allocation and latency.</a:t>
            </a:r>
          </a:p>
        </p:txBody>
      </p:sp>
    </p:spTree>
    <p:extLst>
      <p:ext uri="{BB962C8B-B14F-4D97-AF65-F5344CB8AC3E}">
        <p14:creationId xmlns:p14="http://schemas.microsoft.com/office/powerpoint/2010/main" val="86910683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7F621C-6F7D-4F1E-A03C-92AE376E514B}"/>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Baseline, first INT4 trial and selection</a:t>
            </a:r>
          </a:p>
        </p:txBody>
      </p:sp>
      <p:sp>
        <p:nvSpPr>
          <p:cNvPr id="2" name="">
            <a:extLst xmlns:a="http://schemas.openxmlformats.org/drawingml/2006/main">
              <a:ext uri="{FF2B5EF4-FFF2-40B4-BE49-F238E27FC236}">
                <a16:creationId xmlns:a16="http://schemas.microsoft.com/office/drawing/2014/main" id="{1612F3F3-7938-40EF-B6D3-3E80F51A0073}"/>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1780A633-6F97-4509-AEC5-A8FCDA2E440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10</a:t>
            </a:r>
          </a:p>
        </p:txBody>
      </p:sp>
      <p:graphicFrame>
        <p:nvGraphicFramePr>
          <p:cNvPr id="12" name=""/>
          <p:cNvGraphicFramePr/>
          <p:nvPr/>
        </p:nvGraphicFramePr>
        <p:xfrm>
          <a:off xmlns:a="http://schemas.openxmlformats.org/drawingml/2006/main" x="685800" y="1571625"/>
          <a:ext xmlns:a="http://schemas.openxmlformats.org/drawingml/2006/main" cx="10820400" cy="3714750"/>
        </p:xfrm>
        <a:graphic xmlns:a="http://schemas.openxmlformats.org/drawingml/2006/main">
          <a:graphicData uri="http://schemas.openxmlformats.org/drawingml/2006/table">
            <a:tbl>
              <a:tblPr firstRow="1" bandRow="0"/>
              <a:tblGrid>
                <a:gridCol w="3048000"/>
                <a:gridCol w="2590800"/>
                <a:gridCol w="2590800"/>
                <a:gridCol w="2590800"/>
              </a:tblGrid>
              <a:tr h="619125">
                <a:tc>
                  <a:txBody>
                    <a:bodyPr/>
                    <a:lstStyle/>
                    <a:p>
                      <a:r>
                        <a:rPr sz="1650" b="1">
                          <a:solidFill>
                            <a:srgbClr val="183542"/>
                          </a:solidFill>
                          <a:latin typeface="Helvetica Neue"/>
                          <a:ea typeface="Helvetica Neue"/>
                          <a:cs typeface="Helvetica Neue"/>
                        </a:rPr>
                        <a:t>Metric</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FP16 baseline</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First RTN: rejected</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Final selected</a:t>
                      </a:r>
                    </a:p>
                  </a:txBody>
                  <a:tcPr marL="142875" marR="142875" marT="85725" marB="85725" anchor="ctr">
                    <a:solidFill>
                      <a:srgbClr val="E8F0F1"/>
                    </a:solidFill>
                  </a:tcPr>
                </a:tc>
              </a:tr>
              <a:tr h="619125">
                <a:tc>
                  <a:txBody>
                    <a:bodyPr/>
                    <a:lstStyle/>
                    <a:p>
                      <a:r>
                        <a:rPr sz="1650">
                          <a:solidFill>
                            <a:srgbClr val="183542"/>
                          </a:solidFill>
                          <a:latin typeface="Helvetica Neue"/>
                          <a:ea typeface="Helvetica Neue"/>
                          <a:cs typeface="Helvetica Neue"/>
                        </a:rPr>
                        <a:t>TTFT p50 / p95</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266.3 ms / 271.7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266.7 ms / 269.6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265.5 ms / 267.4 ms</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Answer p50 / p95</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1830.4 ms / 1834.9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1228.8 ms / 1234.2 ms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1825.9 ms / 1830.0 ms</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Shared RAM peak¹</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6.38 GiB</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4.20 GiB</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6.43 GiB</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Strict quality facts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13/19</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18/19</a:t>
                      </a:r>
                    </a:p>
                  </a:txBody>
                  <a:tcPr marL="142875" marR="142875" marT="85725" marB="85725" anchor="ctr">
                    <a:solidFill>
                      <a:srgbClr val="FFFFFF"/>
                    </a:solidFill>
                  </a:tcPr>
                </a:tc>
              </a:tr>
              <a:tr h="619125">
                <a:tc>
                  <a:txBody>
                    <a:bodyPr/>
                    <a:lstStyle/>
                    <a:p>
                      <a:r>
                        <a:rPr sz="1650">
                          <a:solidFill>
                            <a:srgbClr val="183542"/>
                          </a:solidFill>
                          <a:latin typeface="Helvetica Neue"/>
                          <a:ea typeface="Helvetica Neue"/>
                          <a:cs typeface="Helvetica Neue"/>
                        </a:rPr>
                        <a:t>Reference equivalence</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Pass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Fail</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Pass</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CD715862-0F7B-4453-B8E8-A66ABEE2A9B3}"/>
              </a:ext>
            </a:extLst>
          </p:cNvPr>
          <p:cNvSpPr>
            <a:spLocks xmlns:a="http://schemas.openxmlformats.org/drawingml/2006/main" noGrp="1"/>
          </p:cNvSpPr>
          <p:nvPr/>
        </p:nvSpPr>
        <p:spPr>
          <a:xfrm xmlns:a="http://schemas.openxmlformats.org/drawingml/2006/main">
            <a:off x="685800" y="546735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Selected: fp16-corrected-i1024-kv2048</a:t>
            </a:r>
          </a:p>
        </p:txBody>
      </p:sp>
      <p:sp>
        <p:nvSpPr>
          <p:cNvPr id="6" name="">
            <a:extLst xmlns:a="http://schemas.openxmlformats.org/drawingml/2006/main">
              <a:ext uri="{FF2B5EF4-FFF2-40B4-BE49-F238E27FC236}">
                <a16:creationId xmlns:a16="http://schemas.microsoft.com/office/drawing/2014/main" id="{C8BEE034-399E-46ED-9E6B-D9855E1CECF1}"/>
              </a:ext>
            </a:extLst>
          </p:cNvPr>
          <p:cNvSpPr>
            <a:spLocks xmlns:a="http://schemas.openxmlformats.org/drawingml/2006/main" noGrp="1"/>
          </p:cNvSpPr>
          <p:nvPr/>
        </p:nvSpPr>
        <p:spPr>
          <a:xfrm xmlns:a="http://schemas.openxmlformats.org/drawingml/2006/main">
            <a:off x="685800" y="59721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¹ System RAM unavailable. Quality rejection takes precedence over latency or memory gains.</a:t>
            </a:r>
          </a:p>
        </p:txBody>
      </p:sp>
    </p:spTree>
    <p:extLst>
      <p:ext uri="{BB962C8B-B14F-4D97-AF65-F5344CB8AC3E}">
        <p14:creationId xmlns:p14="http://schemas.microsoft.com/office/powerpoint/2010/main" val="157175601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8A9867D-9B84-4604-A32A-48D36D126451}"/>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Bounded search and memory constraints</a:t>
            </a:r>
          </a:p>
        </p:txBody>
      </p:sp>
      <p:sp>
        <p:nvSpPr>
          <p:cNvPr id="2" name="">
            <a:extLst xmlns:a="http://schemas.openxmlformats.org/drawingml/2006/main">
              <a:ext uri="{FF2B5EF4-FFF2-40B4-BE49-F238E27FC236}">
                <a16:creationId xmlns:a16="http://schemas.microsoft.com/office/drawing/2014/main" id="{F3B3233A-1682-451C-ABAB-18F5D787902E}"/>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5E75A50F-2732-43BE-9167-34A0F16DD95B}"/>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11</a:t>
            </a:r>
          </a:p>
        </p:txBody>
      </p:sp>
      <p:graphicFrame>
        <p:nvGraphicFramePr>
          <p:cNvPr id="12" name=""/>
          <p:cNvGraphicFramePr/>
          <p:nvPr/>
        </p:nvGraphicFramePr>
        <p:xfrm>
          <a:off xmlns:a="http://schemas.openxmlformats.org/drawingml/2006/main" x="685800" y="1571625"/>
          <a:ext xmlns:a="http://schemas.openxmlformats.org/drawingml/2006/main" cx="10820400" cy="3105150"/>
        </p:xfrm>
        <a:graphic xmlns:a="http://schemas.openxmlformats.org/drawingml/2006/main">
          <a:graphicData uri="http://schemas.openxmlformats.org/drawingml/2006/table">
            <a:tbl>
              <a:tblPr firstRow="1" bandRow="0"/>
              <a:tblGrid>
                <a:gridCol w="3495675"/>
                <a:gridCol w="1762125"/>
                <a:gridCol w="1143000"/>
                <a:gridCol w="2209800"/>
                <a:gridCol w="2209800"/>
              </a:tblGrid>
              <a:tr h="621030">
                <a:tc>
                  <a:txBody>
                    <a:bodyPr/>
                    <a:lstStyle/>
                    <a:p>
                      <a:r>
                        <a:rPr sz="1725" b="1">
                          <a:solidFill>
                            <a:srgbClr val="183542"/>
                          </a:solidFill>
                          <a:latin typeface="Helvetica Neue"/>
                          <a:ea typeface="Helvetica Neue"/>
                          <a:cs typeface="Helvetica Neue"/>
                        </a:rPr>
                        <a:t>Candidate</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Result</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Facts</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p50 answer</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RAM peak¹</a:t>
                      </a:r>
                    </a:p>
                  </a:txBody>
                  <a:tcPr marL="142875" marR="142875" marT="85725" marB="85725" anchor="ctr">
                    <a:solidFill>
                      <a:srgbClr val="E8F0F1"/>
                    </a:solidFill>
                  </a:tcPr>
                </a:tc>
              </a:tr>
              <a:tr h="621030">
                <a:tc>
                  <a:txBody>
                    <a:bodyPr/>
                    <a:lstStyle/>
                    <a:p>
                      <a:r>
                        <a:rPr sz="1725">
                          <a:solidFill>
                            <a:srgbClr val="183542"/>
                          </a:solidFill>
                          <a:latin typeface="Helvetica Neue"/>
                          <a:ea typeface="Helvetica Neue"/>
                          <a:cs typeface="Helvetica Neue"/>
                        </a:rPr>
                        <a:t>FP16 reference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Selected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1830.4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6.38 GiB</a:t>
                      </a:r>
                    </a:p>
                  </a:txBody>
                  <a:tcPr marL="142875" marR="142875" marT="85725" marB="85725" anchor="ctr">
                    <a:solidFill>
                      <a:srgbClr val="FFFFFF"/>
                    </a:solidFill>
                  </a:tcPr>
                </a:tc>
              </a:tr>
              <a:tr h="621030">
                <a:tc>
                  <a:txBody>
                    <a:bodyPr/>
                    <a:lstStyle/>
                    <a:p>
                      <a:r>
                        <a:rPr sz="1725">
                          <a:solidFill>
                            <a:srgbClr val="183542"/>
                          </a:solidFill>
                          <a:latin typeface="Helvetica Neue"/>
                          <a:ea typeface="Helvetica Neue"/>
                          <a:cs typeface="Helvetica Neue"/>
                        </a:rPr>
                        <a:t>RTN INT4 all linears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Rejected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13/19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1228.8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4.20 GiB</a:t>
                      </a:r>
                    </a:p>
                  </a:txBody>
                  <a:tcPr marL="142875" marR="142875" marT="85725" marB="85725" anchor="ctr">
                    <a:solidFill>
                      <a:srgbClr val="FFFFFF"/>
                    </a:solidFill>
                  </a:tcPr>
                </a:tc>
              </a:tr>
              <a:tr h="621030">
                <a:tc>
                  <a:txBody>
                    <a:bodyPr/>
                    <a:lstStyle/>
                    <a:p>
                      <a:r>
                        <a:rPr sz="1725">
                          <a:solidFill>
                            <a:srgbClr val="183542"/>
                          </a:solidFill>
                          <a:latin typeface="Helvetica Neue"/>
                          <a:ea typeface="Helvetica Neue"/>
                          <a:cs typeface="Helvetica Neue"/>
                        </a:rPr>
                        <a:t>RTN INT4 MLP only</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Rejected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1026.6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5.01 GiB</a:t>
                      </a:r>
                    </a:p>
                  </a:txBody>
                  <a:tcPr marL="142875" marR="142875" marT="85725" marB="85725" anchor="ctr">
                    <a:solidFill>
                      <a:srgbClr val="FFFFFF"/>
                    </a:solidFill>
                  </a:tcPr>
                </a:tc>
              </a:tr>
              <a:tr h="621030">
                <a:tc>
                  <a:txBody>
                    <a:bodyPr/>
                    <a:lstStyle/>
                    <a:p>
                      <a:r>
                        <a:rPr sz="1725">
                          <a:solidFill>
                            <a:srgbClr val="183542"/>
                          </a:solidFill>
                          <a:latin typeface="Helvetica Neue"/>
                          <a:ea typeface="Helvetica Neue"/>
                          <a:cs typeface="Helvetica Neue"/>
                        </a:rPr>
                        <a:t>FP16 fixed clocks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Rejected</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18/19</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1758.3 ms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6.35 GiB</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CBB17D0-2142-4E9F-BB5C-DEA92832698C}"/>
              </a:ext>
            </a:extLst>
          </p:cNvPr>
          <p:cNvSpPr>
            <a:spLocks xmlns:a="http://schemas.openxmlformats.org/drawingml/2006/main" noGrp="1"/>
          </p:cNvSpPr>
          <p:nvPr/>
        </p:nvSpPr>
        <p:spPr>
          <a:xfrm xmlns:a="http://schemas.openxmlformats.org/drawingml/2006/main">
            <a:off x="685800" y="4905375"/>
            <a:ext cx="108204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146875"/>
                </a:solidFill>
                <a:latin typeface="Helvetica Neue"/>
                <a:ea typeface="Helvetica Neue"/>
                <a:cs typeface="Helvetica Neue"/>
              </a:defRPr>
            </a:pPr>
            <a:r>
              <a:rPr sz="1950" b="0">
                <a:solidFill>
                  <a:srgbClr val="146875"/>
                </a:solidFill>
                <a:latin typeface="Helvetica Neue"/>
                <a:ea typeface="Helvetica Neue"/>
                <a:cs typeface="Helvetica Neue"/>
              </a:rPr>
              <a:t>Linux exposes 7.37 GiB shared physical RAM. Selected process RSS peak: 5.91 GiB.</a:t>
            </a:r>
          </a:p>
        </p:txBody>
      </p:sp>
      <p:sp>
        <p:nvSpPr>
          <p:cNvPr id="6" name="">
            <a:extLst xmlns:a="http://schemas.openxmlformats.org/drawingml/2006/main">
              <a:ext uri="{FF2B5EF4-FFF2-40B4-BE49-F238E27FC236}">
                <a16:creationId xmlns:a16="http://schemas.microsoft.com/office/drawing/2014/main" id="{AF347A8D-D30D-4EEF-9B2F-12FC7E14A572}"/>
              </a:ext>
            </a:extLst>
          </p:cNvPr>
          <p:cNvSpPr>
            <a:spLocks xmlns:a="http://schemas.openxmlformats.org/drawingml/2006/main" noGrp="1"/>
          </p:cNvSpPr>
          <p:nvPr/>
        </p:nvSpPr>
        <p:spPr>
          <a:xfrm xmlns:a="http://schemas.openxmlformats.org/drawingml/2006/main">
            <a:off x="685800" y="5724525"/>
            <a:ext cx="108204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¹ MemTotal − MemAvailable overlaps process RSS. Never add them.</a:t>
            </a:r>
          </a:p>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CUDA allocator telemetry: not collected. Disk sizes measure storage.</a:t>
            </a:r>
          </a:p>
        </p:txBody>
      </p:sp>
    </p:spTree>
    <p:extLst>
      <p:ext uri="{BB962C8B-B14F-4D97-AF65-F5344CB8AC3E}">
        <p14:creationId xmlns:p14="http://schemas.microsoft.com/office/powerpoint/2010/main" val="88932882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F9B79B3-C3CC-439E-8176-D1AE28ED43A4}"/>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Selected configuration and sustained run</a:t>
            </a:r>
          </a:p>
        </p:txBody>
      </p:sp>
      <p:sp>
        <p:nvSpPr>
          <p:cNvPr id="2" name="">
            <a:extLst xmlns:a="http://schemas.openxmlformats.org/drawingml/2006/main">
              <a:ext uri="{FF2B5EF4-FFF2-40B4-BE49-F238E27FC236}">
                <a16:creationId xmlns:a16="http://schemas.microsoft.com/office/drawing/2014/main" id="{E9D11E52-04A7-4983-BF01-0ECE082FE9DC}"/>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01DE917F-F595-409A-9497-A12CE30E1DF3}"/>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307C5DC8-59A6-4F7A-BF3E-83A7E1A5C3E9}"/>
              </a:ext>
            </a:extLst>
          </p:cNvPr>
          <p:cNvSpPr>
            <a:spLocks xmlns:a="http://schemas.openxmlformats.org/drawingml/2006/main" noGrp="1"/>
          </p:cNvSpPr>
          <p:nvPr/>
        </p:nvSpPr>
        <p:spPr>
          <a:xfrm xmlns:a="http://schemas.openxmlformats.org/drawingml/2006/main">
            <a:off x="685800" y="1562100"/>
            <a:ext cx="10820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700" b="1">
                <a:solidFill>
                  <a:srgbClr val="146875"/>
                </a:solidFill>
                <a:latin typeface="Helvetica Neue"/>
                <a:ea typeface="Helvetica Neue"/>
                <a:cs typeface="Helvetica Neue"/>
              </a:defRPr>
            </a:pPr>
            <a:r>
              <a:rPr sz="2700" b="1">
                <a:solidFill>
                  <a:srgbClr val="146875"/>
                </a:solidFill>
                <a:latin typeface="Helvetica Neue"/>
                <a:ea typeface="Helvetica Neue"/>
                <a:cs typeface="Helvetica Neue"/>
              </a:rPr>
              <a:t>fp16-corrected-i1024-kv2048</a:t>
            </a:r>
          </a:p>
        </p:txBody>
      </p:sp>
      <p:sp>
        <p:nvSpPr>
          <p:cNvPr id="5" name="">
            <a:extLst xmlns:a="http://schemas.openxmlformats.org/drawingml/2006/main">
              <a:ext uri="{FF2B5EF4-FFF2-40B4-BE49-F238E27FC236}">
                <a16:creationId xmlns:a16="http://schemas.microsoft.com/office/drawing/2014/main" id="{7ED56856-97D1-4FE3-AE0D-DED0D9E917EE}"/>
              </a:ext>
            </a:extLst>
          </p:cNvPr>
          <p:cNvSpPr>
            <a:spLocks xmlns:a="http://schemas.openxmlformats.org/drawingml/2006/main" noGrp="1"/>
          </p:cNvSpPr>
          <p:nvPr/>
        </p:nvSpPr>
        <p:spPr>
          <a:xfrm xmlns:a="http://schemas.openxmlformats.org/drawingml/2006/main">
            <a:off x="685800" y="2200275"/>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FP16 preserves reference quality. Both INT4 variants add errors; fixed clocks miss the 5% gain and swap gate.</a:t>
            </a:r>
          </a:p>
        </p:txBody>
      </p:sp>
      <p:sp>
        <p:nvSpPr>
          <p:cNvPr id="6" name="">
            <a:extLst xmlns:a="http://schemas.openxmlformats.org/drawingml/2006/main">
              <a:ext uri="{FF2B5EF4-FFF2-40B4-BE49-F238E27FC236}">
                <a16:creationId xmlns:a16="http://schemas.microsoft.com/office/drawing/2014/main" id="{F4149C92-D7A4-489F-9D5F-0C6F82ACC4C8}"/>
              </a:ext>
            </a:extLst>
          </p:cNvPr>
          <p:cNvSpPr>
            <a:spLocks xmlns:a="http://schemas.openxmlformats.org/drawingml/2006/main" noGrp="1"/>
          </p:cNvSpPr>
          <p:nvPr/>
        </p:nvSpPr>
        <p:spPr>
          <a:xfrm xmlns:a="http://schemas.openxmlformats.org/drawingml/2006/main">
            <a:off x="685800" y="2819400"/>
            <a:ext cx="10820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FP16 · dynamic stock 25 W · swap disabled</a:t>
            </a:r>
          </a:p>
        </p:txBody>
      </p:sp>
      <p:sp>
        <p:nvSpPr>
          <p:cNvPr id="7" name="">
            <a:extLst xmlns:a="http://schemas.openxmlformats.org/drawingml/2006/main">
              <a:ext uri="{FF2B5EF4-FFF2-40B4-BE49-F238E27FC236}">
                <a16:creationId xmlns:a16="http://schemas.microsoft.com/office/drawing/2014/main" id="{E241020C-2E5B-485E-8065-4C6BE5F92154}"/>
              </a:ext>
            </a:extLst>
          </p:cNvPr>
          <p:cNvSpPr>
            <a:spLocks xmlns:a="http://schemas.openxmlformats.org/drawingml/2006/main" noGrp="1"/>
          </p:cNvSpPr>
          <p:nvPr/>
        </p:nvSpPr>
        <p:spPr>
          <a:xfrm xmlns:a="http://schemas.openxmlformats.org/drawingml/2006/main">
            <a:off x="685800" y="339090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46875"/>
                </a:solidFill>
                <a:latin typeface="Helvetica Neue"/>
                <a:ea typeface="Helvetica Neue"/>
                <a:cs typeface="Helvetica Neue"/>
              </a:defRPr>
            </a:pPr>
            <a:r>
              <a:rPr sz="1725" b="0">
                <a:solidFill>
                  <a:srgbClr val="146875"/>
                </a:solidFill>
                <a:latin typeface="Helvetica Neue"/>
                <a:ea typeface="Helvetica Neue"/>
                <a:cs typeface="Helvetica Neue"/>
              </a:rPr>
              <a:t>FP16 retained. Final service verification is separate from the four search trials.</a:t>
            </a:r>
          </a:p>
        </p:txBody>
      </p:sp>
      <p:graphicFrame>
        <p:nvGraphicFramePr>
          <p:cNvPr id="19" name=""/>
          <p:cNvGraphicFramePr/>
          <p:nvPr/>
        </p:nvGraphicFramePr>
        <p:xfrm>
          <a:off xmlns:a="http://schemas.openxmlformats.org/drawingml/2006/main" x="685800" y="3867150"/>
          <a:ext xmlns:a="http://schemas.openxmlformats.org/drawingml/2006/main" cx="10820400" cy="1714500"/>
        </p:xfrm>
        <a:graphic xmlns:a="http://schemas.openxmlformats.org/drawingml/2006/main">
          <a:graphicData uri="http://schemas.openxmlformats.org/drawingml/2006/table">
            <a:tbl>
              <a:tblPr firstRow="1" bandRow="0"/>
              <a:tblGrid>
                <a:gridCol w="5324475"/>
                <a:gridCol w="5495925"/>
              </a:tblGrid>
              <a:tr h="428625">
                <a:tc>
                  <a:txBody>
                    <a:bodyPr/>
                    <a:lstStyle/>
                    <a:p>
                      <a:r>
                        <a:rPr sz="1725" b="1">
                          <a:solidFill>
                            <a:srgbClr val="183542"/>
                          </a:solidFill>
                          <a:latin typeface="Helvetica Neue"/>
                          <a:ea typeface="Helvetica Neue"/>
                          <a:cs typeface="Helvetica Neue"/>
                        </a:rPr>
                        <a:t>Sustained-run check</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Observed result</a:t>
                      </a:r>
                    </a:p>
                  </a:txBody>
                  <a:tcPr marL="142875" marR="142875" marT="85725" marB="85725" anchor="ctr">
                    <a:solidFill>
                      <a:srgbClr val="E8F0F1"/>
                    </a:solidFill>
                  </a:tcPr>
                </a:tc>
              </a:tr>
              <a:tr h="428625">
                <a:tc>
                  <a:txBody>
                    <a:bodyPr/>
                    <a:lstStyle/>
                    <a:p>
                      <a:r>
                        <a:rPr sz="1725">
                          <a:solidFill>
                            <a:srgbClr val="183542"/>
                          </a:solidFill>
                          <a:latin typeface="Helvetica Neue"/>
                          <a:ea typeface="Helvetica Neue"/>
                          <a:cs typeface="Helvetica Neue"/>
                        </a:rPr>
                        <a:t>Duration and successful requests</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601 seconds / 366 requests</a:t>
                      </a:r>
                    </a:p>
                  </a:txBody>
                  <a:tcPr marL="142875" marR="142875" marT="85725" marB="85725" anchor="ctr">
                    <a:solidFill>
                      <a:srgbClr val="FFFFFF"/>
                    </a:solidFill>
                  </a:tcPr>
                </a:tc>
              </a:tr>
              <a:tr h="428625">
                <a:tc>
                  <a:txBody>
                    <a:bodyPr/>
                    <a:lstStyle/>
                    <a:p>
                      <a:r>
                        <a:rPr sz="1725">
                          <a:solidFill>
                            <a:srgbClr val="183542"/>
                          </a:solidFill>
                          <a:latin typeface="Helvetica Neue"/>
                          <a:ea typeface="Helvetica Neue"/>
                          <a:cs typeface="Helvetica Neue"/>
                        </a:rPr>
                        <a:t>Minimum MemAvailable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0.94 GiB</a:t>
                      </a:r>
                    </a:p>
                  </a:txBody>
                  <a:tcPr marL="142875" marR="142875" marT="85725" marB="85725" anchor="ctr">
                    <a:solidFill>
                      <a:srgbClr val="FFFFFF"/>
                    </a:solidFill>
                  </a:tcPr>
                </a:tc>
              </a:tr>
              <a:tr h="428625">
                <a:tc>
                  <a:txBody>
                    <a:bodyPr/>
                    <a:lstStyle/>
                    <a:p>
                      <a:r>
                        <a:rPr sz="1725">
                          <a:solidFill>
                            <a:srgbClr val="183542"/>
                          </a:solidFill>
                          <a:latin typeface="Helvetica Neue"/>
                          <a:ea typeface="Helvetica Neue"/>
                          <a:cs typeface="Helvetica Neue"/>
                        </a:rPr>
                        <a:t>Errors / OOM / swap</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0 / No / No</a:t>
                      </a:r>
                    </a:p>
                  </a:txBody>
                  <a:tcPr marL="142875" marR="142875" marT="85725" marB="85725" anchor="ctr">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B39D625B-2BE2-4D79-87BE-285503FC52EF}"/>
              </a:ext>
            </a:extLst>
          </p:cNvPr>
          <p:cNvSpPr>
            <a:spLocks xmlns:a="http://schemas.openxmlformats.org/drawingml/2006/main" noGrp="1"/>
          </p:cNvSpPr>
          <p:nvPr/>
        </p:nvSpPr>
        <p:spPr>
          <a:xfrm xmlns:a="http://schemas.openxmlformats.org/drawingml/2006/main">
            <a:off x="685800" y="59436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Candidates considered: 4. Stop reason: Stopped after three consecutive non-improvements.</a:t>
            </a:r>
          </a:p>
        </p:txBody>
      </p:sp>
    </p:spTree>
    <p:extLst>
      <p:ext uri="{BB962C8B-B14F-4D97-AF65-F5344CB8AC3E}">
        <p14:creationId xmlns:p14="http://schemas.microsoft.com/office/powerpoint/2010/main" val="7565377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A8537E5-C82F-43CF-8A5F-AD77293A47C4}"/>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Upstream contributions and licenses</a:t>
            </a:r>
          </a:p>
        </p:txBody>
      </p:sp>
      <p:sp>
        <p:nvSpPr>
          <p:cNvPr id="2" name="">
            <a:extLst xmlns:a="http://schemas.openxmlformats.org/drawingml/2006/main">
              <a:ext uri="{FF2B5EF4-FFF2-40B4-BE49-F238E27FC236}">
                <a16:creationId xmlns:a16="http://schemas.microsoft.com/office/drawing/2014/main" id="{642E6B80-23FC-4DF0-8DBB-5A3CC98E54EB}"/>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C16C768D-868C-48A9-8257-E7B9D1DFF842}"/>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13</a:t>
            </a:r>
          </a:p>
        </p:txBody>
      </p:sp>
      <p:graphicFrame>
        <p:nvGraphicFramePr>
          <p:cNvPr id="12" name=""/>
          <p:cNvGraphicFramePr/>
          <p:nvPr/>
        </p:nvGraphicFramePr>
        <p:xfrm>
          <a:off xmlns:a="http://schemas.openxmlformats.org/drawingml/2006/main" x="685800" y="1571625"/>
          <a:ext xmlns:a="http://schemas.openxmlformats.org/drawingml/2006/main" cx="10820400" cy="3314700"/>
        </p:xfrm>
        <a:graphic xmlns:a="http://schemas.openxmlformats.org/drawingml/2006/main">
          <a:graphicData uri="http://schemas.openxmlformats.org/drawingml/2006/table">
            <a:tbl>
              <a:tblPr firstRow="1" bandRow="0"/>
              <a:tblGrid>
                <a:gridCol w="3876675"/>
                <a:gridCol w="4686300"/>
                <a:gridCol w="2257425"/>
              </a:tblGrid>
              <a:tr h="552450">
                <a:tc>
                  <a:txBody>
                    <a:bodyPr/>
                    <a:lstStyle/>
                    <a:p>
                      <a:r>
                        <a:rPr sz="1650" b="1">
                          <a:solidFill>
                            <a:srgbClr val="183542"/>
                          </a:solidFill>
                          <a:latin typeface="Helvetica Neue"/>
                          <a:ea typeface="Helvetica Neue"/>
                          <a:cs typeface="Helvetica Neue"/>
                        </a:rPr>
                        <a:t>Project / team</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Contribution</a:t>
                      </a:r>
                    </a:p>
                  </a:txBody>
                  <a:tcPr marL="142875" marR="142875" marT="85725" marB="85725" anchor="ctr">
                    <a:solidFill>
                      <a:srgbClr val="E8F0F1"/>
                    </a:solidFill>
                  </a:tcPr>
                </a:tc>
                <a:tc>
                  <a:txBody>
                    <a:bodyPr/>
                    <a:lstStyle/>
                    <a:p>
                      <a:r>
                        <a:rPr sz="1650" b="1">
                          <a:solidFill>
                            <a:srgbClr val="183542"/>
                          </a:solidFill>
                          <a:latin typeface="Helvetica Neue"/>
                          <a:ea typeface="Helvetica Neue"/>
                          <a:cs typeface="Helvetica Neue"/>
                        </a:rPr>
                        <a:t>Terms</a:t>
                      </a:r>
                    </a:p>
                  </a:txBody>
                  <a:tcPr marL="142875" marR="142875" marT="85725" marB="85725" anchor="ctr">
                    <a:solidFill>
                      <a:srgbClr val="E8F0F1"/>
                    </a:solidFill>
                  </a:tcPr>
                </a:tc>
              </a:tr>
              <a:tr h="552450">
                <a:tc>
                  <a:txBody>
                    <a:bodyPr/>
                    <a:lstStyle/>
                    <a:p>
                      <a:r>
                        <a:rPr sz="1650">
                          <a:solidFill>
                            <a:srgbClr val="183542"/>
                          </a:solidFill>
                          <a:latin typeface="Helvetica Neue"/>
                          <a:ea typeface="Helvetica Neue"/>
                          <a:cs typeface="Helvetica Neue"/>
                        </a:rPr>
                        <a:t>NVIDIA Cosmos3-Edge</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Pretrained model and tokenizer</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OpenMDW-1.1</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TensorRT Edge-LLM</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Runtime, builders and kernels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Apache-2.0</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live-vlm-webui contributors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Public interaction reference</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Apache-2.0</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PyTorch / Transformers</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Official-model reference execution</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Component licenses</a:t>
                      </a:r>
                    </a:p>
                  </a:txBody>
                  <a:tcPr marL="142875" marR="142875" marT="85725" marB="85725" anchor="ctr">
                    <a:solidFill>
                      <a:srgbClr val="FFFFFF"/>
                    </a:solidFill>
                  </a:tcPr>
                </a:tc>
              </a:tr>
              <a:tr h="552450">
                <a:tc>
                  <a:txBody>
                    <a:bodyPr/>
                    <a:lstStyle/>
                    <a:p>
                      <a:r>
                        <a:rPr sz="1650">
                          <a:solidFill>
                            <a:srgbClr val="183542"/>
                          </a:solidFill>
                          <a:latin typeface="Helvetica Neue"/>
                          <a:ea typeface="Helvetica Neue"/>
                          <a:cs typeface="Helvetica Neue"/>
                        </a:rPr>
                        <a:t>Original task integration</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UI, transport, repairs, measurements, RTN</a:t>
                      </a:r>
                    </a:p>
                  </a:txBody>
                  <a:tcPr marL="142875" marR="142875" marT="85725" marB="85725" anchor="ctr">
                    <a:solidFill>
                      <a:srgbClr val="FFFFFF"/>
                    </a:solidFill>
                  </a:tcPr>
                </a:tc>
                <a:tc>
                  <a:txBody>
                    <a:bodyPr/>
                    <a:lstStyle/>
                    <a:p>
                      <a:r>
                        <a:rPr sz="1650">
                          <a:solidFill>
                            <a:srgbClr val="183542"/>
                          </a:solidFill>
                          <a:latin typeface="Helvetica Neue"/>
                          <a:ea typeface="Helvetica Neue"/>
                          <a:cs typeface="Helvetica Neue"/>
                        </a:rPr>
                        <a:t>Apache-2.0</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677A33E-296A-4D15-9C1C-1E6CDC354FE1}"/>
              </a:ext>
            </a:extLst>
          </p:cNvPr>
          <p:cNvSpPr>
            <a:spLocks xmlns:a="http://schemas.openxmlformats.org/drawingml/2006/main" noGrp="1"/>
          </p:cNvSpPr>
          <p:nvPr/>
        </p:nvSpPr>
        <p:spPr>
          <a:xfrm xmlns:a="http://schemas.openxmlformats.org/drawingml/2006/main">
            <a:off x="685800" y="50482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Public repository contributors</a:t>
            </a:r>
          </a:p>
        </p:txBody>
      </p:sp>
      <p:sp>
        <p:nvSpPr>
          <p:cNvPr id="6" name="">
            <a:extLst xmlns:a="http://schemas.openxmlformats.org/drawingml/2006/main">
              <a:ext uri="{FF2B5EF4-FFF2-40B4-BE49-F238E27FC236}">
                <a16:creationId xmlns:a16="http://schemas.microsoft.com/office/drawing/2014/main" id="{2C95ACF4-73D1-4A27-9A0B-7CEA8018AAC6}"/>
              </a:ext>
            </a:extLst>
          </p:cNvPr>
          <p:cNvSpPr>
            <a:spLocks xmlns:a="http://schemas.openxmlformats.org/drawingml/2006/main" noGrp="1"/>
          </p:cNvSpPr>
          <p:nvPr/>
        </p:nvSpPr>
        <p:spPr>
          <a:xfrm xmlns:a="http://schemas.openxmlformats.org/drawingml/2006/main">
            <a:off x="685800" y="5505450"/>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UI: tokk-nv, chitoku</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Runtime: nvluxiaoz, ever-wong, jhalabi-nv, nvxingkaiz, JCalafato, poweiw</a:t>
            </a:r>
          </a:p>
        </p:txBody>
      </p:sp>
    </p:spTree>
    <p:extLst>
      <p:ext uri="{BB962C8B-B14F-4D97-AF65-F5344CB8AC3E}">
        <p14:creationId xmlns:p14="http://schemas.microsoft.com/office/powerpoint/2010/main" val="78938404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8939C6D-5680-4B68-AB40-063488846D17}"/>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Limits and reproduction</a:t>
            </a:r>
          </a:p>
        </p:txBody>
      </p:sp>
      <p:sp>
        <p:nvSpPr>
          <p:cNvPr id="2" name="">
            <a:extLst xmlns:a="http://schemas.openxmlformats.org/drawingml/2006/main">
              <a:ext uri="{FF2B5EF4-FFF2-40B4-BE49-F238E27FC236}">
                <a16:creationId xmlns:a16="http://schemas.microsoft.com/office/drawing/2014/main" id="{AC0F33AC-9097-4E2D-8E86-9E61954B6005}"/>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63096F3A-9AB8-40C3-9852-C0065CCFAFBF}"/>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A8F506D3-14F6-410D-B41B-9234DA06D5BF}"/>
              </a:ext>
            </a:extLst>
          </p:cNvPr>
          <p:cNvSpPr>
            <a:spLocks xmlns:a="http://schemas.openxmlformats.org/drawingml/2006/main" noGrp="1"/>
          </p:cNvSpPr>
          <p:nvPr/>
        </p:nvSpPr>
        <p:spPr>
          <a:xfrm xmlns:a="http://schemas.openxmlformats.org/drawingml/2006/main">
            <a:off x="685800" y="1581150"/>
            <a:ext cx="5019675" cy="457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Quality: 18/19 synthetic facts; natural photos 5/9 with partial credit, 0/3 fully correct.</a:t>
            </a:r>
          </a:p>
          <a:p xmlns:a="http://schemas.openxmlformats.org/drawingml/2006/main">
            <a:r>
              <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Streaming checks passed. Natural-video and temporal understanding remain untested.</a:t>
            </a:r>
          </a:p>
          <a:p xmlns:a="http://schemas.openxmlformats.org/drawingml/2006/main">
            <a:r>
              <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Small inputs are padded around a documented position-interpolation limit.</a:t>
            </a:r>
          </a:p>
          <a:p xmlns:a="http://schemas.openxmlformats.org/drawingml/2006/main">
            <a:r>
              <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RAM and RSS overlap. CUDA allocator peak was not collected.</a:t>
            </a:r>
          </a:p>
          <a:p xmlns:a="http://schemas.openxmlformats.org/drawingml/2006/main">
            <a:r>
              <a:t/>
            </a:r>
          </a:p>
          <a:p xmlns:a="http://schemas.openxmlformats.org/drawingml/2006/main">
            <a:pPr>
              <a:buNone/>
              <a:defRPr sz="1800" b="0">
                <a:solidFill>
                  <a:srgbClr val="183542"/>
                </a:solidFill>
                <a:latin typeface="Helvetica Neue"/>
                <a:ea typeface="Helvetica Neue"/>
                <a:cs typeface="Helvetica Neue"/>
              </a:defRPr>
            </a:pPr>
            <a:r>
              <a:rPr sz="1800" b="0">
                <a:solidFill>
                  <a:srgbClr val="183542"/>
                </a:solidFill>
                <a:latin typeface="Helvetica Neue"/>
                <a:ea typeface="Helvetica Neue"/>
                <a:cs typeface="Helvetica Neue"/>
              </a:rPr>
              <a:t>NVMe timeouts recur at cold load. Service recovers; storage issue remains unresolved.</a:t>
            </a:r>
          </a:p>
        </p:txBody>
      </p:sp>
      <p:sp>
        <p:nvSpPr>
          <p:cNvPr id="5" name="">
            <a:extLst xmlns:a="http://schemas.openxmlformats.org/drawingml/2006/main">
              <a:ext uri="{FF2B5EF4-FFF2-40B4-BE49-F238E27FC236}">
                <a16:creationId xmlns:a16="http://schemas.microsoft.com/office/drawing/2014/main" id="{64A06B59-61B3-42F7-93DE-EB3499D38F3B}"/>
              </a:ext>
            </a:extLst>
          </p:cNvPr>
          <p:cNvSpPr>
            <a:spLocks xmlns:a="http://schemas.openxmlformats.org/drawingml/2006/main" noGrp="1"/>
          </p:cNvSpPr>
          <p:nvPr/>
        </p:nvSpPr>
        <p:spPr>
          <a:xfrm xmlns:a="http://schemas.openxmlformats.org/drawingml/2006/main">
            <a:off x="6296025" y="160020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Build selected engines</a:t>
            </a:r>
          </a:p>
        </p:txBody>
      </p:sp>
      <p:sp>
        <p:nvSpPr>
          <p:cNvPr id="6" name="">
            <a:extLst xmlns:a="http://schemas.openxmlformats.org/drawingml/2006/main">
              <a:ext uri="{FF2B5EF4-FFF2-40B4-BE49-F238E27FC236}">
                <a16:creationId xmlns:a16="http://schemas.microsoft.com/office/drawing/2014/main" id="{1C43618D-1B18-48D0-AE80-A0EAE3FFCE21}"/>
              </a:ext>
            </a:extLst>
          </p:cNvPr>
          <p:cNvSpPr>
            <a:spLocks xmlns:a="http://schemas.openxmlformats.org/drawingml/2006/main" noGrp="1"/>
          </p:cNvSpPr>
          <p:nvPr/>
        </p:nvSpPr>
        <p:spPr>
          <a:xfrm xmlns:a="http://schemas.openxmlformats.org/drawingml/2006/main">
            <a:off x="6296025" y="2095500"/>
            <a:ext cx="52101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Native runtime + engine build:</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docs/backend-build.md</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Section 4, selected FP16</a:t>
            </a:r>
          </a:p>
        </p:txBody>
      </p:sp>
      <p:sp>
        <p:nvSpPr>
          <p:cNvPr id="7" name="">
            <a:extLst xmlns:a="http://schemas.openxmlformats.org/drawingml/2006/main">
              <a:ext uri="{FF2B5EF4-FFF2-40B4-BE49-F238E27FC236}">
                <a16:creationId xmlns:a16="http://schemas.microsoft.com/office/drawing/2014/main" id="{6732F9E8-B3E9-43F6-8287-6330B967226F}"/>
              </a:ext>
            </a:extLst>
          </p:cNvPr>
          <p:cNvSpPr>
            <a:spLocks xmlns:a="http://schemas.openxmlformats.org/drawingml/2006/main" noGrp="1"/>
          </p:cNvSpPr>
          <p:nvPr/>
        </p:nvSpPr>
        <p:spPr>
          <a:xfrm xmlns:a="http://schemas.openxmlformats.org/drawingml/2006/main">
            <a:off x="6296025" y="314325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Serve on the Orin</a:t>
            </a:r>
          </a:p>
        </p:txBody>
      </p:sp>
      <p:sp>
        <p:nvSpPr>
          <p:cNvPr id="8" name="">
            <a:extLst xmlns:a="http://schemas.openxmlformats.org/drawingml/2006/main">
              <a:ext uri="{FF2B5EF4-FFF2-40B4-BE49-F238E27FC236}">
                <a16:creationId xmlns:a16="http://schemas.microsoft.com/office/drawing/2014/main" id="{ACBE9B11-C085-416D-8341-98BB5E717F95}"/>
              </a:ext>
            </a:extLst>
          </p:cNvPr>
          <p:cNvSpPr>
            <a:spLocks xmlns:a="http://schemas.openxmlformats.org/drawingml/2006/main" noGrp="1"/>
          </p:cNvSpPr>
          <p:nvPr/>
        </p:nvSpPr>
        <p:spPr>
          <a:xfrm xmlns:a="http://schemas.openxmlformats.org/drawingml/2006/main">
            <a:off x="6296025" y="3638550"/>
            <a:ext cx="52101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sudo systemctl start cosmos-edge-backend cosmos-edge-ui</a:t>
            </a:r>
          </a:p>
        </p:txBody>
      </p:sp>
      <p:sp>
        <p:nvSpPr>
          <p:cNvPr id="9" name="">
            <a:extLst xmlns:a="http://schemas.openxmlformats.org/drawingml/2006/main">
              <a:ext uri="{FF2B5EF4-FFF2-40B4-BE49-F238E27FC236}">
                <a16:creationId xmlns:a16="http://schemas.microsoft.com/office/drawing/2014/main" id="{E08C9D96-B395-4FBF-9411-E717F33D1AB9}"/>
              </a:ext>
            </a:extLst>
          </p:cNvPr>
          <p:cNvSpPr>
            <a:spLocks xmlns:a="http://schemas.openxmlformats.org/drawingml/2006/main" noGrp="1"/>
          </p:cNvSpPr>
          <p:nvPr/>
        </p:nvSpPr>
        <p:spPr>
          <a:xfrm xmlns:a="http://schemas.openxmlformats.org/drawingml/2006/main">
            <a:off x="6296025" y="4591050"/>
            <a:ext cx="52101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Repeat the measured workload</a:t>
            </a:r>
          </a:p>
        </p:txBody>
      </p:sp>
      <p:sp>
        <p:nvSpPr>
          <p:cNvPr id="10" name="">
            <a:extLst xmlns:a="http://schemas.openxmlformats.org/drawingml/2006/main">
              <a:ext uri="{FF2B5EF4-FFF2-40B4-BE49-F238E27FC236}">
                <a16:creationId xmlns:a16="http://schemas.microsoft.com/office/drawing/2014/main" id="{995CCC26-A2AA-4362-8B5B-C91923180603}"/>
              </a:ext>
            </a:extLst>
          </p:cNvPr>
          <p:cNvSpPr>
            <a:spLocks xmlns:a="http://schemas.openxmlformats.org/drawingml/2006/main" noGrp="1"/>
          </p:cNvSpPr>
          <p:nvPr/>
        </p:nvSpPr>
        <p:spPr>
          <a:xfrm xmlns:a="http://schemas.openxmlformats.org/drawingml/2006/main">
            <a:off x="6296025" y="5086350"/>
            <a:ext cx="5210175"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scripts/benchmark.py</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Invocation and fixed settings:</a:t>
            </a:r>
          </a:p>
          <a:p xmlns:a="http://schemas.openxmlformats.org/drawingml/2006/main">
            <a:pPr>
              <a:buNone/>
              <a:defRPr sz="1725" b="0">
                <a:solidFill>
                  <a:srgbClr val="183542"/>
                </a:solidFill>
                <a:latin typeface="Helvetica Neue"/>
                <a:ea typeface="Helvetica Neue"/>
                <a:cs typeface="Helvetica Neue"/>
              </a:defRPr>
            </a:pPr>
            <a:r>
              <a:rPr sz="1725" b="0">
                <a:solidFill>
                  <a:srgbClr val="183542"/>
                </a:solidFill>
                <a:latin typeface="Helvetica Neue"/>
                <a:ea typeface="Helvetica Neue"/>
                <a:cs typeface="Helvetica Neue"/>
              </a:rPr>
              <a:t>research/benchmark-method.md</a:t>
            </a:r>
          </a:p>
        </p:txBody>
      </p:sp>
    </p:spTree>
    <p:extLst>
      <p:ext uri="{BB962C8B-B14F-4D97-AF65-F5344CB8AC3E}">
        <p14:creationId xmlns:p14="http://schemas.microsoft.com/office/powerpoint/2010/main" val="142632106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C007B91-F2E2-4F9C-BDB2-DFAA48CFF47C}"/>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Original goal and agent stopping policy</a:t>
            </a:r>
          </a:p>
        </p:txBody>
      </p:sp>
      <p:sp>
        <p:nvSpPr>
          <p:cNvPr id="2" name="">
            <a:extLst xmlns:a="http://schemas.openxmlformats.org/drawingml/2006/main">
              <a:ext uri="{FF2B5EF4-FFF2-40B4-BE49-F238E27FC236}">
                <a16:creationId xmlns:a16="http://schemas.microsoft.com/office/drawing/2014/main" id="{A8A29B02-753F-4A90-AF5E-2F72B79777D1}"/>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123FA088-03C0-405F-BE75-F9FC1BAB7F92}"/>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A6D3C93F-6BE8-4AD1-83C4-D551128B9ABB}"/>
              </a:ext>
            </a:extLst>
          </p:cNvPr>
          <p:cNvSpPr>
            <a:spLocks xmlns:a="http://schemas.openxmlformats.org/drawingml/2006/main" noGrp="1"/>
          </p:cNvSpPr>
          <p:nvPr/>
        </p:nvSpPr>
        <p:spPr>
          <a:xfrm xmlns:a="http://schemas.openxmlformats.org/drawingml/2006/main">
            <a:off x="685800" y="157162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User-defined goal</a:t>
            </a:r>
          </a:p>
        </p:txBody>
      </p:sp>
      <p:sp>
        <p:nvSpPr>
          <p:cNvPr id="5" name="">
            <a:extLst xmlns:a="http://schemas.openxmlformats.org/drawingml/2006/main">
              <a:ext uri="{FF2B5EF4-FFF2-40B4-BE49-F238E27FC236}">
                <a16:creationId xmlns:a16="http://schemas.microsoft.com/office/drawing/2014/main" id="{68DE459D-E75B-41DD-A55B-F98D008E191C}"/>
              </a:ext>
            </a:extLst>
          </p:cNvPr>
          <p:cNvSpPr>
            <a:spLocks xmlns:a="http://schemas.openxmlformats.org/drawingml/2006/main" noGrp="1"/>
          </p:cNvSpPr>
          <p:nvPr/>
        </p:nvSpPr>
        <p:spPr>
          <a:xfrm xmlns:a="http://schemas.openxmlformats.org/drawingml/2006/main">
            <a:off x="685800" y="2066925"/>
            <a:ext cx="49530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Install JetPack through USB-C.</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Run Cosmos3-Edge with TRT-Edge-LLM.</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Serve streaming vision on the Orin.</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Measure memory and latency.</a:t>
            </a:r>
          </a:p>
          <a:p xmlns:a="http://schemas.openxmlformats.org/drawingml/2006/main">
            <a:pPr>
              <a:buNone/>
              <a:defRPr sz="2025" b="0">
                <a:solidFill>
                  <a:srgbClr val="183542"/>
                </a:solidFill>
                <a:latin typeface="Helvetica Neue"/>
                <a:ea typeface="Helvetica Neue"/>
                <a:cs typeface="Helvetica Neue"/>
              </a:defRPr>
            </a:pPr>
            <a:r>
              <a:rPr sz="2025" b="0">
                <a:solidFill>
                  <a:srgbClr val="183542"/>
                </a:solidFill>
                <a:latin typeface="Helvetica Neue"/>
                <a:ea typeface="Helvetica Neue"/>
                <a:cs typeface="Helvetica Neue"/>
              </a:rPr>
              <a:t>Present findings and public-source credits.</a:t>
            </a:r>
          </a:p>
        </p:txBody>
      </p:sp>
      <p:sp>
        <p:nvSpPr>
          <p:cNvPr id="6" name="">
            <a:extLst xmlns:a="http://schemas.openxmlformats.org/drawingml/2006/main">
              <a:ext uri="{FF2B5EF4-FFF2-40B4-BE49-F238E27FC236}">
                <a16:creationId xmlns:a16="http://schemas.microsoft.com/office/drawing/2014/main" id="{A5ACA0CE-D9A2-4749-B45D-544BAE0EBB36}"/>
              </a:ext>
            </a:extLst>
          </p:cNvPr>
          <p:cNvSpPr>
            <a:spLocks xmlns:a="http://schemas.openxmlformats.org/drawingml/2006/main" noGrp="1"/>
          </p:cNvSpPr>
          <p:nvPr/>
        </p:nvSpPr>
        <p:spPr>
          <a:xfrm xmlns:a="http://schemas.openxmlformats.org/drawingml/2006/main">
            <a:off x="685800" y="4467225"/>
            <a:ext cx="4953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146875"/>
                </a:solidFill>
                <a:latin typeface="Helvetica Neue"/>
                <a:ea typeface="Helvetica Neue"/>
                <a:cs typeface="Helvetica Neue"/>
              </a:defRPr>
            </a:pPr>
            <a:r>
              <a:rPr sz="2325" b="1">
                <a:solidFill>
                  <a:srgbClr val="146875"/>
                </a:solidFill>
                <a:latin typeface="Helvetica Neue"/>
                <a:ea typeface="Helvetica Neue"/>
                <a:cs typeface="Helvetica Neue"/>
              </a:rPr>
              <a:t>“so you don’t keep iterating on marginal gains”</a:t>
            </a:r>
          </a:p>
        </p:txBody>
      </p:sp>
      <p:sp>
        <p:nvSpPr>
          <p:cNvPr id="7" name="">
            <a:extLst xmlns:a="http://schemas.openxmlformats.org/drawingml/2006/main">
              <a:ext uri="{FF2B5EF4-FFF2-40B4-BE49-F238E27FC236}">
                <a16:creationId xmlns:a16="http://schemas.microsoft.com/office/drawing/2014/main" id="{F5DD196A-E28F-4A99-B483-D27604A26D5B}"/>
              </a:ext>
            </a:extLst>
          </p:cNvPr>
          <p:cNvSpPr>
            <a:spLocks xmlns:a="http://schemas.openxmlformats.org/drawingml/2006/main" noGrp="1"/>
          </p:cNvSpPr>
          <p:nvPr/>
        </p:nvSpPr>
        <p:spPr>
          <a:xfrm xmlns:a="http://schemas.openxmlformats.org/drawingml/2006/main">
            <a:off x="685800" y="5629275"/>
            <a:ext cx="49530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User request for a finite search</a:t>
            </a:r>
          </a:p>
        </p:txBody>
      </p:sp>
      <p:graphicFrame>
        <p:nvGraphicFramePr>
          <p:cNvPr id="18" name=""/>
          <p:cNvGraphicFramePr/>
          <p:nvPr/>
        </p:nvGraphicFramePr>
        <p:xfrm>
          <a:off xmlns:a="http://schemas.openxmlformats.org/drawingml/2006/main" x="5981700" y="1571625"/>
          <a:ext xmlns:a="http://schemas.openxmlformats.org/drawingml/2006/main" cx="5524500" cy="4400550"/>
        </p:xfrm>
        <a:graphic xmlns:a="http://schemas.openxmlformats.org/drawingml/2006/main">
          <a:graphicData uri="http://schemas.openxmlformats.org/drawingml/2006/table">
            <a:tbl>
              <a:tblPr firstRow="1" bandRow="0"/>
              <a:tblGrid>
                <a:gridCol w="2571750"/>
                <a:gridCol w="2952750"/>
              </a:tblGrid>
              <a:tr h="733425">
                <a:tc>
                  <a:txBody>
                    <a:bodyPr/>
                    <a:lstStyle/>
                    <a:p>
                      <a:r>
                        <a:rPr sz="1725" b="1">
                          <a:solidFill>
                            <a:srgbClr val="183542"/>
                          </a:solidFill>
                          <a:latin typeface="Helvetica Neue"/>
                          <a:ea typeface="Helvetica Neue"/>
                          <a:cs typeface="Helvetica Neue"/>
                        </a:rPr>
                        <a:t>Agent-chosen policy</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Recorded limit</a:t>
                      </a:r>
                    </a:p>
                  </a:txBody>
                  <a:tcPr marL="142875" marR="142875" marT="85725" marB="85725" anchor="ctr">
                    <a:solidFill>
                      <a:srgbClr val="E8F0F1"/>
                    </a:solidFill>
                  </a:tcPr>
                </a:tc>
              </a:tr>
              <a:tr h="733425">
                <a:tc>
                  <a:txBody>
                    <a:bodyPr/>
                    <a:lstStyle/>
                    <a:p>
                      <a:r>
                        <a:rPr sz="1725">
                          <a:solidFill>
                            <a:srgbClr val="183542"/>
                          </a:solidFill>
                          <a:latin typeface="Helvetica Neue"/>
                          <a:ea typeface="Helvetica Neue"/>
                          <a:cs typeface="Helvetica Neue"/>
                        </a:rPr>
                        <a:t>Search ceiling</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12 initially, then 5</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Each measured trial</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5 warmups + 30 requests</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Required gain</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At least 5%, with quality checks</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Early stop</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3 consecutive non-improvements</a:t>
                      </a:r>
                    </a:p>
                  </a:txBody>
                  <a:tcPr marL="142875" marR="142875" marT="85725" marB="85725" anchor="ctr">
                    <a:solidFill>
                      <a:srgbClr val="FFFFFF"/>
                    </a:solidFill>
                  </a:tcPr>
                </a:tc>
              </a:tr>
              <a:tr h="733425">
                <a:tc>
                  <a:txBody>
                    <a:bodyPr/>
                    <a:lstStyle/>
                    <a:p>
                      <a:r>
                        <a:rPr sz="1725">
                          <a:solidFill>
                            <a:srgbClr val="183542"/>
                          </a:solidFill>
                          <a:latin typeface="Helvetica Neue"/>
                          <a:ea typeface="Helvetica Neue"/>
                          <a:cs typeface="Helvetica Neue"/>
                        </a:rPr>
                        <a:t>Actual outcome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4 trials, corrected FP16 retained</a:t>
                      </a:r>
                    </a:p>
                  </a:txBody>
                  <a:tcPr marL="142875" marR="142875" marT="85725" marB="85725" anchor="ctr">
                    <a:solidFill>
                      <a:srgbClr val="FFFFFF"/>
                    </a:solidFill>
                  </a:tcPr>
                </a:tc>
              </a:tr>
            </a:tbl>
          </a:graphicData>
        </a:graphic>
      </p:graphicFrame>
    </p:spTree>
    <p:extLst>
      <p:ext uri="{BB962C8B-B14F-4D97-AF65-F5344CB8AC3E}">
        <p14:creationId xmlns:p14="http://schemas.microsoft.com/office/powerpoint/2010/main" val="871081619"/>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F5C5963-42BA-4C34-B2BE-91ABE19B7D1E}"/>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User steering and progress oversight</a:t>
            </a:r>
          </a:p>
        </p:txBody>
      </p:sp>
      <p:sp>
        <p:nvSpPr>
          <p:cNvPr id="2" name="">
            <a:extLst xmlns:a="http://schemas.openxmlformats.org/drawingml/2006/main">
              <a:ext uri="{FF2B5EF4-FFF2-40B4-BE49-F238E27FC236}">
                <a16:creationId xmlns:a16="http://schemas.microsoft.com/office/drawing/2014/main" id="{ADBD5A4C-6656-4681-82EC-66DC393D03C1}"/>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AF12073C-8A65-4B9E-9C67-8D5F001E92F7}"/>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5F965A33-F068-48CA-BD2F-B0E1EAC41E0D}"/>
              </a:ext>
            </a:extLst>
          </p:cNvPr>
          <p:cNvSpPr>
            <a:spLocks xmlns:a="http://schemas.openxmlformats.org/drawingml/2006/main" noGrp="1"/>
          </p:cNvSpPr>
          <p:nvPr/>
        </p:nvSpPr>
        <p:spPr>
          <a:xfrm xmlns:a="http://schemas.openxmlformats.org/drawingml/2006/main">
            <a:off x="685800" y="16002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Progress oversight</a:t>
            </a:r>
          </a:p>
        </p:txBody>
      </p:sp>
      <p:sp>
        <p:nvSpPr>
          <p:cNvPr id="5" name="">
            <a:extLst xmlns:a="http://schemas.openxmlformats.org/drawingml/2006/main">
              <a:ext uri="{FF2B5EF4-FFF2-40B4-BE49-F238E27FC236}">
                <a16:creationId xmlns:a16="http://schemas.microsoft.com/office/drawing/2014/main" id="{59D969E9-FDD8-48DA-9B94-5C6A53BED900}"/>
              </a:ext>
            </a:extLst>
          </p:cNvPr>
          <p:cNvSpPr>
            <a:spLocks xmlns:a="http://schemas.openxmlformats.org/drawingml/2006/main" noGrp="1"/>
          </p:cNvSpPr>
          <p:nvPr/>
        </p:nvSpPr>
        <p:spPr>
          <a:xfrm xmlns:a="http://schemas.openxmlformats.org/drawingml/2006/main">
            <a:off x="685800" y="20955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“Did you install jetpack via the usb-c?”</a:t>
            </a:r>
          </a:p>
          <a:p xmlns:a="http://schemas.openxmlformats.org/drawingml/2006/main">
            <a:pPr>
              <a:buNone/>
              <a:defRPr sz="2250" b="0">
                <a:solidFill>
                  <a:srgbClr val="183542"/>
                </a:solidFill>
                <a:latin typeface="Helvetica Neue"/>
                <a:ea typeface="Helvetica Neue"/>
                <a:cs typeface="Helvetica Neue"/>
              </a:defRPr>
            </a:pPr>
            <a:r>
              <a:rPr sz="2250" b="0">
                <a:solidFill>
                  <a:srgbClr val="183542"/>
                </a:solidFill>
                <a:latin typeface="Helvetica Neue"/>
                <a:ea typeface="Helvetica Neue"/>
                <a:cs typeface="Helvetica Neue"/>
              </a:rPr>
              <a:t>“what have you done thus far?”</a:t>
            </a:r>
          </a:p>
        </p:txBody>
      </p:sp>
      <p:sp>
        <p:nvSpPr>
          <p:cNvPr id="6" name="">
            <a:extLst xmlns:a="http://schemas.openxmlformats.org/drawingml/2006/main">
              <a:ext uri="{FF2B5EF4-FFF2-40B4-BE49-F238E27FC236}">
                <a16:creationId xmlns:a16="http://schemas.microsoft.com/office/drawing/2014/main" id="{4C4EB2D0-6E55-4574-98B1-25133E7056D5}"/>
              </a:ext>
            </a:extLst>
          </p:cNvPr>
          <p:cNvSpPr>
            <a:spLocks xmlns:a="http://schemas.openxmlformats.org/drawingml/2006/main" noGrp="1"/>
          </p:cNvSpPr>
          <p:nvPr/>
        </p:nvSpPr>
        <p:spPr>
          <a:xfrm xmlns:a="http://schemas.openxmlformats.org/drawingml/2006/main">
            <a:off x="685800" y="314325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Connectivity reports from the user</a:t>
            </a:r>
          </a:p>
        </p:txBody>
      </p:sp>
      <p:sp>
        <p:nvSpPr>
          <p:cNvPr id="7" name="">
            <a:extLst xmlns:a="http://schemas.openxmlformats.org/drawingml/2006/main">
              <a:ext uri="{FF2B5EF4-FFF2-40B4-BE49-F238E27FC236}">
                <a16:creationId xmlns:a16="http://schemas.microsoft.com/office/drawing/2014/main" id="{AA187D92-9629-4B6D-BB0D-A4F2954BA6D0}"/>
              </a:ext>
            </a:extLst>
          </p:cNvPr>
          <p:cNvSpPr>
            <a:spLocks xmlns:a="http://schemas.openxmlformats.org/drawingml/2006/main" noGrp="1"/>
          </p:cNvSpPr>
          <p:nvPr/>
        </p:nvSpPr>
        <p:spPr>
          <a:xfrm xmlns:a="http://schemas.openxmlformats.org/drawingml/2006/main">
            <a:off x="685800" y="36385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“can you work on wifi or do you want ethernet”</a:t>
            </a:r>
          </a:p>
          <a:p xmlns:a="http://schemas.openxmlformats.org/drawingml/2006/main">
            <a:pPr>
              <a:buNone/>
              <a:defRPr sz="2100" b="0">
                <a:solidFill>
                  <a:srgbClr val="183542"/>
                </a:solidFill>
                <a:latin typeface="Helvetica Neue"/>
                <a:ea typeface="Helvetica Neue"/>
                <a:cs typeface="Helvetica Neue"/>
              </a:defRPr>
            </a:pPr>
            <a:r>
              <a:rPr sz="2100" b="0">
                <a:solidFill>
                  <a:srgbClr val="183542"/>
                </a:solidFill>
                <a:latin typeface="Helvetica Neue"/>
                <a:ea typeface="Helvetica Neue"/>
                <a:cs typeface="Helvetica Neue"/>
              </a:rPr>
              <a:t>“giving the GPU ethernet back and you on wifi”</a:t>
            </a:r>
          </a:p>
        </p:txBody>
      </p:sp>
      <p:sp>
        <p:nvSpPr>
          <p:cNvPr id="8" name="">
            <a:extLst xmlns:a="http://schemas.openxmlformats.org/drawingml/2006/main">
              <a:ext uri="{FF2B5EF4-FFF2-40B4-BE49-F238E27FC236}">
                <a16:creationId xmlns:a16="http://schemas.microsoft.com/office/drawing/2014/main" id="{B0422F41-D75C-4A9A-BAA3-6DF358701019}"/>
              </a:ext>
            </a:extLst>
          </p:cNvPr>
          <p:cNvSpPr>
            <a:spLocks xmlns:a="http://schemas.openxmlformats.org/drawingml/2006/main" noGrp="1"/>
          </p:cNvSpPr>
          <p:nvPr/>
        </p:nvSpPr>
        <p:spPr>
          <a:xfrm xmlns:a="http://schemas.openxmlformats.org/drawingml/2006/main">
            <a:off x="685800" y="47625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Optional GPU access</a:t>
            </a:r>
          </a:p>
        </p:txBody>
      </p:sp>
      <p:sp>
        <p:nvSpPr>
          <p:cNvPr id="9" name="">
            <a:extLst xmlns:a="http://schemas.openxmlformats.org/drawingml/2006/main">
              <a:ext uri="{FF2B5EF4-FFF2-40B4-BE49-F238E27FC236}">
                <a16:creationId xmlns:a16="http://schemas.microsoft.com/office/drawing/2014/main" id="{4C77E1AC-56F5-4001-927A-7955C1935750}"/>
              </a:ext>
            </a:extLst>
          </p:cNvPr>
          <p:cNvSpPr>
            <a:spLocks xmlns:a="http://schemas.openxmlformats.org/drawingml/2006/main" noGrp="1"/>
          </p:cNvSpPr>
          <p:nvPr/>
        </p:nvSpPr>
        <p:spPr>
          <a:xfrm xmlns:a="http://schemas.openxmlformats.org/drawingml/2006/main">
            <a:off x="685800" y="5257800"/>
            <a:ext cx="108204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“Isolate your work from anything else on that computer.”</a:t>
            </a:r>
          </a:p>
          <a:p xmlns:a="http://schemas.openxmlformats.org/drawingml/2006/main">
            <a:pPr>
              <a:buNone/>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Agent authentication failed. No remote workspace or auxiliary GPU use.</a:t>
            </a:r>
          </a:p>
        </p:txBody>
      </p:sp>
    </p:spTree>
    <p:extLst>
      <p:ext uri="{BB962C8B-B14F-4D97-AF65-F5344CB8AC3E}">
        <p14:creationId xmlns:p14="http://schemas.microsoft.com/office/powerpoint/2010/main" val="90025355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C8355FB-5CCC-4625-AFA5-7CDA36AD71D3}"/>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Human readiness and verified agent actions</a:t>
            </a:r>
          </a:p>
        </p:txBody>
      </p:sp>
      <p:sp>
        <p:nvSpPr>
          <p:cNvPr id="2" name="">
            <a:extLst xmlns:a="http://schemas.openxmlformats.org/drawingml/2006/main">
              <a:ext uri="{FF2B5EF4-FFF2-40B4-BE49-F238E27FC236}">
                <a16:creationId xmlns:a16="http://schemas.microsoft.com/office/drawing/2014/main" id="{801C66E6-2F67-4F37-8834-7B7C95B674B4}"/>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Measured findings, 2026-09-20</a:t>
            </a:r>
          </a:p>
        </p:txBody>
      </p:sp>
      <p:sp>
        <p:nvSpPr>
          <p:cNvPr id="3" name="">
            <a:extLst xmlns:a="http://schemas.openxmlformats.org/drawingml/2006/main">
              <a:ext uri="{FF2B5EF4-FFF2-40B4-BE49-F238E27FC236}">
                <a16:creationId xmlns:a16="http://schemas.microsoft.com/office/drawing/2014/main" id="{396524ED-6436-4E50-910A-D8114917C80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17</a:t>
            </a:r>
          </a:p>
        </p:txBody>
      </p:sp>
      <p:graphicFrame>
        <p:nvGraphicFramePr>
          <p:cNvPr id="11" name=""/>
          <p:cNvGraphicFramePr/>
          <p:nvPr/>
        </p:nvGraphicFramePr>
        <p:xfrm>
          <a:off xmlns:a="http://schemas.openxmlformats.org/drawingml/2006/main" x="685800" y="1562100"/>
          <a:ext xmlns:a="http://schemas.openxmlformats.org/drawingml/2006/main" cx="10820400" cy="3752850"/>
        </p:xfrm>
        <a:graphic xmlns:a="http://schemas.openxmlformats.org/drawingml/2006/main">
          <a:graphicData uri="http://schemas.openxmlformats.org/drawingml/2006/table">
            <a:tbl>
              <a:tblPr firstRow="1" bandRow="0"/>
              <a:tblGrid>
                <a:gridCol w="2095500"/>
                <a:gridCol w="4000500"/>
                <a:gridCol w="4724400"/>
              </a:tblGrid>
              <a:tr h="938213">
                <a:tc>
                  <a:txBody>
                    <a:bodyPr/>
                    <a:lstStyle/>
                    <a:p>
                      <a:r>
                        <a:rPr sz="1800" b="1">
                          <a:solidFill>
                            <a:srgbClr val="183542"/>
                          </a:solidFill>
                          <a:latin typeface="Helvetica Neue"/>
                          <a:ea typeface="Helvetica Neue"/>
                          <a:cs typeface="Helvetica Neue"/>
                        </a:rPr>
                        <a:t>Stage</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Human report or request</a:t>
                      </a:r>
                    </a:p>
                  </a:txBody>
                  <a:tcPr marL="142875" marR="142875" marT="85725" marB="85725" anchor="ctr">
                    <a:solidFill>
                      <a:srgbClr val="E8F0F1"/>
                    </a:solidFill>
                  </a:tcPr>
                </a:tc>
                <a:tc>
                  <a:txBody>
                    <a:bodyPr/>
                    <a:lstStyle/>
                    <a:p>
                      <a:r>
                        <a:rPr sz="1800" b="1">
                          <a:solidFill>
                            <a:srgbClr val="183542"/>
                          </a:solidFill>
                          <a:latin typeface="Helvetica Neue"/>
                          <a:ea typeface="Helvetica Neue"/>
                          <a:cs typeface="Helvetica Neue"/>
                        </a:rPr>
                        <a:t>Verified agent action</a:t>
                      </a:r>
                    </a:p>
                  </a:txBody>
                  <a:tcPr marL="142875" marR="142875" marT="85725" marB="85725" anchor="ctr">
                    <a:solidFill>
                      <a:srgbClr val="E8F0F1"/>
                    </a:solidFill>
                  </a:tcPr>
                </a:tc>
              </a:tr>
              <a:tr h="938213">
                <a:tc>
                  <a:txBody>
                    <a:bodyPr/>
                    <a:lstStyle/>
                    <a:p>
                      <a:r>
                        <a:rPr sz="1800">
                          <a:solidFill>
                            <a:srgbClr val="183542"/>
                          </a:solidFill>
                          <a:latin typeface="Helvetica Neue"/>
                          <a:ea typeface="Helvetica Neue"/>
                          <a:cs typeface="Helvetica Neue"/>
                        </a:rPr>
                        <a:t>Recovery entry</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FC REC–GND reported</a:t>
                      </a:r>
                    </a:p>
                    <a:p>
                      <a:r>
                        <a:rPr sz="1800">
                          <a:solidFill>
                            <a:srgbClr val="183542"/>
                          </a:solidFill>
                          <a:latin typeface="Helvetica Neue"/>
                          <a:ea typeface="Helvetica Neue"/>
                          <a:cs typeface="Helvetica Neue"/>
                        </a:rPr>
                        <a:t>“done”: readiness confirmation</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Detect APX, read EEPROM, upload RAM recovery</a:t>
                      </a:r>
                    </a:p>
                  </a:txBody>
                  <a:tcPr marL="142875" marR="142875" marT="85725" marB="85725" anchor="ctr">
                    <a:solidFill>
                      <a:srgbClr val="FFFFFF"/>
                    </a:solidFill>
                  </a:tcPr>
                </a:tc>
              </a:tr>
              <a:tr h="938213">
                <a:tc>
                  <a:txBody>
                    <a:bodyPr/>
                    <a:lstStyle/>
                    <a:p>
                      <a:r>
                        <a:rPr sz="1800">
                          <a:solidFill>
                            <a:srgbClr val="183542"/>
                          </a:solidFill>
                          <a:latin typeface="Helvetica Neue"/>
                          <a:ea typeface="Helvetica Neue"/>
                          <a:cs typeface="Helvetica Neue"/>
                        </a:rPr>
                        <a:t>USB access</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Accessory approval requested if a prompt appeared</a:t>
                      </a:r>
                    </a:p>
                    <a:p>
                      <a:r>
                        <a:rPr sz="1800">
                          <a:solidFill>
                            <a:srgbClr val="183542"/>
                          </a:solidFill>
                          <a:latin typeface="Helvetica Neue"/>
                          <a:ea typeface="Helvetica Neue"/>
                          <a:cs typeface="Helvetica Neue"/>
                        </a:rPr>
                        <a:t>Approval unconfirmed</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Use native USB SSH and an NFS bridge</a:t>
                      </a:r>
                    </a:p>
                    <a:p>
                      <a:r>
                        <a:rPr sz="1800">
                          <a:solidFill>
                            <a:srgbClr val="183542"/>
                          </a:solidFill>
                          <a:latin typeface="Helvetica Neue"/>
                          <a:ea typeface="Helvetica Neue"/>
                          <a:cs typeface="Helvetica Neue"/>
                        </a:rPr>
                        <a:t>Complete official QSPI/NVMe flash</a:t>
                      </a:r>
                    </a:p>
                  </a:txBody>
                  <a:tcPr marL="142875" marR="142875" marT="85725" marB="85725" anchor="ctr">
                    <a:solidFill>
                      <a:srgbClr val="FFFFFF"/>
                    </a:solidFill>
                  </a:tcPr>
                </a:tc>
              </a:tr>
              <a:tr h="938213">
                <a:tc>
                  <a:txBody>
                    <a:bodyPr/>
                    <a:lstStyle/>
                    <a:p>
                      <a:r>
                        <a:rPr sz="1800">
                          <a:solidFill>
                            <a:srgbClr val="183542"/>
                          </a:solidFill>
                          <a:latin typeface="Helvetica Neue"/>
                          <a:ea typeface="Helvetica Neue"/>
                          <a:cs typeface="Helvetica Neue"/>
                        </a:rPr>
                        <a:t>Normal boot</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“the jumper isn’t in”</a:t>
                      </a:r>
                    </a:p>
                    <a:p>
                      <a:r>
                        <a:rPr sz="1800">
                          <a:solidFill>
                            <a:srgbClr val="183542"/>
                          </a:solidFill>
                          <a:latin typeface="Helvetica Neue"/>
                          <a:ea typeface="Helvetica Neue"/>
                          <a:cs typeface="Helvetica Neue"/>
                        </a:rPr>
                        <a:t>Reported state, no action timestamp</a:t>
                      </a:r>
                    </a:p>
                  </a:txBody>
                  <a:tcPr marL="142875" marR="142875" marT="85725" marB="85725" anchor="ctr">
                    <a:solidFill>
                      <a:srgbClr val="FFFFFF"/>
                    </a:solidFill>
                  </a:tcPr>
                </a:tc>
                <a:tc>
                  <a:txBody>
                    <a:bodyPr/>
                    <a:lstStyle/>
                    <a:p>
                      <a:r>
                        <a:rPr sz="1800">
                          <a:solidFill>
                            <a:srgbClr val="183542"/>
                          </a:solidFill>
                          <a:latin typeface="Helvetica Neue"/>
                          <a:ea typeface="Helvetica Neue"/>
                          <a:cs typeface="Helvetica Neue"/>
                        </a:rPr>
                        <a:t>Verify NVMe boot and task-key SSH</a:t>
                      </a:r>
                    </a:p>
                    <a:p>
                      <a:r>
                        <a:rPr sz="1800">
                          <a:solidFill>
                            <a:srgbClr val="183542"/>
                          </a:solidFill>
                          <a:latin typeface="Helvetica Neue"/>
                          <a:ea typeface="Helvetica Neue"/>
                          <a:cs typeface="Helvetica Neue"/>
                        </a:rPr>
                        <a:t>Run CUDA and expand storage</a:t>
                      </a:r>
                    </a:p>
                  </a:txBody>
                  <a:tcPr marL="142875" marR="142875" marT="85725" marB="85725" anchor="ctr">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087E5BB-DD20-4E56-8228-18E78B593C42}"/>
              </a:ext>
            </a:extLst>
          </p:cNvPr>
          <p:cNvSpPr>
            <a:spLocks xmlns:a="http://schemas.openxmlformats.org/drawingml/2006/main" noGrp="1"/>
          </p:cNvSpPr>
          <p:nvPr/>
        </p:nvSpPr>
        <p:spPr>
          <a:xfrm xmlns:a="http://schemas.openxmlformats.org/drawingml/2006/main">
            <a:off x="685800" y="58102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Agent preparation continued while hardware readiness was unresolved.</a:t>
            </a:r>
          </a:p>
        </p:txBody>
      </p:sp>
    </p:spTree>
    <p:extLst>
      <p:ext uri="{BB962C8B-B14F-4D97-AF65-F5344CB8AC3E}">
        <p14:creationId xmlns:p14="http://schemas.microsoft.com/office/powerpoint/2010/main" val="60819642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4AEB60-A7AE-404E-9BDC-40EBE46130B8}"/>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First-version boundary and later follow-ups</a:t>
            </a:r>
          </a:p>
        </p:txBody>
      </p:sp>
      <p:sp>
        <p:nvSpPr>
          <p:cNvPr id="2" name="">
            <a:extLst xmlns:a="http://schemas.openxmlformats.org/drawingml/2006/main">
              <a:ext uri="{FF2B5EF4-FFF2-40B4-BE49-F238E27FC236}">
                <a16:creationId xmlns:a16="http://schemas.microsoft.com/office/drawing/2014/main" id="{6163D948-13EC-4CFB-BA90-905DDA1F30BD}"/>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D2C920CE-5478-4355-A17C-2BE3700D9FBC}"/>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EA4F2BE2-14C3-4D4A-9610-36F3E13D3B7D}"/>
              </a:ext>
            </a:extLst>
          </p:cNvPr>
          <p:cNvSpPr>
            <a:spLocks xmlns:a="http://schemas.openxmlformats.org/drawingml/2006/main" noGrp="1"/>
          </p:cNvSpPr>
          <p:nvPr/>
        </p:nvSpPr>
        <p:spPr>
          <a:xfrm xmlns:a="http://schemas.openxmlformats.org/drawingml/2006/main">
            <a:off x="685800" y="1438275"/>
            <a:ext cx="108204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First version: Orin inference, four trials and the soak. Benchmark ceiling stays 64 tokens.</a:t>
            </a:r>
          </a:p>
        </p:txBody>
      </p:sp>
      <p:graphicFrame>
        <p:nvGraphicFramePr>
          <p:cNvPr id="13" name=""/>
          <p:cNvGraphicFramePr/>
          <p:nvPr/>
        </p:nvGraphicFramePr>
        <p:xfrm>
          <a:off xmlns:a="http://schemas.openxmlformats.org/drawingml/2006/main" x="685800" y="2286000"/>
          <a:ext xmlns:a="http://schemas.openxmlformats.org/drawingml/2006/main" cx="10820400" cy="3381375"/>
        </p:xfrm>
        <a:graphic xmlns:a="http://schemas.openxmlformats.org/drawingml/2006/main">
          <a:graphicData uri="http://schemas.openxmlformats.org/drawingml/2006/table">
            <a:tbl>
              <a:tblPr firstRow="1" bandRow="0"/>
              <a:tblGrid>
                <a:gridCol w="3667125"/>
                <a:gridCol w="7153275"/>
              </a:tblGrid>
              <a:tr h="676275">
                <a:tc>
                  <a:txBody>
                    <a:bodyPr/>
                    <a:lstStyle/>
                    <a:p>
                      <a:r>
                        <a:rPr sz="1725" b="1">
                          <a:solidFill>
                            <a:srgbClr val="183542"/>
                          </a:solidFill>
                          <a:latin typeface="Helvetica Neue"/>
                          <a:ea typeface="Helvetica Neue"/>
                          <a:cs typeface="Helvetica Neue"/>
                        </a:rPr>
                        <a:t>After the first version</a:t>
                      </a:r>
                    </a:p>
                  </a:txBody>
                  <a:tcPr marL="142875" marR="142875" marT="85725" marB="85725" anchor="ctr">
                    <a:solidFill>
                      <a:srgbClr val="E8F0F1"/>
                    </a:solidFill>
                  </a:tcPr>
                </a:tc>
                <a:tc>
                  <a:txBody>
                    <a:bodyPr/>
                    <a:lstStyle/>
                    <a:p>
                      <a:r>
                        <a:rPr sz="1725" b="1">
                          <a:solidFill>
                            <a:srgbClr val="183542"/>
                          </a:solidFill>
                          <a:latin typeface="Helvetica Neue"/>
                          <a:ea typeface="Helvetica Neue"/>
                          <a:cs typeface="Helvetica Neue"/>
                        </a:rPr>
                        <a:t>Verified follow-up status</a:t>
                      </a:r>
                    </a:p>
                  </a:txBody>
                  <a:tcPr marL="142875" marR="142875" marT="85725" marB="85725" anchor="ctr">
                    <a:solidFill>
                      <a:srgbClr val="E8F0F1"/>
                    </a:solidFill>
                  </a:tcPr>
                </a:tc>
              </a:tr>
              <a:tr h="676275">
                <a:tc>
                  <a:txBody>
                    <a:bodyPr/>
                    <a:lstStyle/>
                    <a:p>
                      <a:r>
                        <a:rPr sz="1725">
                          <a:solidFill>
                            <a:srgbClr val="183542"/>
                          </a:solidFill>
                          <a:latin typeface="Helvetica Neue"/>
                          <a:ea typeface="Helvetica Neue"/>
                          <a:cs typeface="Helvetica Neue"/>
                        </a:rPr>
                        <a:t>CPU / GPU / memory UI</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Added and verified. RAM is shared system memory.</a:t>
                      </a:r>
                    </a:p>
                  </a:txBody>
                  <a:tcPr marL="142875" marR="142875" marT="85725" marB="85725" anchor="ctr">
                    <a:solidFill>
                      <a:srgbClr val="FFFFFF"/>
                    </a:solidFill>
                  </a:tcPr>
                </a:tc>
              </a:tr>
              <a:tr h="676275">
                <a:tc>
                  <a:txBody>
                    <a:bodyPr/>
                    <a:lstStyle/>
                    <a:p>
                      <a:r>
                        <a:rPr sz="1725">
                          <a:solidFill>
                            <a:srgbClr val="183542"/>
                          </a:solidFill>
                          <a:latin typeface="Helvetica Neue"/>
                          <a:ea typeface="Helvetica Neue"/>
                          <a:cs typeface="Helvetica Neue"/>
                        </a:rPr>
                        <a:t>Upstream prompt + token limit</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Matched the sample prompt and 512-token UI default.</a:t>
                      </a:r>
                    </a:p>
                  </a:txBody>
                  <a:tcPr marL="142875" marR="142875" marT="85725" marB="85725" anchor="ctr">
                    <a:solidFill>
                      <a:srgbClr val="FFFFFF"/>
                    </a:solidFill>
                  </a:tcPr>
                </a:tc>
              </a:tr>
              <a:tr h="676275">
                <a:tc>
                  <a:txBody>
                    <a:bodyPr/>
                    <a:lstStyle/>
                    <a:p>
                      <a:r>
                        <a:rPr sz="1725">
                          <a:solidFill>
                            <a:srgbClr val="183542"/>
                          </a:solidFill>
                          <a:latin typeface="Helvetica Neue"/>
                          <a:ea typeface="Helvetica Neue"/>
                          <a:cs typeface="Helvetica Neue"/>
                        </a:rPr>
                        <a:t>Direct Orin webpage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https://192.168.6.252:8443</a:t>
                      </a:r>
                    </a:p>
                    <a:p>
                      <a:r>
                        <a:rPr sz="1725">
                          <a:solidFill>
                            <a:srgbClr val="183542"/>
                          </a:solidFill>
                          <a:latin typeface="Helvetica Neue"/>
                          <a:ea typeface="Helvetica Neue"/>
                          <a:cs typeface="Helvetica Neue"/>
                        </a:rPr>
                        <a:t>HTTP now redirects to HTTPS for camera access.</a:t>
                      </a:r>
                    </a:p>
                  </a:txBody>
                  <a:tcPr marL="142875" marR="142875" marT="85725" marB="85725" anchor="ctr">
                    <a:solidFill>
                      <a:srgbClr val="FFFFFF"/>
                    </a:solidFill>
                  </a:tcPr>
                </a:tc>
              </a:tr>
              <a:tr h="676275">
                <a:tc>
                  <a:txBody>
                    <a:bodyPr/>
                    <a:lstStyle/>
                    <a:p>
                      <a:r>
                        <a:rPr sz="1725">
                          <a:solidFill>
                            <a:srgbClr val="183542"/>
                          </a:solidFill>
                          <a:latin typeface="Helvetica Neue"/>
                          <a:ea typeface="Helvetica Neue"/>
                          <a:cs typeface="Helvetica Neue"/>
                        </a:rPr>
                        <a:t>Capture comparison toggle</a:t>
                      </a:r>
                    </a:p>
                  </a:txBody>
                  <a:tcPr marL="142875" marR="142875" marT="85725" marB="85725" anchor="ctr">
                    <a:solidFill>
                      <a:srgbClr val="FFFFFF"/>
                    </a:solidFill>
                  </a:tcPr>
                </a:tc>
                <a:tc>
                  <a:txBody>
                    <a:bodyPr/>
                    <a:lstStyle/>
                    <a:p>
                      <a:r>
                        <a:rPr sz="1725">
                          <a:solidFill>
                            <a:srgbClr val="183542"/>
                          </a:solidFill>
                          <a:latin typeface="Helvetica Neue"/>
                          <a:ea typeface="Helvetica Neue"/>
                          <a:cs typeface="Helvetica Neue"/>
                        </a:rPr>
                        <a:t>Live VLM now defaults to full source / every 30 frames.</a:t>
                      </a:r>
                    </a:p>
                    <a:p>
                      <a:r>
                        <a:rPr sz="1725">
                          <a:solidFill>
                            <a:srgbClr val="183542"/>
                          </a:solidFill>
                          <a:latin typeface="Helvetica Neue"/>
                          <a:ea typeface="Helvetica Neue"/>
                          <a:cs typeface="Helvetica Neue"/>
                        </a:rPr>
                        <a:t>Lightweight retains the earlier capture settings.</a:t>
                      </a:r>
                    </a:p>
                  </a:txBody>
                  <a:tcPr marL="142875" marR="142875" marT="85725" marB="85725"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07D087A-97D9-48EF-93E4-85B626E87C5E}"/>
              </a:ext>
            </a:extLst>
          </p:cNvPr>
          <p:cNvSpPr>
            <a:spLocks xmlns:a="http://schemas.openxmlformats.org/drawingml/2006/main" noGrp="1"/>
          </p:cNvSpPr>
          <p:nvPr/>
        </p:nvSpPr>
        <p:spPr>
          <a:xfrm xmlns:a="http://schemas.openxmlformats.org/drawingml/2006/main">
            <a:off x="685800" y="602932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0">
                <a:solidFill>
                  <a:srgbClr val="566773"/>
                </a:solidFill>
                <a:latin typeface="Helvetica Neue"/>
                <a:ea typeface="Helvetica Neue"/>
                <a:cs typeface="Helvetica Neue"/>
              </a:defRPr>
            </a:pPr>
            <a:r>
              <a:rPr sz="1575" b="0">
                <a:solidFill>
                  <a:srgbClr val="566773"/>
                </a:solidFill>
                <a:latin typeface="Helvetica Neue"/>
                <a:ea typeface="Helvetica Neue"/>
                <a:cs typeface="Helvetica Neue"/>
              </a:rPr>
              <a:t>Camera access requires accepting the local certificate and granting permission.</a:t>
            </a:r>
          </a:p>
        </p:txBody>
      </p:sp>
    </p:spTree>
    <p:extLst>
      <p:ext uri="{BB962C8B-B14F-4D97-AF65-F5344CB8AC3E}">
        <p14:creationId xmlns:p14="http://schemas.microsoft.com/office/powerpoint/2010/main" val="4082743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9F7D195-943B-440F-92D7-7DCCF9BC2163}"/>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My initial assumptions and their limits</a:t>
            </a:r>
          </a:p>
        </p:txBody>
      </p:sp>
      <p:sp>
        <p:nvSpPr>
          <p:cNvPr id="2" name="">
            <a:extLst xmlns:a="http://schemas.openxmlformats.org/drawingml/2006/main">
              <a:ext uri="{FF2B5EF4-FFF2-40B4-BE49-F238E27FC236}">
                <a16:creationId xmlns:a16="http://schemas.microsoft.com/office/drawing/2014/main" id="{087DFCE4-82BD-4C56-B92E-D0EB1553514E}"/>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90E30BEF-AC42-4E5E-9F6D-55FA02E94B80}"/>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19</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2cb546b6683f440c"/>
          <a:stretch xmlns:a="http://schemas.openxmlformats.org/drawingml/2006/main"/>
        </p:blipFill>
        <p:spPr>
          <a:xfrm xmlns:a="http://schemas.openxmlformats.org/drawingml/2006/main">
            <a:off x="686402" y="1504950"/>
            <a:ext cx="5285170" cy="43529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CF5B75C-C301-4B61-8447-1FC9475D95BC}"/>
              </a:ext>
            </a:extLst>
          </p:cNvPr>
          <p:cNvSpPr>
            <a:spLocks xmlns:a="http://schemas.openxmlformats.org/drawingml/2006/main" noGrp="1"/>
          </p:cNvSpPr>
          <p:nvPr/>
        </p:nvSpPr>
        <p:spPr>
          <a:xfrm xmlns:a="http://schemas.openxmlformats.org/drawingml/2006/main">
            <a:off x="6400800" y="1552575"/>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My starting choices</a:t>
            </a:r>
          </a:p>
        </p:txBody>
      </p:sp>
      <p:sp>
        <p:nvSpPr>
          <p:cNvPr id="6" name="">
            <a:extLst xmlns:a="http://schemas.openxmlformats.org/drawingml/2006/main">
              <a:ext uri="{FF2B5EF4-FFF2-40B4-BE49-F238E27FC236}">
                <a16:creationId xmlns:a16="http://schemas.microsoft.com/office/drawing/2014/main" id="{759272F6-31C6-4EEE-8E2F-5999024603F9}"/>
              </a:ext>
            </a:extLst>
          </p:cNvPr>
          <p:cNvSpPr>
            <a:spLocks xmlns:a="http://schemas.openxmlformats.org/drawingml/2006/main" noGrp="1"/>
          </p:cNvSpPr>
          <p:nvPr/>
        </p:nvSpPr>
        <p:spPr>
          <a:xfrm xmlns:a="http://schemas.openxmlformats.org/drawingml/2006/main">
            <a:off x="6400800" y="2009775"/>
            <a:ext cx="51054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640×480 camera, ideal 15 FPS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512 px longest side, 1 s interval</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64 output tokens, temperature 0</a:t>
            </a:r>
          </a:p>
        </p:txBody>
      </p:sp>
      <p:sp>
        <p:nvSpPr>
          <p:cNvPr id="7" name="">
            <a:extLst xmlns:a="http://schemas.openxmlformats.org/drawingml/2006/main">
              <a:ext uri="{FF2B5EF4-FFF2-40B4-BE49-F238E27FC236}">
                <a16:creationId xmlns:a16="http://schemas.microsoft.com/office/drawing/2014/main" id="{7C66F5C0-1761-4C3D-B377-608EF516B24F}"/>
              </a:ext>
            </a:extLst>
          </p:cNvPr>
          <p:cNvSpPr>
            <a:spLocks xmlns:a="http://schemas.openxmlformats.org/drawingml/2006/main" noGrp="1"/>
          </p:cNvSpPr>
          <p:nvPr/>
        </p:nvSpPr>
        <p:spPr>
          <a:xfrm xmlns:a="http://schemas.openxmlformats.org/drawingml/2006/main">
            <a:off x="6400800" y="3267075"/>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Working hypothesis</a:t>
            </a:r>
          </a:p>
        </p:txBody>
      </p:sp>
      <p:sp>
        <p:nvSpPr>
          <p:cNvPr id="8" name="">
            <a:extLst xmlns:a="http://schemas.openxmlformats.org/drawingml/2006/main">
              <a:ext uri="{FF2B5EF4-FFF2-40B4-BE49-F238E27FC236}">
                <a16:creationId xmlns:a16="http://schemas.microsoft.com/office/drawing/2014/main" id="{2833EF6E-08E9-49F2-8673-0012F0BC9468}"/>
              </a:ext>
            </a:extLst>
          </p:cNvPr>
          <p:cNvSpPr>
            <a:spLocks xmlns:a="http://schemas.openxmlformats.org/drawingml/2006/main" noGrp="1"/>
          </p:cNvSpPr>
          <p:nvPr/>
        </p:nvSpPr>
        <p:spPr>
          <a:xfrm xmlns:a="http://schemas.openxmlformats.org/drawingml/2006/main">
            <a:off x="6400800" y="3724275"/>
            <a:ext cx="5105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Capped frames and resident inference would reduce backlog and setup overhead.</a:t>
            </a:r>
          </a:p>
        </p:txBody>
      </p:sp>
      <p:sp>
        <p:nvSpPr>
          <p:cNvPr id="9" name="">
            <a:extLst xmlns:a="http://schemas.openxmlformats.org/drawingml/2006/main">
              <a:ext uri="{FF2B5EF4-FFF2-40B4-BE49-F238E27FC236}">
                <a16:creationId xmlns:a16="http://schemas.microsoft.com/office/drawing/2014/main" id="{C9CD2CC3-7BA9-4384-9A86-627244CA1F8F}"/>
              </a:ext>
            </a:extLst>
          </p:cNvPr>
          <p:cNvSpPr>
            <a:spLocks xmlns:a="http://schemas.openxmlformats.org/drawingml/2006/main" noGrp="1"/>
          </p:cNvSpPr>
          <p:nvPr/>
        </p:nvSpPr>
        <p:spPr>
          <a:xfrm xmlns:a="http://schemas.openxmlformats.org/drawingml/2006/main">
            <a:off x="6400800" y="4686300"/>
            <a:ext cx="5105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Comparison gap</a:t>
            </a:r>
          </a:p>
        </p:txBody>
      </p:sp>
      <p:sp>
        <p:nvSpPr>
          <p:cNvPr id="10" name="">
            <a:extLst xmlns:a="http://schemas.openxmlformats.org/drawingml/2006/main">
              <a:ext uri="{FF2B5EF4-FFF2-40B4-BE49-F238E27FC236}">
                <a16:creationId xmlns:a16="http://schemas.microsoft.com/office/drawing/2014/main" id="{F5950F1E-6D41-4378-9147-D736D3258263}"/>
              </a:ext>
            </a:extLst>
          </p:cNvPr>
          <p:cNvSpPr>
            <a:spLocks xmlns:a="http://schemas.openxmlformats.org/drawingml/2006/main" noGrp="1"/>
          </p:cNvSpPr>
          <p:nvPr/>
        </p:nvSpPr>
        <p:spPr>
          <a:xfrm xmlns:a="http://schemas.openxmlformats.org/drawingml/2006/main">
            <a:off x="6400800" y="5143500"/>
            <a:ext cx="5105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950" b="0">
                <a:solidFill>
                  <a:srgbClr val="183542"/>
                </a:solidFill>
                <a:latin typeface="Helvetica Neue"/>
                <a:ea typeface="Helvetica Neue"/>
                <a:cs typeface="Helvetica Neue"/>
              </a:defRPr>
            </a:pPr>
            <a:r>
              <a:rPr sz="1950" b="0">
                <a:solidFill>
                  <a:srgbClr val="183542"/>
                </a:solidFill>
                <a:latin typeface="Helvetica Neue"/>
                <a:ea typeface="Helvetica Neue"/>
                <a:cs typeface="Helvetica Neue"/>
              </a:rPr>
              <a:t>I had not matched Live VLM’s default workload before running the search.</a:t>
            </a:r>
          </a:p>
        </p:txBody>
      </p:sp>
      <p:sp>
        <p:nvSpPr>
          <p:cNvPr id="11" name="">
            <a:extLst xmlns:a="http://schemas.openxmlformats.org/drawingml/2006/main">
              <a:ext uri="{FF2B5EF4-FFF2-40B4-BE49-F238E27FC236}">
                <a16:creationId xmlns:a16="http://schemas.microsoft.com/office/drawing/2014/main" id="{4D355B8A-7F75-4234-B60B-158158106D5D}"/>
              </a:ext>
            </a:extLst>
          </p:cNvPr>
          <p:cNvSpPr>
            <a:spLocks xmlns:a="http://schemas.openxmlformats.org/drawingml/2006/main" noGrp="1"/>
          </p:cNvSpPr>
          <p:nvPr/>
        </p:nvSpPr>
        <p:spPr>
          <a:xfrm xmlns:a="http://schemas.openxmlformats.org/drawingml/2006/main">
            <a:off x="685800" y="60102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650" b="0">
                <a:solidFill>
                  <a:srgbClr val="566773"/>
                </a:solidFill>
                <a:latin typeface="Helvetica Neue"/>
                <a:ea typeface="Helvetica Neue"/>
                <a:cs typeface="Helvetica Neue"/>
              </a:defRPr>
            </a:pPr>
            <a:r>
              <a:rPr sz="1650" b="0">
                <a:solidFill>
                  <a:srgbClr val="566773"/>
                </a:solidFill>
                <a:latin typeface="Helvetica Neue"/>
                <a:ea typeface="Helvetica Neue"/>
                <a:cs typeface="Helvetica Neue"/>
              </a:rPr>
              <a:t>Initial preview before backend readiness. The claimed overhead benefit was a hypothesis.</a:t>
            </a:r>
          </a:p>
        </p:txBody>
      </p:sp>
    </p:spTree>
    <p:extLst>
      <p:ext uri="{BB962C8B-B14F-4D97-AF65-F5344CB8AC3E}">
        <p14:creationId xmlns:p14="http://schemas.microsoft.com/office/powerpoint/2010/main" val="172955768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F8F4F6E-2931-4EBE-A2C6-1DDDE4154280}"/>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Your steering changed the comparison settings</a:t>
            </a:r>
          </a:p>
        </p:txBody>
      </p:sp>
      <p:sp>
        <p:nvSpPr>
          <p:cNvPr id="2" name="">
            <a:extLst xmlns:a="http://schemas.openxmlformats.org/drawingml/2006/main">
              <a:ext uri="{FF2B5EF4-FFF2-40B4-BE49-F238E27FC236}">
                <a16:creationId xmlns:a16="http://schemas.microsoft.com/office/drawing/2014/main" id="{112EE749-1756-4821-9EF8-4D92EE981A3C}"/>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E476F57F-C5DD-4786-9B4C-BD465D79E68A}"/>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20</a:t>
            </a:r>
          </a:p>
        </p:txBody>
      </p:sp>
      <p:sp>
        <p:nvSpPr>
          <p:cNvPr id="4" name="">
            <a:extLst xmlns:a="http://schemas.openxmlformats.org/drawingml/2006/main">
              <a:ext uri="{FF2B5EF4-FFF2-40B4-BE49-F238E27FC236}">
                <a16:creationId xmlns:a16="http://schemas.microsoft.com/office/drawing/2014/main" id="{E2D14282-6D93-49F9-A959-5E8C3CE99825}"/>
              </a:ext>
            </a:extLst>
          </p:cNvPr>
          <p:cNvSpPr>
            <a:spLocks xmlns:a="http://schemas.openxmlformats.org/drawingml/2006/main" noGrp="1"/>
          </p:cNvSpPr>
          <p:nvPr/>
        </p:nvSpPr>
        <p:spPr>
          <a:xfrm xmlns:a="http://schemas.openxmlformats.org/drawingml/2006/main">
            <a:off x="685800" y="138112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146875"/>
                </a:solidFill>
                <a:latin typeface="Helvetica Neue"/>
                <a:ea typeface="Helvetica Neue"/>
                <a:cs typeface="Helvetica Neue"/>
              </a:defRPr>
            </a:pPr>
            <a:r>
              <a:rPr sz="2250" b="1">
                <a:solidFill>
                  <a:srgbClr val="146875"/>
                </a:solidFill>
                <a:latin typeface="Helvetica Neue"/>
                <a:ea typeface="Helvetica Neue"/>
                <a:cs typeface="Helvetica Neue"/>
              </a:rPr>
              <a:t>“Make the Live VLM WebUI default”</a:t>
            </a:r>
          </a:p>
        </p:txBody>
      </p:sp>
      <p:graphicFrame>
        <p:nvGraphicFramePr>
          <p:cNvPr id="14" name=""/>
          <p:cNvGraphicFramePr/>
          <p:nvPr/>
        </p:nvGraphicFramePr>
        <p:xfrm>
          <a:off xmlns:a="http://schemas.openxmlformats.org/drawingml/2006/main" x="685800" y="1952625"/>
          <a:ext xmlns:a="http://schemas.openxmlformats.org/drawingml/2006/main" cx="10820400" cy="3467100"/>
        </p:xfrm>
        <a:graphic xmlns:a="http://schemas.openxmlformats.org/drawingml/2006/main">
          <a:graphicData uri="http://schemas.openxmlformats.org/drawingml/2006/table">
            <a:tbl>
              <a:tblPr firstRow="1" bandRow="0"/>
              <a:tblGrid>
                <a:gridCol w="2381250"/>
                <a:gridCol w="3781425"/>
                <a:gridCol w="4657725"/>
              </a:tblGrid>
              <a:tr h="495300">
                <a:tc>
                  <a:txBody>
                    <a:bodyPr/>
                    <a:lstStyle/>
                    <a:p>
                      <a:r>
                        <a:rPr sz="1725" b="1">
                          <a:solidFill>
                            <a:srgbClr val="183542"/>
                          </a:solidFill>
                          <a:latin typeface="Helvetica Neue"/>
                          <a:ea typeface="Helvetica Neue"/>
                          <a:cs typeface="Helvetica Neue"/>
                        </a:rPr>
                        <a:t>Setting</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My initial defaults</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Defaults after your steering</a:t>
                      </a:r>
                    </a:p>
                  </a:txBody>
                  <a:tcPr marL="142875" marR="142875" marT="76200" marB="76200" anchor="ctr">
                    <a:solidFill>
                      <a:srgbClr val="E8F0F1"/>
                    </a:solidFill>
                  </a:tcPr>
                </a:tc>
              </a:tr>
              <a:tr h="495300">
                <a:tc>
                  <a:txBody>
                    <a:bodyPr/>
                    <a:lstStyle/>
                    <a:p>
                      <a:r>
                        <a:rPr sz="1725">
                          <a:solidFill>
                            <a:srgbClr val="183542"/>
                          </a:solidFill>
                          <a:latin typeface="Helvetica Neue"/>
                          <a:ea typeface="Helvetica Neue"/>
                          <a:cs typeface="Helvetica Neue"/>
                        </a:rPr>
                        <a:t>Camera request</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640×480, ideal 15 FPS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1280×720, no FPS constraint</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Sent image</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512 px longest side</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Preserve full source dimensions</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Capture cadence</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 s minimum, after answer</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Every 30 frames, skip while busy</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JPEG quality</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Browser 0.8</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Browser 0.75, nominal match</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Output ceiling</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64 tokens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512 tokens</a:t>
                      </a:r>
                    </a:p>
                  </a:txBody>
                  <a:tcPr marL="142875" marR="142875" marT="76200" marB="76200" anchor="ctr">
                    <a:solidFill>
                      <a:srgbClr val="FFFFFF"/>
                    </a:solidFill>
                  </a:tcPr>
                </a:tc>
              </a:tr>
              <a:tr h="495300">
                <a:tc>
                  <a:txBody>
                    <a:bodyPr/>
                    <a:lstStyle/>
                    <a:p>
                      <a:r>
                        <a:rPr sz="1725">
                          <a:solidFill>
                            <a:srgbClr val="183542"/>
                          </a:solidFill>
                          <a:latin typeface="Helvetica Neue"/>
                          <a:ea typeface="Helvetica Neue"/>
                          <a:cs typeface="Helvetica Neue"/>
                        </a:rPr>
                        <a:t>Generation</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Temperature 0, greedy</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Temperature 0.7</a:t>
                      </a:r>
                    </a:p>
                  </a:txBody>
                  <a:tcPr marL="142875" marR="142875"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D7DE6C0-CCAB-4EA1-9918-C7F88C825D55}"/>
              </a:ext>
            </a:extLst>
          </p:cNvPr>
          <p:cNvSpPr>
            <a:spLocks xmlns:a="http://schemas.openxmlformats.org/drawingml/2006/main" noGrp="1"/>
          </p:cNvSpPr>
          <p:nvPr/>
        </p:nvSpPr>
        <p:spPr>
          <a:xfrm xmlns:a="http://schemas.openxmlformats.org/drawingml/2006/main">
            <a:off x="685800" y="56578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46875"/>
                </a:solidFill>
                <a:latin typeface="Helvetica Neue"/>
                <a:ea typeface="Helvetica Neue"/>
                <a:cs typeface="Helvetica Neue"/>
              </a:defRPr>
            </a:pPr>
            <a:r>
              <a:rPr sz="1875" b="0">
                <a:solidFill>
                  <a:srgbClr val="146875"/>
                </a:solidFill>
                <a:latin typeface="Helvetica Neue"/>
                <a:ea typeface="Helvetica Neue"/>
                <a:cs typeface="Helvetica Neue"/>
              </a:rPr>
              <a:t>Prompt now: “Describe what you see in this image in one sentence.”</a:t>
            </a:r>
          </a:p>
        </p:txBody>
      </p:sp>
      <p:sp>
        <p:nvSpPr>
          <p:cNvPr id="7" name="">
            <a:extLst xmlns:a="http://schemas.openxmlformats.org/drawingml/2006/main">
              <a:ext uri="{FF2B5EF4-FFF2-40B4-BE49-F238E27FC236}">
                <a16:creationId xmlns:a16="http://schemas.microsoft.com/office/drawing/2014/main" id="{D4ADAEC4-5A8D-483A-B3AC-9344D0639BCB}"/>
              </a:ext>
            </a:extLst>
          </p:cNvPr>
          <p:cNvSpPr>
            <a:spLocks xmlns:a="http://schemas.openxmlformats.org/drawingml/2006/main" noGrp="1"/>
          </p:cNvSpPr>
          <p:nvPr/>
        </p:nvSpPr>
        <p:spPr>
          <a:xfrm xmlns:a="http://schemas.openxmlformats.org/drawingml/2006/main">
            <a:off x="685800" y="60579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0">
                <a:solidFill>
                  <a:srgbClr val="566773"/>
                </a:solidFill>
                <a:latin typeface="Helvetica Neue"/>
                <a:ea typeface="Helvetica Neue"/>
                <a:cs typeface="Helvetica Neue"/>
              </a:defRPr>
            </a:pPr>
            <a:r>
              <a:rPr sz="1575" b="0">
                <a:solidFill>
                  <a:srgbClr val="566773"/>
                </a:solidFill>
                <a:latin typeface="Helvetica Neue"/>
                <a:ea typeface="Helvetica Neue"/>
                <a:cs typeface="Helvetica Neue"/>
              </a:rPr>
              <a:t>The toggle retains Lightweight. Encoding, transport and timing boundaries still differ.</a:t>
            </a:r>
          </a:p>
        </p:txBody>
      </p:sp>
    </p:spTree>
    <p:extLst>
      <p:ext uri="{BB962C8B-B14F-4D97-AF65-F5344CB8AC3E}">
        <p14:creationId xmlns:p14="http://schemas.microsoft.com/office/powerpoint/2010/main" val="49624411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D4D53C9-C461-44F6-8006-53A06FE0F05F}"/>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Recorded “before”: Live VLM default preset</a:t>
            </a:r>
          </a:p>
        </p:txBody>
      </p:sp>
      <p:sp>
        <p:nvSpPr>
          <p:cNvPr id="2" name="">
            <a:extLst xmlns:a="http://schemas.openxmlformats.org/drawingml/2006/main">
              <a:ext uri="{FF2B5EF4-FFF2-40B4-BE49-F238E27FC236}">
                <a16:creationId xmlns:a16="http://schemas.microsoft.com/office/drawing/2014/main" id="{9519E4C6-18D4-4123-87BF-CEE4644704D0}"/>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6D7D4591-ED69-4EFD-8D8E-C2D113A69A04}"/>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21</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7fb7db4037fb4993"/>
          <a:stretch xmlns:a="http://schemas.openxmlformats.org/drawingml/2006/main"/>
        </p:blipFill>
        <p:spPr>
          <a:xfrm xmlns:a="http://schemas.openxmlformats.org/drawingml/2006/main">
            <a:off x="690181" y="1562100"/>
            <a:ext cx="7515988" cy="4705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E20F7AE-22D5-4686-88CD-E9471DB9B2B3}"/>
              </a:ext>
            </a:extLst>
          </p:cNvPr>
          <p:cNvSpPr>
            <a:spLocks xmlns:a="http://schemas.openxmlformats.org/drawingml/2006/main" noGrp="1"/>
          </p:cNvSpPr>
          <p:nvPr/>
        </p:nvSpPr>
        <p:spPr>
          <a:xfrm xmlns:a="http://schemas.openxmlformats.org/drawingml/2006/main">
            <a:off x="8591550" y="1600200"/>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Clip 00:00:05.808</a:t>
            </a:r>
          </a:p>
        </p:txBody>
      </p:sp>
      <p:sp>
        <p:nvSpPr>
          <p:cNvPr id="6" name="">
            <a:extLst xmlns:a="http://schemas.openxmlformats.org/drawingml/2006/main">
              <a:ext uri="{FF2B5EF4-FFF2-40B4-BE49-F238E27FC236}">
                <a16:creationId xmlns:a16="http://schemas.microsoft.com/office/drawing/2014/main" id="{9987D5D2-B510-4054-A990-31B098F2A932}"/>
              </a:ext>
            </a:extLst>
          </p:cNvPr>
          <p:cNvSpPr>
            <a:spLocks xmlns:a="http://schemas.openxmlformats.org/drawingml/2006/main" noGrp="1"/>
          </p:cNvSpPr>
          <p:nvPr/>
        </p:nvSpPr>
        <p:spPr>
          <a:xfrm xmlns:a="http://schemas.openxmlformats.org/drawingml/2006/main">
            <a:off x="8591550" y="2057400"/>
            <a:ext cx="291465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1280×720 sent</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30.0 FPS camera label</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Live VLM default selected</a:t>
            </a:r>
          </a:p>
        </p:txBody>
      </p:sp>
      <p:sp>
        <p:nvSpPr>
          <p:cNvPr id="7" name="">
            <a:extLst xmlns:a="http://schemas.openxmlformats.org/drawingml/2006/main">
              <a:ext uri="{FF2B5EF4-FFF2-40B4-BE49-F238E27FC236}">
                <a16:creationId xmlns:a16="http://schemas.microsoft.com/office/drawing/2014/main" id="{F6B32CBF-C570-4392-8A48-2046157E8075}"/>
              </a:ext>
            </a:extLst>
          </p:cNvPr>
          <p:cNvSpPr>
            <a:spLocks xmlns:a="http://schemas.openxmlformats.org/drawingml/2006/main" noGrp="1"/>
          </p:cNvSpPr>
          <p:nvPr/>
        </p:nvSpPr>
        <p:spPr>
          <a:xfrm xmlns:a="http://schemas.openxmlformats.org/drawingml/2006/main">
            <a:off x="8591550" y="3467100"/>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Visible timing</a:t>
            </a:r>
          </a:p>
        </p:txBody>
      </p:sp>
      <p:sp>
        <p:nvSpPr>
          <p:cNvPr id="8" name="">
            <a:extLst xmlns:a="http://schemas.openxmlformats.org/drawingml/2006/main">
              <a:ext uri="{FF2B5EF4-FFF2-40B4-BE49-F238E27FC236}">
                <a16:creationId xmlns:a16="http://schemas.microsoft.com/office/drawing/2014/main" id="{5FFD5F68-EC76-4026-B457-F4515C8D6604}"/>
              </a:ext>
            </a:extLst>
          </p:cNvPr>
          <p:cNvSpPr>
            <a:spLocks xmlns:a="http://schemas.openxmlformats.org/drawingml/2006/main" noGrp="1"/>
          </p:cNvSpPr>
          <p:nvPr/>
        </p:nvSpPr>
        <p:spPr>
          <a:xfrm xmlns:a="http://schemas.openxmlformats.org/drawingml/2006/main">
            <a:off x="8591550" y="3924300"/>
            <a:ext cx="2914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First text: 812 ms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Complete: 1.44 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Frame age: 1.55 s</a:t>
            </a:r>
          </a:p>
        </p:txBody>
      </p:sp>
      <p:sp>
        <p:nvSpPr>
          <p:cNvPr id="9" name="">
            <a:extLst xmlns:a="http://schemas.openxmlformats.org/drawingml/2006/main">
              <a:ext uri="{FF2B5EF4-FFF2-40B4-BE49-F238E27FC236}">
                <a16:creationId xmlns:a16="http://schemas.microsoft.com/office/drawing/2014/main" id="{A1740246-381A-45A2-A9E8-048899EBDD77}"/>
              </a:ext>
            </a:extLst>
          </p:cNvPr>
          <p:cNvSpPr>
            <a:spLocks xmlns:a="http://schemas.openxmlformats.org/drawingml/2006/main" noGrp="1"/>
          </p:cNvSpPr>
          <p:nvPr/>
        </p:nvSpPr>
        <p:spPr>
          <a:xfrm xmlns:a="http://schemas.openxmlformats.org/drawingml/2006/main">
            <a:off x="8591550" y="5276850"/>
            <a:ext cx="2914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Resource values and the token limit are outside the viewport.</a:t>
            </a:r>
          </a:p>
        </p:txBody>
      </p:sp>
    </p:spTree>
    <p:extLst>
      <p:ext uri="{BB962C8B-B14F-4D97-AF65-F5344CB8AC3E}">
        <p14:creationId xmlns:p14="http://schemas.microsoft.com/office/powerpoint/2010/main" val="5440459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6ADE427-BEBF-4A55-8432-A241D04754A2}"/>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The “before” evidence includes model limits</a:t>
            </a:r>
          </a:p>
        </p:txBody>
      </p:sp>
      <p:sp>
        <p:nvSpPr>
          <p:cNvPr id="2" name="">
            <a:extLst xmlns:a="http://schemas.openxmlformats.org/drawingml/2006/main">
              <a:ext uri="{FF2B5EF4-FFF2-40B4-BE49-F238E27FC236}">
                <a16:creationId xmlns:a16="http://schemas.microsoft.com/office/drawing/2014/main" id="{9A684B37-AD6E-41B6-A35E-E8537420F507}"/>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E89CCFA2-E304-4F8C-985D-97F74D77088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22</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e317bb673c31406f"/>
          <a:stretch xmlns:a="http://schemas.openxmlformats.org/drawingml/2006/main"/>
        </p:blipFill>
        <p:spPr>
          <a:xfrm xmlns:a="http://schemas.openxmlformats.org/drawingml/2006/main">
            <a:off x="690181" y="1562100"/>
            <a:ext cx="7515988" cy="47053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495AD8AE-616F-4008-A4AC-586567B2F3B5}"/>
              </a:ext>
            </a:extLst>
          </p:cNvPr>
          <p:cNvSpPr>
            <a:spLocks xmlns:a="http://schemas.openxmlformats.org/drawingml/2006/main" noGrp="1"/>
          </p:cNvSpPr>
          <p:nvPr/>
        </p:nvSpPr>
        <p:spPr>
          <a:xfrm xmlns:a="http://schemas.openxmlformats.org/drawingml/2006/main">
            <a:off x="8591550" y="1600200"/>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Clip 00:00:09.842</a:t>
            </a:r>
          </a:p>
        </p:txBody>
      </p:sp>
      <p:sp>
        <p:nvSpPr>
          <p:cNvPr id="6" name="">
            <a:extLst xmlns:a="http://schemas.openxmlformats.org/drawingml/2006/main">
              <a:ext uri="{FF2B5EF4-FFF2-40B4-BE49-F238E27FC236}">
                <a16:creationId xmlns:a16="http://schemas.microsoft.com/office/drawing/2014/main" id="{AD8FA4A1-708C-41BA-847B-B6EE31D1F4B3}"/>
              </a:ext>
            </a:extLst>
          </p:cNvPr>
          <p:cNvSpPr>
            <a:spLocks xmlns:a="http://schemas.openxmlformats.org/drawingml/2006/main" noGrp="1"/>
          </p:cNvSpPr>
          <p:nvPr/>
        </p:nvSpPr>
        <p:spPr>
          <a:xfrm xmlns:a="http://schemas.openxmlformats.org/drawingml/2006/main">
            <a:off x="8591550" y="2057400"/>
            <a:ext cx="29146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First text: 612 ms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Complete: 1.43 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Frame age: 1.56 s</a:t>
            </a:r>
          </a:p>
        </p:txBody>
      </p:sp>
      <p:sp>
        <p:nvSpPr>
          <p:cNvPr id="7" name="">
            <a:extLst xmlns:a="http://schemas.openxmlformats.org/drawingml/2006/main">
              <a:ext uri="{FF2B5EF4-FFF2-40B4-BE49-F238E27FC236}">
                <a16:creationId xmlns:a16="http://schemas.microsoft.com/office/drawing/2014/main" id="{63FB284C-4A21-4D68-BC87-81BD724C9BB9}"/>
              </a:ext>
            </a:extLst>
          </p:cNvPr>
          <p:cNvSpPr>
            <a:spLocks xmlns:a="http://schemas.openxmlformats.org/drawingml/2006/main" noGrp="1"/>
          </p:cNvSpPr>
          <p:nvPr/>
        </p:nvSpPr>
        <p:spPr>
          <a:xfrm xmlns:a="http://schemas.openxmlformats.org/drawingml/2006/main">
            <a:off x="8591550" y="3438525"/>
            <a:ext cx="2914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Inferred action</a:t>
            </a:r>
          </a:p>
        </p:txBody>
      </p:sp>
      <p:sp>
        <p:nvSpPr>
          <p:cNvPr id="8" name="">
            <a:extLst xmlns:a="http://schemas.openxmlformats.org/drawingml/2006/main">
              <a:ext uri="{FF2B5EF4-FFF2-40B4-BE49-F238E27FC236}">
                <a16:creationId xmlns:a16="http://schemas.microsoft.com/office/drawing/2014/main" id="{750D085B-20C3-4739-9F1A-1B8C1A72349A}"/>
              </a:ext>
            </a:extLst>
          </p:cNvPr>
          <p:cNvSpPr>
            <a:spLocks xmlns:a="http://schemas.openxmlformats.org/drawingml/2006/main" noGrp="1"/>
          </p:cNvSpPr>
          <p:nvPr/>
        </p:nvSpPr>
        <p:spPr>
          <a:xfrm xmlns:a="http://schemas.openxmlformats.org/drawingml/2006/main">
            <a:off x="8591550" y="3895725"/>
            <a:ext cx="29146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The answer adds</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“as if to scratch it”.</a:t>
            </a:r>
          </a:p>
          <a:p xmlns:a="http://schemas.openxmlformats.org/drawingml/2006/main">
            <a:pPr>
              <a:buNone/>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The image does not establish that action.</a:t>
            </a:r>
          </a:p>
        </p:txBody>
      </p:sp>
      <p:sp>
        <p:nvSpPr>
          <p:cNvPr id="9" name="">
            <a:extLst xmlns:a="http://schemas.openxmlformats.org/drawingml/2006/main">
              <a:ext uri="{FF2B5EF4-FFF2-40B4-BE49-F238E27FC236}">
                <a16:creationId xmlns:a16="http://schemas.microsoft.com/office/drawing/2014/main" id="{2AC91AB6-32CF-4B1C-85E4-673B1B5C86FE}"/>
              </a:ext>
            </a:extLst>
          </p:cNvPr>
          <p:cNvSpPr>
            <a:spLocks xmlns:a="http://schemas.openxmlformats.org/drawingml/2006/main" noGrp="1"/>
          </p:cNvSpPr>
          <p:nvPr/>
        </p:nvSpPr>
        <p:spPr>
          <a:xfrm xmlns:a="http://schemas.openxmlformats.org/drawingml/2006/main">
            <a:off x="8591550" y="5581650"/>
            <a:ext cx="2914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Individual observation. No accuracy rate inferred.</a:t>
            </a:r>
          </a:p>
        </p:txBody>
      </p:sp>
    </p:spTree>
    <p:extLst>
      <p:ext uri="{BB962C8B-B14F-4D97-AF65-F5344CB8AC3E}">
        <p14:creationId xmlns:p14="http://schemas.microsoft.com/office/powerpoint/2010/main" val="621369462"/>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BDE006-DE65-459F-837D-06D03DD19779}"/>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The goal seek retained corrected FP16</a:t>
            </a:r>
          </a:p>
        </p:txBody>
      </p:sp>
      <p:sp>
        <p:nvSpPr>
          <p:cNvPr id="2" name="">
            <a:extLst xmlns:a="http://schemas.openxmlformats.org/drawingml/2006/main">
              <a:ext uri="{FF2B5EF4-FFF2-40B4-BE49-F238E27FC236}">
                <a16:creationId xmlns:a16="http://schemas.microsoft.com/office/drawing/2014/main" id="{1E3DB2CB-9A81-4185-A91F-61602BF839AA}"/>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110BD879-EAAC-405B-B295-7DBB4EB24F94}"/>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23</a:t>
            </a:r>
          </a:p>
        </p:txBody>
      </p:sp>
      <p:sp>
        <p:nvSpPr>
          <p:cNvPr id="4" name="">
            <a:extLst xmlns:a="http://schemas.openxmlformats.org/drawingml/2006/main">
              <a:ext uri="{FF2B5EF4-FFF2-40B4-BE49-F238E27FC236}">
                <a16:creationId xmlns:a16="http://schemas.microsoft.com/office/drawing/2014/main" id="{417941D8-6AC7-49C8-B481-95FC87823E05}"/>
              </a:ext>
            </a:extLst>
          </p:cNvPr>
          <p:cNvSpPr>
            <a:spLocks xmlns:a="http://schemas.openxmlformats.org/drawingml/2006/main" noGrp="1"/>
          </p:cNvSpPr>
          <p:nvPr/>
        </p:nvSpPr>
        <p:spPr>
          <a:xfrm xmlns:a="http://schemas.openxmlformats.org/drawingml/2006/main">
            <a:off x="685800" y="13620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Earlier fixed workload: 512×512, 64-token ceiling, temperature 0</a:t>
            </a:r>
          </a:p>
        </p:txBody>
      </p:sp>
      <p:graphicFrame>
        <p:nvGraphicFramePr>
          <p:cNvPr id="13" name=""/>
          <p:cNvGraphicFramePr/>
          <p:nvPr/>
        </p:nvGraphicFramePr>
        <p:xfrm>
          <a:off xmlns:a="http://schemas.openxmlformats.org/drawingml/2006/main" x="685800" y="1990725"/>
          <a:ext xmlns:a="http://schemas.openxmlformats.org/drawingml/2006/main" cx="10820400" cy="3429000"/>
        </p:xfrm>
        <a:graphic xmlns:a="http://schemas.openxmlformats.org/drawingml/2006/main">
          <a:graphicData uri="http://schemas.openxmlformats.org/drawingml/2006/table">
            <a:tbl>
              <a:tblPr firstRow="1" bandRow="0"/>
              <a:tblGrid>
                <a:gridCol w="2714625"/>
                <a:gridCol w="1666875"/>
                <a:gridCol w="2095500"/>
                <a:gridCol w="4343400"/>
              </a:tblGrid>
              <a:tr h="685800">
                <a:tc>
                  <a:txBody>
                    <a:bodyPr/>
                    <a:lstStyle/>
                    <a:p>
                      <a:r>
                        <a:rPr sz="1725" b="1">
                          <a:solidFill>
                            <a:srgbClr val="183542"/>
                          </a:solidFill>
                          <a:latin typeface="Helvetica Neue"/>
                          <a:ea typeface="Helvetica Neue"/>
                          <a:cs typeface="Helvetica Neue"/>
                        </a:rPr>
                        <a:t>Candidate</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p50 answer</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Peak shared RAM</a:t>
                      </a:r>
                    </a:p>
                  </a:txBody>
                  <a:tcPr marL="142875" marR="142875" marT="76200" marB="76200" anchor="ctr">
                    <a:solidFill>
                      <a:srgbClr val="E8F0F1"/>
                    </a:solidFill>
                  </a:tcPr>
                </a:tc>
                <a:tc>
                  <a:txBody>
                    <a:bodyPr/>
                    <a:lstStyle/>
                    <a:p>
                      <a:r>
                        <a:rPr sz="1725" b="1">
                          <a:solidFill>
                            <a:srgbClr val="183542"/>
                          </a:solidFill>
                          <a:latin typeface="Helvetica Neue"/>
                          <a:ea typeface="Helvetica Neue"/>
                          <a:cs typeface="Helvetica Neue"/>
                        </a:rPr>
                        <a:t>Decision</a:t>
                      </a:r>
                    </a:p>
                  </a:txBody>
                  <a:tcPr marL="142875" marR="142875" marT="76200" marB="76200" anchor="ctr">
                    <a:solidFill>
                      <a:srgbClr val="E8F0F1"/>
                    </a:solidFill>
                  </a:tcPr>
                </a:tc>
              </a:tr>
              <a:tr h="685800">
                <a:tc>
                  <a:txBody>
                    <a:bodyPr/>
                    <a:lstStyle/>
                    <a:p>
                      <a:r>
                        <a:rPr sz="1725">
                          <a:solidFill>
                            <a:srgbClr val="183542"/>
                          </a:solidFill>
                          <a:latin typeface="Helvetica Neue"/>
                          <a:ea typeface="Helvetica Neue"/>
                          <a:cs typeface="Helvetica Neue"/>
                        </a:rPr>
                        <a:t>FP16 reference</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1.830 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6.382 GiB</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Retained: reference-equivalent, 18/19 strict</a:t>
                      </a:r>
                    </a:p>
                  </a:txBody>
                  <a:tcPr marL="142875" marR="142875" marT="76200" marB="76200" anchor="ctr">
                    <a:solidFill>
                      <a:srgbClr val="FFFFFF"/>
                    </a:solidFill>
                  </a:tcPr>
                </a:tc>
              </a:tr>
              <a:tr h="685800">
                <a:tc>
                  <a:txBody>
                    <a:bodyPr/>
                    <a:lstStyle/>
                    <a:p>
                      <a:r>
                        <a:rPr sz="1725">
                          <a:solidFill>
                            <a:srgbClr val="183542"/>
                          </a:solidFill>
                          <a:latin typeface="Helvetica Neue"/>
                          <a:ea typeface="Helvetica Neue"/>
                          <a:cs typeface="Helvetica Neue"/>
                        </a:rPr>
                        <a:t>RTN INT4 all linears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1.229 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4.195 GiB</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Rejected: quality fell to 13/19</a:t>
                      </a:r>
                    </a:p>
                  </a:txBody>
                  <a:tcPr marL="142875" marR="142875" marT="76200" marB="76200" anchor="ctr">
                    <a:solidFill>
                      <a:srgbClr val="FFFFFF"/>
                    </a:solidFill>
                  </a:tcPr>
                </a:tc>
              </a:tr>
              <a:tr h="685800">
                <a:tc>
                  <a:txBody>
                    <a:bodyPr/>
                    <a:lstStyle/>
                    <a:p>
                      <a:r>
                        <a:rPr sz="1725">
                          <a:solidFill>
                            <a:srgbClr val="183542"/>
                          </a:solidFill>
                          <a:latin typeface="Helvetica Neue"/>
                          <a:ea typeface="Helvetica Neue"/>
                          <a:cs typeface="Helvetica Neue"/>
                        </a:rPr>
                        <a:t>RTN INT4 MLP only</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1.027 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5.014 GiB</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Rejected: new color error at 18/19</a:t>
                      </a:r>
                    </a:p>
                  </a:txBody>
                  <a:tcPr marL="142875" marR="142875" marT="76200" marB="76200" anchor="ctr">
                    <a:solidFill>
                      <a:srgbClr val="FFFFFF"/>
                    </a:solidFill>
                  </a:tcPr>
                </a:tc>
              </a:tr>
              <a:tr h="685800">
                <a:tc>
                  <a:txBody>
                    <a:bodyPr/>
                    <a:lstStyle/>
                    <a:p>
                      <a:r>
                        <a:rPr sz="1725">
                          <a:solidFill>
                            <a:srgbClr val="183542"/>
                          </a:solidFill>
                          <a:latin typeface="Helvetica Neue"/>
                          <a:ea typeface="Helvetica Neue"/>
                          <a:cs typeface="Helvetica Neue"/>
                        </a:rPr>
                        <a:t>FP16 fixed clocks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1.758 s</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6.353 GiB</a:t>
                      </a:r>
                    </a:p>
                  </a:txBody>
                  <a:tcPr marL="142875" marR="142875" marT="76200" marB="76200" anchor="ctr">
                    <a:solidFill>
                      <a:srgbClr val="FFFFFF"/>
                    </a:solidFill>
                  </a:tcPr>
                </a:tc>
                <a:tc>
                  <a:txBody>
                    <a:bodyPr/>
                    <a:lstStyle/>
                    <a:p>
                      <a:r>
                        <a:rPr sz="1725">
                          <a:solidFill>
                            <a:srgbClr val="183542"/>
                          </a:solidFill>
                          <a:latin typeface="Helvetica Neue"/>
                          <a:ea typeface="Helvetica Neue"/>
                          <a:cs typeface="Helvetica Neue"/>
                        </a:rPr>
                        <a:t>Rejected: &lt;5% gain and swap activity</a:t>
                      </a:r>
                    </a:p>
                  </a:txBody>
                  <a:tcPr marL="142875" marR="142875"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DD1AAE99-C48A-4ECF-8A48-7B5DA03014A4}"/>
              </a:ext>
            </a:extLst>
          </p:cNvPr>
          <p:cNvSpPr>
            <a:spLocks xmlns:a="http://schemas.openxmlformats.org/drawingml/2006/main" noGrp="1"/>
          </p:cNvSpPr>
          <p:nvPr/>
        </p:nvSpPr>
        <p:spPr>
          <a:xfrm xmlns:a="http://schemas.openxmlformats.org/drawingml/2006/main">
            <a:off x="685800" y="57245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1">
                <a:solidFill>
                  <a:srgbClr val="146875"/>
                </a:solidFill>
                <a:latin typeface="Helvetica Neue"/>
                <a:ea typeface="Helvetica Neue"/>
                <a:cs typeface="Helvetica Neue"/>
              </a:defRPr>
            </a:pPr>
            <a:r>
              <a:rPr sz="2025" b="1">
                <a:solidFill>
                  <a:srgbClr val="146875"/>
                </a:solidFill>
                <a:latin typeface="Helvetica Neue"/>
                <a:ea typeface="Helvetica Neue"/>
                <a:cs typeface="Helvetica Neue"/>
              </a:rPr>
              <a:t>Stop rule: 3 consecutive non-improvements. Four trials completed. No further trial ran.</a:t>
            </a:r>
          </a:p>
        </p:txBody>
      </p:sp>
    </p:spTree>
    <p:extLst>
      <p:ext uri="{BB962C8B-B14F-4D97-AF65-F5344CB8AC3E}">
        <p14:creationId xmlns:p14="http://schemas.microsoft.com/office/powerpoint/2010/main" val="1498570494"/>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87CEF96-A151-444D-8B51-AB94CAB14A21}"/>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Results after goal seek and the comparison limit</a:t>
            </a:r>
          </a:p>
        </p:txBody>
      </p:sp>
      <p:sp>
        <p:nvSpPr>
          <p:cNvPr id="2" name="">
            <a:extLst xmlns:a="http://schemas.openxmlformats.org/drawingml/2006/main">
              <a:ext uri="{FF2B5EF4-FFF2-40B4-BE49-F238E27FC236}">
                <a16:creationId xmlns:a16="http://schemas.microsoft.com/office/drawing/2014/main" id="{9F8388B6-9905-4798-844F-3FBC4901D9F8}"/>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Comparison follow-up, 2026-09-20</a:t>
            </a:r>
          </a:p>
        </p:txBody>
      </p:sp>
      <p:sp>
        <p:nvSpPr>
          <p:cNvPr id="3" name="">
            <a:extLst xmlns:a="http://schemas.openxmlformats.org/drawingml/2006/main">
              <a:ext uri="{FF2B5EF4-FFF2-40B4-BE49-F238E27FC236}">
                <a16:creationId xmlns:a16="http://schemas.microsoft.com/office/drawing/2014/main" id="{D03B939E-80EB-4942-BC4E-98045F12D308}"/>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24</a:t>
            </a:r>
          </a:p>
        </p:txBody>
      </p:sp>
      <p:sp>
        <p:nvSpPr>
          <p:cNvPr id="4" name="">
            <a:extLst xmlns:a="http://schemas.openxmlformats.org/drawingml/2006/main">
              <a:ext uri="{FF2B5EF4-FFF2-40B4-BE49-F238E27FC236}">
                <a16:creationId xmlns:a16="http://schemas.microsoft.com/office/drawing/2014/main" id="{5F891FCB-5ED0-425F-8E71-9ADA8BC06619}"/>
              </a:ext>
            </a:extLst>
          </p:cNvPr>
          <p:cNvSpPr>
            <a:spLocks xmlns:a="http://schemas.openxmlformats.org/drawingml/2006/main" noGrp="1"/>
          </p:cNvSpPr>
          <p:nvPr/>
        </p:nvSpPr>
        <p:spPr>
          <a:xfrm xmlns:a="http://schemas.openxmlformats.org/drawingml/2006/main">
            <a:off x="685800" y="1362075"/>
            <a:ext cx="108204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250" b="1">
                <a:solidFill>
                  <a:srgbClr val="146875"/>
                </a:solidFill>
                <a:latin typeface="Helvetica Neue"/>
                <a:ea typeface="Helvetica Neue"/>
                <a:cs typeface="Helvetica Neue"/>
              </a:defRPr>
            </a:pPr>
            <a:r>
              <a:rPr sz="2250" b="1">
                <a:solidFill>
                  <a:srgbClr val="146875"/>
                </a:solidFill>
                <a:latin typeface="Helvetica Neue"/>
                <a:ea typeface="Helvetica Neue"/>
                <a:cs typeface="Helvetica Neue"/>
              </a:rPr>
              <a:t>No candidate earned an accepted improvement. Corrected FP16 remains selected.</a:t>
            </a:r>
          </a:p>
        </p:txBody>
      </p:sp>
      <p:graphicFrame>
        <p:nvGraphicFramePr>
          <p:cNvPr id="14" name=""/>
          <p:cNvGraphicFramePr/>
          <p:nvPr/>
        </p:nvGraphicFramePr>
        <p:xfrm>
          <a:off xmlns:a="http://schemas.openxmlformats.org/drawingml/2006/main" x="685800" y="2247900"/>
          <a:ext xmlns:a="http://schemas.openxmlformats.org/drawingml/2006/main" cx="10820400" cy="2476500"/>
        </p:xfrm>
        <a:graphic xmlns:a="http://schemas.openxmlformats.org/drawingml/2006/main">
          <a:graphicData uri="http://schemas.openxmlformats.org/drawingml/2006/table">
            <a:tbl>
              <a:tblPr firstRow="1" bandRow="0"/>
              <a:tblGrid>
                <a:gridCol w="4762500"/>
                <a:gridCol w="6057900"/>
              </a:tblGrid>
              <a:tr h="619125">
                <a:tc>
                  <a:txBody>
                    <a:bodyPr/>
                    <a:lstStyle/>
                    <a:p>
                      <a:r>
                        <a:rPr sz="1950" b="1">
                          <a:solidFill>
                            <a:srgbClr val="183542"/>
                          </a:solidFill>
                          <a:latin typeface="Helvetica Neue"/>
                          <a:ea typeface="Helvetica Neue"/>
                          <a:cs typeface="Helvetica Neue"/>
                        </a:rPr>
                        <a:t>Final service verification</a:t>
                      </a:r>
                    </a:p>
                  </a:txBody>
                  <a:tcPr marL="142875" marR="142875" marT="76200" marB="76200" anchor="ctr">
                    <a:solidFill>
                      <a:srgbClr val="E8F0F1"/>
                    </a:solidFill>
                  </a:tcPr>
                </a:tc>
                <a:tc>
                  <a:txBody>
                    <a:bodyPr/>
                    <a:lstStyle/>
                    <a:p>
                      <a:r>
                        <a:rPr sz="1950" b="1">
                          <a:solidFill>
                            <a:srgbClr val="183542"/>
                          </a:solidFill>
                          <a:latin typeface="Helvetica Neue"/>
                          <a:ea typeface="Helvetica Neue"/>
                          <a:cs typeface="Helvetica Neue"/>
                        </a:rPr>
                        <a:t>Measured result</a:t>
                      </a:r>
                    </a:p>
                  </a:txBody>
                  <a:tcPr marL="142875" marR="142875" marT="76200" marB="76200" anchor="ctr">
                    <a:solidFill>
                      <a:srgbClr val="E8F0F1"/>
                    </a:solidFill>
                  </a:tcPr>
                </a:tc>
              </a:tr>
              <a:tr h="619125">
                <a:tc>
                  <a:txBody>
                    <a:bodyPr/>
                    <a:lstStyle/>
                    <a:p>
                      <a:r>
                        <a:rPr sz="1950">
                          <a:solidFill>
                            <a:srgbClr val="183542"/>
                          </a:solidFill>
                          <a:latin typeface="Helvetica Neue"/>
                          <a:ea typeface="Helvetica Neue"/>
                          <a:cs typeface="Helvetica Neue"/>
                        </a:rPr>
                        <a:t>p50 first text / complete answer</a:t>
                      </a:r>
                    </a:p>
                  </a:txBody>
                  <a:tcPr marL="142875" marR="142875" marT="76200" marB="76200" anchor="ctr">
                    <a:solidFill>
                      <a:srgbClr val="FFFFFF"/>
                    </a:solidFill>
                  </a:tcPr>
                </a:tc>
                <a:tc>
                  <a:txBody>
                    <a:bodyPr/>
                    <a:lstStyle/>
                    <a:p>
                      <a:r>
                        <a:rPr sz="1950">
                          <a:solidFill>
                            <a:srgbClr val="183542"/>
                          </a:solidFill>
                          <a:latin typeface="Helvetica Neue"/>
                          <a:ea typeface="Helvetica Neue"/>
                          <a:cs typeface="Helvetica Neue"/>
                        </a:rPr>
                        <a:t>265.5 ms / 1.826 s</a:t>
                      </a:r>
                    </a:p>
                  </a:txBody>
                  <a:tcPr marL="142875" marR="142875" marT="76200" marB="76200" anchor="ctr">
                    <a:solidFill>
                      <a:srgbClr val="FFFFFF"/>
                    </a:solidFill>
                  </a:tcPr>
                </a:tc>
              </a:tr>
              <a:tr h="619125">
                <a:tc>
                  <a:txBody>
                    <a:bodyPr/>
                    <a:lstStyle/>
                    <a:p>
                      <a:r>
                        <a:rPr sz="1950">
                          <a:solidFill>
                            <a:srgbClr val="183542"/>
                          </a:solidFill>
                          <a:latin typeface="Helvetica Neue"/>
                          <a:ea typeface="Helvetica Neue"/>
                          <a:cs typeface="Helvetica Neue"/>
                        </a:rPr>
                        <a:t>Peak shared system RAM</a:t>
                      </a:r>
                    </a:p>
                  </a:txBody>
                  <a:tcPr marL="142875" marR="142875" marT="76200" marB="76200" anchor="ctr">
                    <a:solidFill>
                      <a:srgbClr val="FFFFFF"/>
                    </a:solidFill>
                  </a:tcPr>
                </a:tc>
                <a:tc>
                  <a:txBody>
                    <a:bodyPr/>
                    <a:lstStyle/>
                    <a:p>
                      <a:r>
                        <a:rPr sz="1950">
                          <a:solidFill>
                            <a:srgbClr val="183542"/>
                          </a:solidFill>
                          <a:latin typeface="Helvetica Neue"/>
                          <a:ea typeface="Helvetica Neue"/>
                          <a:cs typeface="Helvetica Neue"/>
                        </a:rPr>
                        <a:t>6.435 GiB, includes CPU/GPU/OS</a:t>
                      </a:r>
                    </a:p>
                  </a:txBody>
                  <a:tcPr marL="142875" marR="142875" marT="76200" marB="76200" anchor="ctr">
                    <a:solidFill>
                      <a:srgbClr val="FFFFFF"/>
                    </a:solidFill>
                  </a:tcPr>
                </a:tc>
              </a:tr>
              <a:tr h="619125">
                <a:tc>
                  <a:txBody>
                    <a:bodyPr/>
                    <a:lstStyle/>
                    <a:p>
                      <a:r>
                        <a:rPr sz="1950">
                          <a:solidFill>
                            <a:srgbClr val="183542"/>
                          </a:solidFill>
                          <a:latin typeface="Helvetica Neue"/>
                          <a:ea typeface="Helvetica Neue"/>
                          <a:cs typeface="Helvetica Neue"/>
                        </a:rPr>
                        <a:t>API soak</a:t>
                      </a:r>
                    </a:p>
                  </a:txBody>
                  <a:tcPr marL="142875" marR="142875" marT="76200" marB="76200" anchor="ctr">
                    <a:solidFill>
                      <a:srgbClr val="FFFFFF"/>
                    </a:solidFill>
                  </a:tcPr>
                </a:tc>
                <a:tc>
                  <a:txBody>
                    <a:bodyPr/>
                    <a:lstStyle/>
                    <a:p>
                      <a:r>
                        <a:rPr sz="1950">
                          <a:solidFill>
                            <a:srgbClr val="183542"/>
                          </a:solidFill>
                          <a:latin typeface="Helvetica Neue"/>
                          <a:ea typeface="Helvetica Neue"/>
                          <a:cs typeface="Helvetica Neue"/>
                        </a:rPr>
                        <a:t>366 successful requests across 600.7 s</a:t>
                      </a:r>
                    </a:p>
                  </a:txBody>
                  <a:tcPr marL="142875" marR="142875"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1B08978-ED0F-44FB-842F-8B1B3711D66A}"/>
              </a:ext>
            </a:extLst>
          </p:cNvPr>
          <p:cNvSpPr>
            <a:spLocks xmlns:a="http://schemas.openxmlformats.org/drawingml/2006/main" noGrp="1"/>
          </p:cNvSpPr>
          <p:nvPr/>
        </p:nvSpPr>
        <p:spPr>
          <a:xfrm xmlns:a="http://schemas.openxmlformats.org/drawingml/2006/main">
            <a:off x="685800" y="50387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Chronology: optimization search, then your default-setting correction, then the recording.</a:t>
            </a:r>
          </a:p>
        </p:txBody>
      </p:sp>
      <p:sp>
        <p:nvSpPr>
          <p:cNvPr id="7" name="">
            <a:extLst xmlns:a="http://schemas.openxmlformats.org/drawingml/2006/main">
              <a:ext uri="{FF2B5EF4-FFF2-40B4-BE49-F238E27FC236}">
                <a16:creationId xmlns:a16="http://schemas.microsoft.com/office/drawing/2014/main" id="{073DCCA5-5C13-44EA-BEBC-E9807E83CFC7}"/>
              </a:ext>
            </a:extLst>
          </p:cNvPr>
          <p:cNvSpPr>
            <a:spLocks xmlns:a="http://schemas.openxmlformats.org/drawingml/2006/main" noGrp="1"/>
          </p:cNvSpPr>
          <p:nvPr/>
        </p:nvSpPr>
        <p:spPr>
          <a:xfrm xmlns:a="http://schemas.openxmlformats.org/drawingml/2006/main">
            <a:off x="685800" y="5772150"/>
            <a:ext cx="10820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A paired optimization result under the Live VLM defaults remains unmeasured.</a:t>
            </a:r>
          </a:p>
          <a:p xmlns:a="http://schemas.openxmlformats.org/drawingml/2006/main">
            <a:pPr>
              <a:buNone/>
              <a:defRPr sz="1800" b="0">
                <a:solidFill>
                  <a:srgbClr val="566773"/>
                </a:solidFill>
                <a:latin typeface="Helvetica Neue"/>
                <a:ea typeface="Helvetica Neue"/>
                <a:cs typeface="Helvetica Neue"/>
              </a:defRPr>
            </a:pPr>
            <a:r>
              <a:rPr sz="1800" b="0">
                <a:solidFill>
                  <a:srgbClr val="566773"/>
                </a:solidFill>
                <a:latin typeface="Helvetica Neue"/>
                <a:ea typeface="Helvetica Neue"/>
                <a:cs typeface="Helvetica Neue"/>
              </a:rPr>
              <a:t>The earlier 64-token benchmark cannot quantify a gain over your later recording.</a:t>
            </a:r>
          </a:p>
        </p:txBody>
      </p:sp>
    </p:spTree>
    <p:extLst>
      <p:ext uri="{BB962C8B-B14F-4D97-AF65-F5344CB8AC3E}">
        <p14:creationId xmlns:p14="http://schemas.microsoft.com/office/powerpoint/2010/main" val="39091631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37E90E2-CF73-41A1-9BB3-1F0BD2F8C9E5}"/>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A new 10% latency goal</a:t>
            </a:r>
          </a:p>
        </p:txBody>
      </p:sp>
      <p:sp>
        <p:nvSpPr>
          <p:cNvPr id="2" name="">
            <a:extLst xmlns:a="http://schemas.openxmlformats.org/drawingml/2006/main">
              <a:ext uri="{FF2B5EF4-FFF2-40B4-BE49-F238E27FC236}">
                <a16:creationId xmlns:a16="http://schemas.microsoft.com/office/drawing/2014/main" id="{E69D15AC-DC4D-4AB5-9EC2-21541C79567F}"/>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10% latency goal, 2026-09-21 UTC</a:t>
            </a:r>
          </a:p>
        </p:txBody>
      </p:sp>
      <p:sp>
        <p:nvSpPr>
          <p:cNvPr id="3" name="">
            <a:extLst xmlns:a="http://schemas.openxmlformats.org/drawingml/2006/main">
              <a:ext uri="{FF2B5EF4-FFF2-40B4-BE49-F238E27FC236}">
                <a16:creationId xmlns:a16="http://schemas.microsoft.com/office/drawing/2014/main" id="{D6AE2C0C-09C8-4E9B-9E5A-3A86739CA3E0}"/>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25</a:t>
            </a:r>
          </a:p>
        </p:txBody>
      </p:sp>
      <p:sp>
        <p:nvSpPr>
          <p:cNvPr id="4" name="">
            <a:extLst xmlns:a="http://schemas.openxmlformats.org/drawingml/2006/main">
              <a:ext uri="{FF2B5EF4-FFF2-40B4-BE49-F238E27FC236}">
                <a16:creationId xmlns:a16="http://schemas.microsoft.com/office/drawing/2014/main" id="{91F17E6A-10BF-4EB0-8C83-28A06365C265}"/>
              </a:ext>
            </a:extLst>
          </p:cNvPr>
          <p:cNvSpPr>
            <a:spLocks xmlns:a="http://schemas.openxmlformats.org/drawingml/2006/main" noGrp="1"/>
          </p:cNvSpPr>
          <p:nvPr/>
        </p:nvSpPr>
        <p:spPr>
          <a:xfrm xmlns:a="http://schemas.openxmlformats.org/drawingml/2006/main">
            <a:off x="685800" y="1362075"/>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146875"/>
                </a:solidFill>
                <a:latin typeface="Helvetica Neue"/>
                <a:ea typeface="Helvetica Neue"/>
                <a:cs typeface="Helvetica Neue"/>
              </a:defRPr>
            </a:pPr>
            <a:r>
              <a:rPr sz="2250" b="1">
                <a:solidFill>
                  <a:srgbClr val="146875"/>
                </a:solidFill>
                <a:latin typeface="Helvetica Neue"/>
                <a:ea typeface="Helvetica Neue"/>
                <a:cs typeface="Helvetica Neue"/>
              </a:rPr>
              <a:t>New phase after your Live VLM default correction</a:t>
            </a:r>
          </a:p>
        </p:txBody>
      </p:sp>
      <p:graphicFrame>
        <p:nvGraphicFramePr>
          <p:cNvPr id="12" name=""/>
          <p:cNvGraphicFramePr/>
          <p:nvPr/>
        </p:nvGraphicFramePr>
        <p:xfrm>
          <a:off xmlns:a="http://schemas.openxmlformats.org/drawingml/2006/main" x="685800" y="1952625"/>
          <a:ext xmlns:a="http://schemas.openxmlformats.org/drawingml/2006/main" cx="10820400" cy="3257550"/>
        </p:xfrm>
        <a:graphic xmlns:a="http://schemas.openxmlformats.org/drawingml/2006/main">
          <a:graphicData uri="http://schemas.openxmlformats.org/drawingml/2006/table">
            <a:tbl>
              <a:tblPr firstRow="1" bandRow="0"/>
              <a:tblGrid>
                <a:gridCol w="2400300"/>
                <a:gridCol w="8420100"/>
              </a:tblGrid>
              <a:tr h="542925">
                <a:tc>
                  <a:txBody>
                    <a:bodyPr/>
                    <a:lstStyle/>
                    <a:p>
                      <a:r>
                        <a:rPr sz="1725" b="1">
                          <a:solidFill>
                            <a:srgbClr val="183542"/>
                          </a:solidFill>
                          <a:latin typeface="Helvetica Neue"/>
                          <a:ea typeface="Helvetica Neue"/>
                          <a:cs typeface="Helvetica Neue"/>
                        </a:rPr>
                        <a:t>Control</a:t>
                      </a:r>
                    </a:p>
                  </a:txBody>
                  <a:tcPr marL="133350" marR="133350" marT="76200" marB="76200" anchor="ctr">
                    <a:solidFill>
                      <a:srgbClr val="E8F0F1"/>
                    </a:solidFill>
                  </a:tcPr>
                </a:tc>
                <a:tc>
                  <a:txBody>
                    <a:bodyPr/>
                    <a:lstStyle/>
                    <a:p>
                      <a:r>
                        <a:rPr sz="1725" b="1">
                          <a:solidFill>
                            <a:srgbClr val="183542"/>
                          </a:solidFill>
                          <a:latin typeface="Helvetica Neue"/>
                          <a:ea typeface="Helvetica Neue"/>
                          <a:cs typeface="Helvetica Neue"/>
                        </a:rPr>
                        <a:t>Frozen comparison</a:t>
                      </a:r>
                    </a:p>
                  </a:txBody>
                  <a:tcPr marL="133350" marR="133350" marT="76200" marB="76200" anchor="ctr">
                    <a:solidFill>
                      <a:srgbClr val="E8F0F1"/>
                    </a:solidFill>
                  </a:tcPr>
                </a:tc>
              </a:tr>
              <a:tr h="542925">
                <a:tc>
                  <a:txBody>
                    <a:bodyPr/>
                    <a:lstStyle/>
                    <a:p>
                      <a:r>
                        <a:rPr sz="1725">
                          <a:solidFill>
                            <a:srgbClr val="183542"/>
                          </a:solidFill>
                          <a:latin typeface="Helvetica Neue"/>
                          <a:ea typeface="Helvetica Neue"/>
                          <a:cs typeface="Helvetica Neue"/>
                        </a:rPr>
                        <a:t>Images</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3 recording-derived JPEGs, each 1280×720, JPEG 0.75</a:t>
                      </a:r>
                    </a:p>
                  </a:txBody>
                  <a:tcPr marL="133350" marR="133350" marT="76200" marB="76200" anchor="ctr">
                    <a:solidFill>
                      <a:srgbClr val="FFFFFF"/>
                    </a:solidFill>
                  </a:tcPr>
                </a:tc>
              </a:tr>
              <a:tr h="542925">
                <a:tc>
                  <a:txBody>
                    <a:bodyPr/>
                    <a:lstStyle/>
                    <a:p>
                      <a:r>
                        <a:rPr sz="1725">
                          <a:solidFill>
                            <a:srgbClr val="183542"/>
                          </a:solidFill>
                          <a:latin typeface="Helvetica Neue"/>
                          <a:ea typeface="Helvetica Neue"/>
                          <a:cs typeface="Helvetica Neue"/>
                        </a:rPr>
                        <a:t>Generation</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512-token ceiling, temperature 0.7, top-p 0.9, top-k 50</a:t>
                      </a:r>
                    </a:p>
                  </a:txBody>
                  <a:tcPr marL="133350" marR="133350" marT="76200" marB="76200" anchor="ctr">
                    <a:solidFill>
                      <a:srgbClr val="FFFFFF"/>
                    </a:solidFill>
                  </a:tcPr>
                </a:tc>
              </a:tr>
              <a:tr h="542925">
                <a:tc>
                  <a:txBody>
                    <a:bodyPr/>
                    <a:lstStyle/>
                    <a:p>
                      <a:r>
                        <a:rPr sz="1725">
                          <a:solidFill>
                            <a:srgbClr val="183542"/>
                          </a:solidFill>
                          <a:latin typeface="Helvetica Neue"/>
                          <a:ea typeface="Helvetica Neue"/>
                          <a:cs typeface="Helvetica Neue"/>
                        </a:rPr>
                        <a:t>Runtime</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Corrected FP16, input 1024, KV 2048, dynamic stock 25 W</a:t>
                      </a:r>
                    </a:p>
                  </a:txBody>
                  <a:tcPr marL="133350" marR="133350" marT="76200" marB="76200" anchor="ctr">
                    <a:solidFill>
                      <a:srgbClr val="FFFFFF"/>
                    </a:solidFill>
                  </a:tcPr>
                </a:tc>
              </a:tr>
              <a:tr h="542925">
                <a:tc>
                  <a:txBody>
                    <a:bodyPr/>
                    <a:lstStyle/>
                    <a:p>
                      <a:r>
                        <a:rPr sz="1725">
                          <a:solidFill>
                            <a:srgbClr val="183542"/>
                          </a:solidFill>
                          <a:latin typeface="Helvetica Neue"/>
                          <a:ea typeface="Helvetica Neue"/>
                          <a:cs typeface="Helvetica Neue"/>
                        </a:rPr>
                        <a:t>Measurement</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5 warmups + 30 measured requests per image, one active</a:t>
                      </a:r>
                    </a:p>
                  </a:txBody>
                  <a:tcPr marL="133350" marR="133350" marT="76200" marB="76200" anchor="ctr">
                    <a:solidFill>
                      <a:srgbClr val="FFFFFF"/>
                    </a:solidFill>
                  </a:tcPr>
                </a:tc>
              </a:tr>
              <a:tr h="542925">
                <a:tc>
                  <a:txBody>
                    <a:bodyPr/>
                    <a:lstStyle/>
                    <a:p>
                      <a:r>
                        <a:rPr sz="1725">
                          <a:solidFill>
                            <a:srgbClr val="183542"/>
                          </a:solidFill>
                          <a:latin typeface="Helvetica Neue"/>
                          <a:ea typeface="Helvetica Neue"/>
                          <a:cs typeface="Helvetica Neue"/>
                        </a:rPr>
                        <a:t>Accept / stop</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≥10% median-latency gain across images. First confirmed failure stops.</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305CAFB-618B-4B41-B395-0A129ACF62B9}"/>
              </a:ext>
            </a:extLst>
          </p:cNvPr>
          <p:cNvSpPr>
            <a:spLocks xmlns:a="http://schemas.openxmlformats.org/drawingml/2006/main" noGrp="1"/>
          </p:cNvSpPr>
          <p:nvPr/>
        </p:nvSpPr>
        <p:spPr>
          <a:xfrm xmlns:a="http://schemas.openxmlformats.org/drawingml/2006/main">
            <a:off x="685800" y="547687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146875"/>
                </a:solidFill>
                <a:latin typeface="Helvetica Neue"/>
                <a:ea typeface="Helvetica Neue"/>
                <a:cs typeface="Helvetica Neue"/>
              </a:defRPr>
            </a:pPr>
            <a:r>
              <a:rPr sz="1950" b="1">
                <a:solidFill>
                  <a:srgbClr val="146875"/>
                </a:solidFill>
                <a:latin typeface="Helvetica Neue"/>
                <a:ea typeface="Helvetica Neue"/>
                <a:cs typeface="Helvetica Neue"/>
              </a:rPr>
              <a:t>Same answer text, token count and normal stop required. Encoder cache stays off.</a:t>
            </a:r>
          </a:p>
        </p:txBody>
      </p:sp>
      <p:sp>
        <p:nvSpPr>
          <p:cNvPr id="7" name="">
            <a:extLst xmlns:a="http://schemas.openxmlformats.org/drawingml/2006/main">
              <a:ext uri="{FF2B5EF4-FFF2-40B4-BE49-F238E27FC236}">
                <a16:creationId xmlns:a16="http://schemas.microsoft.com/office/drawing/2014/main" id="{1E6DAB58-C88A-49E1-9248-E7F5D4EE90A3}"/>
              </a:ext>
            </a:extLst>
          </p:cNvPr>
          <p:cNvSpPr>
            <a:spLocks xmlns:a="http://schemas.openxmlformats.org/drawingml/2006/main" noGrp="1"/>
          </p:cNvSpPr>
          <p:nvPr/>
        </p:nvSpPr>
        <p:spPr>
          <a:xfrm xmlns:a="http://schemas.openxmlformats.org/drawingml/2006/main">
            <a:off x="685800" y="595312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Local API timing excludes browser capture and Wi-Fi. The earlier 5% search is complete.</a:t>
            </a:r>
          </a:p>
        </p:txBody>
      </p:sp>
    </p:spTree>
    <p:extLst>
      <p:ext uri="{BB962C8B-B14F-4D97-AF65-F5344CB8AC3E}">
        <p14:creationId xmlns:p14="http://schemas.microsoft.com/office/powerpoint/2010/main" val="32421368"/>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4248890-A1E0-4FC2-A6A5-F55D197D2732}"/>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Paired results under the Live VLM defaults</a:t>
            </a:r>
          </a:p>
        </p:txBody>
      </p:sp>
      <p:sp>
        <p:nvSpPr>
          <p:cNvPr id="2" name="">
            <a:extLst xmlns:a="http://schemas.openxmlformats.org/drawingml/2006/main">
              <a:ext uri="{FF2B5EF4-FFF2-40B4-BE49-F238E27FC236}">
                <a16:creationId xmlns:a16="http://schemas.microsoft.com/office/drawing/2014/main" id="{7358200C-19E9-4DF3-9DE2-83186F55CD43}"/>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10% latency goal, 2026-09-21 UTC</a:t>
            </a:r>
          </a:p>
        </p:txBody>
      </p:sp>
      <p:sp>
        <p:nvSpPr>
          <p:cNvPr id="3" name="">
            <a:extLst xmlns:a="http://schemas.openxmlformats.org/drawingml/2006/main">
              <a:ext uri="{FF2B5EF4-FFF2-40B4-BE49-F238E27FC236}">
                <a16:creationId xmlns:a16="http://schemas.microsoft.com/office/drawing/2014/main" id="{9757A626-707C-45E4-B08D-3E0BC840C2CD}"/>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26</a:t>
            </a:r>
          </a:p>
        </p:txBody>
      </p:sp>
      <p:sp>
        <p:nvSpPr>
          <p:cNvPr id="4" name="">
            <a:extLst xmlns:a="http://schemas.openxmlformats.org/drawingml/2006/main">
              <a:ext uri="{FF2B5EF4-FFF2-40B4-BE49-F238E27FC236}">
                <a16:creationId xmlns:a16="http://schemas.microsoft.com/office/drawing/2014/main" id="{5C49FEC2-6B0A-457A-8275-279A64F44094}"/>
              </a:ext>
            </a:extLst>
          </p:cNvPr>
          <p:cNvSpPr>
            <a:spLocks xmlns:a="http://schemas.openxmlformats.org/drawingml/2006/main" noGrp="1"/>
          </p:cNvSpPr>
          <p:nvPr/>
        </p:nvSpPr>
        <p:spPr>
          <a:xfrm xmlns:a="http://schemas.openxmlformats.org/drawingml/2006/main">
            <a:off x="685800" y="13620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Identical frozen JPEGs, prompt and output ceiling</a:t>
            </a:r>
          </a:p>
        </p:txBody>
      </p:sp>
      <p:graphicFrame>
        <p:nvGraphicFramePr>
          <p:cNvPr id="13" name=""/>
          <p:cNvGraphicFramePr/>
          <p:nvPr/>
        </p:nvGraphicFramePr>
        <p:xfrm>
          <a:off xmlns:a="http://schemas.openxmlformats.org/drawingml/2006/main" x="685800" y="1971675"/>
          <a:ext xmlns:a="http://schemas.openxmlformats.org/drawingml/2006/main" cx="10820400" cy="2895600"/>
        </p:xfrm>
        <a:graphic xmlns:a="http://schemas.openxmlformats.org/drawingml/2006/main">
          <a:graphicData uri="http://schemas.openxmlformats.org/drawingml/2006/table">
            <a:tbl>
              <a:tblPr firstRow="1" bandRow="0"/>
              <a:tblGrid>
                <a:gridCol w="1714500"/>
                <a:gridCol w="1066800"/>
                <a:gridCol w="2181225"/>
                <a:gridCol w="2181225"/>
                <a:gridCol w="2190750"/>
                <a:gridCol w="1485900"/>
              </a:tblGrid>
              <a:tr h="723900">
                <a:tc>
                  <a:txBody>
                    <a:bodyPr/>
                    <a:lstStyle/>
                    <a:p>
                      <a:r>
                        <a:rPr sz="1650" b="1">
                          <a:solidFill>
                            <a:srgbClr val="183542"/>
                          </a:solidFill>
                          <a:latin typeface="Helvetica Neue"/>
                          <a:ea typeface="Helvetica Neue"/>
                          <a:cs typeface="Helvetica Neue"/>
                        </a:rPr>
                        <a:t>Image</a:t>
                      </a:r>
                    </a:p>
                  </a:txBody>
                  <a:tcPr marL="133350" marR="133350" marT="76200" marB="76200" anchor="ctr">
                    <a:solidFill>
                      <a:srgbClr val="E8F0F1"/>
                    </a:solidFill>
                  </a:tcPr>
                </a:tc>
                <a:tc>
                  <a:txBody>
                    <a:bodyPr/>
                    <a:lstStyle/>
                    <a:p>
                      <a:r>
                        <a:rPr sz="1650" b="1">
                          <a:solidFill>
                            <a:srgbClr val="183542"/>
                          </a:solidFill>
                          <a:latin typeface="Helvetica Neue"/>
                          <a:ea typeface="Helvetica Neue"/>
                          <a:cs typeface="Helvetica Neue"/>
                        </a:rPr>
                        <a:t>Tokens</a:t>
                      </a:r>
                    </a:p>
                    <a:p>
                      <a:r>
                        <a:rPr sz="1650" b="1">
                          <a:solidFill>
                            <a:srgbClr val="183542"/>
                          </a:solidFill>
                          <a:latin typeface="Helvetica Neue"/>
                          <a:ea typeface="Helvetica Neue"/>
                          <a:cs typeface="Helvetica Neue"/>
                        </a:rPr>
                        <a:t>B / C</a:t>
                      </a:r>
                    </a:p>
                  </a:txBody>
                  <a:tcPr marL="133350" marR="133350" marT="76200" marB="76200" anchor="ctr">
                    <a:solidFill>
                      <a:srgbClr val="E8F0F1"/>
                    </a:solidFill>
                  </a:tcPr>
                </a:tc>
                <a:tc>
                  <a:txBody>
                    <a:bodyPr/>
                    <a:lstStyle/>
                    <a:p>
                      <a:r>
                        <a:rPr sz="1650" b="1">
                          <a:solidFill>
                            <a:srgbClr val="183542"/>
                          </a:solidFill>
                          <a:latin typeface="Helvetica Neue"/>
                          <a:ea typeface="Helvetica Neue"/>
                          <a:cs typeface="Helvetica Neue"/>
                        </a:rPr>
                        <a:t>Base answer</a:t>
                      </a:r>
                    </a:p>
                    <a:p>
                      <a:r>
                        <a:rPr sz="1650" b="1">
                          <a:solidFill>
                            <a:srgbClr val="183542"/>
                          </a:solidFill>
                          <a:latin typeface="Helvetica Neue"/>
                          <a:ea typeface="Helvetica Neue"/>
                          <a:cs typeface="Helvetica Neue"/>
                        </a:rPr>
                        <a:t>p50 / p95 ms</a:t>
                      </a:r>
                    </a:p>
                  </a:txBody>
                  <a:tcPr marL="133350" marR="133350" marT="76200" marB="76200" anchor="ctr">
                    <a:solidFill>
                      <a:srgbClr val="E8F0F1"/>
                    </a:solidFill>
                  </a:tcPr>
                </a:tc>
                <a:tc>
                  <a:txBody>
                    <a:bodyPr/>
                    <a:lstStyle/>
                    <a:p>
                      <a:r>
                        <a:rPr sz="1650" b="1">
                          <a:solidFill>
                            <a:srgbClr val="183542"/>
                          </a:solidFill>
                          <a:latin typeface="Helvetica Neue"/>
                          <a:ea typeface="Helvetica Neue"/>
                          <a:cs typeface="Helvetica Neue"/>
                        </a:rPr>
                        <a:t>Trial answer</a:t>
                      </a:r>
                    </a:p>
                    <a:p>
                      <a:r>
                        <a:rPr sz="1650" b="1">
                          <a:solidFill>
                            <a:srgbClr val="183542"/>
                          </a:solidFill>
                          <a:latin typeface="Helvetica Neue"/>
                          <a:ea typeface="Helvetica Neue"/>
                          <a:cs typeface="Helvetica Neue"/>
                        </a:rPr>
                        <a:t>p50 / p95 ms</a:t>
                      </a:r>
                    </a:p>
                  </a:txBody>
                  <a:tcPr marL="133350" marR="133350" marT="76200" marB="76200" anchor="ctr">
                    <a:solidFill>
                      <a:srgbClr val="E8F0F1"/>
                    </a:solidFill>
                  </a:tcPr>
                </a:tc>
                <a:tc>
                  <a:txBody>
                    <a:bodyPr/>
                    <a:lstStyle/>
                    <a:p>
                      <a:r>
                        <a:rPr sz="1650" b="1">
                          <a:solidFill>
                            <a:srgbClr val="183542"/>
                          </a:solidFill>
                          <a:latin typeface="Helvetica Neue"/>
                          <a:ea typeface="Helvetica Neue"/>
                          <a:cs typeface="Helvetica Neue"/>
                        </a:rPr>
                        <a:t>TTFT p50</a:t>
                      </a:r>
                    </a:p>
                    <a:p>
                      <a:r>
                        <a:rPr sz="1650" b="1">
                          <a:solidFill>
                            <a:srgbClr val="183542"/>
                          </a:solidFill>
                          <a:latin typeface="Helvetica Neue"/>
                          <a:ea typeface="Helvetica Neue"/>
                          <a:cs typeface="Helvetica Neue"/>
                        </a:rPr>
                        <a:t>B / C ms</a:t>
                      </a:r>
                    </a:p>
                  </a:txBody>
                  <a:tcPr marL="133350" marR="133350" marT="76200" marB="76200" anchor="ctr">
                    <a:solidFill>
                      <a:srgbClr val="E8F0F1"/>
                    </a:solidFill>
                  </a:tcPr>
                </a:tc>
                <a:tc>
                  <a:txBody>
                    <a:bodyPr/>
                    <a:lstStyle/>
                    <a:p>
                      <a:r>
                        <a:rPr sz="1650" b="1">
                          <a:solidFill>
                            <a:srgbClr val="183542"/>
                          </a:solidFill>
                          <a:latin typeface="Helvetica Neue"/>
                          <a:ea typeface="Helvetica Neue"/>
                          <a:cs typeface="Helvetica Neue"/>
                        </a:rPr>
                        <a:t>p50 gain</a:t>
                      </a:r>
                    </a:p>
                  </a:txBody>
                  <a:tcPr marL="133350" marR="133350" marT="76200" marB="76200" anchor="ctr">
                    <a:solidFill>
                      <a:srgbClr val="E8F0F1"/>
                    </a:solidFill>
                  </a:tcPr>
                </a:tc>
              </a:tr>
              <a:tr h="723900">
                <a:tc>
                  <a:txBody>
                    <a:bodyPr/>
                    <a:lstStyle/>
                    <a:p>
                      <a:r>
                        <a:rPr sz="1650">
                          <a:solidFill>
                            <a:srgbClr val="183542"/>
                          </a:solidFill>
                          <a:latin typeface="Helvetica Neue"/>
                          <a:ea typeface="Helvetica Neue"/>
                          <a:cs typeface="Helvetica Neue"/>
                        </a:rPr>
                        <a:t>Action camera</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14 / 14</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1004.6 / 1016.3</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997.3 / 1013.3</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432.9 / 427.8</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0.73%</a:t>
                      </a:r>
                    </a:p>
                  </a:txBody>
                  <a:tcPr marL="133350" marR="133350" marT="76200" marB="76200" anchor="ctr">
                    <a:solidFill>
                      <a:srgbClr val="FFFFFF"/>
                    </a:solidFill>
                  </a:tcPr>
                </a:tc>
              </a:tr>
              <a:tr h="723900">
                <a:tc>
                  <a:txBody>
                    <a:bodyPr/>
                    <a:lstStyle/>
                    <a:p>
                      <a:r>
                        <a:rPr sz="1650">
                          <a:solidFill>
                            <a:srgbClr val="183542"/>
                          </a:solidFill>
                          <a:latin typeface="Helvetica Neue"/>
                          <a:ea typeface="Helvetica Neue"/>
                          <a:cs typeface="Helvetica Neue"/>
                        </a:rPr>
                        <a:t>Pen</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40 / 40</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2151.1 / 2167.4</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2144.4 / 2166.8</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442.6 / 441.1</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0.31%</a:t>
                      </a:r>
                    </a:p>
                  </a:txBody>
                  <a:tcPr marL="133350" marR="133350" marT="76200" marB="76200" anchor="ctr">
                    <a:solidFill>
                      <a:srgbClr val="FFFFFF"/>
                    </a:solidFill>
                  </a:tcPr>
                </a:tc>
              </a:tr>
              <a:tr h="723900">
                <a:tc>
                  <a:txBody>
                    <a:bodyPr/>
                    <a:lstStyle/>
                    <a:p>
                      <a:r>
                        <a:rPr sz="1650">
                          <a:solidFill>
                            <a:srgbClr val="183542"/>
                          </a:solidFill>
                          <a:latin typeface="Helvetica Neue"/>
                          <a:ea typeface="Helvetica Neue"/>
                          <a:cs typeface="Helvetica Neue"/>
                        </a:rPr>
                        <a:t>Scissors</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17 / 17</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1152.3 / 1162.3</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1147.7 / 1162.3</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450.7 / 446.4</a:t>
                      </a:r>
                    </a:p>
                  </a:txBody>
                  <a:tcPr marL="133350" marR="133350" marT="76200" marB="76200" anchor="ctr">
                    <a:solidFill>
                      <a:srgbClr val="FFFFFF"/>
                    </a:solidFill>
                  </a:tcPr>
                </a:tc>
                <a:tc>
                  <a:txBody>
                    <a:bodyPr/>
                    <a:lstStyle/>
                    <a:p>
                      <a:r>
                        <a:rPr sz="1650">
                          <a:solidFill>
                            <a:srgbClr val="183542"/>
                          </a:solidFill>
                          <a:latin typeface="Helvetica Neue"/>
                          <a:ea typeface="Helvetica Neue"/>
                          <a:cs typeface="Helvetica Neue"/>
                        </a:rPr>
                        <a:t>0.40%</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BA02623-2664-43BA-93BD-573E7F4FB0A2}"/>
              </a:ext>
            </a:extLst>
          </p:cNvPr>
          <p:cNvSpPr>
            <a:spLocks xmlns:a="http://schemas.openxmlformats.org/drawingml/2006/main" noGrp="1"/>
          </p:cNvSpPr>
          <p:nvPr/>
        </p:nvSpPr>
        <p:spPr>
          <a:xfrm xmlns:a="http://schemas.openxmlformats.org/drawingml/2006/main">
            <a:off x="685800" y="51720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Across-image median metric: 1355.4 ms baseline, 1348.9 ms trial</a:t>
            </a:r>
          </a:p>
        </p:txBody>
      </p:sp>
      <p:sp>
        <p:nvSpPr>
          <p:cNvPr id="7" name="">
            <a:extLst xmlns:a="http://schemas.openxmlformats.org/drawingml/2006/main">
              <a:ext uri="{FF2B5EF4-FFF2-40B4-BE49-F238E27FC236}">
                <a16:creationId xmlns:a16="http://schemas.microsoft.com/office/drawing/2014/main" id="{575F01F0-0AE0-4AA5-837F-CC45AA0DED60}"/>
              </a:ext>
            </a:extLst>
          </p:cNvPr>
          <p:cNvSpPr>
            <a:spLocks xmlns:a="http://schemas.openxmlformats.org/drawingml/2006/main" noGrp="1"/>
          </p:cNvSpPr>
          <p:nvPr/>
        </p:nvSpPr>
        <p:spPr>
          <a:xfrm xmlns:a="http://schemas.openxmlformats.org/drawingml/2006/main">
            <a:off x="685800" y="56197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950" b="1">
                <a:solidFill>
                  <a:srgbClr val="965A20"/>
                </a:solidFill>
                <a:latin typeface="Helvetica Neue"/>
                <a:ea typeface="Helvetica Neue"/>
                <a:cs typeface="Helvetica Neue"/>
              </a:defRPr>
            </a:pPr>
            <a:r>
              <a:rPr sz="1950" b="1">
                <a:solidFill>
                  <a:srgbClr val="965A20"/>
                </a:solidFill>
                <a:latin typeface="Helvetica Neue"/>
                <a:ea typeface="Helvetica Neue"/>
                <a:cs typeface="Helvetica Neue"/>
              </a:rPr>
              <a:t>0.48% reduction. The required 10% threshold is 1219.9 ms or less.</a:t>
            </a:r>
          </a:p>
        </p:txBody>
      </p:sp>
      <p:sp>
        <p:nvSpPr>
          <p:cNvPr id="8" name="">
            <a:extLst xmlns:a="http://schemas.openxmlformats.org/drawingml/2006/main">
              <a:ext uri="{FF2B5EF4-FFF2-40B4-BE49-F238E27FC236}">
                <a16:creationId xmlns:a16="http://schemas.microsoft.com/office/drawing/2014/main" id="{568CC68E-A35B-453E-A6D4-56F419410904}"/>
              </a:ext>
            </a:extLst>
          </p:cNvPr>
          <p:cNvSpPr>
            <a:spLocks xmlns:a="http://schemas.openxmlformats.org/drawingml/2006/main" noGrp="1"/>
          </p:cNvSpPr>
          <p:nvPr/>
        </p:nvSpPr>
        <p:spPr>
          <a:xfrm xmlns:a="http://schemas.openxmlformats.org/drawingml/2006/main">
            <a:off x="685800" y="6048375"/>
            <a:ext cx="10820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575" b="0">
                <a:solidFill>
                  <a:srgbClr val="566773"/>
                </a:solidFill>
                <a:latin typeface="Helvetica Neue"/>
                <a:ea typeface="Helvetica Neue"/>
                <a:cs typeface="Helvetica Neue"/>
              </a:defRPr>
            </a:pPr>
            <a:r>
              <a:rPr sz="1575" b="0">
                <a:solidFill>
                  <a:srgbClr val="566773"/>
                </a:solidFill>
                <a:latin typeface="Helvetica Neue"/>
                <a:ea typeface="Helvetica Neue"/>
                <a:cs typeface="Helvetica Neue"/>
              </a:rPr>
              <a:t>Metric: geometric mean of the three per-image medians. B / C = baseline / candidate.</a:t>
            </a:r>
          </a:p>
        </p:txBody>
      </p:sp>
    </p:spTree>
    <p:extLst>
      <p:ext uri="{BB962C8B-B14F-4D97-AF65-F5344CB8AC3E}">
        <p14:creationId xmlns:p14="http://schemas.microsoft.com/office/powerpoint/2010/main" val="31037480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786D6E3-C7E2-4A10-A746-54B6590D45A3}"/>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Trial decision and shared-memory limits</a:t>
            </a:r>
          </a:p>
        </p:txBody>
      </p:sp>
      <p:sp>
        <p:nvSpPr>
          <p:cNvPr id="2" name="">
            <a:extLst xmlns:a="http://schemas.openxmlformats.org/drawingml/2006/main">
              <a:ext uri="{FF2B5EF4-FFF2-40B4-BE49-F238E27FC236}">
                <a16:creationId xmlns:a16="http://schemas.microsoft.com/office/drawing/2014/main" id="{637B5E00-01EF-41F4-A6B4-12E92F14F378}"/>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10% latency goal, 2026-09-21 UTC</a:t>
            </a:r>
          </a:p>
        </p:txBody>
      </p:sp>
      <p:sp>
        <p:nvSpPr>
          <p:cNvPr id="3" name="">
            <a:extLst xmlns:a="http://schemas.openxmlformats.org/drawingml/2006/main">
              <a:ext uri="{FF2B5EF4-FFF2-40B4-BE49-F238E27FC236}">
                <a16:creationId xmlns:a16="http://schemas.microsoft.com/office/drawing/2014/main" id="{93F422EB-7E8B-4864-9AB7-1FF2E833CAC3}"/>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27</a:t>
            </a:r>
          </a:p>
        </p:txBody>
      </p:sp>
      <p:sp>
        <p:nvSpPr>
          <p:cNvPr id="4" name="">
            <a:extLst xmlns:a="http://schemas.openxmlformats.org/drawingml/2006/main">
              <a:ext uri="{FF2B5EF4-FFF2-40B4-BE49-F238E27FC236}">
                <a16:creationId xmlns:a16="http://schemas.microsoft.com/office/drawing/2014/main" id="{7D8BCDF8-CA91-4130-8B73-8C3EB40181E1}"/>
              </a:ext>
            </a:extLst>
          </p:cNvPr>
          <p:cNvSpPr>
            <a:spLocks xmlns:a="http://schemas.openxmlformats.org/drawingml/2006/main" noGrp="1"/>
          </p:cNvSpPr>
          <p:nvPr/>
        </p:nvSpPr>
        <p:spPr>
          <a:xfrm xmlns:a="http://schemas.openxmlformats.org/drawingml/2006/main">
            <a:off x="685800" y="13620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250" b="1">
                <a:solidFill>
                  <a:srgbClr val="965A20"/>
                </a:solidFill>
                <a:latin typeface="Helvetica Neue"/>
                <a:ea typeface="Helvetica Neue"/>
                <a:cs typeface="Helvetica Neue"/>
              </a:defRPr>
            </a:pPr>
            <a:r>
              <a:rPr sz="2250" b="1">
                <a:solidFill>
                  <a:srgbClr val="965A20"/>
                </a:solidFill>
                <a:latin typeface="Helvetica Neue"/>
                <a:ea typeface="Helvetica Neue"/>
                <a:cs typeface="Helvetica Neue"/>
              </a:rPr>
              <a:t>Candidate failed the frozen acceptance gates</a:t>
            </a:r>
          </a:p>
        </p:txBody>
      </p:sp>
      <p:sp>
        <p:nvSpPr>
          <p:cNvPr id="5" name="">
            <a:extLst xmlns:a="http://schemas.openxmlformats.org/drawingml/2006/main">
              <a:ext uri="{FF2B5EF4-FFF2-40B4-BE49-F238E27FC236}">
                <a16:creationId xmlns:a16="http://schemas.microsoft.com/office/drawing/2014/main" id="{39E4BAE7-AEBC-4B8E-9840-2F0257B0A2AF}"/>
              </a:ext>
            </a:extLst>
          </p:cNvPr>
          <p:cNvSpPr>
            <a:spLocks xmlns:a="http://schemas.openxmlformats.org/drawingml/2006/main" noGrp="1"/>
          </p:cNvSpPr>
          <p:nvPr/>
        </p:nvSpPr>
        <p:spPr>
          <a:xfrm xmlns:a="http://schemas.openxmlformats.org/drawingml/2006/main">
            <a:off x="685800" y="1857375"/>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146875"/>
                </a:solidFill>
                <a:latin typeface="Helvetica Neue"/>
                <a:ea typeface="Helvetica Neue"/>
                <a:cs typeface="Helvetica Neue"/>
              </a:defRPr>
            </a:pPr>
            <a:r>
              <a:rPr sz="1725" b="0">
                <a:solidFill>
                  <a:srgbClr val="146875"/>
                </a:solidFill>
                <a:latin typeface="Helvetica Neue"/>
                <a:ea typeface="Helvetica Neue"/>
                <a:cs typeface="Helvetica Neue"/>
              </a:rPr>
              <a:t>Task-authored retained-partial top-K prototype. Model precision and sampling stay fixed.</a:t>
            </a:r>
          </a:p>
        </p:txBody>
      </p:sp>
      <p:graphicFrame>
        <p:nvGraphicFramePr>
          <p:cNvPr id="15" name=""/>
          <p:cNvGraphicFramePr/>
          <p:nvPr/>
        </p:nvGraphicFramePr>
        <p:xfrm>
          <a:off xmlns:a="http://schemas.openxmlformats.org/drawingml/2006/main" x="685800" y="2324100"/>
          <a:ext xmlns:a="http://schemas.openxmlformats.org/drawingml/2006/main" cx="10820400" cy="2524125"/>
        </p:xfrm>
        <a:graphic xmlns:a="http://schemas.openxmlformats.org/drawingml/2006/main">
          <a:graphicData uri="http://schemas.openxmlformats.org/drawingml/2006/table">
            <a:tbl>
              <a:tblPr firstRow="1" bandRow="0"/>
              <a:tblGrid>
                <a:gridCol w="4495800"/>
                <a:gridCol w="3162300"/>
                <a:gridCol w="3162300"/>
              </a:tblGrid>
              <a:tr h="504825">
                <a:tc>
                  <a:txBody>
                    <a:bodyPr/>
                    <a:lstStyle/>
                    <a:p>
                      <a:r>
                        <a:rPr sz="1725" b="1">
                          <a:solidFill>
                            <a:srgbClr val="183542"/>
                          </a:solidFill>
                          <a:latin typeface="Helvetica Neue"/>
                          <a:ea typeface="Helvetica Neue"/>
                          <a:cs typeface="Helvetica Neue"/>
                        </a:rPr>
                        <a:t>Sampled memory / output</a:t>
                      </a:r>
                    </a:p>
                  </a:txBody>
                  <a:tcPr marL="133350" marR="133350" marT="76200" marB="76200" anchor="ctr">
                    <a:solidFill>
                      <a:srgbClr val="E8F0F1"/>
                    </a:solidFill>
                  </a:tcPr>
                </a:tc>
                <a:tc>
                  <a:txBody>
                    <a:bodyPr/>
                    <a:lstStyle/>
                    <a:p>
                      <a:r>
                        <a:rPr sz="1725" b="1">
                          <a:solidFill>
                            <a:srgbClr val="183542"/>
                          </a:solidFill>
                          <a:latin typeface="Helvetica Neue"/>
                          <a:ea typeface="Helvetica Neue"/>
                          <a:cs typeface="Helvetica Neue"/>
                        </a:rPr>
                        <a:t>Baseline</a:t>
                      </a:r>
                    </a:p>
                  </a:txBody>
                  <a:tcPr marL="133350" marR="133350" marT="76200" marB="76200" anchor="ctr">
                    <a:solidFill>
                      <a:srgbClr val="E8F0F1"/>
                    </a:solidFill>
                  </a:tcPr>
                </a:tc>
                <a:tc>
                  <a:txBody>
                    <a:bodyPr/>
                    <a:lstStyle/>
                    <a:p>
                      <a:r>
                        <a:rPr sz="1725" b="1">
                          <a:solidFill>
                            <a:srgbClr val="183542"/>
                          </a:solidFill>
                          <a:latin typeface="Helvetica Neue"/>
                          <a:ea typeface="Helvetica Neue"/>
                          <a:cs typeface="Helvetica Neue"/>
                        </a:rPr>
                        <a:t>Candidate</a:t>
                      </a:r>
                    </a:p>
                  </a:txBody>
                  <a:tcPr marL="133350" marR="133350" marT="76200" marB="76200" anchor="ctr">
                    <a:solidFill>
                      <a:srgbClr val="E8F0F1"/>
                    </a:solidFill>
                  </a:tcPr>
                </a:tc>
              </a:tr>
              <a:tr h="504825">
                <a:tc>
                  <a:txBody>
                    <a:bodyPr/>
                    <a:lstStyle/>
                    <a:p>
                      <a:r>
                        <a:rPr sz="1725">
                          <a:solidFill>
                            <a:srgbClr val="183542"/>
                          </a:solidFill>
                          <a:latin typeface="Helvetica Neue"/>
                          <a:ea typeface="Helvetica Neue"/>
                          <a:cs typeface="Helvetica Neue"/>
                        </a:rPr>
                        <a:t>Peak shared system RAM</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6.443 GiB</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6.420 GiB</a:t>
                      </a:r>
                    </a:p>
                  </a:txBody>
                  <a:tcPr marL="133350" marR="133350" marT="76200" marB="76200" anchor="ctr">
                    <a:solidFill>
                      <a:srgbClr val="FFFFFF"/>
                    </a:solidFill>
                  </a:tcPr>
                </a:tc>
              </a:tr>
              <a:tr h="504825">
                <a:tc>
                  <a:txBody>
                    <a:bodyPr/>
                    <a:lstStyle/>
                    <a:p>
                      <a:r>
                        <a:rPr sz="1725">
                          <a:solidFill>
                            <a:srgbClr val="183542"/>
                          </a:solidFill>
                          <a:latin typeface="Helvetica Neue"/>
                          <a:ea typeface="Helvetica Neue"/>
                          <a:cs typeface="Helvetica Neue"/>
                        </a:rPr>
                        <a:t>Peak process RSS</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5.909 GiB</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5.897 GiB</a:t>
                      </a:r>
                    </a:p>
                  </a:txBody>
                  <a:tcPr marL="133350" marR="133350" marT="76200" marB="76200" anchor="ctr">
                    <a:solidFill>
                      <a:srgbClr val="FFFFFF"/>
                    </a:solidFill>
                  </a:tcPr>
                </a:tc>
              </a:tr>
              <a:tr h="504825">
                <a:tc>
                  <a:txBody>
                    <a:bodyPr/>
                    <a:lstStyle/>
                    <a:p>
                      <a:r>
                        <a:rPr sz="1725">
                          <a:solidFill>
                            <a:srgbClr val="183542"/>
                          </a:solidFill>
                          <a:latin typeface="Helvetica Neue"/>
                          <a:ea typeface="Helvetica Neue"/>
                          <a:cs typeface="Helvetica Neue"/>
                        </a:rPr>
                        <a:t>Minimum available RAM</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0.926 GiB</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0.949 GiB</a:t>
                      </a:r>
                    </a:p>
                  </a:txBody>
                  <a:tcPr marL="133350" marR="133350" marT="76200" marB="76200" anchor="ctr">
                    <a:solidFill>
                      <a:srgbClr val="FFFFFF"/>
                    </a:solidFill>
                  </a:tcPr>
                </a:tc>
              </a:tr>
              <a:tr h="504825">
                <a:tc>
                  <a:txBody>
                    <a:bodyPr/>
                    <a:lstStyle/>
                    <a:p>
                      <a:r>
                        <a:rPr sz="1725">
                          <a:solidFill>
                            <a:srgbClr val="183542"/>
                          </a:solidFill>
                          <a:latin typeface="Helvetica Neue"/>
                          <a:ea typeface="Helvetica Neue"/>
                          <a:cs typeface="Helvetica Neue"/>
                        </a:rPr>
                        <a:t>Output preservation</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Repeatable reference</a:t>
                      </a:r>
                    </a:p>
                  </a:txBody>
                  <a:tcPr marL="133350" marR="133350" marT="76200" marB="76200" anchor="ctr">
                    <a:solidFill>
                      <a:srgbClr val="FFFFFF"/>
                    </a:solidFill>
                  </a:tcPr>
                </a:tc>
                <a:tc>
                  <a:txBody>
                    <a:bodyPr/>
                    <a:lstStyle/>
                    <a:p>
                      <a:r>
                        <a:rPr sz="1725">
                          <a:solidFill>
                            <a:srgbClr val="183542"/>
                          </a:solidFill>
                          <a:latin typeface="Helvetica Neue"/>
                          <a:ea typeface="Helvetica Neue"/>
                          <a:cs typeface="Helvetica Neue"/>
                        </a:rPr>
                        <a:t>Exact text / tokens / stop</a:t>
                      </a:r>
                    </a:p>
                  </a:txBody>
                  <a:tcPr marL="133350" marR="133350" marT="76200" marB="76200" anchor="ctr">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194834EE-8230-4197-881F-357CEE436FE3}"/>
              </a:ext>
            </a:extLst>
          </p:cNvPr>
          <p:cNvSpPr>
            <a:spLocks xmlns:a="http://schemas.openxmlformats.org/drawingml/2006/main" noGrp="1"/>
          </p:cNvSpPr>
          <p:nvPr/>
        </p:nvSpPr>
        <p:spPr>
          <a:xfrm xmlns:a="http://schemas.openxmlformats.org/drawingml/2006/main">
            <a:off x="685800" y="50196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The stop rule retains the last accepted baseline.</a:t>
            </a:r>
          </a:p>
        </p:txBody>
      </p:sp>
      <p:sp>
        <p:nvSpPr>
          <p:cNvPr id="8" name="">
            <a:extLst xmlns:a="http://schemas.openxmlformats.org/drawingml/2006/main">
              <a:ext uri="{FF2B5EF4-FFF2-40B4-BE49-F238E27FC236}">
                <a16:creationId xmlns:a16="http://schemas.microsoft.com/office/drawing/2014/main" id="{E3515CDB-B692-4072-A5B9-927C8CFDF597}"/>
              </a:ext>
            </a:extLst>
          </p:cNvPr>
          <p:cNvSpPr>
            <a:spLocks xmlns:a="http://schemas.openxmlformats.org/drawingml/2006/main" noGrp="1"/>
          </p:cNvSpPr>
          <p:nvPr/>
        </p:nvSpPr>
        <p:spPr>
          <a:xfrm xmlns:a="http://schemas.openxmlformats.org/drawingml/2006/main">
            <a:off x="685800" y="548640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RAM includes CPU, GPU and OS. RSS overlaps. No dedicated VRAM peak was measured.</a:t>
            </a:r>
          </a:p>
        </p:txBody>
      </p:sp>
      <p:sp>
        <p:nvSpPr>
          <p:cNvPr id="9" name="">
            <a:extLst xmlns:a="http://schemas.openxmlformats.org/drawingml/2006/main">
              <a:ext uri="{FF2B5EF4-FFF2-40B4-BE49-F238E27FC236}">
                <a16:creationId xmlns:a16="http://schemas.microsoft.com/office/drawing/2014/main" id="{2D12545F-EEAD-4BE6-9B69-B75EAE49D942}"/>
              </a:ext>
            </a:extLst>
          </p:cNvPr>
          <p:cNvSpPr>
            <a:spLocks xmlns:a="http://schemas.openxmlformats.org/drawingml/2006/main" noGrp="1"/>
          </p:cNvSpPr>
          <p:nvPr/>
        </p:nvSpPr>
        <p:spPr>
          <a:xfrm xmlns:a="http://schemas.openxmlformats.org/drawingml/2006/main">
            <a:off x="685800" y="5924550"/>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00" b="0">
                <a:solidFill>
                  <a:srgbClr val="965A20"/>
                </a:solidFill>
                <a:latin typeface="Helvetica Neue"/>
                <a:ea typeface="Helvetica Neue"/>
                <a:cs typeface="Helvetica Neue"/>
              </a:defRPr>
            </a:pPr>
            <a:r>
              <a:rPr sz="1800" b="0">
                <a:solidFill>
                  <a:srgbClr val="965A20"/>
                </a:solidFill>
                <a:latin typeface="Helvetica Neue"/>
                <a:ea typeface="Helvetica Neue"/>
                <a:cs typeface="Helvetica Neue"/>
              </a:rPr>
              <a:t>Preserved answers still contain unsupported mirror and gesture claims.</a:t>
            </a:r>
          </a:p>
        </p:txBody>
      </p:sp>
    </p:spTree>
    <p:extLst>
      <p:ext uri="{BB962C8B-B14F-4D97-AF65-F5344CB8AC3E}">
        <p14:creationId xmlns:p14="http://schemas.microsoft.com/office/powerpoint/2010/main" val="15383941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5DFEDC6-8149-487D-A52B-357F8380623E}"/>
              </a:ext>
            </a:extLst>
          </p:cNvPr>
          <p:cNvSpPr>
            <a:spLocks xmlns:a="http://schemas.openxmlformats.org/drawingml/2006/main" noGrp="1"/>
          </p:cNvSpPr>
          <p:nvPr/>
        </p:nvSpPr>
        <p:spPr>
          <a:xfrm xmlns:a="http://schemas.openxmlformats.org/drawingml/2006/main">
            <a:off x="685800" y="419100"/>
            <a:ext cx="108204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3300" b="1">
                <a:solidFill>
                  <a:srgbClr val="183542"/>
                </a:solidFill>
                <a:latin typeface="Helvetica Neue"/>
                <a:ea typeface="Helvetica Neue"/>
                <a:cs typeface="Helvetica Neue"/>
              </a:defRPr>
            </a:pPr>
            <a:r>
              <a:rPr sz="3300" b="1">
                <a:solidFill>
                  <a:srgbClr val="183542"/>
                </a:solidFill>
                <a:latin typeface="Helvetica Neue"/>
                <a:ea typeface="Helvetica Neue"/>
                <a:cs typeface="Helvetica Neue"/>
              </a:rPr>
              <a:t>Sampler gain and whole-answer latency</a:t>
            </a:r>
          </a:p>
        </p:txBody>
      </p:sp>
      <p:sp>
        <p:nvSpPr>
          <p:cNvPr id="2" name="">
            <a:extLst xmlns:a="http://schemas.openxmlformats.org/drawingml/2006/main">
              <a:ext uri="{FF2B5EF4-FFF2-40B4-BE49-F238E27FC236}">
                <a16:creationId xmlns:a16="http://schemas.microsoft.com/office/drawing/2014/main" id="{E0512FDF-ACC3-498B-AB6F-BC5E6A929CA9}"/>
              </a:ext>
            </a:extLst>
          </p:cNvPr>
          <p:cNvSpPr>
            <a:spLocks xmlns:a="http://schemas.openxmlformats.org/drawingml/2006/main" noGrp="1"/>
          </p:cNvSpPr>
          <p:nvPr/>
        </p:nvSpPr>
        <p:spPr>
          <a:xfrm xmlns:a="http://schemas.openxmlformats.org/drawingml/2006/main">
            <a:off x="685800" y="6410325"/>
            <a:ext cx="9858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New 10% latency goal, 2026-09-21 UTC</a:t>
            </a:r>
          </a:p>
        </p:txBody>
      </p:sp>
      <p:sp>
        <p:nvSpPr>
          <p:cNvPr id="3" name="">
            <a:extLst xmlns:a="http://schemas.openxmlformats.org/drawingml/2006/main">
              <a:ext uri="{FF2B5EF4-FFF2-40B4-BE49-F238E27FC236}">
                <a16:creationId xmlns:a16="http://schemas.microsoft.com/office/drawing/2014/main" id="{F4081EB0-C3FA-4156-BBBF-FD1CD78ADDA1}"/>
              </a:ext>
            </a:extLst>
          </p:cNvPr>
          <p:cNvSpPr>
            <a:spLocks xmlns:a="http://schemas.openxmlformats.org/drawingml/2006/main" noGrp="1"/>
          </p:cNvSpPr>
          <p:nvPr/>
        </p:nvSpPr>
        <p:spPr>
          <a:xfrm xmlns:a="http://schemas.openxmlformats.org/drawingml/2006/main">
            <a:off x="11068050" y="6410325"/>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275" b="0">
                <a:solidFill>
                  <a:srgbClr val="566773"/>
                </a:solidFill>
                <a:latin typeface="Helvetica Neue"/>
                <a:ea typeface="Helvetica Neue"/>
                <a:cs typeface="Helvetica Neue"/>
              </a:defRPr>
            </a:pPr>
            <a:r>
              <a:rPr sz="1275" b="0">
                <a:solidFill>
                  <a:srgbClr val="566773"/>
                </a:solidFill>
                <a:latin typeface="Helvetica Neue"/>
                <a:ea typeface="Helvetica Neue"/>
                <a:cs typeface="Helvetica Neue"/>
              </a:rPr>
              <a:t>28</a:t>
            </a:r>
          </a:p>
        </p:txBody>
      </p:sp>
      <p:sp>
        <p:nvSpPr>
          <p:cNvPr id="4" name="">
            <a:extLst xmlns:a="http://schemas.openxmlformats.org/drawingml/2006/main">
              <a:ext uri="{FF2B5EF4-FFF2-40B4-BE49-F238E27FC236}">
                <a16:creationId xmlns:a16="http://schemas.microsoft.com/office/drawing/2014/main" id="{A758AB5C-0322-4B9C-A7A4-809C269E33E7}"/>
              </a:ext>
            </a:extLst>
          </p:cNvPr>
          <p:cNvSpPr>
            <a:spLocks xmlns:a="http://schemas.openxmlformats.org/drawingml/2006/main" noGrp="1"/>
          </p:cNvSpPr>
          <p:nvPr/>
        </p:nvSpPr>
        <p:spPr>
          <a:xfrm xmlns:a="http://schemas.openxmlformats.org/drawingml/2006/main">
            <a:off x="685800" y="13620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00" b="1">
                <a:solidFill>
                  <a:srgbClr val="146875"/>
                </a:solidFill>
                <a:latin typeface="Helvetica Neue"/>
                <a:ea typeface="Helvetica Neue"/>
                <a:cs typeface="Helvetica Neue"/>
              </a:defRPr>
            </a:pPr>
            <a:r>
              <a:rPr sz="2100" b="1">
                <a:solidFill>
                  <a:srgbClr val="146875"/>
                </a:solidFill>
                <a:latin typeface="Helvetica Neue"/>
                <a:ea typeface="Helvetica Neue"/>
                <a:cs typeface="Helvetica Neue"/>
              </a:rPr>
              <a:t>Task-authored top-K prototype, unchanged model precision and sampling</a:t>
            </a:r>
          </a:p>
        </p:txBody>
      </p:sp>
      <p:graphicFrame>
        <p:nvGraphicFramePr>
          <p:cNvPr id="13" name=""/>
          <p:cNvGraphicFramePr/>
          <p:nvPr/>
        </p:nvGraphicFramePr>
        <p:xfrm>
          <a:off xmlns:a="http://schemas.openxmlformats.org/drawingml/2006/main" x="685800" y="2076450"/>
          <a:ext xmlns:a="http://schemas.openxmlformats.org/drawingml/2006/main" cx="10820400" cy="2171700"/>
        </p:xfrm>
        <a:graphic xmlns:a="http://schemas.openxmlformats.org/drawingml/2006/main">
          <a:graphicData uri="http://schemas.openxmlformats.org/drawingml/2006/table">
            <a:tbl>
              <a:tblPr firstRow="1" bandRow="0"/>
              <a:tblGrid>
                <a:gridCol w="4419600"/>
                <a:gridCol w="2133600"/>
                <a:gridCol w="2133600"/>
                <a:gridCol w="2133600"/>
              </a:tblGrid>
              <a:tr h="723900">
                <a:tc>
                  <a:txBody>
                    <a:bodyPr/>
                    <a:lstStyle/>
                    <a:p>
                      <a:r>
                        <a:rPr sz="1800" b="1">
                          <a:solidFill>
                            <a:srgbClr val="183542"/>
                          </a:solidFill>
                          <a:latin typeface="Helvetica Neue"/>
                          <a:ea typeface="Helvetica Neue"/>
                          <a:cs typeface="Helvetica Neue"/>
                        </a:rPr>
                        <a:t>Measurement scope</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Baseline</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Candidate</a:t>
                      </a:r>
                    </a:p>
                  </a:txBody>
                  <a:tcPr marL="133350" marR="133350" marT="76200" marB="76200" anchor="ctr">
                    <a:solidFill>
                      <a:srgbClr val="E8F0F1"/>
                    </a:solidFill>
                  </a:tcPr>
                </a:tc>
                <a:tc>
                  <a:txBody>
                    <a:bodyPr/>
                    <a:lstStyle/>
                    <a:p>
                      <a:r>
                        <a:rPr sz="1800" b="1">
                          <a:solidFill>
                            <a:srgbClr val="183542"/>
                          </a:solidFill>
                          <a:latin typeface="Helvetica Neue"/>
                          <a:ea typeface="Helvetica Neue"/>
                          <a:cs typeface="Helvetica Neue"/>
                        </a:rPr>
                        <a:t>Reduction</a:t>
                      </a:r>
                    </a:p>
                  </a:txBody>
                  <a:tcPr marL="133350" marR="133350" marT="76200" marB="76200" anchor="ctr">
                    <a:solidFill>
                      <a:srgbClr val="E8F0F1"/>
                    </a:solidFill>
                  </a:tcPr>
                </a:tc>
              </a:tr>
              <a:tr h="723900">
                <a:tc>
                  <a:txBody>
                    <a:bodyPr/>
                    <a:lstStyle/>
                    <a:p>
                      <a:r>
                        <a:rPr sz="1800">
                          <a:solidFill>
                            <a:srgbClr val="183542"/>
                          </a:solidFill>
                          <a:latin typeface="Helvetica Neue"/>
                          <a:ea typeface="Helvetica Neue"/>
                          <a:cs typeface="Helvetica Neue"/>
                        </a:rPr>
                        <a:t>Synthetic full sampler</a:t>
                      </a:r>
                    </a:p>
                    <a:p>
                      <a:r>
                        <a:rPr sz="1800">
                          <a:solidFill>
                            <a:srgbClr val="183542"/>
                          </a:solidFill>
                          <a:latin typeface="Helvetica Neue"/>
                          <a:ea typeface="Helvetica Neue"/>
                          <a:cs typeface="Helvetica Neue"/>
                        </a:rPr>
                        <a:t>mean, ms per call</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0.261280</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0.203009</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22.30%</a:t>
                      </a:r>
                    </a:p>
                  </a:txBody>
                  <a:tcPr marL="133350" marR="133350" marT="76200" marB="76200" anchor="ctr">
                    <a:solidFill>
                      <a:srgbClr val="FFFFFF"/>
                    </a:solidFill>
                  </a:tcPr>
                </a:tc>
              </a:tr>
              <a:tr h="723900">
                <a:tc>
                  <a:txBody>
                    <a:bodyPr/>
                    <a:lstStyle/>
                    <a:p>
                      <a:r>
                        <a:rPr sz="1800">
                          <a:solidFill>
                            <a:srgbClr val="183542"/>
                          </a:solidFill>
                          <a:latin typeface="Helvetica Neue"/>
                          <a:ea typeface="Helvetica Neue"/>
                          <a:cs typeface="Helvetica Neue"/>
                        </a:rPr>
                        <a:t>Whole-answer metric</a:t>
                      </a:r>
                    </a:p>
                    <a:p>
                      <a:r>
                        <a:rPr sz="1800">
                          <a:solidFill>
                            <a:srgbClr val="183542"/>
                          </a:solidFill>
                          <a:latin typeface="Helvetica Neue"/>
                          <a:ea typeface="Helvetica Neue"/>
                          <a:cs typeface="Helvetica Neue"/>
                        </a:rPr>
                        <a:t>ms across images</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1355.4</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1348.9</a:t>
                      </a:r>
                    </a:p>
                  </a:txBody>
                  <a:tcPr marL="133350" marR="133350" marT="76200" marB="76200" anchor="ctr">
                    <a:solidFill>
                      <a:srgbClr val="FFFFFF"/>
                    </a:solidFill>
                  </a:tcPr>
                </a:tc>
                <a:tc>
                  <a:txBody>
                    <a:bodyPr/>
                    <a:lstStyle/>
                    <a:p>
                      <a:r>
                        <a:rPr sz="1800">
                          <a:solidFill>
                            <a:srgbClr val="183542"/>
                          </a:solidFill>
                          <a:latin typeface="Helvetica Neue"/>
                          <a:ea typeface="Helvetica Neue"/>
                          <a:cs typeface="Helvetica Neue"/>
                        </a:rPr>
                        <a:t>0.48%</a:t>
                      </a:r>
                    </a:p>
                  </a:txBody>
                  <a:tcPr marL="133350" marR="133350" marT="76200" marB="7620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E46C82A9-9905-40B8-A76B-85570486FB5C}"/>
              </a:ext>
            </a:extLst>
          </p:cNvPr>
          <p:cNvSpPr>
            <a:spLocks xmlns:a="http://schemas.openxmlformats.org/drawingml/2006/main" noGrp="1"/>
          </p:cNvSpPr>
          <p:nvPr/>
        </p:nvSpPr>
        <p:spPr>
          <a:xfrm xmlns:a="http://schemas.openxmlformats.org/drawingml/2006/main">
            <a:off x="685800" y="44958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725" b="0">
                <a:solidFill>
                  <a:srgbClr val="566773"/>
                </a:solidFill>
                <a:latin typeface="Helvetica Neue"/>
                <a:ea typeface="Helvetica Neue"/>
                <a:cs typeface="Helvetica Neue"/>
              </a:defRPr>
            </a:pPr>
            <a:r>
              <a:rPr sz="1725" b="0">
                <a:solidFill>
                  <a:srgbClr val="566773"/>
                </a:solidFill>
                <a:latin typeface="Helvetica Neue"/>
                <a:ea typeface="Helvetica Neue"/>
                <a:cs typeface="Helvetica Neue"/>
              </a:rPr>
              <a:t>1,000 / 1,000 synthetic calls. 90 / 90 whole-answer requests. Baseline / candidate.</a:t>
            </a:r>
          </a:p>
        </p:txBody>
      </p:sp>
      <p:sp>
        <p:nvSpPr>
          <p:cNvPr id="7" name="">
            <a:extLst xmlns:a="http://schemas.openxmlformats.org/drawingml/2006/main">
              <a:ext uri="{FF2B5EF4-FFF2-40B4-BE49-F238E27FC236}">
                <a16:creationId xmlns:a16="http://schemas.microsoft.com/office/drawing/2014/main" id="{85B20CFD-F2F9-40D3-957A-A31AF453B5FC}"/>
              </a:ext>
            </a:extLst>
          </p:cNvPr>
          <p:cNvSpPr>
            <a:spLocks xmlns:a="http://schemas.openxmlformats.org/drawingml/2006/main" noGrp="1"/>
          </p:cNvSpPr>
          <p:nvPr/>
        </p:nvSpPr>
        <p:spPr>
          <a:xfrm xmlns:a="http://schemas.openxmlformats.org/drawingml/2006/main">
            <a:off x="685800" y="50292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2175" b="1">
                <a:solidFill>
                  <a:srgbClr val="146875"/>
                </a:solidFill>
                <a:latin typeface="Helvetica Neue"/>
                <a:ea typeface="Helvetica Neue"/>
                <a:cs typeface="Helvetica Neue"/>
              </a:defRPr>
            </a:pPr>
            <a:r>
              <a:rPr sz="2175" b="1">
                <a:solidFill>
                  <a:srgbClr val="146875"/>
                </a:solidFill>
                <a:latin typeface="Helvetica Neue"/>
                <a:ea typeface="Helvetica Neue"/>
                <a:cs typeface="Helvetica Neue"/>
              </a:rPr>
              <a:t>GPU equivalence passed: 338 cases, 1,020 sampled tokens.</a:t>
            </a:r>
          </a:p>
        </p:txBody>
      </p:sp>
      <p:sp>
        <p:nvSpPr>
          <p:cNvPr id="8" name="">
            <a:extLst xmlns:a="http://schemas.openxmlformats.org/drawingml/2006/main">
              <a:ext uri="{FF2B5EF4-FFF2-40B4-BE49-F238E27FC236}">
                <a16:creationId xmlns:a16="http://schemas.microsoft.com/office/drawing/2014/main" id="{E0D7C57A-CF8A-4ED7-85DB-601FD54D5FE9}"/>
              </a:ext>
            </a:extLst>
          </p:cNvPr>
          <p:cNvSpPr>
            <a:spLocks xmlns:a="http://schemas.openxmlformats.org/drawingml/2006/main" noGrp="1"/>
          </p:cNvSpPr>
          <p:nvPr/>
        </p:nvSpPr>
        <p:spPr>
          <a:xfrm xmlns:a="http://schemas.openxmlformats.org/drawingml/2006/main">
            <a:off x="685800" y="56197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The user’s 10% requirement applies to complete answers.</a:t>
            </a:r>
          </a:p>
          <a:p xmlns:a="http://schemas.openxmlformats.org/drawingml/2006/main">
            <a:pPr>
              <a:defRPr sz="1875" b="0">
                <a:solidFill>
                  <a:srgbClr val="183542"/>
                </a:solidFill>
                <a:latin typeface="Helvetica Neue"/>
                <a:ea typeface="Helvetica Neue"/>
                <a:cs typeface="Helvetica Neue"/>
              </a:defRPr>
            </a:pPr>
            <a:r>
              <a:rPr sz="1875" b="0">
                <a:solidFill>
                  <a:srgbClr val="183542"/>
                </a:solidFill>
                <a:latin typeface="Helvetica Neue"/>
                <a:ea typeface="Helvetica Neue"/>
                <a:cs typeface="Helvetica Neue"/>
              </a:rPr>
              <a:t>Sampler timing does not establish the latency of other model stages.</a:t>
            </a:r>
          </a:p>
        </p:txBody>
      </p:sp>
    </p:spTree>
    <p:extLst>
      <p:ext uri="{BB962C8B-B14F-4D97-AF65-F5344CB8AC3E}">
        <p14:creationId xmlns:p14="http://schemas.microsoft.com/office/powerpoint/2010/main" val="3277591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2026-09-21T01:13:52.2360000Z</dcterms:created>
  <dcterms:modified xsi:type="dcterms:W3CDTF">2026-09-21T01:13:52.2360000Z</dcterms:modified>
</coreProperties>
</file>